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jpeg" ContentType="image/jpeg"/>
  <Default Extension="wmf" ContentType="image/x-wmf"/>
  <Default Extension="emf" ContentType="image/x-emf"/>
  <Default Extension="rels" ContentType="application/vnd.openxmlformats-package.relationships+xml"/>
  <Default Extension="xml" ContentType="application/xml"/>
  <Default Extension="fntdata" ContentType="application/x-fontdata"/>
  <Default Extension="wdp" ContentType="image/vnd.ms-photo"/>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bookmarkIdSeed="3">
  <p:sldMasterIdLst>
    <p:sldMasterId id="2147483773" r:id="rId1"/>
  </p:sldMasterIdLst>
  <p:sldIdLst>
    <p:sldId id="325" r:id="rId2"/>
    <p:sldId id="327" r:id="rId3"/>
    <p:sldId id="283" r:id="rId4"/>
    <p:sldId id="331" r:id="rId5"/>
    <p:sldId id="328" r:id="rId6"/>
    <p:sldId id="330" r:id="rId7"/>
    <p:sldId id="324" r:id="rId8"/>
    <p:sldId id="332" r:id="rId9"/>
    <p:sldId id="333" r:id="rId10"/>
    <p:sldId id="334" r:id="rId11"/>
    <p:sldId id="350" r:id="rId12"/>
    <p:sldId id="356" r:id="rId13"/>
    <p:sldId id="351" r:id="rId14"/>
    <p:sldId id="352" r:id="rId15"/>
    <p:sldId id="354" r:id="rId16"/>
    <p:sldId id="355" r:id="rId17"/>
    <p:sldId id="353" r:id="rId18"/>
    <p:sldId id="310" r:id="rId19"/>
    <p:sldId id="336" r:id="rId20"/>
    <p:sldId id="337" r:id="rId21"/>
    <p:sldId id="358" r:id="rId22"/>
    <p:sldId id="359" r:id="rId23"/>
    <p:sldId id="360" r:id="rId24"/>
    <p:sldId id="361" r:id="rId25"/>
    <p:sldId id="362" r:id="rId26"/>
    <p:sldId id="363" r:id="rId27"/>
    <p:sldId id="364" r:id="rId28"/>
    <p:sldId id="365" r:id="rId29"/>
    <p:sldId id="366" r:id="rId30"/>
    <p:sldId id="338" r:id="rId31"/>
    <p:sldId id="347" r:id="rId32"/>
    <p:sldId id="339" r:id="rId33"/>
    <p:sldId id="343" r:id="rId34"/>
    <p:sldId id="344" r:id="rId35"/>
    <p:sldId id="368" r:id="rId36"/>
    <p:sldId id="369" r:id="rId37"/>
    <p:sldId id="370" r:id="rId38"/>
    <p:sldId id="371" r:id="rId39"/>
    <p:sldId id="372" r:id="rId40"/>
    <p:sldId id="373" r:id="rId41"/>
    <p:sldId id="377" r:id="rId42"/>
    <p:sldId id="374" r:id="rId43"/>
    <p:sldId id="376" r:id="rId44"/>
    <p:sldId id="378" r:id="rId45"/>
    <p:sldId id="379" r:id="rId46"/>
    <p:sldId id="380" r:id="rId47"/>
    <p:sldId id="381" r:id="rId48"/>
    <p:sldId id="270" r:id="rId49"/>
  </p:sldIdLst>
  <p:sldSz cx="18288000" cy="10287000"/>
  <p:notesSz cx="6858000" cy="9144000"/>
  <p:embeddedFontLst>
    <p:embeddedFont>
      <p:font typeface="Poppins ExtraBold Bold" panose="020B0604020202020204" charset="0"/>
      <p:regular r:id="rId50"/>
    </p:embeddedFont>
    <p:embeddedFont>
      <p:font typeface="Montserrat Extra-Bold" panose="020B0604020202020204" charset="0"/>
      <p:regular r:id="rId51"/>
    </p:embeddedFont>
    <p:embeddedFont>
      <p:font typeface="League Spartan" panose="020B0604020202020204" charset="0"/>
      <p:regular r:id="rId52"/>
    </p:embeddedFont>
    <p:embeddedFont>
      <p:font typeface="Cambria Math" panose="02040503050406030204" pitchFamily="18" charset="0"/>
      <p:regular r:id="rId53"/>
    </p:embeddedFont>
    <p:embeddedFont>
      <p:font typeface="Calibri" panose="020F0502020204030204" pitchFamily="34" charset="0"/>
      <p:regular r:id="rId54"/>
      <p:bold r:id="rId55"/>
      <p:italic r:id="rId56"/>
      <p:boldItalic r:id="rId57"/>
    </p:embeddedFont>
    <p:embeddedFont>
      <p:font typeface="Calibri Light" panose="020F0302020204030204" pitchFamily="34" charset="0"/>
      <p:regular r:id="rId58"/>
      <p:italic r:id="rId59"/>
    </p:embeddedFont>
    <p:embeddedFont>
      <p:font typeface="Montserrat Semi-Bold" panose="020B0604020202020204" charset="0"/>
      <p:regular r:id="rId6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20000"/>
    <a:srgbClr val="A40000"/>
    <a:srgbClr val="005C2A"/>
    <a:srgbClr val="29FF8A"/>
    <a:srgbClr val="00F66F"/>
    <a:srgbClr val="FFDA6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432" autoAdjust="0"/>
    <p:restoredTop sz="94622" autoAdjust="0"/>
  </p:normalViewPr>
  <p:slideViewPr>
    <p:cSldViewPr>
      <p:cViewPr varScale="1">
        <p:scale>
          <a:sx n="44" d="100"/>
          <a:sy n="44" d="100"/>
        </p:scale>
        <p:origin x="82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1.fntdata"/><Relationship Id="rId55" Type="http://schemas.openxmlformats.org/officeDocument/2006/relationships/font" Target="fonts/font6.fntdata"/><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4.fntdata"/><Relationship Id="rId58" Type="http://schemas.openxmlformats.org/officeDocument/2006/relationships/font" Target="fonts/font9.fntdata"/><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7.fntdata"/><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5.fntdata"/><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8.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3.fntdata"/><Relationship Id="rId60"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3.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545"/>
            <a:ext cx="13716000" cy="3581400"/>
          </a:xfrm>
        </p:spPr>
        <p:txBody>
          <a:bodyPr anchor="b"/>
          <a:lstStyle>
            <a:lvl1pPr algn="ctr">
              <a:defRPr sz="9000"/>
            </a:lvl1pPr>
          </a:lstStyle>
          <a:p>
            <a:r>
              <a:rPr lang="en-US" smtClean="0"/>
              <a:t>Click to edit Master title style</a:t>
            </a:r>
            <a:endParaRPr lang="en-PH"/>
          </a:p>
        </p:txBody>
      </p:sp>
      <p:sp>
        <p:nvSpPr>
          <p:cNvPr id="3" name="Subtitle 2"/>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smtClean="0"/>
              <a:t>Click to edit Master subtitle style</a:t>
            </a:r>
            <a:endParaRPr lang="en-PH"/>
          </a:p>
        </p:txBody>
      </p:sp>
      <p:sp>
        <p:nvSpPr>
          <p:cNvPr id="4" name="Date Placeholder 3"/>
          <p:cNvSpPr>
            <a:spLocks noGrp="1"/>
          </p:cNvSpPr>
          <p:nvPr>
            <p:ph type="dt" sz="half" idx="10"/>
          </p:nvPr>
        </p:nvSpPr>
        <p:spPr/>
        <p:txBody>
          <a:bodyPr/>
          <a:lstStyle/>
          <a:p>
            <a:fld id="{1D8BD707-D9CF-40AE-B4C6-C98DA3205C09}" type="datetimeFigureOut">
              <a:rPr lang="en-US" smtClean="0"/>
              <a:pPr/>
              <a:t>5/30/2023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954858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PH"/>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Date Placeholder 3"/>
          <p:cNvSpPr>
            <a:spLocks noGrp="1"/>
          </p:cNvSpPr>
          <p:nvPr>
            <p:ph type="dt" sz="half" idx="10"/>
          </p:nvPr>
        </p:nvSpPr>
        <p:spPr/>
        <p:txBody>
          <a:bodyPr/>
          <a:lstStyle/>
          <a:p>
            <a:fld id="{1D8BD707-D9CF-40AE-B4C6-C98DA3205C09}" type="datetimeFigureOut">
              <a:rPr lang="en-US" smtClean="0"/>
              <a:pPr/>
              <a:t>5/30/2023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995863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4608"/>
            <a:ext cx="15773400" cy="4279106"/>
          </a:xfrm>
        </p:spPr>
        <p:txBody>
          <a:bodyPr anchor="b"/>
          <a:lstStyle>
            <a:lvl1pPr>
              <a:defRPr sz="9000"/>
            </a:lvl1pPr>
          </a:lstStyle>
          <a:p>
            <a:r>
              <a:rPr lang="en-US" smtClean="0"/>
              <a:t>Click to edit Master title style</a:t>
            </a:r>
            <a:endParaRPr lang="en-PH"/>
          </a:p>
        </p:txBody>
      </p:sp>
      <p:sp>
        <p:nvSpPr>
          <p:cNvPr id="3" name="Text Placeholder 2"/>
          <p:cNvSpPr>
            <a:spLocks noGrp="1"/>
          </p:cNvSpPr>
          <p:nvPr>
            <p:ph type="body" idx="1"/>
          </p:nvPr>
        </p:nvSpPr>
        <p:spPr>
          <a:xfrm>
            <a:off x="1247775" y="6884195"/>
            <a:ext cx="15773400" cy="2250281"/>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136686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PH"/>
          </a:p>
        </p:txBody>
      </p:sp>
      <p:sp>
        <p:nvSpPr>
          <p:cNvPr id="3" name="Content Placeholder 2"/>
          <p:cNvSpPr>
            <a:spLocks noGrp="1"/>
          </p:cNvSpPr>
          <p:nvPr>
            <p:ph sz="half" idx="1"/>
          </p:nvPr>
        </p:nvSpPr>
        <p:spPr>
          <a:xfrm>
            <a:off x="1257300" y="2738438"/>
            <a:ext cx="7772400" cy="652700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Content Placeholder 3"/>
          <p:cNvSpPr>
            <a:spLocks noGrp="1"/>
          </p:cNvSpPr>
          <p:nvPr>
            <p:ph sz="half" idx="2"/>
          </p:nvPr>
        </p:nvSpPr>
        <p:spPr>
          <a:xfrm>
            <a:off x="9258300" y="2738438"/>
            <a:ext cx="7772400" cy="652700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5" name="Date Placeholder 4"/>
          <p:cNvSpPr>
            <a:spLocks noGrp="1"/>
          </p:cNvSpPr>
          <p:nvPr>
            <p:ph type="dt" sz="half" idx="10"/>
          </p:nvPr>
        </p:nvSpPr>
        <p:spPr/>
        <p:txBody>
          <a:bodyPr/>
          <a:lstStyle/>
          <a:p>
            <a:fld id="{1D8BD707-D9CF-40AE-B4C6-C98DA3205C09}" type="datetimeFigureOut">
              <a:rPr lang="en-US" smtClean="0"/>
              <a:pPr/>
              <a:t>5/30/2023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163491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9682" y="547688"/>
            <a:ext cx="15773400" cy="1988345"/>
          </a:xfrm>
        </p:spPr>
        <p:txBody>
          <a:bodyPr/>
          <a:lstStyle/>
          <a:p>
            <a:r>
              <a:rPr lang="en-US" smtClean="0"/>
              <a:t>Click to edit Master title style</a:t>
            </a:r>
            <a:endParaRPr lang="en-PH"/>
          </a:p>
        </p:txBody>
      </p:sp>
      <p:sp>
        <p:nvSpPr>
          <p:cNvPr id="3" name="Text Placeholder 2"/>
          <p:cNvSpPr>
            <a:spLocks noGrp="1"/>
          </p:cNvSpPr>
          <p:nvPr>
            <p:ph type="body" idx="1"/>
          </p:nvPr>
        </p:nvSpPr>
        <p:spPr>
          <a:xfrm>
            <a:off x="1259683"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smtClean="0"/>
              <a:t>Click to edit Master text styles</a:t>
            </a:r>
          </a:p>
        </p:txBody>
      </p:sp>
      <p:sp>
        <p:nvSpPr>
          <p:cNvPr id="4" name="Content Placeholder 3"/>
          <p:cNvSpPr>
            <a:spLocks noGrp="1"/>
          </p:cNvSpPr>
          <p:nvPr>
            <p:ph sz="half" idx="2"/>
          </p:nvPr>
        </p:nvSpPr>
        <p:spPr>
          <a:xfrm>
            <a:off x="1259683" y="3757613"/>
            <a:ext cx="7736681" cy="552688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5" name="Text Placeholder 4"/>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smtClean="0"/>
              <a:t>Click to edit Master text styles</a:t>
            </a:r>
          </a:p>
        </p:txBody>
      </p:sp>
      <p:sp>
        <p:nvSpPr>
          <p:cNvPr id="6" name="Content Placeholder 5"/>
          <p:cNvSpPr>
            <a:spLocks noGrp="1"/>
          </p:cNvSpPr>
          <p:nvPr>
            <p:ph sz="quarter" idx="4"/>
          </p:nvPr>
        </p:nvSpPr>
        <p:spPr>
          <a:xfrm>
            <a:off x="9258300" y="3757613"/>
            <a:ext cx="7774782" cy="552688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7" name="Date Placeholder 6"/>
          <p:cNvSpPr>
            <a:spLocks noGrp="1"/>
          </p:cNvSpPr>
          <p:nvPr>
            <p:ph type="dt" sz="half" idx="10"/>
          </p:nvPr>
        </p:nvSpPr>
        <p:spPr/>
        <p:txBody>
          <a:bodyPr/>
          <a:lstStyle/>
          <a:p>
            <a:fld id="{1D8BD707-D9CF-40AE-B4C6-C98DA3205C09}" type="datetimeFigureOut">
              <a:rPr lang="en-US" smtClean="0"/>
              <a:pPr/>
              <a:t>5/30/2023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427552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PH"/>
          </a:p>
        </p:txBody>
      </p:sp>
      <p:sp>
        <p:nvSpPr>
          <p:cNvPr id="3" name="Date Placeholder 2"/>
          <p:cNvSpPr>
            <a:spLocks noGrp="1"/>
          </p:cNvSpPr>
          <p:nvPr>
            <p:ph type="dt" sz="half" idx="10"/>
          </p:nvPr>
        </p:nvSpPr>
        <p:spPr/>
        <p:txBody>
          <a:bodyPr/>
          <a:lstStyle/>
          <a:p>
            <a:fld id="{1D8BD707-D9CF-40AE-B4C6-C98DA3205C09}" type="datetimeFigureOut">
              <a:rPr lang="en-US" smtClean="0"/>
              <a:pPr/>
              <a:t>5/30/2023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270040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5/30/2023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002043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smtClean="0"/>
              <a:t>Click to edit Master title style</a:t>
            </a:r>
            <a:endParaRPr lang="en-PH"/>
          </a:p>
        </p:txBody>
      </p:sp>
      <p:sp>
        <p:nvSpPr>
          <p:cNvPr id="3" name="Content Placeholder 2"/>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14581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smtClean="0"/>
              <a:t>Click to edit Master title style</a:t>
            </a:r>
            <a:endParaRPr lang="en-PH"/>
          </a:p>
        </p:txBody>
      </p:sp>
      <p:sp>
        <p:nvSpPr>
          <p:cNvPr id="3" name="Picture Placeholder 2"/>
          <p:cNvSpPr>
            <a:spLocks noGrp="1"/>
          </p:cNvSpPr>
          <p:nvPr>
            <p:ph type="pic" idx="1"/>
          </p:nvPr>
        </p:nvSpPr>
        <p:spPr>
          <a:xfrm>
            <a:off x="7774782" y="1481138"/>
            <a:ext cx="9258300" cy="7310438"/>
          </a:xfrm>
        </p:spPr>
        <p:txBody>
          <a:bodyPr/>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endParaRPr lang="en-PH"/>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363135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PH"/>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Date Placeholder 3"/>
          <p:cNvSpPr>
            <a:spLocks noGrp="1"/>
          </p:cNvSpPr>
          <p:nvPr>
            <p:ph type="dt" sz="half" idx="10"/>
          </p:nvPr>
        </p:nvSpPr>
        <p:spPr/>
        <p:txBody>
          <a:bodyPr/>
          <a:lstStyle/>
          <a:p>
            <a:fld id="{1D8BD707-D9CF-40AE-B4C6-C98DA3205C09}" type="datetimeFigureOut">
              <a:rPr lang="en-US" smtClean="0"/>
              <a:pPr/>
              <a:t>5/30/2023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247822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688"/>
            <a:ext cx="3943350" cy="8717757"/>
          </a:xfrm>
        </p:spPr>
        <p:txBody>
          <a:bodyPr vert="eaVert"/>
          <a:lstStyle/>
          <a:p>
            <a:r>
              <a:rPr lang="en-US" smtClean="0"/>
              <a:t>Click to edit Master title style</a:t>
            </a:r>
            <a:endParaRPr lang="en-PH"/>
          </a:p>
        </p:txBody>
      </p:sp>
      <p:sp>
        <p:nvSpPr>
          <p:cNvPr id="3" name="Vertical Text Placeholder 2"/>
          <p:cNvSpPr>
            <a:spLocks noGrp="1"/>
          </p:cNvSpPr>
          <p:nvPr>
            <p:ph type="body" orient="vert" idx="1"/>
          </p:nvPr>
        </p:nvSpPr>
        <p:spPr>
          <a:xfrm>
            <a:off x="1257300" y="547688"/>
            <a:ext cx="11601450" cy="871775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Date Placeholder 3"/>
          <p:cNvSpPr>
            <a:spLocks noGrp="1"/>
          </p:cNvSpPr>
          <p:nvPr>
            <p:ph type="dt" sz="half" idx="10"/>
          </p:nvPr>
        </p:nvSpPr>
        <p:spPr/>
        <p:txBody>
          <a:bodyPr/>
          <a:lstStyle/>
          <a:p>
            <a:fld id="{1D8BD707-D9CF-40AE-B4C6-C98DA3205C09}" type="datetimeFigureOut">
              <a:rPr lang="en-US" smtClean="0"/>
              <a:pPr/>
              <a:t>5/30/2023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90018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4">
                <a:lumMod val="60000"/>
                <a:lumOff val="40000"/>
                <a:alpha val="0"/>
              </a:schemeClr>
            </a:gs>
            <a:gs pos="41000">
              <a:schemeClr val="accent1">
                <a:lumMod val="45000"/>
                <a:lumOff val="55000"/>
                <a:alpha val="11000"/>
              </a:schemeClr>
            </a:gs>
            <a:gs pos="0">
              <a:srgbClr val="A40000">
                <a:alpha val="8000"/>
              </a:srgbClr>
            </a:gs>
            <a:gs pos="0">
              <a:srgbClr val="FFFF00">
                <a:alpha val="69000"/>
              </a:srgbClr>
            </a:gs>
          </a:gsLst>
          <a:path path="rect">
            <a:fillToRect l="100000" t="100000"/>
          </a:path>
          <a:tileRect r="-100000" b="-100000"/>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US" smtClean="0"/>
              <a:t>Click to edit Master title style</a:t>
            </a:r>
            <a:endParaRPr lang="en-PH"/>
          </a:p>
        </p:txBody>
      </p:sp>
      <p:sp>
        <p:nvSpPr>
          <p:cNvPr id="3" name="Text Placeholder 2"/>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Date Placeholder 3"/>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fld id="{1D8BD707-D9CF-40AE-B4C6-C98DA3205C09}" type="datetimeFigureOut">
              <a:rPr lang="en-US" smtClean="0"/>
              <a:pPr/>
              <a:t>5/30/2023</a:t>
            </a:fld>
            <a:endParaRPr lang="en-US"/>
          </a:p>
        </p:txBody>
      </p:sp>
      <p:sp>
        <p:nvSpPr>
          <p:cNvPr id="5" name="Footer Placeholder 4"/>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536874906"/>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8" Type="http://schemas.openxmlformats.org/officeDocument/2006/relationships/image" Target="../media/image15.jpg"/><Relationship Id="rId3" Type="http://schemas.openxmlformats.org/officeDocument/2006/relationships/image" Target="../media/image1.png"/><Relationship Id="rId7" Type="http://schemas.openxmlformats.org/officeDocument/2006/relationships/image" Target="../media/image14.jpe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3.jp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png"/><Relationship Id="rId7" Type="http://schemas.openxmlformats.org/officeDocument/2006/relationships/image" Target="../media/image18.jp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7.jpg"/><Relationship Id="rId5" Type="http://schemas.openxmlformats.org/officeDocument/2006/relationships/image" Target="../media/image16.jp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8" Type="http://schemas.openxmlformats.org/officeDocument/2006/relationships/hyperlink" Target="http://www.commoditiescontrol.com/eagritrader/commodityknowledge/copra/copra.htm" TargetMode="External"/><Relationship Id="rId3" Type="http://schemas.openxmlformats.org/officeDocument/2006/relationships/image" Target="../media/image20.png"/><Relationship Id="rId7" Type="http://schemas.openxmlformats.org/officeDocument/2006/relationships/hyperlink" Target="https://www.helgilibrary.com/charts/which-country-produces-the-most-coconuts/"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hyperlink" Target="https://www.mapsofworld.com/world-top-ten/world-map-coconut-production-countries.html" TargetMode="External"/><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8" Type="http://schemas.openxmlformats.org/officeDocument/2006/relationships/image" Target="../media/image26.jpg"/><Relationship Id="rId3" Type="http://schemas.openxmlformats.org/officeDocument/2006/relationships/image" Target="../media/image1.png"/><Relationship Id="rId7" Type="http://schemas.openxmlformats.org/officeDocument/2006/relationships/image" Target="../media/image25.jpe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24.jpg"/><Relationship Id="rId5" Type="http://schemas.openxmlformats.org/officeDocument/2006/relationships/image" Target="../media/image23.jpg"/><Relationship Id="rId10" Type="http://schemas.openxmlformats.org/officeDocument/2006/relationships/image" Target="../media/image28.jpg"/><Relationship Id="rId4" Type="http://schemas.openxmlformats.org/officeDocument/2006/relationships/image" Target="../media/image11.png"/><Relationship Id="rId9" Type="http://schemas.openxmlformats.org/officeDocument/2006/relationships/image" Target="../media/image27.JP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hyperlink" Target="https://coconuthandbook.tetrapak.com/chapter/composition"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hyperlink" Target="https://www.shutterstock.com/search/germinating-coconut" TargetMode="External"/><Relationship Id="rId4" Type="http://schemas.openxmlformats.org/officeDocument/2006/relationships/image" Target="../media/image29.jpe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hyperlink" Target="https://www.mdpi.com/2223-7747/11/23/3293" TargetMode="External"/><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image" Target="../media/image1.png"/><Relationship Id="rId7" Type="http://schemas.openxmlformats.org/officeDocument/2006/relationships/hyperlink" Target="https://www.mdpi.com/2223-7747/11/23/3293" TargetMode="External"/><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hyperlink" Target="https://agritech.tnau.ac.in/horticulture/horti_pcrops_coconut_botany.html" TargetMode="External"/><Relationship Id="rId5" Type="http://schemas.openxmlformats.org/officeDocument/2006/relationships/image" Target="../media/image32.png"/><Relationship Id="rId10" Type="http://schemas.openxmlformats.org/officeDocument/2006/relationships/image" Target="../media/image34.png"/><Relationship Id="rId4" Type="http://schemas.openxmlformats.org/officeDocument/2006/relationships/image" Target="../media/image11.png"/><Relationship Id="rId9" Type="http://schemas.openxmlformats.org/officeDocument/2006/relationships/image" Target="../media/image33.wmf"/></Relationships>
</file>

<file path=ppt/slides/_rels/slide16.xml.rels><?xml version="1.0" encoding="UTF-8" standalone="yes"?>
<Relationships xmlns="http://schemas.openxmlformats.org/package/2006/relationships"><Relationship Id="rId8" Type="http://schemas.openxmlformats.org/officeDocument/2006/relationships/image" Target="../media/image36.jpg"/><Relationship Id="rId3" Type="http://schemas.openxmlformats.org/officeDocument/2006/relationships/image" Target="../media/image11.png"/><Relationship Id="rId7" Type="http://schemas.openxmlformats.org/officeDocument/2006/relationships/hyperlink" Target="https://www.justdial.com/jdmart/Kangayam/Organic-Coconut-Copra/pid-2016907259/9999P4258-4258-180205184811-U6T4"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hyperlink" Target="https://www.unlockfood.ca/en/Articles/Fat/Coconut-Oil-Facts-and-Myths" TargetMode="External"/><Relationship Id="rId5" Type="http://schemas.openxmlformats.org/officeDocument/2006/relationships/hyperlink" Target="https://www.quora.com/What-are-the-by-products-of-coconut-tree" TargetMode="External"/><Relationship Id="rId4" Type="http://schemas.openxmlformats.org/officeDocument/2006/relationships/image" Target="../media/image35.jpeg"/><Relationship Id="rId9" Type="http://schemas.openxmlformats.org/officeDocument/2006/relationships/image" Target="../media/image37.jpg"/></Relationships>
</file>

<file path=ppt/slides/_rels/slide17.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11.png"/><Relationship Id="rId7" Type="http://schemas.openxmlformats.org/officeDocument/2006/relationships/hyperlink" Target="https://www.mdpi.com/2227-9717/10/2/315"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8.jpg"/><Relationship Id="rId5" Type="http://schemas.openxmlformats.org/officeDocument/2006/relationships/hyperlink" Target="https://www.jmitra.com.my/product/vegan-coconut-milk-powder/" TargetMode="External"/><Relationship Id="rId4" Type="http://schemas.openxmlformats.org/officeDocument/2006/relationships/hyperlink" Target="https://www.unlockfood.ca/en/Articles/Fat/Coconut-Oil-Facts-and-Myths" TargetMode="External"/><Relationship Id="rId9" Type="http://schemas.openxmlformats.org/officeDocument/2006/relationships/image" Target="../media/image37.jpg"/></Relationships>
</file>

<file path=ppt/slides/_rels/slide18.xml.rels><?xml version="1.0" encoding="UTF-8" standalone="yes"?>
<Relationships xmlns="http://schemas.openxmlformats.org/package/2006/relationships"><Relationship Id="rId8" Type="http://schemas.openxmlformats.org/officeDocument/2006/relationships/hyperlink" Target="https://agritech.tnau.ac.in/horticulture/horti_pcrops_coconut_botany.html" TargetMode="External"/><Relationship Id="rId3" Type="http://schemas.openxmlformats.org/officeDocument/2006/relationships/image" Target="../media/image10.png"/><Relationship Id="rId7" Type="http://schemas.openxmlformats.org/officeDocument/2006/relationships/hyperlink" Target="https://www.khaosok.com/national-park/coconut-palm/" TargetMode="External"/><Relationship Id="rId2" Type="http://schemas.openxmlformats.org/officeDocument/2006/relationships/image" Target="../media/image32.png"/><Relationship Id="rId1" Type="http://schemas.openxmlformats.org/officeDocument/2006/relationships/slideLayout" Target="../slideLayouts/slideLayout7.xml"/><Relationship Id="rId6" Type="http://schemas.openxmlformats.org/officeDocument/2006/relationships/image" Target="../media/image40.jpg"/><Relationship Id="rId5" Type="http://schemas.openxmlformats.org/officeDocument/2006/relationships/image" Target="../media/image11.png"/><Relationship Id="rId10" Type="http://schemas.openxmlformats.org/officeDocument/2006/relationships/hyperlink" Target="https://www.researchgate.net/figure/Anatomy-a-and-development-of-normal-coconut-a-c-Note-the-reduced-level-of-liquid_fig5_354913466" TargetMode="External"/><Relationship Id="rId4" Type="http://schemas.openxmlformats.org/officeDocument/2006/relationships/image" Target="../media/image1.png"/><Relationship Id="rId9" Type="http://schemas.openxmlformats.org/officeDocument/2006/relationships/image" Target="../media/image41.jpe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4.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45.png"/><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image" Target="../media/image46.png"/><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7.png"/></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57.jpg"/><Relationship Id="rId3" Type="http://schemas.openxmlformats.org/officeDocument/2006/relationships/image" Target="../media/image49.png"/><Relationship Id="rId7" Type="http://schemas.openxmlformats.org/officeDocument/2006/relationships/image" Target="../media/image11.png"/><Relationship Id="rId12" Type="http://schemas.openxmlformats.org/officeDocument/2006/relationships/image" Target="../media/image56.jpg"/><Relationship Id="rId2" Type="http://schemas.openxmlformats.org/officeDocument/2006/relationships/image" Target="../media/image48.png"/><Relationship Id="rId16" Type="http://schemas.openxmlformats.org/officeDocument/2006/relationships/image" Target="../media/image60.jpg"/><Relationship Id="rId1" Type="http://schemas.openxmlformats.org/officeDocument/2006/relationships/slideLayout" Target="../slideLayouts/slideLayout7.xml"/><Relationship Id="rId6" Type="http://schemas.openxmlformats.org/officeDocument/2006/relationships/image" Target="../media/image1.png"/><Relationship Id="rId11" Type="http://schemas.openxmlformats.org/officeDocument/2006/relationships/image" Target="../media/image55.jpg"/><Relationship Id="rId5" Type="http://schemas.openxmlformats.org/officeDocument/2006/relationships/image" Target="../media/image51.png"/><Relationship Id="rId15" Type="http://schemas.openxmlformats.org/officeDocument/2006/relationships/image" Target="../media/image59.jpg"/><Relationship Id="rId10" Type="http://schemas.openxmlformats.org/officeDocument/2006/relationships/image" Target="../media/image54.jpg"/><Relationship Id="rId4" Type="http://schemas.openxmlformats.org/officeDocument/2006/relationships/image" Target="../media/image50.png"/><Relationship Id="rId9" Type="http://schemas.openxmlformats.org/officeDocument/2006/relationships/image" Target="../media/image53.png"/><Relationship Id="rId14" Type="http://schemas.openxmlformats.org/officeDocument/2006/relationships/image" Target="../media/image58.jpg"/></Relationships>
</file>

<file path=ppt/slides/_rels/slide31.xml.rels><?xml version="1.0" encoding="UTF-8" standalone="yes"?>
<Relationships xmlns="http://schemas.openxmlformats.org/package/2006/relationships"><Relationship Id="rId8" Type="http://schemas.openxmlformats.org/officeDocument/2006/relationships/image" Target="../media/image65.png"/><Relationship Id="rId13" Type="http://schemas.openxmlformats.org/officeDocument/2006/relationships/image" Target="../media/image70.png"/><Relationship Id="rId3" Type="http://schemas.openxmlformats.org/officeDocument/2006/relationships/image" Target="../media/image54.jpg"/><Relationship Id="rId7" Type="http://schemas.openxmlformats.org/officeDocument/2006/relationships/image" Target="../media/image64.png"/><Relationship Id="rId12" Type="http://schemas.openxmlformats.org/officeDocument/2006/relationships/image" Target="../media/image69.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3.png"/><Relationship Id="rId11" Type="http://schemas.openxmlformats.org/officeDocument/2006/relationships/image" Target="../media/image68.png"/><Relationship Id="rId5" Type="http://schemas.openxmlformats.org/officeDocument/2006/relationships/image" Target="../media/image62.png"/><Relationship Id="rId10" Type="http://schemas.openxmlformats.org/officeDocument/2006/relationships/image" Target="../media/image67.png"/><Relationship Id="rId4" Type="http://schemas.openxmlformats.org/officeDocument/2006/relationships/image" Target="../media/image61.png"/><Relationship Id="rId9" Type="http://schemas.openxmlformats.org/officeDocument/2006/relationships/image" Target="../media/image66.png"/></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73.jp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2.jpg"/><Relationship Id="rId5" Type="http://schemas.openxmlformats.org/officeDocument/2006/relationships/image" Target="../media/image28.jpg"/><Relationship Id="rId4" Type="http://schemas.openxmlformats.org/officeDocument/2006/relationships/image" Target="../media/image71.jpg"/></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76.jp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5.jpeg"/><Relationship Id="rId5" Type="http://schemas.openxmlformats.org/officeDocument/2006/relationships/image" Target="../media/image74.jpg"/><Relationship Id="rId4" Type="http://schemas.openxmlformats.org/officeDocument/2006/relationships/image" Target="../media/image27.JP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image" Target="../media/image77.emf"/><Relationship Id="rId4" Type="http://schemas.openxmlformats.org/officeDocument/2006/relationships/image" Target="../media/image11.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image" Target="../media/image78.png"/><Relationship Id="rId4" Type="http://schemas.openxmlformats.org/officeDocument/2006/relationships/image" Target="../media/image11.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hyperlink" Target="https://www.dlsu.edu.ph/research/central-instrumentation-facility/gcms/#1549434877177-866c4daf-c0cc" TargetMode="External"/><Relationship Id="rId5" Type="http://schemas.openxmlformats.org/officeDocument/2006/relationships/image" Target="../media/image79.jpg"/><Relationship Id="rId4" Type="http://schemas.openxmlformats.org/officeDocument/2006/relationships/image" Target="../media/image11.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hyperlink" Target="https://www.gfz-potsdam.de/en/section/organic-geochemistry/infrastructure/liquid-chromatography-mass-spectrometry-lc-ms" TargetMode="External"/><Relationship Id="rId5" Type="http://schemas.openxmlformats.org/officeDocument/2006/relationships/image" Target="../media/image80.png"/><Relationship Id="rId4" Type="http://schemas.openxmlformats.org/officeDocument/2006/relationships/image" Target="../media/image11.png"/></Relationships>
</file>

<file path=ppt/slides/_rels/slide40.xml.rels><?xml version="1.0" encoding="UTF-8" standalone="yes"?>
<Relationships xmlns="http://schemas.openxmlformats.org/package/2006/relationships"><Relationship Id="rId8" Type="http://schemas.openxmlformats.org/officeDocument/2006/relationships/image" Target="../media/image57.jpg"/><Relationship Id="rId13" Type="http://schemas.openxmlformats.org/officeDocument/2006/relationships/image" Target="../media/image85.jpg"/><Relationship Id="rId3" Type="http://schemas.openxmlformats.org/officeDocument/2006/relationships/image" Target="../media/image10.png"/><Relationship Id="rId7" Type="http://schemas.openxmlformats.org/officeDocument/2006/relationships/image" Target="../media/image59.jpg"/><Relationship Id="rId12" Type="http://schemas.openxmlformats.org/officeDocument/2006/relationships/image" Target="../media/image84.jpeg"/><Relationship Id="rId2" Type="http://schemas.openxmlformats.org/officeDocument/2006/relationships/image" Target="../media/image81.png"/><Relationship Id="rId1" Type="http://schemas.openxmlformats.org/officeDocument/2006/relationships/slideLayout" Target="../slideLayouts/slideLayout7.xml"/><Relationship Id="rId6" Type="http://schemas.openxmlformats.org/officeDocument/2006/relationships/image" Target="../media/image55.jpg"/><Relationship Id="rId11" Type="http://schemas.openxmlformats.org/officeDocument/2006/relationships/image" Target="../media/image83.jpeg"/><Relationship Id="rId5" Type="http://schemas.openxmlformats.org/officeDocument/2006/relationships/image" Target="../media/image11.png"/><Relationship Id="rId15" Type="http://schemas.openxmlformats.org/officeDocument/2006/relationships/image" Target="../media/image87.png"/><Relationship Id="rId10" Type="http://schemas.openxmlformats.org/officeDocument/2006/relationships/image" Target="../media/image82.jpg"/><Relationship Id="rId4" Type="http://schemas.openxmlformats.org/officeDocument/2006/relationships/image" Target="../media/image1.png"/><Relationship Id="rId9" Type="http://schemas.openxmlformats.org/officeDocument/2006/relationships/image" Target="../media/image56.jpg"/><Relationship Id="rId14" Type="http://schemas.openxmlformats.org/officeDocument/2006/relationships/image" Target="../media/image86.jpg"/></Relationships>
</file>

<file path=ppt/slides/_rels/slide41.xml.rels><?xml version="1.0" encoding="UTF-8" standalone="yes"?>
<Relationships xmlns="http://schemas.openxmlformats.org/package/2006/relationships"><Relationship Id="rId8" Type="http://schemas.openxmlformats.org/officeDocument/2006/relationships/image" Target="../media/image57.jpg"/><Relationship Id="rId13" Type="http://schemas.openxmlformats.org/officeDocument/2006/relationships/image" Target="../media/image86.jpg"/><Relationship Id="rId3" Type="http://schemas.openxmlformats.org/officeDocument/2006/relationships/image" Target="../media/image10.png"/><Relationship Id="rId7" Type="http://schemas.openxmlformats.org/officeDocument/2006/relationships/image" Target="../media/image59.jpg"/><Relationship Id="rId12" Type="http://schemas.openxmlformats.org/officeDocument/2006/relationships/image" Target="../media/image85.jpg"/><Relationship Id="rId2" Type="http://schemas.openxmlformats.org/officeDocument/2006/relationships/image" Target="../media/image81.png"/><Relationship Id="rId1" Type="http://schemas.openxmlformats.org/officeDocument/2006/relationships/slideLayout" Target="../slideLayouts/slideLayout7.xml"/><Relationship Id="rId6" Type="http://schemas.openxmlformats.org/officeDocument/2006/relationships/image" Target="../media/image55.jpg"/><Relationship Id="rId11" Type="http://schemas.openxmlformats.org/officeDocument/2006/relationships/image" Target="../media/image83.jpeg"/><Relationship Id="rId5" Type="http://schemas.openxmlformats.org/officeDocument/2006/relationships/image" Target="../media/image11.png"/><Relationship Id="rId15" Type="http://schemas.openxmlformats.org/officeDocument/2006/relationships/image" Target="../media/image88.png"/><Relationship Id="rId10" Type="http://schemas.openxmlformats.org/officeDocument/2006/relationships/image" Target="../media/image82.jpg"/><Relationship Id="rId4" Type="http://schemas.openxmlformats.org/officeDocument/2006/relationships/image" Target="../media/image1.png"/><Relationship Id="rId9" Type="http://schemas.openxmlformats.org/officeDocument/2006/relationships/image" Target="../media/image56.jpg"/><Relationship Id="rId14" Type="http://schemas.openxmlformats.org/officeDocument/2006/relationships/image" Target="../media/image87.png"/></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image" Target="../media/image89.png"/><Relationship Id="rId4" Type="http://schemas.openxmlformats.org/officeDocument/2006/relationships/image" Target="../media/image11.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image" Target="../media/image90.png"/><Relationship Id="rId4" Type="http://schemas.openxmlformats.org/officeDocument/2006/relationships/image" Target="../media/image11.png"/></Relationships>
</file>

<file path=ppt/slides/_rels/slide44.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1.png"/><Relationship Id="rId7" Type="http://schemas.openxmlformats.org/officeDocument/2006/relationships/image" Target="../media/image91.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23.jpg"/><Relationship Id="rId5" Type="http://schemas.openxmlformats.org/officeDocument/2006/relationships/image" Target="../media/image75.jpeg"/><Relationship Id="rId4" Type="http://schemas.openxmlformats.org/officeDocument/2006/relationships/image" Target="../media/image11.png"/><Relationship Id="rId9" Type="http://schemas.openxmlformats.org/officeDocument/2006/relationships/image" Target="../media/image72.jpg"/></Relationships>
</file>

<file path=ppt/slides/_rels/slide4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28.jpg"/></Relationships>
</file>

<file path=ppt/slides/_rels/slide4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94.png"/><Relationship Id="rId1" Type="http://schemas.openxmlformats.org/officeDocument/2006/relationships/slideLayout" Target="../slideLayouts/slideLayout7.xml"/><Relationship Id="rId5" Type="http://schemas.openxmlformats.org/officeDocument/2006/relationships/image" Target="../media/image96.jpeg"/><Relationship Id="rId4" Type="http://schemas.openxmlformats.org/officeDocument/2006/relationships/image" Target="../media/image9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 name="Picture 49"/>
          <p:cNvPicPr>
            <a:picLocks noChangeAspect="1"/>
          </p:cNvPicPr>
          <p:nvPr/>
        </p:nvPicPr>
        <p:blipFill>
          <a:blip r:embed="rId2"/>
          <a:stretch>
            <a:fillRect/>
          </a:stretch>
        </p:blipFill>
        <p:spPr>
          <a:xfrm rot="10800000" flipV="1">
            <a:off x="299864" y="4718852"/>
            <a:ext cx="15899363" cy="232657"/>
          </a:xfrm>
          <a:prstGeom prst="rect">
            <a:avLst/>
          </a:prstGeom>
        </p:spPr>
      </p:pic>
      <p:grpSp>
        <p:nvGrpSpPr>
          <p:cNvPr id="8" name="Group 8"/>
          <p:cNvGrpSpPr/>
          <p:nvPr/>
        </p:nvGrpSpPr>
        <p:grpSpPr>
          <a:xfrm>
            <a:off x="-768988" y="9447772"/>
            <a:ext cx="4393457" cy="839228"/>
            <a:chOff x="0" y="0"/>
            <a:chExt cx="1157124" cy="221031"/>
          </a:xfrm>
        </p:grpSpPr>
        <p:sp>
          <p:nvSpPr>
            <p:cNvPr id="9" name="Freeform 9"/>
            <p:cNvSpPr/>
            <p:nvPr/>
          </p:nvSpPr>
          <p:spPr>
            <a:xfrm>
              <a:off x="0" y="0"/>
              <a:ext cx="1157125" cy="221031"/>
            </a:xfrm>
            <a:custGeom>
              <a:avLst/>
              <a:gdLst/>
              <a:ahLst/>
              <a:cxnLst/>
              <a:rect l="l" t="t" r="r" b="b"/>
              <a:pathLst>
                <a:path w="1157125" h="221031">
                  <a:moveTo>
                    <a:pt x="203200" y="0"/>
                  </a:moveTo>
                  <a:lnTo>
                    <a:pt x="1157125" y="0"/>
                  </a:lnTo>
                  <a:lnTo>
                    <a:pt x="953925" y="221031"/>
                  </a:lnTo>
                  <a:lnTo>
                    <a:pt x="0" y="221031"/>
                  </a:lnTo>
                  <a:lnTo>
                    <a:pt x="203200" y="0"/>
                  </a:lnTo>
                  <a:close/>
                </a:path>
              </a:pathLst>
            </a:custGeom>
            <a:solidFill>
              <a:srgbClr val="0D7377"/>
            </a:solidFill>
          </p:spPr>
        </p:sp>
        <p:sp>
          <p:nvSpPr>
            <p:cNvPr id="10" name="TextBox 10"/>
            <p:cNvSpPr txBox="1"/>
            <p:nvPr/>
          </p:nvSpPr>
          <p:spPr>
            <a:xfrm>
              <a:off x="101600" y="-38100"/>
              <a:ext cx="609600" cy="647700"/>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2478202" y="9258300"/>
            <a:ext cx="2664422" cy="1218172"/>
            <a:chOff x="0" y="0"/>
            <a:chExt cx="483446" cy="221031"/>
          </a:xfrm>
        </p:grpSpPr>
        <p:sp>
          <p:nvSpPr>
            <p:cNvPr id="15" name="Freeform 15"/>
            <p:cNvSpPr/>
            <p:nvPr/>
          </p:nvSpPr>
          <p:spPr>
            <a:xfrm>
              <a:off x="0" y="0"/>
              <a:ext cx="483446" cy="221031"/>
            </a:xfrm>
            <a:custGeom>
              <a:avLst/>
              <a:gdLst/>
              <a:ahLst/>
              <a:cxnLst/>
              <a:rect l="l" t="t" r="r" b="b"/>
              <a:pathLst>
                <a:path w="483446" h="221031">
                  <a:moveTo>
                    <a:pt x="203200" y="0"/>
                  </a:moveTo>
                  <a:lnTo>
                    <a:pt x="483446" y="0"/>
                  </a:lnTo>
                  <a:lnTo>
                    <a:pt x="280246" y="221031"/>
                  </a:lnTo>
                  <a:lnTo>
                    <a:pt x="0" y="221031"/>
                  </a:lnTo>
                  <a:lnTo>
                    <a:pt x="203200" y="0"/>
                  </a:lnTo>
                  <a:close/>
                </a:path>
              </a:pathLst>
            </a:custGeom>
            <a:solidFill>
              <a:srgbClr val="969393"/>
            </a:solidFill>
          </p:spPr>
        </p:sp>
        <p:sp>
          <p:nvSpPr>
            <p:cNvPr id="16" name="TextBox 16"/>
            <p:cNvSpPr txBox="1"/>
            <p:nvPr/>
          </p:nvSpPr>
          <p:spPr>
            <a:xfrm>
              <a:off x="101600" y="-38100"/>
              <a:ext cx="609600" cy="64770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5235591" y="-189472"/>
            <a:ext cx="2664422" cy="1218172"/>
            <a:chOff x="0" y="0"/>
            <a:chExt cx="483446" cy="221031"/>
          </a:xfrm>
        </p:grpSpPr>
        <p:sp>
          <p:nvSpPr>
            <p:cNvPr id="18" name="Freeform 18"/>
            <p:cNvSpPr/>
            <p:nvPr/>
          </p:nvSpPr>
          <p:spPr>
            <a:xfrm>
              <a:off x="0" y="0"/>
              <a:ext cx="483446" cy="221031"/>
            </a:xfrm>
            <a:custGeom>
              <a:avLst/>
              <a:gdLst/>
              <a:ahLst/>
              <a:cxnLst/>
              <a:rect l="l" t="t" r="r" b="b"/>
              <a:pathLst>
                <a:path w="483446" h="221031">
                  <a:moveTo>
                    <a:pt x="203200" y="0"/>
                  </a:moveTo>
                  <a:lnTo>
                    <a:pt x="483446" y="0"/>
                  </a:lnTo>
                  <a:lnTo>
                    <a:pt x="280246" y="221031"/>
                  </a:lnTo>
                  <a:lnTo>
                    <a:pt x="0" y="221031"/>
                  </a:lnTo>
                  <a:lnTo>
                    <a:pt x="203200" y="0"/>
                  </a:lnTo>
                  <a:close/>
                </a:path>
              </a:pathLst>
            </a:custGeom>
            <a:solidFill>
              <a:srgbClr val="969393"/>
            </a:solidFill>
          </p:spPr>
        </p:sp>
        <p:sp>
          <p:nvSpPr>
            <p:cNvPr id="19" name="TextBox 19"/>
            <p:cNvSpPr txBox="1"/>
            <p:nvPr/>
          </p:nvSpPr>
          <p:spPr>
            <a:xfrm>
              <a:off x="101600" y="-38100"/>
              <a:ext cx="609600" cy="647700"/>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4088612" y="9258300"/>
            <a:ext cx="2664422" cy="1218172"/>
            <a:chOff x="0" y="0"/>
            <a:chExt cx="483446" cy="221031"/>
          </a:xfrm>
        </p:grpSpPr>
        <p:sp>
          <p:nvSpPr>
            <p:cNvPr id="21" name="Freeform 21"/>
            <p:cNvSpPr/>
            <p:nvPr/>
          </p:nvSpPr>
          <p:spPr>
            <a:xfrm>
              <a:off x="0" y="0"/>
              <a:ext cx="483446" cy="221031"/>
            </a:xfrm>
            <a:custGeom>
              <a:avLst/>
              <a:gdLst/>
              <a:ahLst/>
              <a:cxnLst/>
              <a:rect l="l" t="t" r="r" b="b"/>
              <a:pathLst>
                <a:path w="483446" h="221031">
                  <a:moveTo>
                    <a:pt x="203200" y="0"/>
                  </a:moveTo>
                  <a:lnTo>
                    <a:pt x="483446" y="0"/>
                  </a:lnTo>
                  <a:lnTo>
                    <a:pt x="280246" y="221031"/>
                  </a:lnTo>
                  <a:lnTo>
                    <a:pt x="0" y="221031"/>
                  </a:lnTo>
                  <a:lnTo>
                    <a:pt x="203200" y="0"/>
                  </a:lnTo>
                  <a:close/>
                </a:path>
              </a:pathLst>
            </a:custGeom>
            <a:solidFill>
              <a:srgbClr val="0D7377"/>
            </a:solidFill>
          </p:spPr>
        </p:sp>
        <p:sp>
          <p:nvSpPr>
            <p:cNvPr id="22" name="TextBox 22"/>
            <p:cNvSpPr txBox="1"/>
            <p:nvPr/>
          </p:nvSpPr>
          <p:spPr>
            <a:xfrm>
              <a:off x="101600" y="-38100"/>
              <a:ext cx="609600" cy="647700"/>
            </a:xfrm>
            <a:prstGeom prst="rect">
              <a:avLst/>
            </a:prstGeom>
          </p:spPr>
          <p:txBody>
            <a:bodyPr lIns="50800" tIns="50800" rIns="50800" bIns="50800" rtlCol="0" anchor="ctr"/>
            <a:lstStyle/>
            <a:p>
              <a:pPr algn="ctr">
                <a:lnSpc>
                  <a:spcPts val="2659"/>
                </a:lnSpc>
              </a:pPr>
              <a:endParaRPr/>
            </a:p>
          </p:txBody>
        </p:sp>
      </p:grpSp>
      <p:grpSp>
        <p:nvGrpSpPr>
          <p:cNvPr id="23" name="Group 23"/>
          <p:cNvGrpSpPr/>
          <p:nvPr/>
        </p:nvGrpSpPr>
        <p:grpSpPr>
          <a:xfrm>
            <a:off x="16846001" y="-189472"/>
            <a:ext cx="2664422" cy="1218172"/>
            <a:chOff x="0" y="0"/>
            <a:chExt cx="483446" cy="221031"/>
          </a:xfrm>
        </p:grpSpPr>
        <p:sp>
          <p:nvSpPr>
            <p:cNvPr id="24" name="Freeform 24"/>
            <p:cNvSpPr/>
            <p:nvPr/>
          </p:nvSpPr>
          <p:spPr>
            <a:xfrm>
              <a:off x="0" y="0"/>
              <a:ext cx="483446" cy="221031"/>
            </a:xfrm>
            <a:custGeom>
              <a:avLst/>
              <a:gdLst/>
              <a:ahLst/>
              <a:cxnLst/>
              <a:rect l="l" t="t" r="r" b="b"/>
              <a:pathLst>
                <a:path w="483446" h="221031">
                  <a:moveTo>
                    <a:pt x="203200" y="0"/>
                  </a:moveTo>
                  <a:lnTo>
                    <a:pt x="483446" y="0"/>
                  </a:lnTo>
                  <a:lnTo>
                    <a:pt x="280246" y="221031"/>
                  </a:lnTo>
                  <a:lnTo>
                    <a:pt x="0" y="221031"/>
                  </a:lnTo>
                  <a:lnTo>
                    <a:pt x="203200" y="0"/>
                  </a:lnTo>
                  <a:close/>
                </a:path>
              </a:pathLst>
            </a:custGeom>
            <a:solidFill>
              <a:srgbClr val="0D7377"/>
            </a:solidFill>
          </p:spPr>
        </p:sp>
        <p:sp>
          <p:nvSpPr>
            <p:cNvPr id="25" name="TextBox 25"/>
            <p:cNvSpPr txBox="1"/>
            <p:nvPr/>
          </p:nvSpPr>
          <p:spPr>
            <a:xfrm>
              <a:off x="101600" y="-38100"/>
              <a:ext cx="609600" cy="647700"/>
            </a:xfrm>
            <a:prstGeom prst="rect">
              <a:avLst/>
            </a:prstGeom>
          </p:spPr>
          <p:txBody>
            <a:bodyPr lIns="50800" tIns="50800" rIns="50800" bIns="50800" rtlCol="0" anchor="ctr"/>
            <a:lstStyle/>
            <a:p>
              <a:pPr algn="ctr">
                <a:lnSpc>
                  <a:spcPts val="2659"/>
                </a:lnSpc>
              </a:pPr>
              <a:endParaRPr/>
            </a:p>
          </p:txBody>
        </p:sp>
      </p:grpSp>
      <p:sp>
        <p:nvSpPr>
          <p:cNvPr id="32" name="TextBox 32"/>
          <p:cNvSpPr txBox="1"/>
          <p:nvPr/>
        </p:nvSpPr>
        <p:spPr>
          <a:xfrm>
            <a:off x="929046" y="1943348"/>
            <a:ext cx="12114373" cy="2821285"/>
          </a:xfrm>
          <a:prstGeom prst="rect">
            <a:avLst/>
          </a:prstGeom>
        </p:spPr>
        <p:txBody>
          <a:bodyPr wrap="square" lIns="0" tIns="0" rIns="0" bIns="0" rtlCol="0" anchor="t">
            <a:spAutoFit/>
          </a:bodyPr>
          <a:lstStyle/>
          <a:p>
            <a:pPr>
              <a:lnSpc>
                <a:spcPts val="11000"/>
              </a:lnSpc>
            </a:pPr>
            <a:r>
              <a:rPr lang="en-US" sz="6600" dirty="0" smtClean="0">
                <a:solidFill>
                  <a:srgbClr val="606060"/>
                </a:solidFill>
                <a:latin typeface="League Spartan"/>
              </a:rPr>
              <a:t>A GRADUATE THESIS </a:t>
            </a:r>
            <a:r>
              <a:rPr lang="en-US" sz="6600" dirty="0" smtClean="0">
                <a:solidFill>
                  <a:srgbClr val="606060"/>
                </a:solidFill>
                <a:latin typeface="League Spartan"/>
              </a:rPr>
              <a:t>DEFENCE</a:t>
            </a:r>
            <a:endParaRPr lang="en-US" sz="6600" dirty="0">
              <a:solidFill>
                <a:srgbClr val="606060"/>
              </a:solidFill>
              <a:latin typeface="League Spartan"/>
            </a:endParaRPr>
          </a:p>
        </p:txBody>
      </p:sp>
      <p:sp>
        <p:nvSpPr>
          <p:cNvPr id="33" name="TextBox 33"/>
          <p:cNvSpPr txBox="1"/>
          <p:nvPr/>
        </p:nvSpPr>
        <p:spPr>
          <a:xfrm>
            <a:off x="4350656" y="6085657"/>
            <a:ext cx="8103292" cy="1661993"/>
          </a:xfrm>
          <a:prstGeom prst="rect">
            <a:avLst/>
          </a:prstGeom>
        </p:spPr>
        <p:txBody>
          <a:bodyPr wrap="square" lIns="0" tIns="0" rIns="0" bIns="0" rtlCol="0" anchor="t">
            <a:spAutoFit/>
          </a:bodyPr>
          <a:lstStyle/>
          <a:p>
            <a:r>
              <a:rPr lang="en-US" sz="3600" spc="128" dirty="0" smtClean="0">
                <a:solidFill>
                  <a:srgbClr val="005C2A"/>
                </a:solidFill>
                <a:latin typeface="Montserrat Semi-Bold"/>
              </a:rPr>
              <a:t>PRESENTER: </a:t>
            </a:r>
          </a:p>
          <a:p>
            <a:r>
              <a:rPr lang="en-US" sz="3600" u="sng" spc="128" dirty="0" smtClean="0">
                <a:solidFill>
                  <a:srgbClr val="005C2A"/>
                </a:solidFill>
                <a:latin typeface="Montserrat Semi-Bold"/>
              </a:rPr>
              <a:t>JOHAYBER C. SARIP</a:t>
            </a:r>
          </a:p>
          <a:p>
            <a:r>
              <a:rPr lang="en-US" sz="3200" b="1" spc="128" dirty="0" smtClean="0">
                <a:solidFill>
                  <a:srgbClr val="005C2A"/>
                </a:solidFill>
                <a:latin typeface="Montserrat Semi-Bold"/>
              </a:rPr>
              <a:t>II-MS CHEMISTRY</a:t>
            </a:r>
            <a:endParaRPr lang="en-US" sz="3200" b="1" spc="128" dirty="0">
              <a:solidFill>
                <a:srgbClr val="005C2A"/>
              </a:solidFill>
              <a:latin typeface="Montserrat Semi-Bold"/>
            </a:endParaRPr>
          </a:p>
        </p:txBody>
      </p:sp>
      <p:sp>
        <p:nvSpPr>
          <p:cNvPr id="35" name="AutoShape 35"/>
          <p:cNvSpPr/>
          <p:nvPr/>
        </p:nvSpPr>
        <p:spPr>
          <a:xfrm rot="-3705113">
            <a:off x="14301451" y="6522576"/>
            <a:ext cx="3317663" cy="0"/>
          </a:xfrm>
          <a:prstGeom prst="line">
            <a:avLst/>
          </a:prstGeom>
          <a:ln w="85725" cap="flat">
            <a:solidFill>
              <a:srgbClr val="FFFFFF"/>
            </a:solidFill>
            <a:prstDash val="solid"/>
            <a:headEnd type="none" w="sm" len="sm"/>
            <a:tailEnd type="none" w="sm" len="sm"/>
          </a:ln>
        </p:spPr>
      </p:sp>
      <p:sp>
        <p:nvSpPr>
          <p:cNvPr id="36" name="AutoShape 36"/>
          <p:cNvSpPr/>
          <p:nvPr/>
        </p:nvSpPr>
        <p:spPr>
          <a:xfrm rot="-7186693">
            <a:off x="14263267" y="3658214"/>
            <a:ext cx="3317663" cy="0"/>
          </a:xfrm>
          <a:prstGeom prst="line">
            <a:avLst/>
          </a:prstGeom>
          <a:ln w="85725" cap="flat">
            <a:solidFill>
              <a:srgbClr val="FFFFFF"/>
            </a:solidFill>
            <a:prstDash val="solid"/>
            <a:headEnd type="none" w="sm" len="sm"/>
            <a:tailEnd type="none" w="sm" len="sm"/>
          </a:ln>
        </p:spPr>
      </p:sp>
      <p:pic>
        <p:nvPicPr>
          <p:cNvPr id="37" name="Picture 3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34142" y="179393"/>
            <a:ext cx="1370097" cy="1370097"/>
          </a:xfrm>
          <a:prstGeom prst="rect">
            <a:avLst/>
          </a:prstGeom>
          <a:blipFill>
            <a:blip r:embed="rId4"/>
            <a:stretch>
              <a:fillRect/>
            </a:stretch>
          </a:blipFill>
        </p:spPr>
      </p:pic>
      <p:pic>
        <p:nvPicPr>
          <p:cNvPr id="38" name="Picture 3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773509" y="65743"/>
            <a:ext cx="1482879" cy="1523658"/>
          </a:xfrm>
          <a:prstGeom prst="rect">
            <a:avLst/>
          </a:prstGeom>
        </p:spPr>
      </p:pic>
      <p:pic>
        <p:nvPicPr>
          <p:cNvPr id="39" name="Picture 3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49783" y="168482"/>
            <a:ext cx="1345972" cy="1371773"/>
          </a:xfrm>
          <a:prstGeom prst="rect">
            <a:avLst/>
          </a:prstGeom>
        </p:spPr>
      </p:pic>
      <p:pic>
        <p:nvPicPr>
          <p:cNvPr id="42" name="Picture 41"/>
          <p:cNvPicPr>
            <a:picLocks noChangeAspect="1"/>
          </p:cNvPicPr>
          <p:nvPr/>
        </p:nvPicPr>
        <p:blipFill>
          <a:blip r:embed="rId7"/>
          <a:stretch>
            <a:fillRect/>
          </a:stretch>
        </p:blipFill>
        <p:spPr>
          <a:xfrm>
            <a:off x="10668000" y="2218424"/>
            <a:ext cx="7608432" cy="5260423"/>
          </a:xfrm>
          <a:prstGeom prst="rect">
            <a:avLst/>
          </a:prstGeom>
        </p:spPr>
      </p:pic>
      <p:sp>
        <p:nvSpPr>
          <p:cNvPr id="46" name="Freeform 9"/>
          <p:cNvSpPr/>
          <p:nvPr/>
        </p:nvSpPr>
        <p:spPr>
          <a:xfrm>
            <a:off x="11739885" y="73508"/>
            <a:ext cx="4393461" cy="839228"/>
          </a:xfrm>
          <a:custGeom>
            <a:avLst/>
            <a:gdLst/>
            <a:ahLst/>
            <a:cxnLst/>
            <a:rect l="l" t="t" r="r" b="b"/>
            <a:pathLst>
              <a:path w="1157125" h="221031">
                <a:moveTo>
                  <a:pt x="203200" y="0"/>
                </a:moveTo>
                <a:lnTo>
                  <a:pt x="1157125" y="0"/>
                </a:lnTo>
                <a:lnTo>
                  <a:pt x="953925" y="221031"/>
                </a:lnTo>
                <a:lnTo>
                  <a:pt x="0" y="221031"/>
                </a:lnTo>
                <a:lnTo>
                  <a:pt x="203200" y="0"/>
                </a:lnTo>
                <a:close/>
              </a:path>
            </a:pathLst>
          </a:custGeom>
          <a:solidFill>
            <a:srgbClr val="0D7377"/>
          </a:solidFill>
        </p:spPr>
      </p:sp>
      <p:pic>
        <p:nvPicPr>
          <p:cNvPr id="48" name="Picture 47"/>
          <p:cNvPicPr>
            <a:picLocks noChangeAspect="1"/>
          </p:cNvPicPr>
          <p:nvPr/>
        </p:nvPicPr>
        <p:blipFill>
          <a:blip r:embed="rId2"/>
          <a:stretch>
            <a:fillRect/>
          </a:stretch>
        </p:blipFill>
        <p:spPr>
          <a:xfrm rot="10800000" flipV="1">
            <a:off x="282143" y="1650046"/>
            <a:ext cx="15899363" cy="232657"/>
          </a:xfrm>
          <a:prstGeom prst="rect">
            <a:avLst/>
          </a:prstGeom>
        </p:spPr>
      </p:pic>
      <p:grpSp>
        <p:nvGrpSpPr>
          <p:cNvPr id="56" name="Group 26"/>
          <p:cNvGrpSpPr/>
          <p:nvPr/>
        </p:nvGrpSpPr>
        <p:grpSpPr>
          <a:xfrm rot="5400000">
            <a:off x="1371358" y="5295660"/>
            <a:ext cx="1981684" cy="1828800"/>
            <a:chOff x="0" y="0"/>
            <a:chExt cx="6350000" cy="5532120"/>
          </a:xfrm>
        </p:grpSpPr>
        <p:sp>
          <p:nvSpPr>
            <p:cNvPr id="57" name="Freeform 27"/>
            <p:cNvSpPr/>
            <p:nvPr/>
          </p:nvSpPr>
          <p:spPr>
            <a:xfrm>
              <a:off x="0" y="0"/>
              <a:ext cx="6350000" cy="5532120"/>
            </a:xfrm>
            <a:custGeom>
              <a:avLst/>
              <a:gdLst/>
              <a:ahLst/>
              <a:cxnLst/>
              <a:rect l="l" t="t" r="r" b="b"/>
              <a:pathLst>
                <a:path w="6350000" h="5532120">
                  <a:moveTo>
                    <a:pt x="4762500" y="0"/>
                  </a:moveTo>
                  <a:lnTo>
                    <a:pt x="1587500" y="0"/>
                  </a:lnTo>
                  <a:lnTo>
                    <a:pt x="0" y="2766060"/>
                  </a:lnTo>
                  <a:lnTo>
                    <a:pt x="1587500" y="5532120"/>
                  </a:lnTo>
                  <a:lnTo>
                    <a:pt x="4762500" y="5532120"/>
                  </a:lnTo>
                  <a:lnTo>
                    <a:pt x="6350000" y="2766060"/>
                  </a:lnTo>
                  <a:lnTo>
                    <a:pt x="4762500" y="0"/>
                  </a:lnTo>
                  <a:lnTo>
                    <a:pt x="4762500" y="0"/>
                  </a:lnTo>
                  <a:close/>
                  <a:moveTo>
                    <a:pt x="4676140" y="5382260"/>
                  </a:moveTo>
                  <a:lnTo>
                    <a:pt x="1673860" y="5382260"/>
                  </a:lnTo>
                  <a:lnTo>
                    <a:pt x="172720" y="2766060"/>
                  </a:lnTo>
                  <a:lnTo>
                    <a:pt x="1673860" y="149860"/>
                  </a:lnTo>
                  <a:lnTo>
                    <a:pt x="4676140" y="149860"/>
                  </a:lnTo>
                  <a:lnTo>
                    <a:pt x="6177280" y="2766060"/>
                  </a:lnTo>
                  <a:lnTo>
                    <a:pt x="4676140" y="5382260"/>
                  </a:lnTo>
                  <a:close/>
                </a:path>
              </a:pathLst>
            </a:custGeom>
            <a:solidFill>
              <a:srgbClr val="FFFFFF"/>
            </a:solidFill>
          </p:spPr>
        </p:sp>
      </p:grpSp>
      <p:pic>
        <p:nvPicPr>
          <p:cNvPr id="69" name="Picture 68"/>
          <p:cNvPicPr>
            <a:picLocks noChangeAspect="1"/>
          </p:cNvPicPr>
          <p:nvPr/>
        </p:nvPicPr>
        <p:blipFill>
          <a:blip r:embed="rId7"/>
          <a:stretch>
            <a:fillRect/>
          </a:stretch>
        </p:blipFill>
        <p:spPr>
          <a:xfrm rot="10800000">
            <a:off x="49143" y="5558761"/>
            <a:ext cx="4088249" cy="2693245"/>
          </a:xfrm>
          <a:prstGeom prst="rect">
            <a:avLst/>
          </a:prstGeom>
        </p:spPr>
      </p:pic>
      <p:sp>
        <p:nvSpPr>
          <p:cNvPr id="73" name="Hexagon 72"/>
          <p:cNvSpPr/>
          <p:nvPr/>
        </p:nvSpPr>
        <p:spPr>
          <a:xfrm>
            <a:off x="1505647" y="5905501"/>
            <a:ext cx="2232961" cy="2005878"/>
          </a:xfrm>
          <a:prstGeom prst="hexagon">
            <a:avLst>
              <a:gd name="adj" fmla="val 27085"/>
              <a:gd name="vf" fmla="val 115470"/>
            </a:avLst>
          </a:prstGeom>
          <a:blipFill>
            <a:blip r:embed="rId8"/>
            <a:stretch>
              <a:fillRect b="-6420"/>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543860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8"/>
          <p:cNvGrpSpPr/>
          <p:nvPr/>
        </p:nvGrpSpPr>
        <p:grpSpPr>
          <a:xfrm>
            <a:off x="-768988" y="9447772"/>
            <a:ext cx="4393457" cy="839228"/>
            <a:chOff x="0" y="0"/>
            <a:chExt cx="1157124" cy="221031"/>
          </a:xfrm>
        </p:grpSpPr>
        <p:sp>
          <p:nvSpPr>
            <p:cNvPr id="9" name="Freeform 9"/>
            <p:cNvSpPr/>
            <p:nvPr/>
          </p:nvSpPr>
          <p:spPr>
            <a:xfrm>
              <a:off x="0" y="0"/>
              <a:ext cx="1157125" cy="221031"/>
            </a:xfrm>
            <a:custGeom>
              <a:avLst/>
              <a:gdLst/>
              <a:ahLst/>
              <a:cxnLst/>
              <a:rect l="l" t="t" r="r" b="b"/>
              <a:pathLst>
                <a:path w="1157125" h="221031">
                  <a:moveTo>
                    <a:pt x="203200" y="0"/>
                  </a:moveTo>
                  <a:lnTo>
                    <a:pt x="1157125" y="0"/>
                  </a:lnTo>
                  <a:lnTo>
                    <a:pt x="953925" y="221031"/>
                  </a:lnTo>
                  <a:lnTo>
                    <a:pt x="0" y="221031"/>
                  </a:lnTo>
                  <a:lnTo>
                    <a:pt x="203200" y="0"/>
                  </a:lnTo>
                  <a:close/>
                </a:path>
              </a:pathLst>
            </a:custGeom>
            <a:solidFill>
              <a:srgbClr val="0D7377"/>
            </a:solidFill>
          </p:spPr>
        </p:sp>
        <p:sp>
          <p:nvSpPr>
            <p:cNvPr id="10" name="TextBox 10"/>
            <p:cNvSpPr txBox="1"/>
            <p:nvPr/>
          </p:nvSpPr>
          <p:spPr>
            <a:xfrm>
              <a:off x="101600" y="-38100"/>
              <a:ext cx="609600" cy="647700"/>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2478202" y="9258300"/>
            <a:ext cx="2664422" cy="1218172"/>
            <a:chOff x="0" y="0"/>
            <a:chExt cx="483446" cy="221031"/>
          </a:xfrm>
        </p:grpSpPr>
        <p:sp>
          <p:nvSpPr>
            <p:cNvPr id="15" name="Freeform 15"/>
            <p:cNvSpPr/>
            <p:nvPr/>
          </p:nvSpPr>
          <p:spPr>
            <a:xfrm>
              <a:off x="0" y="0"/>
              <a:ext cx="483446" cy="221031"/>
            </a:xfrm>
            <a:custGeom>
              <a:avLst/>
              <a:gdLst/>
              <a:ahLst/>
              <a:cxnLst/>
              <a:rect l="l" t="t" r="r" b="b"/>
              <a:pathLst>
                <a:path w="483446" h="221031">
                  <a:moveTo>
                    <a:pt x="203200" y="0"/>
                  </a:moveTo>
                  <a:lnTo>
                    <a:pt x="483446" y="0"/>
                  </a:lnTo>
                  <a:lnTo>
                    <a:pt x="280246" y="221031"/>
                  </a:lnTo>
                  <a:lnTo>
                    <a:pt x="0" y="221031"/>
                  </a:lnTo>
                  <a:lnTo>
                    <a:pt x="203200" y="0"/>
                  </a:lnTo>
                  <a:close/>
                </a:path>
              </a:pathLst>
            </a:custGeom>
            <a:solidFill>
              <a:srgbClr val="969393"/>
            </a:solidFill>
          </p:spPr>
        </p:sp>
        <p:sp>
          <p:nvSpPr>
            <p:cNvPr id="16" name="TextBox 16"/>
            <p:cNvSpPr txBox="1"/>
            <p:nvPr/>
          </p:nvSpPr>
          <p:spPr>
            <a:xfrm>
              <a:off x="101600" y="-38100"/>
              <a:ext cx="609600" cy="64770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5235591" y="-189472"/>
            <a:ext cx="2664422" cy="1218172"/>
            <a:chOff x="0" y="0"/>
            <a:chExt cx="483446" cy="221031"/>
          </a:xfrm>
        </p:grpSpPr>
        <p:sp>
          <p:nvSpPr>
            <p:cNvPr id="18" name="Freeform 18"/>
            <p:cNvSpPr/>
            <p:nvPr/>
          </p:nvSpPr>
          <p:spPr>
            <a:xfrm>
              <a:off x="0" y="0"/>
              <a:ext cx="483446" cy="221031"/>
            </a:xfrm>
            <a:custGeom>
              <a:avLst/>
              <a:gdLst/>
              <a:ahLst/>
              <a:cxnLst/>
              <a:rect l="l" t="t" r="r" b="b"/>
              <a:pathLst>
                <a:path w="483446" h="221031">
                  <a:moveTo>
                    <a:pt x="203200" y="0"/>
                  </a:moveTo>
                  <a:lnTo>
                    <a:pt x="483446" y="0"/>
                  </a:lnTo>
                  <a:lnTo>
                    <a:pt x="280246" y="221031"/>
                  </a:lnTo>
                  <a:lnTo>
                    <a:pt x="0" y="221031"/>
                  </a:lnTo>
                  <a:lnTo>
                    <a:pt x="203200" y="0"/>
                  </a:lnTo>
                  <a:close/>
                </a:path>
              </a:pathLst>
            </a:custGeom>
            <a:solidFill>
              <a:srgbClr val="969393"/>
            </a:solidFill>
          </p:spPr>
        </p:sp>
        <p:sp>
          <p:nvSpPr>
            <p:cNvPr id="19" name="TextBox 19"/>
            <p:cNvSpPr txBox="1"/>
            <p:nvPr/>
          </p:nvSpPr>
          <p:spPr>
            <a:xfrm>
              <a:off x="101600" y="-38100"/>
              <a:ext cx="609600" cy="647700"/>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4088612" y="9258300"/>
            <a:ext cx="2664422" cy="1218172"/>
            <a:chOff x="0" y="0"/>
            <a:chExt cx="483446" cy="221031"/>
          </a:xfrm>
        </p:grpSpPr>
        <p:sp>
          <p:nvSpPr>
            <p:cNvPr id="21" name="Freeform 21"/>
            <p:cNvSpPr/>
            <p:nvPr/>
          </p:nvSpPr>
          <p:spPr>
            <a:xfrm>
              <a:off x="0" y="0"/>
              <a:ext cx="483446" cy="221031"/>
            </a:xfrm>
            <a:custGeom>
              <a:avLst/>
              <a:gdLst/>
              <a:ahLst/>
              <a:cxnLst/>
              <a:rect l="l" t="t" r="r" b="b"/>
              <a:pathLst>
                <a:path w="483446" h="221031">
                  <a:moveTo>
                    <a:pt x="203200" y="0"/>
                  </a:moveTo>
                  <a:lnTo>
                    <a:pt x="483446" y="0"/>
                  </a:lnTo>
                  <a:lnTo>
                    <a:pt x="280246" y="221031"/>
                  </a:lnTo>
                  <a:lnTo>
                    <a:pt x="0" y="221031"/>
                  </a:lnTo>
                  <a:lnTo>
                    <a:pt x="203200" y="0"/>
                  </a:lnTo>
                  <a:close/>
                </a:path>
              </a:pathLst>
            </a:custGeom>
            <a:solidFill>
              <a:srgbClr val="0D7377"/>
            </a:solidFill>
          </p:spPr>
        </p:sp>
        <p:sp>
          <p:nvSpPr>
            <p:cNvPr id="22" name="TextBox 22"/>
            <p:cNvSpPr txBox="1"/>
            <p:nvPr/>
          </p:nvSpPr>
          <p:spPr>
            <a:xfrm>
              <a:off x="101600" y="-38100"/>
              <a:ext cx="609600" cy="647700"/>
            </a:xfrm>
            <a:prstGeom prst="rect">
              <a:avLst/>
            </a:prstGeom>
          </p:spPr>
          <p:txBody>
            <a:bodyPr lIns="50800" tIns="50800" rIns="50800" bIns="50800" rtlCol="0" anchor="ctr"/>
            <a:lstStyle/>
            <a:p>
              <a:pPr algn="ctr">
                <a:lnSpc>
                  <a:spcPts val="2659"/>
                </a:lnSpc>
              </a:pPr>
              <a:endParaRPr/>
            </a:p>
          </p:txBody>
        </p:sp>
      </p:grpSp>
      <p:grpSp>
        <p:nvGrpSpPr>
          <p:cNvPr id="23" name="Group 23"/>
          <p:cNvGrpSpPr/>
          <p:nvPr/>
        </p:nvGrpSpPr>
        <p:grpSpPr>
          <a:xfrm>
            <a:off x="16846001" y="-189472"/>
            <a:ext cx="2664422" cy="1218172"/>
            <a:chOff x="0" y="0"/>
            <a:chExt cx="483446" cy="221031"/>
          </a:xfrm>
        </p:grpSpPr>
        <p:sp>
          <p:nvSpPr>
            <p:cNvPr id="24" name="Freeform 24"/>
            <p:cNvSpPr/>
            <p:nvPr/>
          </p:nvSpPr>
          <p:spPr>
            <a:xfrm>
              <a:off x="0" y="0"/>
              <a:ext cx="483446" cy="221031"/>
            </a:xfrm>
            <a:custGeom>
              <a:avLst/>
              <a:gdLst/>
              <a:ahLst/>
              <a:cxnLst/>
              <a:rect l="l" t="t" r="r" b="b"/>
              <a:pathLst>
                <a:path w="483446" h="221031">
                  <a:moveTo>
                    <a:pt x="203200" y="0"/>
                  </a:moveTo>
                  <a:lnTo>
                    <a:pt x="483446" y="0"/>
                  </a:lnTo>
                  <a:lnTo>
                    <a:pt x="280246" y="221031"/>
                  </a:lnTo>
                  <a:lnTo>
                    <a:pt x="0" y="221031"/>
                  </a:lnTo>
                  <a:lnTo>
                    <a:pt x="203200" y="0"/>
                  </a:lnTo>
                  <a:close/>
                </a:path>
              </a:pathLst>
            </a:custGeom>
            <a:solidFill>
              <a:srgbClr val="0D7377"/>
            </a:solidFill>
          </p:spPr>
        </p:sp>
        <p:sp>
          <p:nvSpPr>
            <p:cNvPr id="25" name="TextBox 25"/>
            <p:cNvSpPr txBox="1"/>
            <p:nvPr/>
          </p:nvSpPr>
          <p:spPr>
            <a:xfrm>
              <a:off x="101600" y="-38100"/>
              <a:ext cx="609600" cy="647700"/>
            </a:xfrm>
            <a:prstGeom prst="rect">
              <a:avLst/>
            </a:prstGeom>
          </p:spPr>
          <p:txBody>
            <a:bodyPr lIns="50800" tIns="50800" rIns="50800" bIns="50800" rtlCol="0" anchor="ctr"/>
            <a:lstStyle/>
            <a:p>
              <a:pPr algn="ctr">
                <a:lnSpc>
                  <a:spcPts val="2659"/>
                </a:lnSpc>
              </a:pPr>
              <a:endParaRPr/>
            </a:p>
          </p:txBody>
        </p:sp>
      </p:grpSp>
      <p:sp>
        <p:nvSpPr>
          <p:cNvPr id="46" name="Freeform 9"/>
          <p:cNvSpPr/>
          <p:nvPr/>
        </p:nvSpPr>
        <p:spPr>
          <a:xfrm>
            <a:off x="11739885" y="73508"/>
            <a:ext cx="4393461" cy="839228"/>
          </a:xfrm>
          <a:custGeom>
            <a:avLst/>
            <a:gdLst/>
            <a:ahLst/>
            <a:cxnLst/>
            <a:rect l="l" t="t" r="r" b="b"/>
            <a:pathLst>
              <a:path w="1157125" h="221031">
                <a:moveTo>
                  <a:pt x="203200" y="0"/>
                </a:moveTo>
                <a:lnTo>
                  <a:pt x="1157125" y="0"/>
                </a:lnTo>
                <a:lnTo>
                  <a:pt x="953925" y="221031"/>
                </a:lnTo>
                <a:lnTo>
                  <a:pt x="0" y="221031"/>
                </a:lnTo>
                <a:lnTo>
                  <a:pt x="203200" y="0"/>
                </a:lnTo>
                <a:close/>
              </a:path>
            </a:pathLst>
          </a:custGeom>
          <a:solidFill>
            <a:srgbClr val="0D7377"/>
          </a:solidFill>
        </p:spPr>
      </p:sp>
      <p:grpSp>
        <p:nvGrpSpPr>
          <p:cNvPr id="56" name="Group 26"/>
          <p:cNvGrpSpPr/>
          <p:nvPr/>
        </p:nvGrpSpPr>
        <p:grpSpPr>
          <a:xfrm rot="5400000">
            <a:off x="1602414" y="5954160"/>
            <a:ext cx="1981684" cy="1828800"/>
            <a:chOff x="0" y="0"/>
            <a:chExt cx="6350000" cy="5532120"/>
          </a:xfrm>
        </p:grpSpPr>
        <p:sp>
          <p:nvSpPr>
            <p:cNvPr id="57" name="Freeform 27"/>
            <p:cNvSpPr/>
            <p:nvPr/>
          </p:nvSpPr>
          <p:spPr>
            <a:xfrm>
              <a:off x="0" y="0"/>
              <a:ext cx="6350000" cy="5532120"/>
            </a:xfrm>
            <a:custGeom>
              <a:avLst/>
              <a:gdLst/>
              <a:ahLst/>
              <a:cxnLst/>
              <a:rect l="l" t="t" r="r" b="b"/>
              <a:pathLst>
                <a:path w="6350000" h="5532120">
                  <a:moveTo>
                    <a:pt x="4762500" y="0"/>
                  </a:moveTo>
                  <a:lnTo>
                    <a:pt x="1587500" y="0"/>
                  </a:lnTo>
                  <a:lnTo>
                    <a:pt x="0" y="2766060"/>
                  </a:lnTo>
                  <a:lnTo>
                    <a:pt x="1587500" y="5532120"/>
                  </a:lnTo>
                  <a:lnTo>
                    <a:pt x="4762500" y="5532120"/>
                  </a:lnTo>
                  <a:lnTo>
                    <a:pt x="6350000" y="2766060"/>
                  </a:lnTo>
                  <a:lnTo>
                    <a:pt x="4762500" y="0"/>
                  </a:lnTo>
                  <a:lnTo>
                    <a:pt x="4762500" y="0"/>
                  </a:lnTo>
                  <a:close/>
                  <a:moveTo>
                    <a:pt x="4676140" y="5382260"/>
                  </a:moveTo>
                  <a:lnTo>
                    <a:pt x="1673860" y="5382260"/>
                  </a:lnTo>
                  <a:lnTo>
                    <a:pt x="172720" y="2766060"/>
                  </a:lnTo>
                  <a:lnTo>
                    <a:pt x="1673860" y="149860"/>
                  </a:lnTo>
                  <a:lnTo>
                    <a:pt x="4676140" y="149860"/>
                  </a:lnTo>
                  <a:lnTo>
                    <a:pt x="6177280" y="2766060"/>
                  </a:lnTo>
                  <a:lnTo>
                    <a:pt x="4676140" y="5382260"/>
                  </a:lnTo>
                  <a:close/>
                </a:path>
              </a:pathLst>
            </a:custGeom>
            <a:solidFill>
              <a:srgbClr val="FFFFFF"/>
            </a:solidFill>
            <a:ln>
              <a:solidFill>
                <a:srgbClr val="005C2A"/>
              </a:solidFill>
            </a:ln>
          </p:spPr>
        </p:sp>
      </p:grpSp>
      <p:sp>
        <p:nvSpPr>
          <p:cNvPr id="40" name="TextBox 7"/>
          <p:cNvSpPr txBox="1"/>
          <p:nvPr/>
        </p:nvSpPr>
        <p:spPr>
          <a:xfrm>
            <a:off x="3143196" y="3170227"/>
            <a:ext cx="12595374" cy="3416320"/>
          </a:xfrm>
          <a:prstGeom prst="rect">
            <a:avLst/>
          </a:prstGeom>
        </p:spPr>
        <p:txBody>
          <a:bodyPr wrap="square" lIns="0" tIns="0" rIns="0" bIns="0" rtlCol="0" anchor="t">
            <a:spAutoFit/>
          </a:bodyPr>
          <a:lstStyle/>
          <a:p>
            <a:pPr algn="ctr"/>
            <a:r>
              <a:rPr lang="en-PH" sz="4000" b="1" dirty="0" smtClean="0">
                <a:solidFill>
                  <a:srgbClr val="005C2A"/>
                </a:solidFill>
                <a:latin typeface="Arial" panose="020B0604020202020204" pitchFamily="34" charset="0"/>
                <a:ea typeface="Adobe Fan Heiti Std B" panose="020B0700000000000000" pitchFamily="34" charset="-128"/>
                <a:cs typeface="Arial" panose="020B0604020202020204" pitchFamily="34" charset="0"/>
              </a:rPr>
              <a:t>Characterization In Haustorium, Endosperm, Roots, Shoots, and Leaves of a 3 months and 6 months Germinating (</a:t>
            </a:r>
            <a:r>
              <a:rPr lang="en-PH" sz="4000" b="1" i="1" dirty="0" smtClean="0">
                <a:solidFill>
                  <a:srgbClr val="005C2A"/>
                </a:solidFill>
                <a:latin typeface="Arial" panose="020B0604020202020204" pitchFamily="34" charset="0"/>
                <a:ea typeface="Adobe Fan Heiti Std B" panose="020B0700000000000000" pitchFamily="34" charset="-128"/>
                <a:cs typeface="Arial" panose="020B0604020202020204" pitchFamily="34" charset="0"/>
              </a:rPr>
              <a:t>Cocus Nucifera) Coconut seed</a:t>
            </a:r>
            <a:endParaRPr lang="en-PH" sz="4000" b="1" i="1" dirty="0">
              <a:solidFill>
                <a:srgbClr val="005C2A"/>
              </a:solidFill>
              <a:latin typeface="Arial" panose="020B0604020202020204" pitchFamily="34" charset="0"/>
              <a:ea typeface="Adobe Fan Heiti Std B" panose="020B0700000000000000" pitchFamily="34" charset="-128"/>
              <a:cs typeface="Arial" panose="020B0604020202020204" pitchFamily="34" charset="0"/>
            </a:endParaRPr>
          </a:p>
          <a:p>
            <a:pPr algn="ctr">
              <a:lnSpc>
                <a:spcPct val="150000"/>
              </a:lnSpc>
            </a:pPr>
            <a:endParaRPr lang="en-PH" sz="2000" dirty="0">
              <a:solidFill>
                <a:srgbClr val="820000"/>
              </a:solidFill>
              <a:latin typeface="Arial" panose="020B0604020202020204" pitchFamily="34" charset="0"/>
              <a:ea typeface="Adobe Fan Heiti Std B" panose="020B0700000000000000" pitchFamily="34" charset="-128"/>
              <a:cs typeface="Arial" panose="020B0604020202020204" pitchFamily="34" charset="0"/>
            </a:endParaRPr>
          </a:p>
          <a:p>
            <a:pPr algn="ctr">
              <a:lnSpc>
                <a:spcPct val="100000"/>
              </a:lnSpc>
              <a:spcBef>
                <a:spcPts val="0"/>
              </a:spcBef>
            </a:pPr>
            <a:r>
              <a:rPr lang="en-US" sz="3600" dirty="0" smtClean="0">
                <a:solidFill>
                  <a:srgbClr val="820000"/>
                </a:solidFill>
                <a:latin typeface="Arial" panose="020B0604020202020204" pitchFamily="34" charset="0"/>
                <a:ea typeface="Adobe Fangsong Std R" panose="02020400000000000000" pitchFamily="18" charset="-128"/>
                <a:cs typeface="Arial" panose="020B0604020202020204" pitchFamily="34" charset="0"/>
              </a:rPr>
              <a:t> </a:t>
            </a:r>
          </a:p>
          <a:p>
            <a:pPr algn="ctr">
              <a:lnSpc>
                <a:spcPct val="100000"/>
              </a:lnSpc>
              <a:spcBef>
                <a:spcPts val="0"/>
              </a:spcBef>
            </a:pPr>
            <a:endParaRPr lang="en-US" sz="3600" dirty="0">
              <a:solidFill>
                <a:srgbClr val="820000"/>
              </a:solidFill>
              <a:latin typeface="Arial" panose="020B0604020202020204" pitchFamily="34" charset="0"/>
              <a:ea typeface="Adobe Fangsong Std R" panose="02020400000000000000" pitchFamily="18" charset="-128"/>
              <a:cs typeface="Arial" panose="020B0604020202020204" pitchFamily="34" charset="0"/>
            </a:endParaRPr>
          </a:p>
        </p:txBody>
      </p:sp>
      <p:pic>
        <p:nvPicPr>
          <p:cNvPr id="41" name="Picture 40"/>
          <p:cNvPicPr>
            <a:picLocks noChangeAspect="1"/>
          </p:cNvPicPr>
          <p:nvPr/>
        </p:nvPicPr>
        <p:blipFill>
          <a:blip r:embed="rId2"/>
          <a:stretch>
            <a:fillRect/>
          </a:stretch>
        </p:blipFill>
        <p:spPr>
          <a:xfrm>
            <a:off x="2859898" y="2481204"/>
            <a:ext cx="12848452" cy="310505"/>
          </a:xfrm>
          <a:prstGeom prst="rect">
            <a:avLst/>
          </a:prstGeom>
        </p:spPr>
      </p:pic>
      <p:pic>
        <p:nvPicPr>
          <p:cNvPr id="43" name="Picture 42"/>
          <p:cNvPicPr>
            <a:picLocks noChangeAspect="1"/>
          </p:cNvPicPr>
          <p:nvPr/>
        </p:nvPicPr>
        <p:blipFill>
          <a:blip r:embed="rId2"/>
          <a:stretch>
            <a:fillRect/>
          </a:stretch>
        </p:blipFill>
        <p:spPr>
          <a:xfrm>
            <a:off x="4068167" y="5561187"/>
            <a:ext cx="10231218" cy="247255"/>
          </a:xfrm>
          <a:prstGeom prst="rect">
            <a:avLst/>
          </a:prstGeom>
        </p:spPr>
      </p:pic>
      <p:pic>
        <p:nvPicPr>
          <p:cNvPr id="44" name="Picture 4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63873" y="-46659"/>
            <a:ext cx="9562605" cy="2577294"/>
          </a:xfrm>
          <a:prstGeom prst="rect">
            <a:avLst/>
          </a:prstGeom>
        </p:spPr>
      </p:pic>
      <p:sp>
        <p:nvSpPr>
          <p:cNvPr id="45" name="Round Single Corner Rectangle 44"/>
          <p:cNvSpPr/>
          <p:nvPr/>
        </p:nvSpPr>
        <p:spPr>
          <a:xfrm>
            <a:off x="4038576" y="5652043"/>
            <a:ext cx="7370634" cy="2162225"/>
          </a:xfrm>
          <a:prstGeom prst="round1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2800" b="1" dirty="0" smtClean="0">
                <a:solidFill>
                  <a:srgbClr val="820000"/>
                </a:solidFill>
                <a:latin typeface="Arial" panose="020B0604020202020204" pitchFamily="34" charset="0"/>
                <a:cs typeface="Arial" panose="020B0604020202020204" pitchFamily="34" charset="0"/>
              </a:rPr>
              <a:t> </a:t>
            </a:r>
            <a:r>
              <a:rPr lang="en-PH" sz="2800" b="1" dirty="0" smtClean="0">
                <a:solidFill>
                  <a:srgbClr val="005C2A"/>
                </a:solidFill>
                <a:latin typeface="Arial" panose="020B0604020202020204" pitchFamily="34" charset="0"/>
                <a:cs typeface="Arial" panose="020B0604020202020204" pitchFamily="34" charset="0"/>
              </a:rPr>
              <a:t>Presenter :</a:t>
            </a:r>
            <a:endParaRPr lang="en-PH" sz="2800" b="1" u="sng" dirty="0" smtClean="0">
              <a:solidFill>
                <a:srgbClr val="005C2A"/>
              </a:solidFill>
              <a:latin typeface="Arial" panose="020B0604020202020204" pitchFamily="34" charset="0"/>
              <a:cs typeface="Arial" panose="020B0604020202020204" pitchFamily="34" charset="0"/>
            </a:endParaRPr>
          </a:p>
          <a:p>
            <a:pPr algn="ctr"/>
            <a:r>
              <a:rPr lang="en-PH" sz="3600" b="1" dirty="0" smtClean="0">
                <a:solidFill>
                  <a:srgbClr val="005C2A"/>
                </a:solidFill>
                <a:latin typeface="Arial" panose="020B0604020202020204" pitchFamily="34" charset="0"/>
                <a:cs typeface="Arial" panose="020B0604020202020204" pitchFamily="34" charset="0"/>
              </a:rPr>
              <a:t>JOHAYBER C. SARIP</a:t>
            </a:r>
          </a:p>
        </p:txBody>
      </p:sp>
      <p:sp>
        <p:nvSpPr>
          <p:cNvPr id="47" name="Round Single Corner Rectangle 46"/>
          <p:cNvSpPr/>
          <p:nvPr/>
        </p:nvSpPr>
        <p:spPr>
          <a:xfrm>
            <a:off x="11562115" y="6076084"/>
            <a:ext cx="5195448" cy="1124818"/>
          </a:xfrm>
          <a:prstGeom prst="round1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PH" sz="2800" b="1" u="sng" dirty="0" smtClean="0">
              <a:solidFill>
                <a:srgbClr val="820000"/>
              </a:solidFill>
              <a:latin typeface="Arial" panose="020B0604020202020204" pitchFamily="34" charset="0"/>
              <a:cs typeface="Arial" panose="020B0604020202020204" pitchFamily="34" charset="0"/>
            </a:endParaRPr>
          </a:p>
          <a:p>
            <a:r>
              <a:rPr lang="en-PH" sz="2800" b="1" u="sng" dirty="0" err="1" smtClean="0">
                <a:solidFill>
                  <a:srgbClr val="005C2A"/>
                </a:solidFill>
                <a:latin typeface="Arial" panose="020B0604020202020204" pitchFamily="34" charset="0"/>
                <a:cs typeface="Arial" panose="020B0604020202020204" pitchFamily="34" charset="0"/>
              </a:rPr>
              <a:t>Prof.</a:t>
            </a:r>
            <a:r>
              <a:rPr lang="en-PH" sz="2800" b="1" u="sng" dirty="0" smtClean="0">
                <a:solidFill>
                  <a:srgbClr val="005C2A"/>
                </a:solidFill>
                <a:latin typeface="Arial" panose="020B0604020202020204" pitchFamily="34" charset="0"/>
                <a:cs typeface="Arial" panose="020B0604020202020204" pitchFamily="34" charset="0"/>
              </a:rPr>
              <a:t> Ellen dl. </a:t>
            </a:r>
            <a:r>
              <a:rPr lang="en-PH" sz="2800" b="1" u="sng" dirty="0">
                <a:solidFill>
                  <a:srgbClr val="005C2A"/>
                </a:solidFill>
                <a:latin typeface="Arial" panose="020B0604020202020204" pitchFamily="34" charset="0"/>
                <a:cs typeface="Arial" panose="020B0604020202020204" pitchFamily="34" charset="0"/>
              </a:rPr>
              <a:t>V</a:t>
            </a:r>
            <a:r>
              <a:rPr lang="en-PH" sz="2800" b="1" u="sng" dirty="0" smtClean="0">
                <a:solidFill>
                  <a:srgbClr val="005C2A"/>
                </a:solidFill>
                <a:latin typeface="Arial" panose="020B0604020202020204" pitchFamily="34" charset="0"/>
                <a:cs typeface="Arial" panose="020B0604020202020204" pitchFamily="34" charset="0"/>
              </a:rPr>
              <a:t>. </a:t>
            </a:r>
            <a:r>
              <a:rPr lang="en-PH" sz="2800" b="1" u="sng" dirty="0" err="1" smtClean="0">
                <a:solidFill>
                  <a:srgbClr val="005C2A"/>
                </a:solidFill>
                <a:latin typeface="Arial" panose="020B0604020202020204" pitchFamily="34" charset="0"/>
                <a:cs typeface="Arial" panose="020B0604020202020204" pitchFamily="34" charset="0"/>
              </a:rPr>
              <a:t>Inutan</a:t>
            </a:r>
            <a:r>
              <a:rPr lang="en-PH" sz="2800" b="1" u="sng" dirty="0" smtClean="0">
                <a:solidFill>
                  <a:srgbClr val="005C2A"/>
                </a:solidFill>
                <a:latin typeface="Arial" panose="020B0604020202020204" pitchFamily="34" charset="0"/>
                <a:cs typeface="Arial" panose="020B0604020202020204" pitchFamily="34" charset="0"/>
              </a:rPr>
              <a:t>, </a:t>
            </a:r>
            <a:r>
              <a:rPr lang="en-PH" sz="2800" b="1" u="sng" dirty="0" err="1" smtClean="0">
                <a:solidFill>
                  <a:srgbClr val="005C2A"/>
                </a:solidFill>
                <a:latin typeface="Arial" panose="020B0604020202020204" pitchFamily="34" charset="0"/>
                <a:cs typeface="Arial" panose="020B0604020202020204" pitchFamily="34" charset="0"/>
              </a:rPr>
              <a:t>Ph.D</a:t>
            </a:r>
            <a:endParaRPr lang="en-PH" sz="2800" b="1" u="sng" dirty="0" smtClean="0">
              <a:solidFill>
                <a:srgbClr val="005C2A"/>
              </a:solidFill>
              <a:latin typeface="Arial" panose="020B0604020202020204" pitchFamily="34" charset="0"/>
              <a:cs typeface="Arial" panose="020B0604020202020204" pitchFamily="34" charset="0"/>
            </a:endParaRPr>
          </a:p>
          <a:p>
            <a:r>
              <a:rPr lang="en-PH" sz="2800" b="1" dirty="0">
                <a:solidFill>
                  <a:srgbClr val="005C2A"/>
                </a:solidFill>
                <a:latin typeface="Arial" panose="020B0604020202020204" pitchFamily="34" charset="0"/>
                <a:cs typeface="Arial" panose="020B0604020202020204" pitchFamily="34" charset="0"/>
              </a:rPr>
              <a:t> </a:t>
            </a:r>
            <a:r>
              <a:rPr lang="en-PH" sz="2800" b="1" dirty="0" smtClean="0">
                <a:solidFill>
                  <a:srgbClr val="005C2A"/>
                </a:solidFill>
                <a:latin typeface="Arial" panose="020B0604020202020204" pitchFamily="34" charset="0"/>
                <a:cs typeface="Arial" panose="020B0604020202020204" pitchFamily="34" charset="0"/>
              </a:rPr>
              <a:t>              Thesis Adviser </a:t>
            </a:r>
            <a:endParaRPr lang="en-PH" sz="2800" b="1" dirty="0">
              <a:solidFill>
                <a:srgbClr val="005C2A"/>
              </a:solidFill>
              <a:latin typeface="Arial" panose="020B0604020202020204" pitchFamily="34" charset="0"/>
              <a:cs typeface="Arial" panose="020B0604020202020204" pitchFamily="34" charset="0"/>
            </a:endParaRPr>
          </a:p>
        </p:txBody>
      </p:sp>
      <p:sp>
        <p:nvSpPr>
          <p:cNvPr id="49" name="Round Single Corner Rectangle 48"/>
          <p:cNvSpPr/>
          <p:nvPr/>
        </p:nvSpPr>
        <p:spPr>
          <a:xfrm>
            <a:off x="5420823" y="7488931"/>
            <a:ext cx="5405655" cy="1559388"/>
          </a:xfrm>
          <a:prstGeom prst="round1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PH" sz="2800" b="1" u="sng" dirty="0" smtClean="0">
              <a:solidFill>
                <a:srgbClr val="820000"/>
              </a:solidFill>
              <a:latin typeface="Arial" panose="020B0604020202020204" pitchFamily="34" charset="0"/>
              <a:cs typeface="Arial" panose="020B0604020202020204" pitchFamily="34" charset="0"/>
            </a:endParaRPr>
          </a:p>
          <a:p>
            <a:r>
              <a:rPr lang="en-PH" sz="2800" b="1" u="sng" dirty="0" err="1" smtClean="0">
                <a:solidFill>
                  <a:srgbClr val="005C2A"/>
                </a:solidFill>
                <a:latin typeface="Arial" panose="020B0604020202020204" pitchFamily="34" charset="0"/>
                <a:cs typeface="Arial" panose="020B0604020202020204" pitchFamily="34" charset="0"/>
              </a:rPr>
              <a:t>Prof.</a:t>
            </a:r>
            <a:r>
              <a:rPr lang="en-PH" sz="2800" b="1" u="sng" dirty="0" smtClean="0">
                <a:solidFill>
                  <a:srgbClr val="005C2A"/>
                </a:solidFill>
                <a:latin typeface="Arial" panose="020B0604020202020204" pitchFamily="34" charset="0"/>
                <a:cs typeface="Arial" panose="020B0604020202020204" pitchFamily="34" charset="0"/>
              </a:rPr>
              <a:t> </a:t>
            </a:r>
            <a:r>
              <a:rPr lang="en-PH" sz="2800" b="1" u="sng" dirty="0" err="1" smtClean="0">
                <a:solidFill>
                  <a:srgbClr val="005C2A"/>
                </a:solidFill>
                <a:latin typeface="Arial" panose="020B0604020202020204" pitchFamily="34" charset="0"/>
                <a:cs typeface="Arial" panose="020B0604020202020204" pitchFamily="34" charset="0"/>
              </a:rPr>
              <a:t>Aldrine</a:t>
            </a:r>
            <a:r>
              <a:rPr lang="en-PH" sz="2800" b="1" u="sng" dirty="0" smtClean="0">
                <a:solidFill>
                  <a:srgbClr val="005C2A"/>
                </a:solidFill>
                <a:latin typeface="Arial" panose="020B0604020202020204" pitchFamily="34" charset="0"/>
                <a:cs typeface="Arial" panose="020B0604020202020204" pitchFamily="34" charset="0"/>
              </a:rPr>
              <a:t> A. </a:t>
            </a:r>
            <a:r>
              <a:rPr lang="en-PH" sz="2800" b="1" u="sng" dirty="0" err="1" smtClean="0">
                <a:solidFill>
                  <a:srgbClr val="005C2A"/>
                </a:solidFill>
                <a:latin typeface="Arial" panose="020B0604020202020204" pitchFamily="34" charset="0"/>
                <a:cs typeface="Arial" panose="020B0604020202020204" pitchFamily="34" charset="0"/>
              </a:rPr>
              <a:t>Cagang</a:t>
            </a:r>
            <a:r>
              <a:rPr lang="en-PH" sz="2800" b="1" u="sng" dirty="0" smtClean="0">
                <a:solidFill>
                  <a:srgbClr val="005C2A"/>
                </a:solidFill>
                <a:latin typeface="Arial" panose="020B0604020202020204" pitchFamily="34" charset="0"/>
                <a:cs typeface="Arial" panose="020B0604020202020204" pitchFamily="34" charset="0"/>
              </a:rPr>
              <a:t> , </a:t>
            </a:r>
            <a:r>
              <a:rPr lang="en-PH" sz="2800" b="1" u="sng" dirty="0" err="1" smtClean="0">
                <a:solidFill>
                  <a:srgbClr val="005C2A"/>
                </a:solidFill>
                <a:latin typeface="Arial" panose="020B0604020202020204" pitchFamily="34" charset="0"/>
                <a:cs typeface="Arial" panose="020B0604020202020204" pitchFamily="34" charset="0"/>
              </a:rPr>
              <a:t>Ph.D</a:t>
            </a:r>
            <a:endParaRPr lang="en-PH" sz="2800" b="1" u="sng" dirty="0" smtClean="0">
              <a:solidFill>
                <a:srgbClr val="005C2A"/>
              </a:solidFill>
              <a:latin typeface="Arial" panose="020B0604020202020204" pitchFamily="34" charset="0"/>
              <a:cs typeface="Arial" panose="020B0604020202020204" pitchFamily="34" charset="0"/>
            </a:endParaRPr>
          </a:p>
          <a:p>
            <a:r>
              <a:rPr lang="en-PH" sz="2000" b="1" dirty="0">
                <a:solidFill>
                  <a:srgbClr val="005C2A"/>
                </a:solidFill>
                <a:latin typeface="Arial" panose="020B0604020202020204" pitchFamily="34" charset="0"/>
                <a:cs typeface="Arial" panose="020B0604020202020204" pitchFamily="34" charset="0"/>
              </a:rPr>
              <a:t> </a:t>
            </a:r>
            <a:r>
              <a:rPr lang="en-PH" sz="2000" b="1" dirty="0" smtClean="0">
                <a:solidFill>
                  <a:srgbClr val="005C2A"/>
                </a:solidFill>
                <a:latin typeface="Arial" panose="020B0604020202020204" pitchFamily="34" charset="0"/>
                <a:cs typeface="Arial" panose="020B0604020202020204" pitchFamily="34" charset="0"/>
              </a:rPr>
              <a:t>                   </a:t>
            </a:r>
            <a:r>
              <a:rPr lang="en-PH" sz="2800" b="1" dirty="0" smtClean="0">
                <a:solidFill>
                  <a:srgbClr val="005C2A"/>
                </a:solidFill>
                <a:latin typeface="Arial" panose="020B0604020202020204" pitchFamily="34" charset="0"/>
                <a:cs typeface="Arial" panose="020B0604020202020204" pitchFamily="34" charset="0"/>
              </a:rPr>
              <a:t>Panel Member  </a:t>
            </a:r>
            <a:endParaRPr lang="en-PH" sz="2000" b="1" dirty="0">
              <a:solidFill>
                <a:srgbClr val="005C2A"/>
              </a:solidFill>
              <a:latin typeface="Arial" panose="020B0604020202020204" pitchFamily="34" charset="0"/>
              <a:cs typeface="Arial" panose="020B0604020202020204" pitchFamily="34" charset="0"/>
            </a:endParaRPr>
          </a:p>
        </p:txBody>
      </p:sp>
      <p:sp>
        <p:nvSpPr>
          <p:cNvPr id="51" name="Round Single Corner Rectangle 50"/>
          <p:cNvSpPr/>
          <p:nvPr/>
        </p:nvSpPr>
        <p:spPr>
          <a:xfrm>
            <a:off x="11409765" y="7488931"/>
            <a:ext cx="6389127" cy="1559388"/>
          </a:xfrm>
          <a:prstGeom prst="round1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PH" sz="2800" b="1" u="sng" dirty="0" smtClean="0">
              <a:solidFill>
                <a:srgbClr val="820000"/>
              </a:solidFill>
              <a:latin typeface="Arial" panose="020B0604020202020204" pitchFamily="34" charset="0"/>
              <a:cs typeface="Arial" panose="020B0604020202020204" pitchFamily="34" charset="0"/>
            </a:endParaRPr>
          </a:p>
          <a:p>
            <a:r>
              <a:rPr lang="en-PH" sz="2800" b="1" u="sng" dirty="0" err="1" smtClean="0">
                <a:solidFill>
                  <a:srgbClr val="005C2A"/>
                </a:solidFill>
                <a:latin typeface="Arial" panose="020B0604020202020204" pitchFamily="34" charset="0"/>
                <a:cs typeface="Arial" panose="020B0604020202020204" pitchFamily="34" charset="0"/>
              </a:rPr>
              <a:t>Prof.</a:t>
            </a:r>
            <a:r>
              <a:rPr lang="en-PH" sz="2800" b="1" u="sng" dirty="0" smtClean="0">
                <a:solidFill>
                  <a:srgbClr val="005C2A"/>
                </a:solidFill>
                <a:latin typeface="Arial" panose="020B0604020202020204" pitchFamily="34" charset="0"/>
                <a:cs typeface="Arial" panose="020B0604020202020204" pitchFamily="34" charset="0"/>
              </a:rPr>
              <a:t> Mark Tristan J. </a:t>
            </a:r>
            <a:r>
              <a:rPr lang="en-PH" sz="2800" b="1" u="sng" dirty="0" err="1" smtClean="0">
                <a:solidFill>
                  <a:srgbClr val="005C2A"/>
                </a:solidFill>
                <a:latin typeface="Arial" panose="020B0604020202020204" pitchFamily="34" charset="0"/>
                <a:cs typeface="Arial" panose="020B0604020202020204" pitchFamily="34" charset="0"/>
              </a:rPr>
              <a:t>Quimque</a:t>
            </a:r>
            <a:r>
              <a:rPr lang="en-PH" sz="2800" b="1" u="sng" dirty="0">
                <a:solidFill>
                  <a:srgbClr val="005C2A"/>
                </a:solidFill>
                <a:latin typeface="Arial" panose="020B0604020202020204" pitchFamily="34" charset="0"/>
                <a:cs typeface="Arial" panose="020B0604020202020204" pitchFamily="34" charset="0"/>
              </a:rPr>
              <a:t> </a:t>
            </a:r>
            <a:r>
              <a:rPr lang="en-PH" sz="2800" b="1" u="sng" dirty="0" err="1" smtClean="0">
                <a:solidFill>
                  <a:srgbClr val="005C2A"/>
                </a:solidFill>
                <a:latin typeface="Arial" panose="020B0604020202020204" pitchFamily="34" charset="0"/>
                <a:cs typeface="Arial" panose="020B0604020202020204" pitchFamily="34" charset="0"/>
              </a:rPr>
              <a:t>Ph.D</a:t>
            </a:r>
            <a:r>
              <a:rPr lang="en-PH" sz="2800" b="1" u="sng" dirty="0" smtClean="0">
                <a:solidFill>
                  <a:srgbClr val="005C2A"/>
                </a:solidFill>
                <a:latin typeface="Arial" panose="020B0604020202020204" pitchFamily="34" charset="0"/>
                <a:cs typeface="Arial" panose="020B0604020202020204" pitchFamily="34" charset="0"/>
              </a:rPr>
              <a:t> </a:t>
            </a:r>
          </a:p>
          <a:p>
            <a:r>
              <a:rPr lang="en-PH" sz="2800" b="1" dirty="0">
                <a:solidFill>
                  <a:srgbClr val="005C2A"/>
                </a:solidFill>
                <a:latin typeface="Arial" panose="020B0604020202020204" pitchFamily="34" charset="0"/>
                <a:cs typeface="Arial" panose="020B0604020202020204" pitchFamily="34" charset="0"/>
              </a:rPr>
              <a:t> </a:t>
            </a:r>
            <a:r>
              <a:rPr lang="en-PH" sz="2800" b="1" dirty="0" smtClean="0">
                <a:solidFill>
                  <a:srgbClr val="005C2A"/>
                </a:solidFill>
                <a:latin typeface="Arial" panose="020B0604020202020204" pitchFamily="34" charset="0"/>
                <a:cs typeface="Arial" panose="020B0604020202020204" pitchFamily="34" charset="0"/>
              </a:rPr>
              <a:t>                 Panel Member </a:t>
            </a:r>
            <a:endParaRPr lang="en-PH" sz="2800" b="1" dirty="0">
              <a:solidFill>
                <a:srgbClr val="005C2A"/>
              </a:solidFill>
              <a:latin typeface="Arial" panose="020B0604020202020204" pitchFamily="34" charset="0"/>
              <a:cs typeface="Arial" panose="020B0604020202020204" pitchFamily="34" charset="0"/>
            </a:endParaRPr>
          </a:p>
        </p:txBody>
      </p:sp>
      <p:grpSp>
        <p:nvGrpSpPr>
          <p:cNvPr id="59" name="Group 11"/>
          <p:cNvGrpSpPr/>
          <p:nvPr/>
        </p:nvGrpSpPr>
        <p:grpSpPr>
          <a:xfrm rot="-5400000">
            <a:off x="585861" y="3920780"/>
            <a:ext cx="1850736" cy="1609833"/>
            <a:chOff x="0" y="0"/>
            <a:chExt cx="6350000" cy="5532120"/>
          </a:xfrm>
        </p:grpSpPr>
        <p:sp>
          <p:nvSpPr>
            <p:cNvPr id="60" name="Freeform 12"/>
            <p:cNvSpPr/>
            <p:nvPr/>
          </p:nvSpPr>
          <p:spPr>
            <a:xfrm>
              <a:off x="0" y="0"/>
              <a:ext cx="6350000" cy="5532120"/>
            </a:xfrm>
            <a:custGeom>
              <a:avLst/>
              <a:gdLst/>
              <a:ahLst/>
              <a:cxnLst/>
              <a:rect l="l" t="t" r="r" b="b"/>
              <a:pathLst>
                <a:path w="6350000" h="5532120">
                  <a:moveTo>
                    <a:pt x="4762500" y="0"/>
                  </a:moveTo>
                  <a:lnTo>
                    <a:pt x="1587500" y="0"/>
                  </a:lnTo>
                  <a:lnTo>
                    <a:pt x="0" y="2766060"/>
                  </a:lnTo>
                  <a:lnTo>
                    <a:pt x="1587500" y="5532120"/>
                  </a:lnTo>
                  <a:lnTo>
                    <a:pt x="4762500" y="5532120"/>
                  </a:lnTo>
                  <a:lnTo>
                    <a:pt x="6350000" y="2766060"/>
                  </a:lnTo>
                  <a:lnTo>
                    <a:pt x="4762500" y="0"/>
                  </a:lnTo>
                  <a:lnTo>
                    <a:pt x="4762500" y="0"/>
                  </a:lnTo>
                  <a:close/>
                  <a:moveTo>
                    <a:pt x="4676140" y="5382260"/>
                  </a:moveTo>
                  <a:lnTo>
                    <a:pt x="1673860" y="5382260"/>
                  </a:lnTo>
                  <a:lnTo>
                    <a:pt x="172720" y="2766060"/>
                  </a:lnTo>
                  <a:lnTo>
                    <a:pt x="1673860" y="149860"/>
                  </a:lnTo>
                  <a:lnTo>
                    <a:pt x="4676140" y="149860"/>
                  </a:lnTo>
                  <a:lnTo>
                    <a:pt x="6177280" y="2766060"/>
                  </a:lnTo>
                  <a:lnTo>
                    <a:pt x="4676140" y="5382260"/>
                  </a:lnTo>
                  <a:close/>
                </a:path>
              </a:pathLst>
            </a:custGeom>
            <a:solidFill>
              <a:srgbClr val="0D7377"/>
            </a:solidFill>
          </p:spPr>
        </p:sp>
      </p:grpSp>
      <p:grpSp>
        <p:nvGrpSpPr>
          <p:cNvPr id="61" name="Group 11"/>
          <p:cNvGrpSpPr/>
          <p:nvPr/>
        </p:nvGrpSpPr>
        <p:grpSpPr>
          <a:xfrm rot="-5400000">
            <a:off x="15739697" y="2686526"/>
            <a:ext cx="1850736" cy="1609833"/>
            <a:chOff x="0" y="0"/>
            <a:chExt cx="6350000" cy="5532120"/>
          </a:xfrm>
        </p:grpSpPr>
        <p:sp>
          <p:nvSpPr>
            <p:cNvPr id="62" name="Freeform 12"/>
            <p:cNvSpPr/>
            <p:nvPr/>
          </p:nvSpPr>
          <p:spPr>
            <a:xfrm>
              <a:off x="0" y="0"/>
              <a:ext cx="6350000" cy="5532120"/>
            </a:xfrm>
            <a:custGeom>
              <a:avLst/>
              <a:gdLst/>
              <a:ahLst/>
              <a:cxnLst/>
              <a:rect l="l" t="t" r="r" b="b"/>
              <a:pathLst>
                <a:path w="6350000" h="5532120">
                  <a:moveTo>
                    <a:pt x="4762500" y="0"/>
                  </a:moveTo>
                  <a:lnTo>
                    <a:pt x="1587500" y="0"/>
                  </a:lnTo>
                  <a:lnTo>
                    <a:pt x="0" y="2766060"/>
                  </a:lnTo>
                  <a:lnTo>
                    <a:pt x="1587500" y="5532120"/>
                  </a:lnTo>
                  <a:lnTo>
                    <a:pt x="4762500" y="5532120"/>
                  </a:lnTo>
                  <a:lnTo>
                    <a:pt x="6350000" y="2766060"/>
                  </a:lnTo>
                  <a:lnTo>
                    <a:pt x="4762500" y="0"/>
                  </a:lnTo>
                  <a:lnTo>
                    <a:pt x="4762500" y="0"/>
                  </a:lnTo>
                  <a:close/>
                  <a:moveTo>
                    <a:pt x="4676140" y="5382260"/>
                  </a:moveTo>
                  <a:lnTo>
                    <a:pt x="1673860" y="5382260"/>
                  </a:lnTo>
                  <a:lnTo>
                    <a:pt x="172720" y="2766060"/>
                  </a:lnTo>
                  <a:lnTo>
                    <a:pt x="1673860" y="149860"/>
                  </a:lnTo>
                  <a:lnTo>
                    <a:pt x="4676140" y="149860"/>
                  </a:lnTo>
                  <a:lnTo>
                    <a:pt x="6177280" y="2766060"/>
                  </a:lnTo>
                  <a:lnTo>
                    <a:pt x="4676140" y="5382260"/>
                  </a:lnTo>
                  <a:close/>
                </a:path>
              </a:pathLst>
            </a:custGeom>
            <a:solidFill>
              <a:srgbClr val="0D7377"/>
            </a:solidFill>
          </p:spPr>
        </p:sp>
      </p:grpSp>
      <p:grpSp>
        <p:nvGrpSpPr>
          <p:cNvPr id="63" name="Group 11"/>
          <p:cNvGrpSpPr/>
          <p:nvPr/>
        </p:nvGrpSpPr>
        <p:grpSpPr>
          <a:xfrm rot="-5400000">
            <a:off x="16237300" y="3859217"/>
            <a:ext cx="1850736" cy="1609833"/>
            <a:chOff x="0" y="0"/>
            <a:chExt cx="6350000" cy="5532120"/>
          </a:xfrm>
        </p:grpSpPr>
        <p:sp>
          <p:nvSpPr>
            <p:cNvPr id="64" name="Freeform 12"/>
            <p:cNvSpPr/>
            <p:nvPr/>
          </p:nvSpPr>
          <p:spPr>
            <a:xfrm>
              <a:off x="0" y="0"/>
              <a:ext cx="6350000" cy="5532120"/>
            </a:xfrm>
            <a:custGeom>
              <a:avLst/>
              <a:gdLst/>
              <a:ahLst/>
              <a:cxnLst/>
              <a:rect l="l" t="t" r="r" b="b"/>
              <a:pathLst>
                <a:path w="6350000" h="5532120">
                  <a:moveTo>
                    <a:pt x="4762500" y="0"/>
                  </a:moveTo>
                  <a:lnTo>
                    <a:pt x="1587500" y="0"/>
                  </a:lnTo>
                  <a:lnTo>
                    <a:pt x="0" y="2766060"/>
                  </a:lnTo>
                  <a:lnTo>
                    <a:pt x="1587500" y="5532120"/>
                  </a:lnTo>
                  <a:lnTo>
                    <a:pt x="4762500" y="5532120"/>
                  </a:lnTo>
                  <a:lnTo>
                    <a:pt x="6350000" y="2766060"/>
                  </a:lnTo>
                  <a:lnTo>
                    <a:pt x="4762500" y="0"/>
                  </a:lnTo>
                  <a:lnTo>
                    <a:pt x="4762500" y="0"/>
                  </a:lnTo>
                  <a:close/>
                  <a:moveTo>
                    <a:pt x="4676140" y="5382260"/>
                  </a:moveTo>
                  <a:lnTo>
                    <a:pt x="1673860" y="5382260"/>
                  </a:lnTo>
                  <a:lnTo>
                    <a:pt x="172720" y="2766060"/>
                  </a:lnTo>
                  <a:lnTo>
                    <a:pt x="1673860" y="149860"/>
                  </a:lnTo>
                  <a:lnTo>
                    <a:pt x="4676140" y="149860"/>
                  </a:lnTo>
                  <a:lnTo>
                    <a:pt x="6177280" y="2766060"/>
                  </a:lnTo>
                  <a:lnTo>
                    <a:pt x="4676140" y="5382260"/>
                  </a:lnTo>
                  <a:close/>
                </a:path>
              </a:pathLst>
            </a:custGeom>
            <a:solidFill>
              <a:srgbClr val="0D7377"/>
            </a:solidFill>
          </p:spPr>
        </p:sp>
      </p:grpSp>
      <p:grpSp>
        <p:nvGrpSpPr>
          <p:cNvPr id="67" name="Group 11"/>
          <p:cNvGrpSpPr/>
          <p:nvPr/>
        </p:nvGrpSpPr>
        <p:grpSpPr>
          <a:xfrm rot="-5400000">
            <a:off x="1041270" y="5072758"/>
            <a:ext cx="1850736" cy="1609833"/>
            <a:chOff x="0" y="0"/>
            <a:chExt cx="6350000" cy="5532120"/>
          </a:xfrm>
        </p:grpSpPr>
        <p:sp>
          <p:nvSpPr>
            <p:cNvPr id="68" name="Freeform 12"/>
            <p:cNvSpPr/>
            <p:nvPr/>
          </p:nvSpPr>
          <p:spPr>
            <a:xfrm>
              <a:off x="0" y="0"/>
              <a:ext cx="6350000" cy="5532120"/>
            </a:xfrm>
            <a:custGeom>
              <a:avLst/>
              <a:gdLst/>
              <a:ahLst/>
              <a:cxnLst/>
              <a:rect l="l" t="t" r="r" b="b"/>
              <a:pathLst>
                <a:path w="6350000" h="5532120">
                  <a:moveTo>
                    <a:pt x="4762500" y="0"/>
                  </a:moveTo>
                  <a:lnTo>
                    <a:pt x="1587500" y="0"/>
                  </a:lnTo>
                  <a:lnTo>
                    <a:pt x="0" y="2766060"/>
                  </a:lnTo>
                  <a:lnTo>
                    <a:pt x="1587500" y="5532120"/>
                  </a:lnTo>
                  <a:lnTo>
                    <a:pt x="4762500" y="5532120"/>
                  </a:lnTo>
                  <a:lnTo>
                    <a:pt x="6350000" y="2766060"/>
                  </a:lnTo>
                  <a:lnTo>
                    <a:pt x="4762500" y="0"/>
                  </a:lnTo>
                  <a:lnTo>
                    <a:pt x="4762500" y="0"/>
                  </a:lnTo>
                  <a:close/>
                  <a:moveTo>
                    <a:pt x="4676140" y="5382260"/>
                  </a:moveTo>
                  <a:lnTo>
                    <a:pt x="1673860" y="5382260"/>
                  </a:lnTo>
                  <a:lnTo>
                    <a:pt x="172720" y="2766060"/>
                  </a:lnTo>
                  <a:lnTo>
                    <a:pt x="1673860" y="149860"/>
                  </a:lnTo>
                  <a:lnTo>
                    <a:pt x="4676140" y="149860"/>
                  </a:lnTo>
                  <a:lnTo>
                    <a:pt x="6177280" y="2766060"/>
                  </a:lnTo>
                  <a:lnTo>
                    <a:pt x="4676140" y="5382260"/>
                  </a:lnTo>
                  <a:close/>
                </a:path>
              </a:pathLst>
            </a:custGeom>
            <a:solidFill>
              <a:srgbClr val="0D7377"/>
            </a:solidFill>
          </p:spPr>
        </p:sp>
      </p:grpSp>
      <p:grpSp>
        <p:nvGrpSpPr>
          <p:cNvPr id="70" name="Group 11"/>
          <p:cNvGrpSpPr/>
          <p:nvPr/>
        </p:nvGrpSpPr>
        <p:grpSpPr>
          <a:xfrm rot="-5400000">
            <a:off x="332284" y="6083983"/>
            <a:ext cx="1850736" cy="1609833"/>
            <a:chOff x="0" y="0"/>
            <a:chExt cx="6350000" cy="5532120"/>
          </a:xfrm>
        </p:grpSpPr>
        <p:sp>
          <p:nvSpPr>
            <p:cNvPr id="71" name="Freeform 12"/>
            <p:cNvSpPr/>
            <p:nvPr/>
          </p:nvSpPr>
          <p:spPr>
            <a:xfrm>
              <a:off x="0" y="0"/>
              <a:ext cx="6350000" cy="5532120"/>
            </a:xfrm>
            <a:custGeom>
              <a:avLst/>
              <a:gdLst/>
              <a:ahLst/>
              <a:cxnLst/>
              <a:rect l="l" t="t" r="r" b="b"/>
              <a:pathLst>
                <a:path w="6350000" h="5532120">
                  <a:moveTo>
                    <a:pt x="4762500" y="0"/>
                  </a:moveTo>
                  <a:lnTo>
                    <a:pt x="1587500" y="0"/>
                  </a:lnTo>
                  <a:lnTo>
                    <a:pt x="0" y="2766060"/>
                  </a:lnTo>
                  <a:lnTo>
                    <a:pt x="1587500" y="5532120"/>
                  </a:lnTo>
                  <a:lnTo>
                    <a:pt x="4762500" y="5532120"/>
                  </a:lnTo>
                  <a:lnTo>
                    <a:pt x="6350000" y="2766060"/>
                  </a:lnTo>
                  <a:lnTo>
                    <a:pt x="4762500" y="0"/>
                  </a:lnTo>
                  <a:lnTo>
                    <a:pt x="4762500" y="0"/>
                  </a:lnTo>
                  <a:close/>
                  <a:moveTo>
                    <a:pt x="4676140" y="5382260"/>
                  </a:moveTo>
                  <a:lnTo>
                    <a:pt x="1673860" y="5382260"/>
                  </a:lnTo>
                  <a:lnTo>
                    <a:pt x="172720" y="2766060"/>
                  </a:lnTo>
                  <a:lnTo>
                    <a:pt x="1673860" y="149860"/>
                  </a:lnTo>
                  <a:lnTo>
                    <a:pt x="4676140" y="149860"/>
                  </a:lnTo>
                  <a:lnTo>
                    <a:pt x="6177280" y="2766060"/>
                  </a:lnTo>
                  <a:lnTo>
                    <a:pt x="4676140" y="5382260"/>
                  </a:lnTo>
                  <a:close/>
                </a:path>
              </a:pathLst>
            </a:custGeom>
            <a:solidFill>
              <a:srgbClr val="0D7377"/>
            </a:solidFill>
          </p:spPr>
        </p:sp>
      </p:grpSp>
      <p:grpSp>
        <p:nvGrpSpPr>
          <p:cNvPr id="72" name="Group 11"/>
          <p:cNvGrpSpPr/>
          <p:nvPr/>
        </p:nvGrpSpPr>
        <p:grpSpPr>
          <a:xfrm rot="-5400000">
            <a:off x="16252915" y="1606352"/>
            <a:ext cx="1850736" cy="1609833"/>
            <a:chOff x="0" y="0"/>
            <a:chExt cx="6350000" cy="5532120"/>
          </a:xfrm>
        </p:grpSpPr>
        <p:sp>
          <p:nvSpPr>
            <p:cNvPr id="76" name="Freeform 12"/>
            <p:cNvSpPr/>
            <p:nvPr/>
          </p:nvSpPr>
          <p:spPr>
            <a:xfrm>
              <a:off x="0" y="0"/>
              <a:ext cx="6350000" cy="5532120"/>
            </a:xfrm>
            <a:custGeom>
              <a:avLst/>
              <a:gdLst/>
              <a:ahLst/>
              <a:cxnLst/>
              <a:rect l="l" t="t" r="r" b="b"/>
              <a:pathLst>
                <a:path w="6350000" h="5532120">
                  <a:moveTo>
                    <a:pt x="4762500" y="0"/>
                  </a:moveTo>
                  <a:lnTo>
                    <a:pt x="1587500" y="0"/>
                  </a:lnTo>
                  <a:lnTo>
                    <a:pt x="0" y="2766060"/>
                  </a:lnTo>
                  <a:lnTo>
                    <a:pt x="1587500" y="5532120"/>
                  </a:lnTo>
                  <a:lnTo>
                    <a:pt x="4762500" y="5532120"/>
                  </a:lnTo>
                  <a:lnTo>
                    <a:pt x="6350000" y="2766060"/>
                  </a:lnTo>
                  <a:lnTo>
                    <a:pt x="4762500" y="0"/>
                  </a:lnTo>
                  <a:lnTo>
                    <a:pt x="4762500" y="0"/>
                  </a:lnTo>
                  <a:close/>
                  <a:moveTo>
                    <a:pt x="4676140" y="5382260"/>
                  </a:moveTo>
                  <a:lnTo>
                    <a:pt x="1673860" y="5382260"/>
                  </a:lnTo>
                  <a:lnTo>
                    <a:pt x="172720" y="2766060"/>
                  </a:lnTo>
                  <a:lnTo>
                    <a:pt x="1673860" y="149860"/>
                  </a:lnTo>
                  <a:lnTo>
                    <a:pt x="4676140" y="149860"/>
                  </a:lnTo>
                  <a:lnTo>
                    <a:pt x="6177280" y="2766060"/>
                  </a:lnTo>
                  <a:lnTo>
                    <a:pt x="4676140" y="5382260"/>
                  </a:lnTo>
                  <a:close/>
                </a:path>
              </a:pathLst>
            </a:custGeom>
            <a:solidFill>
              <a:srgbClr val="0D7377"/>
            </a:solidFill>
          </p:spPr>
        </p:sp>
      </p:grpSp>
      <p:grpSp>
        <p:nvGrpSpPr>
          <p:cNvPr id="77" name="Group 26"/>
          <p:cNvGrpSpPr/>
          <p:nvPr/>
        </p:nvGrpSpPr>
        <p:grpSpPr>
          <a:xfrm rot="5400000">
            <a:off x="16117537" y="4905942"/>
            <a:ext cx="1981684" cy="1828800"/>
            <a:chOff x="0" y="0"/>
            <a:chExt cx="6350000" cy="5532120"/>
          </a:xfrm>
        </p:grpSpPr>
        <p:sp>
          <p:nvSpPr>
            <p:cNvPr id="78" name="Freeform 27"/>
            <p:cNvSpPr/>
            <p:nvPr/>
          </p:nvSpPr>
          <p:spPr>
            <a:xfrm>
              <a:off x="0" y="0"/>
              <a:ext cx="6350000" cy="5532120"/>
            </a:xfrm>
            <a:custGeom>
              <a:avLst/>
              <a:gdLst/>
              <a:ahLst/>
              <a:cxnLst/>
              <a:rect l="l" t="t" r="r" b="b"/>
              <a:pathLst>
                <a:path w="6350000" h="5532120">
                  <a:moveTo>
                    <a:pt x="4762500" y="0"/>
                  </a:moveTo>
                  <a:lnTo>
                    <a:pt x="1587500" y="0"/>
                  </a:lnTo>
                  <a:lnTo>
                    <a:pt x="0" y="2766060"/>
                  </a:lnTo>
                  <a:lnTo>
                    <a:pt x="1587500" y="5532120"/>
                  </a:lnTo>
                  <a:lnTo>
                    <a:pt x="4762500" y="5532120"/>
                  </a:lnTo>
                  <a:lnTo>
                    <a:pt x="6350000" y="2766060"/>
                  </a:lnTo>
                  <a:lnTo>
                    <a:pt x="4762500" y="0"/>
                  </a:lnTo>
                  <a:lnTo>
                    <a:pt x="4762500" y="0"/>
                  </a:lnTo>
                  <a:close/>
                  <a:moveTo>
                    <a:pt x="4676140" y="5382260"/>
                  </a:moveTo>
                  <a:lnTo>
                    <a:pt x="1673860" y="5382260"/>
                  </a:lnTo>
                  <a:lnTo>
                    <a:pt x="172720" y="2766060"/>
                  </a:lnTo>
                  <a:lnTo>
                    <a:pt x="1673860" y="149860"/>
                  </a:lnTo>
                  <a:lnTo>
                    <a:pt x="4676140" y="149860"/>
                  </a:lnTo>
                  <a:lnTo>
                    <a:pt x="6177280" y="2766060"/>
                  </a:lnTo>
                  <a:lnTo>
                    <a:pt x="4676140" y="5382260"/>
                  </a:lnTo>
                  <a:close/>
                </a:path>
              </a:pathLst>
            </a:custGeom>
            <a:solidFill>
              <a:srgbClr val="FFFFFF"/>
            </a:solidFill>
            <a:ln>
              <a:solidFill>
                <a:srgbClr val="005C2A"/>
              </a:solidFill>
            </a:ln>
          </p:spPr>
        </p:sp>
      </p:grpSp>
    </p:spTree>
    <p:extLst>
      <p:ext uri="{BB962C8B-B14F-4D97-AF65-F5344CB8AC3E}">
        <p14:creationId xmlns:p14="http://schemas.microsoft.com/office/powerpoint/2010/main" val="38346391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Box 13"/>
          <p:cNvSpPr txBox="1"/>
          <p:nvPr/>
        </p:nvSpPr>
        <p:spPr>
          <a:xfrm>
            <a:off x="1671387" y="1531257"/>
            <a:ext cx="2203151" cy="2306426"/>
          </a:xfrm>
          <a:prstGeom prst="rect">
            <a:avLst/>
          </a:prstGeom>
        </p:spPr>
        <p:txBody>
          <a:bodyPr lIns="50800" tIns="50800" rIns="50800" bIns="50800" rtlCol="0" anchor="ctr"/>
          <a:lstStyle/>
          <a:p>
            <a:pPr algn="ctr">
              <a:lnSpc>
                <a:spcPts val="2659"/>
              </a:lnSpc>
              <a:spcBef>
                <a:spcPct val="0"/>
              </a:spcBef>
            </a:pPr>
            <a:endParaRPr/>
          </a:p>
        </p:txBody>
      </p:sp>
      <p:sp>
        <p:nvSpPr>
          <p:cNvPr id="21" name="Round Single Corner Rectangle 20"/>
          <p:cNvSpPr/>
          <p:nvPr/>
        </p:nvSpPr>
        <p:spPr>
          <a:xfrm>
            <a:off x="5334000" y="5904"/>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4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CONTENTS</a:t>
            </a:r>
            <a:r>
              <a:rPr lang="en-PH" sz="4800" b="1" u="sng" dirty="0" smtClean="0">
                <a:solidFill>
                  <a:srgbClr val="820000"/>
                </a:solidFill>
                <a:latin typeface="Arial" panose="020B0604020202020204" pitchFamily="34" charset="0"/>
                <a:cs typeface="Arial" panose="020B0604020202020204" pitchFamily="34" charset="0"/>
              </a:rPr>
              <a:t> </a:t>
            </a:r>
          </a:p>
        </p:txBody>
      </p:sp>
      <p:pic>
        <p:nvPicPr>
          <p:cNvPr id="20" name="Picture 19"/>
          <p:cNvPicPr>
            <a:picLocks noChangeAspect="1"/>
          </p:cNvPicPr>
          <p:nvPr/>
        </p:nvPicPr>
        <p:blipFill>
          <a:blip r:embed="rId2"/>
          <a:stretch>
            <a:fillRect/>
          </a:stretch>
        </p:blipFill>
        <p:spPr>
          <a:xfrm>
            <a:off x="0" y="0"/>
            <a:ext cx="18288000" cy="267611"/>
          </a:xfrm>
          <a:prstGeom prst="rect">
            <a:avLst/>
          </a:prstGeom>
        </p:spPr>
      </p:pic>
      <p:sp>
        <p:nvSpPr>
          <p:cNvPr id="4" name="Parallelogram 3"/>
          <p:cNvSpPr/>
          <p:nvPr/>
        </p:nvSpPr>
        <p:spPr>
          <a:xfrm>
            <a:off x="152401" y="9936689"/>
            <a:ext cx="11963400" cy="236011"/>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2" name="Parallelogram 21"/>
          <p:cNvSpPr/>
          <p:nvPr/>
        </p:nvSpPr>
        <p:spPr>
          <a:xfrm>
            <a:off x="12192000" y="9944100"/>
            <a:ext cx="1421363" cy="228600"/>
          </a:xfrm>
          <a:prstGeom prst="parallelogram">
            <a:avLst/>
          </a:prstGeom>
          <a:solidFill>
            <a:srgbClr val="FFC000"/>
          </a:solidFill>
          <a:ln>
            <a:solidFill>
              <a:srgbClr val="FFC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3" name="Parallelogram 22"/>
          <p:cNvSpPr/>
          <p:nvPr/>
        </p:nvSpPr>
        <p:spPr>
          <a:xfrm>
            <a:off x="13689563" y="9944100"/>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cxnSp>
        <p:nvCxnSpPr>
          <p:cNvPr id="6" name="Straight Connector 5"/>
          <p:cNvCxnSpPr/>
          <p:nvPr/>
        </p:nvCxnSpPr>
        <p:spPr>
          <a:xfrm>
            <a:off x="1219200" y="1171575"/>
            <a:ext cx="8277" cy="8239125"/>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27" name="Round Single Corner Rectangle 26"/>
          <p:cNvSpPr/>
          <p:nvPr/>
        </p:nvSpPr>
        <p:spPr>
          <a:xfrm>
            <a:off x="-952500" y="791799"/>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36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Introduction</a:t>
            </a:r>
            <a:r>
              <a:rPr lang="en-PH" sz="4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a:t>
            </a:r>
            <a:r>
              <a:rPr lang="en-PH" sz="4800" b="1" u="sng" dirty="0" smtClean="0">
                <a:solidFill>
                  <a:srgbClr val="820000"/>
                </a:solidFill>
                <a:latin typeface="Arial" panose="020B0604020202020204" pitchFamily="34" charset="0"/>
                <a:cs typeface="Arial" panose="020B0604020202020204" pitchFamily="34" charset="0"/>
              </a:rPr>
              <a:t> </a:t>
            </a:r>
          </a:p>
        </p:txBody>
      </p:sp>
      <p:sp>
        <p:nvSpPr>
          <p:cNvPr id="13" name="Round Single Corner Rectangle 12"/>
          <p:cNvSpPr/>
          <p:nvPr/>
        </p:nvSpPr>
        <p:spPr>
          <a:xfrm>
            <a:off x="-350166" y="884585"/>
            <a:ext cx="2554135"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4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01 </a:t>
            </a:r>
            <a:r>
              <a:rPr lang="en-PH" sz="4800" b="1" u="sng" dirty="0" smtClean="0">
                <a:solidFill>
                  <a:srgbClr val="820000"/>
                </a:solidFill>
                <a:latin typeface="Arial" panose="020B0604020202020204" pitchFamily="34" charset="0"/>
                <a:cs typeface="Arial" panose="020B0604020202020204" pitchFamily="34" charset="0"/>
              </a:rPr>
              <a:t> </a:t>
            </a:r>
          </a:p>
        </p:txBody>
      </p:sp>
      <p:sp>
        <p:nvSpPr>
          <p:cNvPr id="14" name="Round Single Corner Rectangle 13"/>
          <p:cNvSpPr/>
          <p:nvPr/>
        </p:nvSpPr>
        <p:spPr>
          <a:xfrm>
            <a:off x="1355878" y="1967557"/>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PH" sz="2000" dirty="0" smtClean="0">
                <a:solidFill>
                  <a:srgbClr val="820000"/>
                </a:solidFill>
                <a:latin typeface="Arial" panose="020B0604020202020204" pitchFamily="34" charset="0"/>
                <a:cs typeface="Arial" panose="020B0604020202020204" pitchFamily="34" charset="0"/>
              </a:rPr>
              <a:t>1.1	Background of the Study</a:t>
            </a:r>
          </a:p>
          <a:p>
            <a:pPr algn="just"/>
            <a:r>
              <a:rPr lang="en-PH" sz="2000" dirty="0" smtClean="0">
                <a:solidFill>
                  <a:srgbClr val="820000"/>
                </a:solidFill>
                <a:latin typeface="Arial" panose="020B0604020202020204" pitchFamily="34" charset="0"/>
                <a:cs typeface="Arial" panose="020B0604020202020204" pitchFamily="34" charset="0"/>
              </a:rPr>
              <a:t>1.2	Statement of the Problem and Objective of the Study</a:t>
            </a:r>
          </a:p>
          <a:p>
            <a:pPr algn="just"/>
            <a:r>
              <a:rPr lang="en-PH" sz="2000" dirty="0" smtClean="0">
                <a:solidFill>
                  <a:srgbClr val="820000"/>
                </a:solidFill>
                <a:latin typeface="Arial" panose="020B0604020202020204" pitchFamily="34" charset="0"/>
                <a:cs typeface="Arial" panose="020B0604020202020204" pitchFamily="34" charset="0"/>
              </a:rPr>
              <a:t>1.3	Significance of the Study</a:t>
            </a:r>
          </a:p>
          <a:p>
            <a:pPr algn="just"/>
            <a:r>
              <a:rPr lang="en-PH" sz="2000" dirty="0" smtClean="0">
                <a:solidFill>
                  <a:srgbClr val="820000"/>
                </a:solidFill>
                <a:latin typeface="Arial" panose="020B0604020202020204" pitchFamily="34" charset="0"/>
                <a:cs typeface="Arial" panose="020B0604020202020204" pitchFamily="34" charset="0"/>
              </a:rPr>
              <a:t>1.4	Scope and Limitation of the Study</a:t>
            </a:r>
          </a:p>
        </p:txBody>
      </p:sp>
      <p:sp>
        <p:nvSpPr>
          <p:cNvPr id="15" name="Round Single Corner Rectangle 14"/>
          <p:cNvSpPr/>
          <p:nvPr/>
        </p:nvSpPr>
        <p:spPr>
          <a:xfrm>
            <a:off x="-427988" y="3106675"/>
            <a:ext cx="2554135"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4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02 </a:t>
            </a:r>
            <a:r>
              <a:rPr lang="en-PH" sz="4800" b="1" u="sng" dirty="0" smtClean="0">
                <a:solidFill>
                  <a:srgbClr val="820000"/>
                </a:solidFill>
                <a:latin typeface="Arial" panose="020B0604020202020204" pitchFamily="34" charset="0"/>
                <a:cs typeface="Arial" panose="020B0604020202020204" pitchFamily="34" charset="0"/>
              </a:rPr>
              <a:t> </a:t>
            </a:r>
          </a:p>
        </p:txBody>
      </p:sp>
      <p:sp>
        <p:nvSpPr>
          <p:cNvPr id="16" name="Round Single Corner Rectangle 15"/>
          <p:cNvSpPr/>
          <p:nvPr/>
        </p:nvSpPr>
        <p:spPr>
          <a:xfrm>
            <a:off x="0" y="3072457"/>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36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Review of Literature </a:t>
            </a:r>
            <a:r>
              <a:rPr lang="en-PH" sz="4000" b="1" u="sng" dirty="0" smtClean="0">
                <a:solidFill>
                  <a:srgbClr val="820000"/>
                </a:solidFill>
                <a:latin typeface="Arial" panose="020B0604020202020204" pitchFamily="34" charset="0"/>
                <a:cs typeface="Arial" panose="020B0604020202020204" pitchFamily="34" charset="0"/>
              </a:rPr>
              <a:t> </a:t>
            </a:r>
          </a:p>
        </p:txBody>
      </p:sp>
      <p:sp>
        <p:nvSpPr>
          <p:cNvPr id="17" name="Round Single Corner Rectangle 16"/>
          <p:cNvSpPr/>
          <p:nvPr/>
        </p:nvSpPr>
        <p:spPr>
          <a:xfrm>
            <a:off x="1314593" y="6527861"/>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PH" sz="2000" i="1" dirty="0" smtClean="0">
                <a:solidFill>
                  <a:srgbClr val="820000"/>
                </a:solidFill>
                <a:latin typeface="Arial" panose="020B0604020202020204" pitchFamily="34" charset="0"/>
                <a:cs typeface="Arial" panose="020B0604020202020204" pitchFamily="34" charset="0"/>
              </a:rPr>
              <a:t>2.1	</a:t>
            </a:r>
            <a:r>
              <a:rPr lang="en-PH" sz="2000" dirty="0" smtClean="0">
                <a:solidFill>
                  <a:srgbClr val="820000"/>
                </a:solidFill>
                <a:latin typeface="Arial" panose="020B0604020202020204" pitchFamily="34" charset="0"/>
                <a:cs typeface="Arial" panose="020B0604020202020204" pitchFamily="34" charset="0"/>
              </a:rPr>
              <a:t>The Coconut</a:t>
            </a:r>
          </a:p>
          <a:p>
            <a:pPr algn="just"/>
            <a:r>
              <a:rPr lang="en-PH" sz="2000" dirty="0" smtClean="0">
                <a:solidFill>
                  <a:srgbClr val="820000"/>
                </a:solidFill>
                <a:latin typeface="Arial" panose="020B0604020202020204" pitchFamily="34" charset="0"/>
                <a:cs typeface="Arial" panose="020B0604020202020204" pitchFamily="34" charset="0"/>
              </a:rPr>
              <a:t>2.2	Coconut Seed Germination</a:t>
            </a:r>
          </a:p>
          <a:p>
            <a:pPr algn="just"/>
            <a:r>
              <a:rPr lang="en-PH" sz="2000" dirty="0" smtClean="0">
                <a:solidFill>
                  <a:srgbClr val="820000"/>
                </a:solidFill>
                <a:latin typeface="Arial" panose="020B0604020202020204" pitchFamily="34" charset="0"/>
                <a:cs typeface="Arial" panose="020B0604020202020204" pitchFamily="34" charset="0"/>
              </a:rPr>
              <a:t>2.3	Coconut Oil</a:t>
            </a:r>
          </a:p>
          <a:p>
            <a:pPr algn="just"/>
            <a:r>
              <a:rPr lang="en-PH" sz="2000" dirty="0" smtClean="0">
                <a:solidFill>
                  <a:srgbClr val="820000"/>
                </a:solidFill>
                <a:latin typeface="Arial" panose="020B0604020202020204" pitchFamily="34" charset="0"/>
                <a:cs typeface="Arial" panose="020B0604020202020204" pitchFamily="34" charset="0"/>
              </a:rPr>
              <a:t>2.4	Chemical Profiling</a:t>
            </a:r>
          </a:p>
          <a:p>
            <a:pPr algn="just"/>
            <a:r>
              <a:rPr lang="en-PH" sz="2000" dirty="0" smtClean="0">
                <a:solidFill>
                  <a:srgbClr val="820000"/>
                </a:solidFill>
                <a:latin typeface="Arial" panose="020B0604020202020204" pitchFamily="34" charset="0"/>
                <a:cs typeface="Arial" panose="020B0604020202020204" pitchFamily="34" charset="0"/>
              </a:rPr>
              <a:t>    2.4.1     GC-MS</a:t>
            </a:r>
          </a:p>
          <a:p>
            <a:pPr algn="just"/>
            <a:r>
              <a:rPr lang="en-PH" sz="2000" dirty="0">
                <a:solidFill>
                  <a:srgbClr val="820000"/>
                </a:solidFill>
                <a:latin typeface="Arial" panose="020B0604020202020204" pitchFamily="34" charset="0"/>
                <a:cs typeface="Arial" panose="020B0604020202020204" pitchFamily="34" charset="0"/>
              </a:rPr>
              <a:t> </a:t>
            </a:r>
            <a:r>
              <a:rPr lang="en-PH" sz="2000" dirty="0" smtClean="0">
                <a:solidFill>
                  <a:srgbClr val="820000"/>
                </a:solidFill>
                <a:latin typeface="Arial" panose="020B0604020202020204" pitchFamily="34" charset="0"/>
                <a:cs typeface="Arial" panose="020B0604020202020204" pitchFamily="34" charset="0"/>
              </a:rPr>
              <a:t>   2.4.2      LC-MS</a:t>
            </a:r>
          </a:p>
          <a:p>
            <a:pPr algn="just"/>
            <a:r>
              <a:rPr lang="en-PH" sz="2000" dirty="0" smtClean="0">
                <a:solidFill>
                  <a:srgbClr val="820000"/>
                </a:solidFill>
                <a:latin typeface="Arial" panose="020B0604020202020204" pitchFamily="34" charset="0"/>
                <a:cs typeface="Arial" panose="020B0604020202020204" pitchFamily="34" charset="0"/>
              </a:rPr>
              <a:t>2.5	Phytochemical Analysis</a:t>
            </a:r>
          </a:p>
          <a:p>
            <a:pPr algn="just"/>
            <a:r>
              <a:rPr lang="en-PH" sz="2000" dirty="0" smtClean="0">
                <a:solidFill>
                  <a:srgbClr val="820000"/>
                </a:solidFill>
                <a:latin typeface="Arial" panose="020B0604020202020204" pitchFamily="34" charset="0"/>
                <a:cs typeface="Arial" panose="020B0604020202020204" pitchFamily="34" charset="0"/>
              </a:rPr>
              <a:t>    2.51       Total Phenolic Content</a:t>
            </a:r>
          </a:p>
          <a:p>
            <a:pPr algn="just"/>
            <a:r>
              <a:rPr lang="en-PH" sz="2000" dirty="0">
                <a:solidFill>
                  <a:srgbClr val="820000"/>
                </a:solidFill>
                <a:latin typeface="Arial" panose="020B0604020202020204" pitchFamily="34" charset="0"/>
                <a:cs typeface="Arial" panose="020B0604020202020204" pitchFamily="34" charset="0"/>
              </a:rPr>
              <a:t> </a:t>
            </a:r>
            <a:r>
              <a:rPr lang="en-PH" sz="2000" dirty="0" smtClean="0">
                <a:solidFill>
                  <a:srgbClr val="820000"/>
                </a:solidFill>
                <a:latin typeface="Arial" panose="020B0604020202020204" pitchFamily="34" charset="0"/>
                <a:cs typeface="Arial" panose="020B0604020202020204" pitchFamily="34" charset="0"/>
              </a:rPr>
              <a:t>   2.5.2      Total Flavonoid Content</a:t>
            </a:r>
          </a:p>
          <a:p>
            <a:pPr algn="just"/>
            <a:r>
              <a:rPr lang="en-PH" sz="2000" dirty="0">
                <a:solidFill>
                  <a:srgbClr val="820000"/>
                </a:solidFill>
                <a:latin typeface="Arial" panose="020B0604020202020204" pitchFamily="34" charset="0"/>
                <a:cs typeface="Arial" panose="020B0604020202020204" pitchFamily="34" charset="0"/>
              </a:rPr>
              <a:t> </a:t>
            </a:r>
            <a:r>
              <a:rPr lang="en-PH" sz="2000" dirty="0" smtClean="0">
                <a:solidFill>
                  <a:srgbClr val="820000"/>
                </a:solidFill>
                <a:latin typeface="Arial" panose="020B0604020202020204" pitchFamily="34" charset="0"/>
                <a:cs typeface="Arial" panose="020B0604020202020204" pitchFamily="34" charset="0"/>
              </a:rPr>
              <a:t>   2.5.3       Antioxidant Activity: DPPH Assay</a:t>
            </a:r>
          </a:p>
          <a:p>
            <a:pPr algn="just"/>
            <a:r>
              <a:rPr lang="en-PH" sz="2000" dirty="0">
                <a:solidFill>
                  <a:srgbClr val="820000"/>
                </a:solidFill>
                <a:latin typeface="Arial" panose="020B0604020202020204" pitchFamily="34" charset="0"/>
                <a:cs typeface="Arial" panose="020B0604020202020204" pitchFamily="34" charset="0"/>
              </a:rPr>
              <a:t> </a:t>
            </a:r>
            <a:r>
              <a:rPr lang="en-PH" sz="2000" dirty="0" smtClean="0">
                <a:solidFill>
                  <a:srgbClr val="820000"/>
                </a:solidFill>
                <a:latin typeface="Arial" panose="020B0604020202020204" pitchFamily="34" charset="0"/>
                <a:cs typeface="Arial" panose="020B0604020202020204" pitchFamily="34" charset="0"/>
              </a:rPr>
              <a:t>   2.5.4       Antioxidant Activity: FRAP Assay</a:t>
            </a:r>
          </a:p>
          <a:p>
            <a:pPr algn="just"/>
            <a:r>
              <a:rPr lang="en-PH" sz="2000" dirty="0" smtClean="0">
                <a:solidFill>
                  <a:srgbClr val="820000"/>
                </a:solidFill>
                <a:latin typeface="Arial" panose="020B0604020202020204" pitchFamily="34" charset="0"/>
                <a:cs typeface="Arial" panose="020B0604020202020204" pitchFamily="34" charset="0"/>
              </a:rPr>
              <a:t>2.6	</a:t>
            </a:r>
            <a:r>
              <a:rPr lang="en-PH" sz="2000" dirty="0" err="1" smtClean="0">
                <a:solidFill>
                  <a:srgbClr val="820000"/>
                </a:solidFill>
                <a:latin typeface="Arial" panose="020B0604020202020204" pitchFamily="34" charset="0"/>
                <a:cs typeface="Arial" panose="020B0604020202020204" pitchFamily="34" charset="0"/>
              </a:rPr>
              <a:t>Microplate</a:t>
            </a:r>
            <a:r>
              <a:rPr lang="en-PH" sz="2000" dirty="0" smtClean="0">
                <a:solidFill>
                  <a:srgbClr val="820000"/>
                </a:solidFill>
                <a:latin typeface="Arial" panose="020B0604020202020204" pitchFamily="34" charset="0"/>
                <a:cs typeface="Arial" panose="020B0604020202020204" pitchFamily="34" charset="0"/>
              </a:rPr>
              <a:t> Reader</a:t>
            </a:r>
          </a:p>
          <a:p>
            <a:pPr algn="just"/>
            <a:r>
              <a:rPr lang="en-PH" sz="2000" dirty="0" smtClean="0">
                <a:solidFill>
                  <a:srgbClr val="820000"/>
                </a:solidFill>
                <a:latin typeface="Arial" panose="020B0604020202020204" pitchFamily="34" charset="0"/>
                <a:cs typeface="Arial" panose="020B0604020202020204" pitchFamily="34" charset="0"/>
              </a:rPr>
              <a:t>    2.6.1       The  Induced-Fit Theory</a:t>
            </a:r>
          </a:p>
          <a:p>
            <a:pPr algn="just"/>
            <a:r>
              <a:rPr lang="en-PH" sz="2000" dirty="0">
                <a:solidFill>
                  <a:srgbClr val="820000"/>
                </a:solidFill>
                <a:latin typeface="Arial" panose="020B0604020202020204" pitchFamily="34" charset="0"/>
                <a:cs typeface="Arial" panose="020B0604020202020204" pitchFamily="34" charset="0"/>
              </a:rPr>
              <a:t> </a:t>
            </a:r>
            <a:r>
              <a:rPr lang="en-PH" sz="2000" dirty="0" smtClean="0">
                <a:solidFill>
                  <a:srgbClr val="820000"/>
                </a:solidFill>
                <a:latin typeface="Arial" panose="020B0604020202020204" pitchFamily="34" charset="0"/>
                <a:cs typeface="Arial" panose="020B0604020202020204" pitchFamily="34" charset="0"/>
              </a:rPr>
              <a:t>   2.6.2        The Conformation Ensemble Theory</a:t>
            </a:r>
          </a:p>
          <a:p>
            <a:pPr algn="just"/>
            <a:r>
              <a:rPr lang="en-PH" sz="2000" dirty="0" smtClean="0">
                <a:solidFill>
                  <a:srgbClr val="820000"/>
                </a:solidFill>
                <a:latin typeface="Arial" panose="020B0604020202020204" pitchFamily="34" charset="0"/>
                <a:cs typeface="Arial" panose="020B0604020202020204" pitchFamily="34" charset="0"/>
              </a:rPr>
              <a:t>2.7	Column Chromatography</a:t>
            </a:r>
          </a:p>
          <a:p>
            <a:pPr algn="just"/>
            <a:r>
              <a:rPr lang="en-PH" sz="2000" dirty="0" smtClean="0">
                <a:solidFill>
                  <a:srgbClr val="820000"/>
                </a:solidFill>
                <a:latin typeface="Arial" panose="020B0604020202020204" pitchFamily="34" charset="0"/>
                <a:cs typeface="Arial" panose="020B0604020202020204" pitchFamily="34" charset="0"/>
              </a:rPr>
              <a:t>2.8	Untargeted Assay</a:t>
            </a:r>
          </a:p>
          <a:p>
            <a:pPr algn="just"/>
            <a:r>
              <a:rPr lang="en-PH" sz="2000" dirty="0" smtClean="0">
                <a:solidFill>
                  <a:srgbClr val="820000"/>
                </a:solidFill>
                <a:latin typeface="Arial" panose="020B0604020202020204" pitchFamily="34" charset="0"/>
                <a:cs typeface="Arial" panose="020B0604020202020204" pitchFamily="34" charset="0"/>
              </a:rPr>
              <a:t>2.9	</a:t>
            </a:r>
            <a:r>
              <a:rPr lang="en-PH" sz="2000" dirty="0" err="1" smtClean="0">
                <a:solidFill>
                  <a:srgbClr val="820000"/>
                </a:solidFill>
                <a:latin typeface="Arial" panose="020B0604020202020204" pitchFamily="34" charset="0"/>
                <a:cs typeface="Arial" panose="020B0604020202020204" pitchFamily="34" charset="0"/>
              </a:rPr>
              <a:t>Chemometrics</a:t>
            </a:r>
            <a:endParaRPr lang="en-PH" sz="2000" dirty="0" smtClean="0">
              <a:solidFill>
                <a:srgbClr val="820000"/>
              </a:solidFill>
              <a:latin typeface="Arial" panose="020B0604020202020204" pitchFamily="34" charset="0"/>
              <a:cs typeface="Arial" panose="020B0604020202020204" pitchFamily="34" charset="0"/>
            </a:endParaRPr>
          </a:p>
          <a:p>
            <a:pPr algn="just"/>
            <a:r>
              <a:rPr lang="en-PH" sz="2000" dirty="0" smtClean="0">
                <a:solidFill>
                  <a:srgbClr val="820000"/>
                </a:solidFill>
                <a:latin typeface="Arial" panose="020B0604020202020204" pitchFamily="34" charset="0"/>
                <a:cs typeface="Arial" panose="020B0604020202020204" pitchFamily="34" charset="0"/>
              </a:rPr>
              <a:t>    2.10	Principal Component Analysis       </a:t>
            </a:r>
          </a:p>
          <a:p>
            <a:pPr marL="685800" indent="-685800" algn="just">
              <a:buFont typeface="Arial" panose="020B0604020202020204" pitchFamily="34" charset="0"/>
              <a:buChar char="•"/>
            </a:pPr>
            <a:endParaRPr lang="en-PH" sz="2400" dirty="0" smtClean="0">
              <a:solidFill>
                <a:srgbClr val="820000"/>
              </a:solidFill>
              <a:latin typeface="Arial" panose="020B0604020202020204" pitchFamily="34" charset="0"/>
              <a:cs typeface="Arial" panose="020B0604020202020204" pitchFamily="34" charset="0"/>
            </a:endParaRPr>
          </a:p>
          <a:p>
            <a:pPr algn="just"/>
            <a:r>
              <a:rPr lang="en-PH" sz="2400" dirty="0" smtClean="0">
                <a:solidFill>
                  <a:srgbClr val="820000"/>
                </a:solidFill>
                <a:latin typeface="Arial" panose="020B0604020202020204" pitchFamily="34" charset="0"/>
                <a:cs typeface="Arial" panose="020B0604020202020204" pitchFamily="34" charset="0"/>
              </a:rPr>
              <a:t> </a:t>
            </a:r>
          </a:p>
        </p:txBody>
      </p:sp>
      <p:sp>
        <p:nvSpPr>
          <p:cNvPr id="25" name="Round Single Corner Rectangle 24"/>
          <p:cNvSpPr/>
          <p:nvPr/>
        </p:nvSpPr>
        <p:spPr>
          <a:xfrm>
            <a:off x="8489985" y="855145"/>
            <a:ext cx="2554135"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4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03 </a:t>
            </a:r>
            <a:r>
              <a:rPr lang="en-PH" sz="4800" b="1" u="sng" dirty="0" smtClean="0">
                <a:solidFill>
                  <a:srgbClr val="820000"/>
                </a:solidFill>
                <a:latin typeface="Arial" panose="020B0604020202020204" pitchFamily="34" charset="0"/>
                <a:cs typeface="Arial" panose="020B0604020202020204" pitchFamily="34" charset="0"/>
              </a:rPr>
              <a:t> </a:t>
            </a:r>
          </a:p>
        </p:txBody>
      </p:sp>
      <p:sp>
        <p:nvSpPr>
          <p:cNvPr id="26" name="Round Single Corner Rectangle 25"/>
          <p:cNvSpPr/>
          <p:nvPr/>
        </p:nvSpPr>
        <p:spPr>
          <a:xfrm>
            <a:off x="8553593" y="769433"/>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4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Methodology </a:t>
            </a:r>
            <a:r>
              <a:rPr lang="en-PH" sz="4800" b="1" u="sng" dirty="0" smtClean="0">
                <a:solidFill>
                  <a:srgbClr val="820000"/>
                </a:solidFill>
                <a:latin typeface="Arial" panose="020B0604020202020204" pitchFamily="34" charset="0"/>
                <a:cs typeface="Arial" panose="020B0604020202020204" pitchFamily="34" charset="0"/>
              </a:rPr>
              <a:t> </a:t>
            </a:r>
          </a:p>
        </p:txBody>
      </p:sp>
      <p:cxnSp>
        <p:nvCxnSpPr>
          <p:cNvPr id="28" name="Straight Connector 27"/>
          <p:cNvCxnSpPr/>
          <p:nvPr/>
        </p:nvCxnSpPr>
        <p:spPr>
          <a:xfrm>
            <a:off x="10134600" y="1171575"/>
            <a:ext cx="0" cy="8162925"/>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31" name="Round Single Corner Rectangle 30"/>
          <p:cNvSpPr/>
          <p:nvPr/>
        </p:nvSpPr>
        <p:spPr>
          <a:xfrm>
            <a:off x="8765310" y="5410603"/>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4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a:t>
            </a:r>
            <a:r>
              <a:rPr lang="en-PH" sz="4800" b="1" u="sng" dirty="0" smtClean="0">
                <a:solidFill>
                  <a:srgbClr val="820000"/>
                </a:solidFill>
                <a:latin typeface="Arial" panose="020B0604020202020204" pitchFamily="34" charset="0"/>
                <a:cs typeface="Arial" panose="020B0604020202020204" pitchFamily="34" charset="0"/>
              </a:rPr>
              <a:t> </a:t>
            </a:r>
          </a:p>
        </p:txBody>
      </p:sp>
      <p:sp>
        <p:nvSpPr>
          <p:cNvPr id="35" name="Round Single Corner Rectangle 34"/>
          <p:cNvSpPr/>
          <p:nvPr/>
        </p:nvSpPr>
        <p:spPr>
          <a:xfrm>
            <a:off x="10287996" y="4415610"/>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PH" sz="2400" i="1" dirty="0" smtClean="0">
                <a:solidFill>
                  <a:srgbClr val="820000"/>
                </a:solidFill>
                <a:latin typeface="Arial" panose="020B0604020202020204" pitchFamily="34" charset="0"/>
                <a:cs typeface="Arial" panose="020B0604020202020204" pitchFamily="34" charset="0"/>
              </a:rPr>
              <a:t>3.1	Experimental Design</a:t>
            </a:r>
          </a:p>
          <a:p>
            <a:pPr algn="just"/>
            <a:r>
              <a:rPr lang="en-PH" sz="2400" dirty="0" smtClean="0">
                <a:solidFill>
                  <a:srgbClr val="820000"/>
                </a:solidFill>
                <a:latin typeface="Arial" panose="020B0604020202020204" pitchFamily="34" charset="0"/>
                <a:cs typeface="Arial" panose="020B0604020202020204" pitchFamily="34" charset="0"/>
              </a:rPr>
              <a:t>3.2	Sample</a:t>
            </a:r>
          </a:p>
          <a:p>
            <a:pPr algn="just"/>
            <a:r>
              <a:rPr lang="en-PH" sz="2400" dirty="0" smtClean="0">
                <a:solidFill>
                  <a:srgbClr val="820000"/>
                </a:solidFill>
                <a:latin typeface="Arial" panose="020B0604020202020204" pitchFamily="34" charset="0"/>
                <a:cs typeface="Arial" panose="020B0604020202020204" pitchFamily="34" charset="0"/>
              </a:rPr>
              <a:t>3.3	Chemicals and Materials</a:t>
            </a:r>
          </a:p>
          <a:p>
            <a:pPr algn="just"/>
            <a:r>
              <a:rPr lang="en-PH" sz="2400" dirty="0" smtClean="0">
                <a:solidFill>
                  <a:srgbClr val="820000"/>
                </a:solidFill>
                <a:latin typeface="Arial" panose="020B0604020202020204" pitchFamily="34" charset="0"/>
                <a:cs typeface="Arial" panose="020B0604020202020204" pitchFamily="34" charset="0"/>
              </a:rPr>
              <a:t>3.4	Chemical Profiling</a:t>
            </a:r>
          </a:p>
          <a:p>
            <a:pPr algn="just"/>
            <a:r>
              <a:rPr lang="en-PH" sz="2400" dirty="0" smtClean="0">
                <a:solidFill>
                  <a:srgbClr val="820000"/>
                </a:solidFill>
                <a:latin typeface="Arial" panose="020B0604020202020204" pitchFamily="34" charset="0"/>
                <a:cs typeface="Arial" panose="020B0604020202020204" pitchFamily="34" charset="0"/>
              </a:rPr>
              <a:t>     3.4.1     GC-MS</a:t>
            </a:r>
          </a:p>
          <a:p>
            <a:pPr algn="just"/>
            <a:r>
              <a:rPr lang="en-PH" sz="2400" dirty="0" smtClean="0">
                <a:solidFill>
                  <a:srgbClr val="820000"/>
                </a:solidFill>
                <a:latin typeface="Arial" panose="020B0604020202020204" pitchFamily="34" charset="0"/>
                <a:cs typeface="Arial" panose="020B0604020202020204" pitchFamily="34" charset="0"/>
              </a:rPr>
              <a:t>     3.4.2      LC-MS</a:t>
            </a:r>
          </a:p>
          <a:p>
            <a:pPr algn="just"/>
            <a:r>
              <a:rPr lang="en-PH" sz="2400" dirty="0" smtClean="0">
                <a:solidFill>
                  <a:srgbClr val="820000"/>
                </a:solidFill>
                <a:latin typeface="Arial" panose="020B0604020202020204" pitchFamily="34" charset="0"/>
                <a:cs typeface="Arial" panose="020B0604020202020204" pitchFamily="34" charset="0"/>
              </a:rPr>
              <a:t>3.6	Phytochemical Analysis</a:t>
            </a:r>
          </a:p>
          <a:p>
            <a:pPr algn="just"/>
            <a:r>
              <a:rPr lang="en-PH" sz="2400" dirty="0">
                <a:solidFill>
                  <a:srgbClr val="820000"/>
                </a:solidFill>
                <a:latin typeface="Arial" panose="020B0604020202020204" pitchFamily="34" charset="0"/>
                <a:cs typeface="Arial" panose="020B0604020202020204" pitchFamily="34" charset="0"/>
              </a:rPr>
              <a:t> </a:t>
            </a:r>
            <a:r>
              <a:rPr lang="en-PH" sz="2400" dirty="0" smtClean="0">
                <a:solidFill>
                  <a:srgbClr val="820000"/>
                </a:solidFill>
                <a:latin typeface="Arial" panose="020B0604020202020204" pitchFamily="34" charset="0"/>
                <a:cs typeface="Arial" panose="020B0604020202020204" pitchFamily="34" charset="0"/>
              </a:rPr>
              <a:t>     3.6.1    Total Phenolic Content</a:t>
            </a:r>
          </a:p>
          <a:p>
            <a:pPr algn="just"/>
            <a:r>
              <a:rPr lang="en-PH" sz="2400" dirty="0">
                <a:solidFill>
                  <a:srgbClr val="820000"/>
                </a:solidFill>
                <a:latin typeface="Arial" panose="020B0604020202020204" pitchFamily="34" charset="0"/>
                <a:cs typeface="Arial" panose="020B0604020202020204" pitchFamily="34" charset="0"/>
              </a:rPr>
              <a:t> </a:t>
            </a:r>
            <a:r>
              <a:rPr lang="en-PH" sz="2400" dirty="0" smtClean="0">
                <a:solidFill>
                  <a:srgbClr val="820000"/>
                </a:solidFill>
                <a:latin typeface="Arial" panose="020B0604020202020204" pitchFamily="34" charset="0"/>
                <a:cs typeface="Arial" panose="020B0604020202020204" pitchFamily="34" charset="0"/>
              </a:rPr>
              <a:t>     3.6.2     Total Flavonoid Content</a:t>
            </a:r>
          </a:p>
          <a:p>
            <a:pPr algn="just"/>
            <a:r>
              <a:rPr lang="en-PH" sz="2400" dirty="0">
                <a:solidFill>
                  <a:srgbClr val="820000"/>
                </a:solidFill>
                <a:latin typeface="Arial" panose="020B0604020202020204" pitchFamily="34" charset="0"/>
                <a:cs typeface="Arial" panose="020B0604020202020204" pitchFamily="34" charset="0"/>
              </a:rPr>
              <a:t> </a:t>
            </a:r>
            <a:r>
              <a:rPr lang="en-PH" sz="2400" dirty="0" smtClean="0">
                <a:solidFill>
                  <a:srgbClr val="820000"/>
                </a:solidFill>
                <a:latin typeface="Arial" panose="020B0604020202020204" pitchFamily="34" charset="0"/>
                <a:cs typeface="Arial" panose="020B0604020202020204" pitchFamily="34" charset="0"/>
              </a:rPr>
              <a:t>     3.6.3      Antioxidant Activity : DPPH Assay</a:t>
            </a:r>
          </a:p>
          <a:p>
            <a:pPr algn="just"/>
            <a:r>
              <a:rPr lang="en-PH" sz="2400" dirty="0">
                <a:solidFill>
                  <a:srgbClr val="820000"/>
                </a:solidFill>
                <a:latin typeface="Arial" panose="020B0604020202020204" pitchFamily="34" charset="0"/>
                <a:cs typeface="Arial" panose="020B0604020202020204" pitchFamily="34" charset="0"/>
              </a:rPr>
              <a:t> </a:t>
            </a:r>
            <a:r>
              <a:rPr lang="en-PH" sz="2400" dirty="0" smtClean="0">
                <a:solidFill>
                  <a:srgbClr val="820000"/>
                </a:solidFill>
                <a:latin typeface="Arial" panose="020B0604020202020204" pitchFamily="34" charset="0"/>
                <a:cs typeface="Arial" panose="020B0604020202020204" pitchFamily="34" charset="0"/>
              </a:rPr>
              <a:t>     3.6.4      Antioxidant Activity: FRAP Assay</a:t>
            </a:r>
          </a:p>
          <a:p>
            <a:pPr algn="just"/>
            <a:r>
              <a:rPr lang="en-PH" sz="2400" dirty="0" smtClean="0">
                <a:solidFill>
                  <a:srgbClr val="820000"/>
                </a:solidFill>
                <a:latin typeface="Arial" panose="020B0604020202020204" pitchFamily="34" charset="0"/>
                <a:cs typeface="Arial" panose="020B0604020202020204" pitchFamily="34" charset="0"/>
              </a:rPr>
              <a:t>3.7	Column Chromatography</a:t>
            </a:r>
          </a:p>
          <a:p>
            <a:pPr algn="just"/>
            <a:r>
              <a:rPr lang="en-PH" sz="2400" dirty="0" smtClean="0">
                <a:solidFill>
                  <a:srgbClr val="820000"/>
                </a:solidFill>
                <a:latin typeface="Arial" panose="020B0604020202020204" pitchFamily="34" charset="0"/>
                <a:cs typeface="Arial" panose="020B0604020202020204" pitchFamily="34" charset="0"/>
              </a:rPr>
              <a:t>3.8	Untargeted Bioassay</a:t>
            </a:r>
          </a:p>
          <a:p>
            <a:pPr algn="just"/>
            <a:r>
              <a:rPr lang="en-PH" sz="2400" dirty="0" smtClean="0">
                <a:solidFill>
                  <a:srgbClr val="820000"/>
                </a:solidFill>
                <a:latin typeface="Arial" panose="020B0604020202020204" pitchFamily="34" charset="0"/>
                <a:cs typeface="Arial" panose="020B0604020202020204" pitchFamily="34" charset="0"/>
              </a:rPr>
              <a:t>       3.8.1      Glucose Concentration</a:t>
            </a:r>
          </a:p>
          <a:p>
            <a:pPr algn="just"/>
            <a:r>
              <a:rPr lang="en-PH" sz="2400" dirty="0">
                <a:solidFill>
                  <a:srgbClr val="820000"/>
                </a:solidFill>
                <a:latin typeface="Arial" panose="020B0604020202020204" pitchFamily="34" charset="0"/>
                <a:cs typeface="Arial" panose="020B0604020202020204" pitchFamily="34" charset="0"/>
              </a:rPr>
              <a:t> </a:t>
            </a:r>
            <a:r>
              <a:rPr lang="en-PH" sz="2400" dirty="0" smtClean="0">
                <a:solidFill>
                  <a:srgbClr val="820000"/>
                </a:solidFill>
                <a:latin typeface="Arial" panose="020B0604020202020204" pitchFamily="34" charset="0"/>
                <a:cs typeface="Arial" panose="020B0604020202020204" pitchFamily="34" charset="0"/>
              </a:rPr>
              <a:t>       3.8.2      Alpha-amylase Inhibition</a:t>
            </a:r>
          </a:p>
          <a:p>
            <a:pPr algn="just"/>
            <a:r>
              <a:rPr lang="en-PH" sz="2400" dirty="0" smtClean="0">
                <a:solidFill>
                  <a:srgbClr val="820000"/>
                </a:solidFill>
                <a:latin typeface="Arial" panose="020B0604020202020204" pitchFamily="34" charset="0"/>
                <a:cs typeface="Arial" panose="020B0604020202020204" pitchFamily="34" charset="0"/>
              </a:rPr>
              <a:t>3.9	Principal Component Analysis</a:t>
            </a:r>
            <a:r>
              <a:rPr lang="en-PH" sz="2400" i="1" dirty="0" smtClean="0">
                <a:solidFill>
                  <a:srgbClr val="820000"/>
                </a:solidFill>
                <a:latin typeface="Arial" panose="020B0604020202020204" pitchFamily="34" charset="0"/>
                <a:cs typeface="Arial" panose="020B0604020202020204" pitchFamily="34" charset="0"/>
              </a:rPr>
              <a:t>	        </a:t>
            </a:r>
          </a:p>
          <a:p>
            <a:pPr marL="685800" indent="-685800" algn="just">
              <a:buFont typeface="Arial" panose="020B0604020202020204" pitchFamily="34" charset="0"/>
              <a:buChar char="•"/>
            </a:pPr>
            <a:endParaRPr lang="en-PH" sz="2800" dirty="0" smtClean="0">
              <a:solidFill>
                <a:srgbClr val="820000"/>
              </a:solidFill>
              <a:latin typeface="Arial" panose="020B0604020202020204" pitchFamily="34" charset="0"/>
              <a:cs typeface="Arial" panose="020B0604020202020204" pitchFamily="34" charset="0"/>
            </a:endParaRPr>
          </a:p>
          <a:p>
            <a:pPr algn="just"/>
            <a:r>
              <a:rPr lang="en-PH" sz="2800" dirty="0" smtClean="0">
                <a:solidFill>
                  <a:srgbClr val="820000"/>
                </a:solidFill>
                <a:latin typeface="Arial" panose="020B0604020202020204" pitchFamily="34" charset="0"/>
                <a:cs typeface="Arial" panose="020B0604020202020204" pitchFamily="34" charset="0"/>
              </a:rPr>
              <a:t> </a:t>
            </a:r>
          </a:p>
        </p:txBody>
      </p:sp>
      <p:sp>
        <p:nvSpPr>
          <p:cNvPr id="7" name="Rectangle 6"/>
          <p:cNvSpPr/>
          <p:nvPr/>
        </p:nvSpPr>
        <p:spPr>
          <a:xfrm>
            <a:off x="10252372" y="7660761"/>
            <a:ext cx="3674404" cy="487506"/>
          </a:xfrm>
          <a:prstGeom prst="rect">
            <a:avLst/>
          </a:prstGeom>
        </p:spPr>
        <p:txBody>
          <a:bodyPr wrap="none">
            <a:spAutoFit/>
          </a:bodyPr>
          <a:lstStyle/>
          <a:p>
            <a:pPr>
              <a:lnSpc>
                <a:spcPct val="107000"/>
              </a:lnSpc>
              <a:spcAft>
                <a:spcPts val="800"/>
              </a:spcAft>
            </a:pPr>
            <a:r>
              <a:rPr lang="en-PH" sz="2400" b="1" dirty="0" smtClean="0">
                <a:solidFill>
                  <a:srgbClr val="820000"/>
                </a:solidFill>
                <a:effectLst/>
                <a:latin typeface="Arial" panose="020B0604020202020204" pitchFamily="34" charset="0"/>
                <a:ea typeface="Calibri" panose="020F0502020204030204" pitchFamily="34" charset="0"/>
                <a:cs typeface="Arial" panose="020B0604020202020204" pitchFamily="34" charset="0"/>
              </a:rPr>
              <a:t>Budgetary Requirement</a:t>
            </a:r>
            <a:endParaRPr lang="en-PH" sz="2400" dirty="0">
              <a:solidFill>
                <a:srgbClr val="820000"/>
              </a:solidFill>
              <a:effectLst/>
              <a:latin typeface="Arial" panose="020B0604020202020204" pitchFamily="34" charset="0"/>
              <a:ea typeface="Calibri" panose="020F0502020204030204" pitchFamily="34" charset="0"/>
              <a:cs typeface="Times New Roman" panose="02020603050405020304" pitchFamily="18" charset="0"/>
            </a:endParaRPr>
          </a:p>
        </p:txBody>
      </p:sp>
      <p:sp>
        <p:nvSpPr>
          <p:cNvPr id="8" name="Rectangle 7"/>
          <p:cNvSpPr/>
          <p:nvPr/>
        </p:nvSpPr>
        <p:spPr>
          <a:xfrm>
            <a:off x="10252372" y="8162130"/>
            <a:ext cx="1962397" cy="461665"/>
          </a:xfrm>
          <a:prstGeom prst="rect">
            <a:avLst/>
          </a:prstGeom>
        </p:spPr>
        <p:txBody>
          <a:bodyPr wrap="none">
            <a:spAutoFit/>
          </a:bodyPr>
          <a:lstStyle/>
          <a:p>
            <a:r>
              <a:rPr lang="en-PH" sz="2400" b="1" dirty="0" err="1" smtClean="0">
                <a:solidFill>
                  <a:srgbClr val="820000"/>
                </a:solidFill>
                <a:latin typeface="Arial" panose="020B0604020202020204" pitchFamily="34" charset="0"/>
                <a:ea typeface="Calibri" panose="020F0502020204030204" pitchFamily="34" charset="0"/>
              </a:rPr>
              <a:t>Ghant</a:t>
            </a:r>
            <a:r>
              <a:rPr lang="en-PH" sz="2400" b="1" dirty="0" smtClean="0">
                <a:solidFill>
                  <a:srgbClr val="820000"/>
                </a:solidFill>
                <a:latin typeface="Arial" panose="020B0604020202020204" pitchFamily="34" charset="0"/>
                <a:ea typeface="Calibri" panose="020F0502020204030204" pitchFamily="34" charset="0"/>
              </a:rPr>
              <a:t> Chart</a:t>
            </a:r>
            <a:endParaRPr lang="en-PH" sz="2400" dirty="0">
              <a:solidFill>
                <a:srgbClr val="820000"/>
              </a:solidFill>
            </a:endParaRPr>
          </a:p>
        </p:txBody>
      </p:sp>
      <p:sp>
        <p:nvSpPr>
          <p:cNvPr id="37" name="Rectangle 36"/>
          <p:cNvSpPr/>
          <p:nvPr/>
        </p:nvSpPr>
        <p:spPr>
          <a:xfrm>
            <a:off x="10300934" y="8640836"/>
            <a:ext cx="1931939" cy="461665"/>
          </a:xfrm>
          <a:prstGeom prst="rect">
            <a:avLst/>
          </a:prstGeom>
        </p:spPr>
        <p:txBody>
          <a:bodyPr wrap="none">
            <a:spAutoFit/>
          </a:bodyPr>
          <a:lstStyle/>
          <a:p>
            <a:r>
              <a:rPr lang="en-PH" sz="2400" b="1" dirty="0" smtClean="0">
                <a:solidFill>
                  <a:srgbClr val="820000"/>
                </a:solidFill>
                <a:latin typeface="Arial" panose="020B0604020202020204" pitchFamily="34" charset="0"/>
              </a:rPr>
              <a:t>References </a:t>
            </a:r>
            <a:endParaRPr lang="en-PH" sz="2400" dirty="0">
              <a:solidFill>
                <a:srgbClr val="820000"/>
              </a:solidFill>
            </a:endParaRPr>
          </a:p>
        </p:txBody>
      </p:sp>
    </p:spTree>
    <p:extLst>
      <p:ext uri="{BB962C8B-B14F-4D97-AF65-F5344CB8AC3E}">
        <p14:creationId xmlns:p14="http://schemas.microsoft.com/office/powerpoint/2010/main" val="40691864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9831" y="3504640"/>
            <a:ext cx="6486769" cy="5051366"/>
          </a:xfrm>
          <a:prstGeom prst="rect">
            <a:avLst/>
          </a:prstGeom>
        </p:spPr>
      </p:pic>
      <p:sp>
        <p:nvSpPr>
          <p:cNvPr id="40" name="AutoShape 5"/>
          <p:cNvSpPr/>
          <p:nvPr/>
        </p:nvSpPr>
        <p:spPr>
          <a:xfrm rot="5400000">
            <a:off x="4763863" y="5304514"/>
            <a:ext cx="6386665" cy="74818"/>
          </a:xfrm>
          <a:prstGeom prst="line">
            <a:avLst/>
          </a:prstGeom>
          <a:ln w="114300" cap="flat">
            <a:solidFill>
              <a:srgbClr val="0D7377"/>
            </a:solidFill>
            <a:prstDash val="solid"/>
            <a:headEnd type="none" w="sm" len="sm"/>
            <a:tailEnd type="none" w="sm" len="sm"/>
          </a:ln>
        </p:spPr>
      </p:sp>
      <p:sp>
        <p:nvSpPr>
          <p:cNvPr id="28" name="Freeform 16"/>
          <p:cNvSpPr/>
          <p:nvPr/>
        </p:nvSpPr>
        <p:spPr>
          <a:xfrm>
            <a:off x="76200" y="1773942"/>
            <a:ext cx="6712874" cy="1562099"/>
          </a:xfrm>
          <a:custGeom>
            <a:avLst/>
            <a:gdLst/>
            <a:ahLst/>
            <a:cxnLst/>
            <a:rect l="l" t="t" r="r" b="b"/>
            <a:pathLst>
              <a:path w="3001693" h="698500">
                <a:moveTo>
                  <a:pt x="3001693" y="349250"/>
                </a:moveTo>
                <a:lnTo>
                  <a:pt x="2798493" y="698500"/>
                </a:lnTo>
                <a:lnTo>
                  <a:pt x="203200" y="698500"/>
                </a:lnTo>
                <a:lnTo>
                  <a:pt x="0" y="349250"/>
                </a:lnTo>
                <a:lnTo>
                  <a:pt x="203200" y="0"/>
                </a:lnTo>
                <a:lnTo>
                  <a:pt x="2798493" y="0"/>
                </a:lnTo>
                <a:lnTo>
                  <a:pt x="3001693" y="349250"/>
                </a:lnTo>
                <a:close/>
              </a:path>
            </a:pathLst>
          </a:custGeom>
          <a:solidFill>
            <a:srgbClr val="005C2A"/>
          </a:solidFill>
        </p:spPr>
      </p:sp>
      <p:sp>
        <p:nvSpPr>
          <p:cNvPr id="53" name="TextBox 13"/>
          <p:cNvSpPr txBox="1"/>
          <p:nvPr/>
        </p:nvSpPr>
        <p:spPr>
          <a:xfrm>
            <a:off x="1671387" y="1531257"/>
            <a:ext cx="2203151" cy="2306426"/>
          </a:xfrm>
          <a:prstGeom prst="rect">
            <a:avLst/>
          </a:prstGeom>
        </p:spPr>
        <p:txBody>
          <a:bodyPr lIns="50800" tIns="50800" rIns="50800" bIns="50800" rtlCol="0" anchor="ctr"/>
          <a:lstStyle/>
          <a:p>
            <a:pPr algn="ctr">
              <a:lnSpc>
                <a:spcPts val="2659"/>
              </a:lnSpc>
              <a:spcBef>
                <a:spcPct val="0"/>
              </a:spcBef>
            </a:pPr>
            <a:endParaRPr/>
          </a:p>
        </p:txBody>
      </p:sp>
      <p:pic>
        <p:nvPicPr>
          <p:cNvPr id="18" name="Picture 17"/>
          <p:cNvPicPr>
            <a:picLocks noChangeAspect="1"/>
          </p:cNvPicPr>
          <p:nvPr/>
        </p:nvPicPr>
        <p:blipFill>
          <a:blip r:embed="rId3"/>
          <a:stretch>
            <a:fillRect/>
          </a:stretch>
        </p:blipFill>
        <p:spPr>
          <a:xfrm>
            <a:off x="76200" y="9266338"/>
            <a:ext cx="2327677" cy="1020662"/>
          </a:xfrm>
          <a:prstGeom prst="rect">
            <a:avLst/>
          </a:prstGeom>
        </p:spPr>
      </p:pic>
      <p:pic>
        <p:nvPicPr>
          <p:cNvPr id="19" name="Picture 18"/>
          <p:cNvPicPr>
            <a:picLocks noChangeAspect="1"/>
          </p:cNvPicPr>
          <p:nvPr/>
        </p:nvPicPr>
        <p:blipFill>
          <a:blip r:embed="rId4"/>
          <a:stretch>
            <a:fillRect/>
          </a:stretch>
        </p:blipFill>
        <p:spPr>
          <a:xfrm rot="10800000">
            <a:off x="-30480" y="1294489"/>
            <a:ext cx="18288000" cy="267610"/>
          </a:xfrm>
          <a:prstGeom prst="rect">
            <a:avLst/>
          </a:prstGeom>
        </p:spPr>
      </p:pic>
      <p:sp>
        <p:nvSpPr>
          <p:cNvPr id="21" name="Round Single Corner Rectangle 20"/>
          <p:cNvSpPr/>
          <p:nvPr/>
        </p:nvSpPr>
        <p:spPr>
          <a:xfrm>
            <a:off x="5494020" y="160397"/>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4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Background of the Study   </a:t>
            </a:r>
            <a:r>
              <a:rPr lang="en-PH" sz="4800" b="1" u="sng" dirty="0" smtClean="0">
                <a:solidFill>
                  <a:srgbClr val="820000"/>
                </a:solidFill>
                <a:latin typeface="Arial" panose="020B0604020202020204" pitchFamily="34" charset="0"/>
                <a:cs typeface="Arial" panose="020B0604020202020204" pitchFamily="34" charset="0"/>
              </a:rPr>
              <a:t> </a:t>
            </a:r>
          </a:p>
        </p:txBody>
      </p:sp>
      <p:pic>
        <p:nvPicPr>
          <p:cNvPr id="20" name="Picture 19"/>
          <p:cNvPicPr>
            <a:picLocks noChangeAspect="1"/>
          </p:cNvPicPr>
          <p:nvPr/>
        </p:nvPicPr>
        <p:blipFill>
          <a:blip r:embed="rId4"/>
          <a:stretch>
            <a:fillRect/>
          </a:stretch>
        </p:blipFill>
        <p:spPr>
          <a:xfrm>
            <a:off x="0" y="0"/>
            <a:ext cx="18288000" cy="267611"/>
          </a:xfrm>
          <a:prstGeom prst="rect">
            <a:avLst/>
          </a:prstGeom>
        </p:spPr>
      </p:pic>
      <p:sp>
        <p:nvSpPr>
          <p:cNvPr id="4" name="Parallelogram 3"/>
          <p:cNvSpPr/>
          <p:nvPr/>
        </p:nvSpPr>
        <p:spPr>
          <a:xfrm>
            <a:off x="2388637" y="9936689"/>
            <a:ext cx="9727163" cy="236011"/>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2" name="Parallelogram 21"/>
          <p:cNvSpPr/>
          <p:nvPr/>
        </p:nvSpPr>
        <p:spPr>
          <a:xfrm>
            <a:off x="12192000" y="9944100"/>
            <a:ext cx="1421363" cy="228600"/>
          </a:xfrm>
          <a:prstGeom prst="parallelogram">
            <a:avLst/>
          </a:prstGeom>
          <a:solidFill>
            <a:srgbClr val="FFC000"/>
          </a:solidFill>
          <a:ln>
            <a:solidFill>
              <a:srgbClr val="FFC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3" name="Parallelogram 22"/>
          <p:cNvSpPr/>
          <p:nvPr/>
        </p:nvSpPr>
        <p:spPr>
          <a:xfrm>
            <a:off x="13689563" y="9944100"/>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24" name="Picture 23"/>
          <p:cNvPicPr>
            <a:picLocks noChangeAspect="1"/>
          </p:cNvPicPr>
          <p:nvPr/>
        </p:nvPicPr>
        <p:blipFill>
          <a:blip r:embed="rId4"/>
          <a:stretch>
            <a:fillRect/>
          </a:stretch>
        </p:blipFill>
        <p:spPr>
          <a:xfrm rot="10800000" flipV="1">
            <a:off x="2403877" y="9668509"/>
            <a:ext cx="15899363" cy="232657"/>
          </a:xfrm>
          <a:prstGeom prst="rect">
            <a:avLst/>
          </a:prstGeom>
        </p:spPr>
      </p:pic>
      <p:pic>
        <p:nvPicPr>
          <p:cNvPr id="6" name="Picture 5"/>
          <p:cNvPicPr>
            <a:picLocks noChangeAspect="1"/>
          </p:cNvPicPr>
          <p:nvPr/>
        </p:nvPicPr>
        <p:blipFill>
          <a:blip r:embed="rId5"/>
          <a:stretch>
            <a:fillRect/>
          </a:stretch>
        </p:blipFill>
        <p:spPr>
          <a:xfrm>
            <a:off x="15030450" y="488370"/>
            <a:ext cx="3257550" cy="523875"/>
          </a:xfrm>
          <a:prstGeom prst="rect">
            <a:avLst/>
          </a:prstGeom>
        </p:spPr>
      </p:pic>
      <p:sp>
        <p:nvSpPr>
          <p:cNvPr id="25" name="Parallelogram 24"/>
          <p:cNvSpPr/>
          <p:nvPr/>
        </p:nvSpPr>
        <p:spPr>
          <a:xfrm>
            <a:off x="13030200" y="760176"/>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13" name="Picture 12"/>
          <p:cNvPicPr>
            <a:picLocks noChangeAspect="1"/>
          </p:cNvPicPr>
          <p:nvPr/>
        </p:nvPicPr>
        <p:blipFill>
          <a:blip r:embed="rId5"/>
          <a:stretch>
            <a:fillRect/>
          </a:stretch>
        </p:blipFill>
        <p:spPr>
          <a:xfrm rot="10800000">
            <a:off x="0" y="612538"/>
            <a:ext cx="3257550" cy="523875"/>
          </a:xfrm>
          <a:prstGeom prst="rect">
            <a:avLst/>
          </a:prstGeom>
        </p:spPr>
      </p:pic>
      <p:sp>
        <p:nvSpPr>
          <p:cNvPr id="14" name="Parallelogram 13"/>
          <p:cNvSpPr/>
          <p:nvPr/>
        </p:nvSpPr>
        <p:spPr>
          <a:xfrm>
            <a:off x="659363" y="577015"/>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7" name="Hexagon 6"/>
          <p:cNvSpPr/>
          <p:nvPr/>
        </p:nvSpPr>
        <p:spPr>
          <a:xfrm>
            <a:off x="308437" y="1971186"/>
            <a:ext cx="6248400" cy="1167610"/>
          </a:xfrm>
          <a:prstGeom prst="hexag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3600" b="1" dirty="0" smtClean="0">
                <a:solidFill>
                  <a:srgbClr val="005C2A"/>
                </a:solidFill>
              </a:rPr>
              <a:t>Coconut (Cocus </a:t>
            </a:r>
            <a:r>
              <a:rPr lang="en-PH" sz="3600" b="1" dirty="0" err="1" smtClean="0">
                <a:solidFill>
                  <a:srgbClr val="005C2A"/>
                </a:solidFill>
              </a:rPr>
              <a:t>nucifera</a:t>
            </a:r>
            <a:r>
              <a:rPr lang="en-PH" sz="3600" b="1" dirty="0">
                <a:solidFill>
                  <a:srgbClr val="005C2A"/>
                </a:solidFill>
              </a:rPr>
              <a:t>)</a:t>
            </a:r>
            <a:endParaRPr lang="en-PH" b="1" dirty="0">
              <a:solidFill>
                <a:srgbClr val="005C2A"/>
              </a:solidFill>
            </a:endParaRPr>
          </a:p>
        </p:txBody>
      </p:sp>
      <p:sp>
        <p:nvSpPr>
          <p:cNvPr id="32" name="Round Single Corner Rectangle 31"/>
          <p:cNvSpPr/>
          <p:nvPr/>
        </p:nvSpPr>
        <p:spPr>
          <a:xfrm>
            <a:off x="7406784" y="2132020"/>
            <a:ext cx="1214641" cy="1104900"/>
          </a:xfrm>
          <a:prstGeom prst="round1Rect">
            <a:avLst/>
          </a:prstGeom>
          <a:solidFill>
            <a:srgbClr val="FFC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4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01   </a:t>
            </a:r>
            <a:r>
              <a:rPr lang="en-PH" sz="4800" b="1" u="sng" dirty="0" smtClean="0">
                <a:solidFill>
                  <a:srgbClr val="820000"/>
                </a:solidFill>
                <a:latin typeface="Arial" panose="020B0604020202020204" pitchFamily="34" charset="0"/>
                <a:cs typeface="Arial" panose="020B0604020202020204" pitchFamily="34" charset="0"/>
              </a:rPr>
              <a:t> </a:t>
            </a:r>
          </a:p>
        </p:txBody>
      </p:sp>
      <p:sp>
        <p:nvSpPr>
          <p:cNvPr id="33" name="Round Single Corner Rectangle 32"/>
          <p:cNvSpPr/>
          <p:nvPr/>
        </p:nvSpPr>
        <p:spPr>
          <a:xfrm>
            <a:off x="7406783" y="3725849"/>
            <a:ext cx="1214641" cy="1104900"/>
          </a:xfrm>
          <a:prstGeom prst="round1Rect">
            <a:avLst/>
          </a:prstGeom>
          <a:solidFill>
            <a:srgbClr val="FFC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4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02   </a:t>
            </a:r>
            <a:r>
              <a:rPr lang="en-PH" sz="4800" b="1" u="sng" dirty="0" smtClean="0">
                <a:solidFill>
                  <a:srgbClr val="820000"/>
                </a:solidFill>
                <a:latin typeface="Arial" panose="020B0604020202020204" pitchFamily="34" charset="0"/>
                <a:cs typeface="Arial" panose="020B0604020202020204" pitchFamily="34" charset="0"/>
              </a:rPr>
              <a:t> </a:t>
            </a:r>
          </a:p>
        </p:txBody>
      </p:sp>
      <p:sp>
        <p:nvSpPr>
          <p:cNvPr id="34" name="Round Single Corner Rectangle 33"/>
          <p:cNvSpPr/>
          <p:nvPr/>
        </p:nvSpPr>
        <p:spPr>
          <a:xfrm>
            <a:off x="7406783" y="5410200"/>
            <a:ext cx="1214641" cy="1104900"/>
          </a:xfrm>
          <a:prstGeom prst="round1Rect">
            <a:avLst/>
          </a:prstGeom>
          <a:solidFill>
            <a:srgbClr val="FFC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4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03   </a:t>
            </a:r>
            <a:r>
              <a:rPr lang="en-PH" sz="4800" b="1" u="sng" dirty="0" smtClean="0">
                <a:solidFill>
                  <a:srgbClr val="820000"/>
                </a:solidFill>
                <a:latin typeface="Arial" panose="020B0604020202020204" pitchFamily="34" charset="0"/>
                <a:cs typeface="Arial" panose="020B0604020202020204" pitchFamily="34" charset="0"/>
              </a:rPr>
              <a:t> </a:t>
            </a:r>
          </a:p>
        </p:txBody>
      </p:sp>
      <p:sp>
        <p:nvSpPr>
          <p:cNvPr id="35" name="Round Single Corner Rectangle 34"/>
          <p:cNvSpPr/>
          <p:nvPr/>
        </p:nvSpPr>
        <p:spPr>
          <a:xfrm>
            <a:off x="7406783" y="7124700"/>
            <a:ext cx="1214641" cy="1104900"/>
          </a:xfrm>
          <a:prstGeom prst="round1Rect">
            <a:avLst/>
          </a:prstGeom>
          <a:solidFill>
            <a:srgbClr val="FFC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4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04   </a:t>
            </a:r>
            <a:r>
              <a:rPr lang="en-PH" sz="4800" b="1" u="sng" dirty="0" smtClean="0">
                <a:solidFill>
                  <a:srgbClr val="820000"/>
                </a:solidFill>
                <a:latin typeface="Arial" panose="020B0604020202020204" pitchFamily="34" charset="0"/>
                <a:cs typeface="Arial" panose="020B0604020202020204" pitchFamily="34" charset="0"/>
              </a:rPr>
              <a:t> </a:t>
            </a:r>
          </a:p>
        </p:txBody>
      </p:sp>
      <p:sp>
        <p:nvSpPr>
          <p:cNvPr id="58" name="Rectangle 57"/>
          <p:cNvSpPr/>
          <p:nvPr/>
        </p:nvSpPr>
        <p:spPr>
          <a:xfrm>
            <a:off x="8681314" y="2192345"/>
            <a:ext cx="9345913" cy="6740307"/>
          </a:xfrm>
          <a:prstGeom prst="rect">
            <a:avLst/>
          </a:prstGeom>
        </p:spPr>
        <p:txBody>
          <a:bodyPr wrap="square">
            <a:spAutoFit/>
          </a:bodyPr>
          <a:lstStyle/>
          <a:p>
            <a:pPr marL="285750" indent="-285750" algn="just">
              <a:buFont typeface="Wingdings" panose="05000000000000000000" pitchFamily="2" charset="2"/>
              <a:buChar char="§"/>
            </a:pPr>
            <a:r>
              <a:rPr lang="en-PH" sz="2400" dirty="0" smtClean="0">
                <a:latin typeface="Arial" panose="020B0604020202020204" pitchFamily="34" charset="0"/>
                <a:ea typeface="Calibri" panose="020F0502020204030204" pitchFamily="34" charset="0"/>
                <a:cs typeface="Arial" panose="020B0604020202020204" pitchFamily="34" charset="0"/>
              </a:rPr>
              <a:t> </a:t>
            </a:r>
            <a:r>
              <a:rPr lang="en-PH" sz="2400" dirty="0">
                <a:latin typeface="Arial" panose="020B0604020202020204" pitchFamily="34" charset="0"/>
                <a:cs typeface="Arial" panose="020B0604020202020204" pitchFamily="34" charset="0"/>
              </a:rPr>
              <a:t>Coconut (</a:t>
            </a:r>
            <a:r>
              <a:rPr lang="en-PH" sz="2400" i="1" dirty="0" err="1">
                <a:latin typeface="Arial" panose="020B0604020202020204" pitchFamily="34" charset="0"/>
                <a:cs typeface="Arial" panose="020B0604020202020204" pitchFamily="34" charset="0"/>
              </a:rPr>
              <a:t>Cocos</a:t>
            </a:r>
            <a:r>
              <a:rPr lang="en-PH" sz="2400" i="1" dirty="0">
                <a:latin typeface="Arial" panose="020B0604020202020204" pitchFamily="34" charset="0"/>
                <a:cs typeface="Arial" panose="020B0604020202020204" pitchFamily="34" charset="0"/>
              </a:rPr>
              <a:t> </a:t>
            </a:r>
            <a:r>
              <a:rPr lang="en-PH" sz="2400" i="1" dirty="0" err="1">
                <a:latin typeface="Arial" panose="020B0604020202020204" pitchFamily="34" charset="0"/>
                <a:cs typeface="Arial" panose="020B0604020202020204" pitchFamily="34" charset="0"/>
              </a:rPr>
              <a:t>nucifera</a:t>
            </a:r>
            <a:r>
              <a:rPr lang="en-PH" sz="2400" i="1" dirty="0">
                <a:latin typeface="Arial" panose="020B0604020202020204" pitchFamily="34" charset="0"/>
                <a:cs typeface="Arial" panose="020B0604020202020204" pitchFamily="34" charset="0"/>
              </a:rPr>
              <a:t> Linn</a:t>
            </a:r>
            <a:r>
              <a:rPr lang="en-PH" sz="2400" dirty="0">
                <a:latin typeface="Arial" panose="020B0604020202020204" pitchFamily="34" charset="0"/>
                <a:cs typeface="Arial" panose="020B0604020202020204" pitchFamily="34" charset="0"/>
              </a:rPr>
              <a:t>.) is widely known as the tree of life due to its significant contribution to human life from all of its meat, water, husk, shell, wood, leaves, spikelet, etc.</a:t>
            </a:r>
            <a:r>
              <a:rPr lang="en-PH" sz="2400" baseline="30000" dirty="0">
                <a:latin typeface="Arial" panose="020B0604020202020204" pitchFamily="34" charset="0"/>
                <a:cs typeface="Arial" panose="020B0604020202020204" pitchFamily="34" charset="0"/>
              </a:rPr>
              <a:t>1,2,3</a:t>
            </a:r>
            <a:endParaRPr lang="en-PH" sz="2400" dirty="0" smtClean="0">
              <a:latin typeface="Arial" panose="020B0604020202020204" pitchFamily="34" charset="0"/>
              <a:ea typeface="Calibri" panose="020F0502020204030204" pitchFamily="34" charset="0"/>
              <a:cs typeface="Arial" panose="020B0604020202020204" pitchFamily="34" charset="0"/>
            </a:endParaRPr>
          </a:p>
          <a:p>
            <a:endParaRPr lang="en-PH" sz="2400" dirty="0">
              <a:latin typeface="Arial" panose="020B0604020202020204" pitchFamily="34" charset="0"/>
              <a:cs typeface="Arial" panose="020B0604020202020204" pitchFamily="34" charset="0"/>
            </a:endParaRPr>
          </a:p>
          <a:p>
            <a:pPr marL="342900" indent="-342900">
              <a:buFont typeface="Wingdings" panose="05000000000000000000" pitchFamily="2" charset="2"/>
              <a:buChar char="§"/>
            </a:pPr>
            <a:r>
              <a:rPr lang="en-PH" sz="2400" dirty="0">
                <a:latin typeface="Arial" panose="020B0604020202020204" pitchFamily="34" charset="0"/>
                <a:cs typeface="Arial" panose="020B0604020202020204" pitchFamily="34" charset="0"/>
              </a:rPr>
              <a:t>Every part of the coconut is utilized for the benefit of the human race, and its fruit particularly provides an important constituent of food, which is indispensable in every </a:t>
            </a:r>
            <a:r>
              <a:rPr lang="en-PH" sz="2400" dirty="0" smtClean="0">
                <a:latin typeface="Arial" panose="020B0604020202020204" pitchFamily="34" charset="0"/>
                <a:cs typeface="Arial" panose="020B0604020202020204" pitchFamily="34" charset="0"/>
              </a:rPr>
              <a:t>household.</a:t>
            </a:r>
            <a:r>
              <a:rPr lang="en-PH" sz="2400" baseline="30000" dirty="0">
                <a:latin typeface="Arial" panose="020B0604020202020204" pitchFamily="34" charset="0"/>
                <a:cs typeface="Arial" panose="020B0604020202020204" pitchFamily="34" charset="0"/>
              </a:rPr>
              <a:t> 4</a:t>
            </a:r>
            <a:endParaRPr lang="en-PH" sz="2400" dirty="0">
              <a:latin typeface="Arial" panose="020B0604020202020204" pitchFamily="34" charset="0"/>
              <a:ea typeface="Calibri" panose="020F0502020204030204" pitchFamily="34" charset="0"/>
              <a:cs typeface="Arial" panose="020B0604020202020204" pitchFamily="34" charset="0"/>
            </a:endParaRPr>
          </a:p>
          <a:p>
            <a:endParaRPr lang="en-PH" sz="2400" dirty="0" smtClean="0">
              <a:latin typeface="Arial" panose="020B0604020202020204" pitchFamily="34" charset="0"/>
              <a:cs typeface="Arial" panose="020B0604020202020204" pitchFamily="34" charset="0"/>
            </a:endParaRPr>
          </a:p>
          <a:p>
            <a:endParaRPr lang="en-PH" sz="2400" dirty="0" smtClean="0">
              <a:latin typeface="Arial" panose="020B0604020202020204" pitchFamily="34" charset="0"/>
              <a:cs typeface="Arial" panose="020B0604020202020204" pitchFamily="34" charset="0"/>
            </a:endParaRPr>
          </a:p>
          <a:p>
            <a:pPr marL="285750" indent="-285750" algn="just">
              <a:buFont typeface="Wingdings" panose="05000000000000000000" pitchFamily="2" charset="2"/>
              <a:buChar char="§"/>
            </a:pPr>
            <a:r>
              <a:rPr lang="en-PH" sz="2400" dirty="0" smtClean="0">
                <a:latin typeface="Arial" panose="020B0604020202020204" pitchFamily="34" charset="0"/>
                <a:cs typeface="Arial" panose="020B0604020202020204" pitchFamily="34" charset="0"/>
              </a:rPr>
              <a:t>Coconut </a:t>
            </a:r>
            <a:r>
              <a:rPr lang="en-PH" sz="2400" dirty="0">
                <a:latin typeface="Arial" panose="020B0604020202020204" pitchFamily="34" charset="0"/>
                <a:cs typeface="Arial" panose="020B0604020202020204" pitchFamily="34" charset="0"/>
              </a:rPr>
              <a:t>is grown in nearly 90 countries spread along the tropical belt; about 10 million families rely on coconuts as their main source of food and </a:t>
            </a:r>
            <a:r>
              <a:rPr lang="en-PH" sz="2400" dirty="0" smtClean="0">
                <a:latin typeface="Arial" panose="020B0604020202020204" pitchFamily="34" charset="0"/>
                <a:cs typeface="Arial" panose="020B0604020202020204" pitchFamily="34" charset="0"/>
              </a:rPr>
              <a:t>income.</a:t>
            </a:r>
            <a:r>
              <a:rPr lang="en-PH" sz="2400" baseline="30000" dirty="0">
                <a:latin typeface="Arial" panose="020B0604020202020204" pitchFamily="34" charset="0"/>
                <a:cs typeface="Arial" panose="020B0604020202020204" pitchFamily="34" charset="0"/>
              </a:rPr>
              <a:t> 4</a:t>
            </a:r>
            <a:endParaRPr lang="en-PH" sz="2400" dirty="0">
              <a:latin typeface="Arial" panose="020B0604020202020204" pitchFamily="34" charset="0"/>
              <a:ea typeface="Calibri" panose="020F0502020204030204" pitchFamily="34" charset="0"/>
              <a:cs typeface="Arial" panose="020B0604020202020204" pitchFamily="34" charset="0"/>
            </a:endParaRPr>
          </a:p>
          <a:p>
            <a:pPr algn="just"/>
            <a:endParaRPr lang="en-PH" sz="2400" dirty="0" smtClean="0">
              <a:latin typeface="Arial" panose="020B0604020202020204" pitchFamily="34" charset="0"/>
              <a:cs typeface="Arial" panose="020B0604020202020204" pitchFamily="34" charset="0"/>
            </a:endParaRPr>
          </a:p>
          <a:p>
            <a:pPr algn="just"/>
            <a:endParaRPr lang="en-PH" sz="2400" dirty="0">
              <a:latin typeface="Arial" panose="020B0604020202020204" pitchFamily="34" charset="0"/>
              <a:cs typeface="Arial" panose="020B0604020202020204" pitchFamily="34" charset="0"/>
            </a:endParaRPr>
          </a:p>
          <a:p>
            <a:pPr marL="285750" indent="-285750" algn="just">
              <a:buFont typeface="Wingdings" panose="05000000000000000000" pitchFamily="2" charset="2"/>
              <a:buChar char="§"/>
            </a:pPr>
            <a:r>
              <a:rPr lang="en-PH" sz="2400" dirty="0">
                <a:latin typeface="Arial" panose="020B0604020202020204" pitchFamily="34" charset="0"/>
                <a:cs typeface="Arial" panose="020B0604020202020204" pitchFamily="34" charset="0"/>
              </a:rPr>
              <a:t>. Folklore medicine claims its uses in diabetes, </a:t>
            </a:r>
            <a:r>
              <a:rPr lang="en-PH" sz="2400" dirty="0" err="1">
                <a:latin typeface="Arial" panose="020B0604020202020204" pitchFamily="34" charset="0"/>
                <a:cs typeface="Arial" panose="020B0604020202020204" pitchFamily="34" charset="0"/>
              </a:rPr>
              <a:t>diarrhea</a:t>
            </a:r>
            <a:r>
              <a:rPr lang="en-PH" sz="2400" dirty="0">
                <a:latin typeface="Arial" panose="020B0604020202020204" pitchFamily="34" charset="0"/>
                <a:cs typeface="Arial" panose="020B0604020202020204" pitchFamily="34" charset="0"/>
              </a:rPr>
              <a:t>, cancer, etc. Coconut and its by-products have been used for centuries as culinary, cosmetic, and medicinal </a:t>
            </a:r>
            <a:r>
              <a:rPr lang="en-PH" sz="2400" dirty="0" smtClean="0">
                <a:latin typeface="Arial" panose="020B0604020202020204" pitchFamily="34" charset="0"/>
                <a:cs typeface="Arial" panose="020B0604020202020204" pitchFamily="34" charset="0"/>
              </a:rPr>
              <a:t>agents.</a:t>
            </a:r>
            <a:r>
              <a:rPr lang="en-PH" sz="2400" baseline="30000" dirty="0">
                <a:latin typeface="Arial" panose="020B0604020202020204" pitchFamily="34" charset="0"/>
                <a:cs typeface="Arial" panose="020B0604020202020204" pitchFamily="34" charset="0"/>
              </a:rPr>
              <a:t> 5</a:t>
            </a:r>
            <a:endParaRPr lang="en-PH" sz="2400" dirty="0">
              <a:latin typeface="Arial" panose="020B0604020202020204" pitchFamily="34" charset="0"/>
              <a:ea typeface="Calibri" panose="020F0502020204030204" pitchFamily="34" charset="0"/>
              <a:cs typeface="Arial" panose="020B0604020202020204" pitchFamily="34" charset="0"/>
            </a:endParaRPr>
          </a:p>
          <a:p>
            <a:pPr marL="285750" indent="-285750" algn="just">
              <a:buFont typeface="Wingdings" panose="05000000000000000000" pitchFamily="2" charset="2"/>
              <a:buChar char="§"/>
            </a:pPr>
            <a:endParaRPr lang="en-PH" sz="2400" dirty="0">
              <a:latin typeface="Arial" panose="020B0604020202020204" pitchFamily="34" charset="0"/>
              <a:cs typeface="Arial" panose="020B0604020202020204" pitchFamily="34" charset="0"/>
            </a:endParaRPr>
          </a:p>
        </p:txBody>
      </p:sp>
      <p:sp>
        <p:nvSpPr>
          <p:cNvPr id="2" name="Rectangle 1"/>
          <p:cNvSpPr/>
          <p:nvPr/>
        </p:nvSpPr>
        <p:spPr>
          <a:xfrm>
            <a:off x="592904" y="8689362"/>
            <a:ext cx="6933693" cy="461665"/>
          </a:xfrm>
          <a:prstGeom prst="rect">
            <a:avLst/>
          </a:prstGeom>
        </p:spPr>
        <p:txBody>
          <a:bodyPr wrap="none">
            <a:spAutoFit/>
          </a:bodyPr>
          <a:lstStyle/>
          <a:p>
            <a:r>
              <a:rPr lang="en-PH" sz="2400" dirty="0"/>
              <a:t>https://www.pinterest.ph/pin/264797653067114642/</a:t>
            </a:r>
          </a:p>
        </p:txBody>
      </p:sp>
    </p:spTree>
    <p:extLst>
      <p:ext uri="{BB962C8B-B14F-4D97-AF65-F5344CB8AC3E}">
        <p14:creationId xmlns:p14="http://schemas.microsoft.com/office/powerpoint/2010/main" val="185404320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Box 13"/>
          <p:cNvSpPr txBox="1"/>
          <p:nvPr/>
        </p:nvSpPr>
        <p:spPr>
          <a:xfrm>
            <a:off x="1671387" y="1531257"/>
            <a:ext cx="2203151" cy="2306426"/>
          </a:xfrm>
          <a:prstGeom prst="rect">
            <a:avLst/>
          </a:prstGeom>
        </p:spPr>
        <p:txBody>
          <a:bodyPr lIns="50800" tIns="50800" rIns="50800" bIns="50800" rtlCol="0" anchor="ctr"/>
          <a:lstStyle/>
          <a:p>
            <a:pPr algn="ctr">
              <a:lnSpc>
                <a:spcPts val="2659"/>
              </a:lnSpc>
              <a:spcBef>
                <a:spcPct val="0"/>
              </a:spcBef>
            </a:pPr>
            <a:endParaRPr/>
          </a:p>
        </p:txBody>
      </p:sp>
      <p:pic>
        <p:nvPicPr>
          <p:cNvPr id="18" name="Picture 17"/>
          <p:cNvPicPr>
            <a:picLocks noChangeAspect="1"/>
          </p:cNvPicPr>
          <p:nvPr/>
        </p:nvPicPr>
        <p:blipFill>
          <a:blip r:embed="rId2"/>
          <a:stretch>
            <a:fillRect/>
          </a:stretch>
        </p:blipFill>
        <p:spPr>
          <a:xfrm>
            <a:off x="76200" y="9266338"/>
            <a:ext cx="2327677" cy="1020662"/>
          </a:xfrm>
          <a:prstGeom prst="rect">
            <a:avLst/>
          </a:prstGeom>
        </p:spPr>
      </p:pic>
      <p:pic>
        <p:nvPicPr>
          <p:cNvPr id="19" name="Picture 18"/>
          <p:cNvPicPr>
            <a:picLocks noChangeAspect="1"/>
          </p:cNvPicPr>
          <p:nvPr/>
        </p:nvPicPr>
        <p:blipFill>
          <a:blip r:embed="rId3"/>
          <a:stretch>
            <a:fillRect/>
          </a:stretch>
        </p:blipFill>
        <p:spPr>
          <a:xfrm rot="10800000">
            <a:off x="-44904" y="1213601"/>
            <a:ext cx="18288000" cy="267610"/>
          </a:xfrm>
          <a:prstGeom prst="rect">
            <a:avLst/>
          </a:prstGeom>
        </p:spPr>
      </p:pic>
      <p:sp>
        <p:nvSpPr>
          <p:cNvPr id="21" name="Round Single Corner Rectangle 20"/>
          <p:cNvSpPr/>
          <p:nvPr/>
        </p:nvSpPr>
        <p:spPr>
          <a:xfrm>
            <a:off x="5494020" y="160397"/>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4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Background of the Study   </a:t>
            </a:r>
            <a:r>
              <a:rPr lang="en-PH" sz="4800" b="1" u="sng" dirty="0" smtClean="0">
                <a:solidFill>
                  <a:srgbClr val="820000"/>
                </a:solidFill>
                <a:latin typeface="Arial" panose="020B0604020202020204" pitchFamily="34" charset="0"/>
                <a:cs typeface="Arial" panose="020B0604020202020204" pitchFamily="34" charset="0"/>
              </a:rPr>
              <a:t> </a:t>
            </a:r>
          </a:p>
        </p:txBody>
      </p:sp>
      <p:pic>
        <p:nvPicPr>
          <p:cNvPr id="20" name="Picture 19"/>
          <p:cNvPicPr>
            <a:picLocks noChangeAspect="1"/>
          </p:cNvPicPr>
          <p:nvPr/>
        </p:nvPicPr>
        <p:blipFill>
          <a:blip r:embed="rId3"/>
          <a:stretch>
            <a:fillRect/>
          </a:stretch>
        </p:blipFill>
        <p:spPr>
          <a:xfrm>
            <a:off x="0" y="0"/>
            <a:ext cx="18288000" cy="267611"/>
          </a:xfrm>
          <a:prstGeom prst="rect">
            <a:avLst/>
          </a:prstGeom>
        </p:spPr>
      </p:pic>
      <p:sp>
        <p:nvSpPr>
          <p:cNvPr id="4" name="Parallelogram 3"/>
          <p:cNvSpPr/>
          <p:nvPr/>
        </p:nvSpPr>
        <p:spPr>
          <a:xfrm>
            <a:off x="2388637" y="9936689"/>
            <a:ext cx="9727163" cy="236011"/>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2" name="Parallelogram 21"/>
          <p:cNvSpPr/>
          <p:nvPr/>
        </p:nvSpPr>
        <p:spPr>
          <a:xfrm>
            <a:off x="12192000" y="9944100"/>
            <a:ext cx="1421363" cy="228600"/>
          </a:xfrm>
          <a:prstGeom prst="parallelogram">
            <a:avLst/>
          </a:prstGeom>
          <a:solidFill>
            <a:srgbClr val="FFC000"/>
          </a:solidFill>
          <a:ln>
            <a:solidFill>
              <a:srgbClr val="FFC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3" name="Parallelogram 22"/>
          <p:cNvSpPr/>
          <p:nvPr/>
        </p:nvSpPr>
        <p:spPr>
          <a:xfrm>
            <a:off x="13689563" y="9944100"/>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24" name="Picture 23"/>
          <p:cNvPicPr>
            <a:picLocks noChangeAspect="1"/>
          </p:cNvPicPr>
          <p:nvPr/>
        </p:nvPicPr>
        <p:blipFill>
          <a:blip r:embed="rId3"/>
          <a:stretch>
            <a:fillRect/>
          </a:stretch>
        </p:blipFill>
        <p:spPr>
          <a:xfrm rot="10800000" flipV="1">
            <a:off x="2403877" y="9668509"/>
            <a:ext cx="15899363" cy="232657"/>
          </a:xfrm>
          <a:prstGeom prst="rect">
            <a:avLst/>
          </a:prstGeom>
        </p:spPr>
      </p:pic>
      <p:pic>
        <p:nvPicPr>
          <p:cNvPr id="6" name="Picture 5"/>
          <p:cNvPicPr>
            <a:picLocks noChangeAspect="1"/>
          </p:cNvPicPr>
          <p:nvPr/>
        </p:nvPicPr>
        <p:blipFill>
          <a:blip r:embed="rId4"/>
          <a:stretch>
            <a:fillRect/>
          </a:stretch>
        </p:blipFill>
        <p:spPr>
          <a:xfrm>
            <a:off x="15030450" y="488370"/>
            <a:ext cx="3257550" cy="523875"/>
          </a:xfrm>
          <a:prstGeom prst="rect">
            <a:avLst/>
          </a:prstGeom>
        </p:spPr>
      </p:pic>
      <p:sp>
        <p:nvSpPr>
          <p:cNvPr id="25" name="Parallelogram 24"/>
          <p:cNvSpPr/>
          <p:nvPr/>
        </p:nvSpPr>
        <p:spPr>
          <a:xfrm>
            <a:off x="13030200" y="760176"/>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13" name="Picture 12"/>
          <p:cNvPicPr>
            <a:picLocks noChangeAspect="1"/>
          </p:cNvPicPr>
          <p:nvPr/>
        </p:nvPicPr>
        <p:blipFill>
          <a:blip r:embed="rId4"/>
          <a:stretch>
            <a:fillRect/>
          </a:stretch>
        </p:blipFill>
        <p:spPr>
          <a:xfrm rot="10800000">
            <a:off x="0" y="612538"/>
            <a:ext cx="3257550" cy="523875"/>
          </a:xfrm>
          <a:prstGeom prst="rect">
            <a:avLst/>
          </a:prstGeom>
        </p:spPr>
      </p:pic>
      <p:sp>
        <p:nvSpPr>
          <p:cNvPr id="14" name="Parallelogram 13"/>
          <p:cNvSpPr/>
          <p:nvPr/>
        </p:nvSpPr>
        <p:spPr>
          <a:xfrm>
            <a:off x="659363" y="577015"/>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2" name="Picture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78705" y="1822827"/>
            <a:ext cx="3419863" cy="2849886"/>
          </a:xfrm>
          <a:prstGeom prst="rect">
            <a:avLst/>
          </a:prstGeom>
          <a:ln w="38100">
            <a:solidFill>
              <a:srgbClr val="820000"/>
            </a:solidFill>
          </a:ln>
        </p:spPr>
      </p:pic>
      <p:pic>
        <p:nvPicPr>
          <p:cNvPr id="10" name="Picture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917589" y="5384480"/>
            <a:ext cx="3507048" cy="3079511"/>
          </a:xfrm>
          <a:prstGeom prst="rect">
            <a:avLst/>
          </a:prstGeom>
          <a:ln w="38100">
            <a:solidFill>
              <a:srgbClr val="A40000"/>
            </a:solidFill>
          </a:ln>
        </p:spPr>
      </p:pic>
      <p:sp>
        <p:nvSpPr>
          <p:cNvPr id="27" name="AutoShape 5"/>
          <p:cNvSpPr/>
          <p:nvPr/>
        </p:nvSpPr>
        <p:spPr>
          <a:xfrm rot="5400000">
            <a:off x="9208171" y="-3590648"/>
            <a:ext cx="93440" cy="17203302"/>
          </a:xfrm>
          <a:prstGeom prst="line">
            <a:avLst/>
          </a:prstGeom>
          <a:ln w="114300" cap="flat">
            <a:solidFill>
              <a:srgbClr val="FFC000"/>
            </a:solidFill>
            <a:prstDash val="solid"/>
            <a:headEnd type="none" w="sm" len="sm"/>
            <a:tailEnd type="none" w="sm" len="sm"/>
          </a:ln>
        </p:spPr>
      </p:sp>
      <p:sp>
        <p:nvSpPr>
          <p:cNvPr id="29" name="Freeform 7"/>
          <p:cNvSpPr/>
          <p:nvPr/>
        </p:nvSpPr>
        <p:spPr>
          <a:xfrm>
            <a:off x="2229501" y="4824205"/>
            <a:ext cx="543461" cy="467036"/>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chemeClr val="accent4"/>
          </a:solidFill>
        </p:spPr>
      </p:sp>
      <p:sp>
        <p:nvSpPr>
          <p:cNvPr id="34" name="Round Single Corner Rectangle 33"/>
          <p:cNvSpPr/>
          <p:nvPr/>
        </p:nvSpPr>
        <p:spPr>
          <a:xfrm>
            <a:off x="4182172" y="2795698"/>
            <a:ext cx="4977882" cy="1481226"/>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PH" sz="4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a:t>
            </a:r>
            <a:r>
              <a:rPr lang="en-PH" sz="4400" b="1" dirty="0">
                <a:solidFill>
                  <a:srgbClr val="005C2A"/>
                </a:solidFill>
                <a:latin typeface="Arial" panose="020B0604020202020204" pitchFamily="34" charset="0"/>
                <a:ea typeface="Adobe Gothic Std B" panose="020B0800000000000000" pitchFamily="34" charset="-128"/>
                <a:cs typeface="Arial" panose="020B0604020202020204" pitchFamily="34" charset="0"/>
              </a:rPr>
              <a:t>C</a:t>
            </a:r>
            <a:r>
              <a:rPr lang="en-PH" sz="4400" b="1" dirty="0" smtClean="0">
                <a:solidFill>
                  <a:srgbClr val="005C2A"/>
                </a:solidFill>
                <a:latin typeface="Arial" panose="020B0604020202020204" pitchFamily="34" charset="0"/>
                <a:ea typeface="Adobe Gothic Std B" panose="020B0800000000000000" pitchFamily="34" charset="-128"/>
                <a:cs typeface="Arial" panose="020B0604020202020204" pitchFamily="34" charset="0"/>
              </a:rPr>
              <a:t>oconut shell</a:t>
            </a:r>
          </a:p>
          <a:p>
            <a:pPr marL="571500" indent="-571500">
              <a:buFont typeface="Arial" panose="020B0604020202020204" pitchFamily="34" charset="0"/>
              <a:buChar char="•"/>
            </a:pPr>
            <a:r>
              <a:rPr lang="en-PH" sz="3200"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Used for decor </a:t>
            </a:r>
          </a:p>
          <a:p>
            <a:pPr marL="571500" indent="-571500">
              <a:buFont typeface="Arial" panose="020B0604020202020204" pitchFamily="34" charset="0"/>
              <a:buChar char="•"/>
            </a:pPr>
            <a:r>
              <a:rPr lang="en-PH" sz="3200"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Activated charcoal</a:t>
            </a:r>
          </a:p>
          <a:p>
            <a:pPr marL="571500" indent="-571500">
              <a:buFont typeface="Arial" panose="020B0604020202020204" pitchFamily="34" charset="0"/>
              <a:buChar char="•"/>
            </a:pPr>
            <a:r>
              <a:rPr lang="en-PH" sz="3200"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To create bowls, utensils </a:t>
            </a:r>
          </a:p>
          <a:p>
            <a:pPr algn="just"/>
            <a:r>
              <a:rPr lang="en-PH" sz="4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a:t>
            </a:r>
            <a:r>
              <a:rPr lang="en-PH" sz="4800" b="1" u="sng" dirty="0" smtClean="0">
                <a:solidFill>
                  <a:srgbClr val="820000"/>
                </a:solidFill>
                <a:latin typeface="Arial" panose="020B0604020202020204" pitchFamily="34" charset="0"/>
                <a:cs typeface="Arial" panose="020B0604020202020204" pitchFamily="34" charset="0"/>
              </a:rPr>
              <a:t> </a:t>
            </a:r>
          </a:p>
        </p:txBody>
      </p:sp>
      <p:sp>
        <p:nvSpPr>
          <p:cNvPr id="36" name="Round Single Corner Rectangle 35"/>
          <p:cNvSpPr/>
          <p:nvPr/>
        </p:nvSpPr>
        <p:spPr>
          <a:xfrm>
            <a:off x="8806387" y="6655095"/>
            <a:ext cx="4977882"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PH" sz="4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a:t>
            </a:r>
            <a:r>
              <a:rPr lang="en-PH" sz="4400" b="1" dirty="0">
                <a:solidFill>
                  <a:srgbClr val="005C2A"/>
                </a:solidFill>
                <a:latin typeface="Arial" panose="020B0604020202020204" pitchFamily="34" charset="0"/>
                <a:ea typeface="Adobe Gothic Std B" panose="020B0800000000000000" pitchFamily="34" charset="-128"/>
                <a:cs typeface="Arial" panose="020B0604020202020204" pitchFamily="34" charset="0"/>
              </a:rPr>
              <a:t>C</a:t>
            </a:r>
            <a:r>
              <a:rPr lang="en-PH" sz="4400" b="1" dirty="0" smtClean="0">
                <a:solidFill>
                  <a:srgbClr val="005C2A"/>
                </a:solidFill>
                <a:latin typeface="Arial" panose="020B0604020202020204" pitchFamily="34" charset="0"/>
                <a:ea typeface="Adobe Gothic Std B" panose="020B0800000000000000" pitchFamily="34" charset="-128"/>
                <a:cs typeface="Arial" panose="020B0604020202020204" pitchFamily="34" charset="0"/>
              </a:rPr>
              <a:t>oconut water</a:t>
            </a:r>
          </a:p>
          <a:p>
            <a:pPr marL="571500" indent="-571500" algn="just">
              <a:buFont typeface="Arial" panose="020B0604020202020204" pitchFamily="34" charset="0"/>
              <a:buChar char="•"/>
            </a:pPr>
            <a:r>
              <a:rPr lang="en-PH" sz="3200"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Refreshing drink </a:t>
            </a:r>
          </a:p>
          <a:p>
            <a:pPr marL="571500" indent="-571500" algn="just">
              <a:buFont typeface="Arial" panose="020B0604020202020204" pitchFamily="34" charset="0"/>
              <a:buChar char="•"/>
            </a:pPr>
            <a:r>
              <a:rPr lang="en-PH" sz="3200"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Coconut wine</a:t>
            </a:r>
          </a:p>
          <a:p>
            <a:pPr marL="571500" indent="-571500" algn="just">
              <a:buFont typeface="Arial" panose="020B0604020202020204" pitchFamily="34" charset="0"/>
              <a:buChar char="•"/>
            </a:pPr>
            <a:r>
              <a:rPr lang="en-PH" sz="3200"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Coconut vinegar</a:t>
            </a:r>
          </a:p>
          <a:p>
            <a:pPr marL="571500" indent="-571500" algn="just">
              <a:buFont typeface="Arial" panose="020B0604020202020204" pitchFamily="34" charset="0"/>
              <a:buChar char="•"/>
            </a:pPr>
            <a:r>
              <a:rPr lang="en-PH" sz="3200" dirty="0" err="1"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Nata</a:t>
            </a:r>
            <a:r>
              <a:rPr lang="en-PH" sz="3200"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de coco </a:t>
            </a:r>
          </a:p>
          <a:p>
            <a:pPr algn="just"/>
            <a:r>
              <a:rPr lang="en-PH" sz="4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a:t>
            </a:r>
            <a:r>
              <a:rPr lang="en-PH" sz="4800" b="1" u="sng" dirty="0" smtClean="0">
                <a:solidFill>
                  <a:srgbClr val="820000"/>
                </a:solidFill>
                <a:latin typeface="Arial" panose="020B0604020202020204" pitchFamily="34" charset="0"/>
                <a:cs typeface="Arial" panose="020B0604020202020204" pitchFamily="34" charset="0"/>
              </a:rPr>
              <a:t> </a:t>
            </a:r>
          </a:p>
        </p:txBody>
      </p:sp>
      <p:sp>
        <p:nvSpPr>
          <p:cNvPr id="40" name="Freeform 7"/>
          <p:cNvSpPr/>
          <p:nvPr/>
        </p:nvSpPr>
        <p:spPr>
          <a:xfrm>
            <a:off x="6399382" y="4803541"/>
            <a:ext cx="543461" cy="467036"/>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chemeClr val="accent4"/>
          </a:solidFill>
        </p:spPr>
      </p:sp>
      <p:sp>
        <p:nvSpPr>
          <p:cNvPr id="41" name="Freeform 7"/>
          <p:cNvSpPr/>
          <p:nvPr/>
        </p:nvSpPr>
        <p:spPr>
          <a:xfrm>
            <a:off x="10882869" y="4783040"/>
            <a:ext cx="543461" cy="467036"/>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chemeClr val="accent4"/>
          </a:solidFill>
        </p:spPr>
      </p:sp>
      <p:pic>
        <p:nvPicPr>
          <p:cNvPr id="44" name="Picture 4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458201" y="1751865"/>
            <a:ext cx="4324126" cy="2881913"/>
          </a:xfrm>
          <a:prstGeom prst="rect">
            <a:avLst/>
          </a:prstGeom>
          <a:ln w="38100">
            <a:solidFill>
              <a:srgbClr val="820000"/>
            </a:solidFill>
          </a:ln>
          <a:effectLst>
            <a:glow>
              <a:schemeClr val="accent1">
                <a:alpha val="82000"/>
              </a:schemeClr>
            </a:glow>
            <a:reflection blurRad="1270000" stA="45000" endPos="0" dist="50800" dir="5400000" sy="-100000" algn="bl" rotWithShape="0"/>
          </a:effectLst>
        </p:spPr>
      </p:pic>
      <p:sp>
        <p:nvSpPr>
          <p:cNvPr id="45" name="Round Single Corner Rectangle 44"/>
          <p:cNvSpPr/>
          <p:nvPr/>
        </p:nvSpPr>
        <p:spPr>
          <a:xfrm>
            <a:off x="13245065" y="3259381"/>
            <a:ext cx="4977882"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PH" sz="4400" dirty="0" smtClean="0">
                <a:solidFill>
                  <a:srgbClr val="005C2A"/>
                </a:solidFill>
                <a:latin typeface="Arial" panose="020B0604020202020204" pitchFamily="34" charset="0"/>
                <a:ea typeface="Adobe Gothic Std B" panose="020B0800000000000000" pitchFamily="34" charset="-128"/>
                <a:cs typeface="Arial" panose="020B0604020202020204" pitchFamily="34" charset="0"/>
              </a:rPr>
              <a:t> </a:t>
            </a:r>
            <a:r>
              <a:rPr lang="en-PH" sz="4400" dirty="0">
                <a:solidFill>
                  <a:srgbClr val="005C2A"/>
                </a:solidFill>
                <a:latin typeface="Arial" panose="020B0604020202020204" pitchFamily="34" charset="0"/>
                <a:ea typeface="Adobe Gothic Std B" panose="020B0800000000000000" pitchFamily="34" charset="-128"/>
                <a:cs typeface="Arial" panose="020B0604020202020204" pitchFamily="34" charset="0"/>
              </a:rPr>
              <a:t>C</a:t>
            </a:r>
            <a:r>
              <a:rPr lang="en-PH" sz="4400" dirty="0" smtClean="0">
                <a:solidFill>
                  <a:srgbClr val="005C2A"/>
                </a:solidFill>
                <a:latin typeface="Arial" panose="020B0604020202020204" pitchFamily="34" charset="0"/>
                <a:ea typeface="Adobe Gothic Std B" panose="020B0800000000000000" pitchFamily="34" charset="-128"/>
                <a:cs typeface="Arial" panose="020B0604020202020204" pitchFamily="34" charset="0"/>
              </a:rPr>
              <a:t>oconut trunk</a:t>
            </a:r>
          </a:p>
          <a:p>
            <a:pPr marL="571500" indent="-571500" algn="just">
              <a:buFont typeface="Arial" panose="020B0604020202020204" pitchFamily="34" charset="0"/>
              <a:buChar char="•"/>
            </a:pPr>
            <a:r>
              <a:rPr lang="en-PH" sz="3200"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Used to make furniture </a:t>
            </a:r>
          </a:p>
          <a:p>
            <a:pPr marL="571500" indent="-571500" algn="just">
              <a:buFont typeface="Arial" panose="020B0604020202020204" pitchFamily="34" charset="0"/>
              <a:buChar char="•"/>
            </a:pPr>
            <a:r>
              <a:rPr lang="en-PH" sz="3200"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walls and pillar</a:t>
            </a:r>
          </a:p>
          <a:p>
            <a:pPr marL="571500" indent="-571500" algn="just">
              <a:buFont typeface="Arial" panose="020B0604020202020204" pitchFamily="34" charset="0"/>
              <a:buChar char="•"/>
            </a:pPr>
            <a:r>
              <a:rPr lang="en-PH" sz="3200"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Door frames and floor</a:t>
            </a:r>
          </a:p>
          <a:p>
            <a:pPr algn="just"/>
            <a:endParaRPr lang="en-PH" sz="3200"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endParaRPr>
          </a:p>
          <a:p>
            <a:pPr algn="just"/>
            <a:r>
              <a:rPr lang="en-PH" sz="4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a:t>
            </a:r>
            <a:r>
              <a:rPr lang="en-PH" sz="4800" b="1" u="sng" dirty="0" smtClean="0">
                <a:solidFill>
                  <a:srgbClr val="820000"/>
                </a:solidFill>
                <a:latin typeface="Arial" panose="020B0604020202020204" pitchFamily="34" charset="0"/>
                <a:cs typeface="Arial" panose="020B0604020202020204" pitchFamily="34" charset="0"/>
              </a:rPr>
              <a:t> </a:t>
            </a:r>
          </a:p>
        </p:txBody>
      </p:sp>
      <p:pic>
        <p:nvPicPr>
          <p:cNvPr id="46" name="Picture 45"/>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3265214" y="5351719"/>
            <a:ext cx="4591328" cy="3279520"/>
          </a:xfrm>
          <a:prstGeom prst="rect">
            <a:avLst/>
          </a:prstGeom>
          <a:ln w="38100">
            <a:solidFill>
              <a:srgbClr val="820000"/>
            </a:solidFill>
          </a:ln>
        </p:spPr>
      </p:pic>
      <p:sp>
        <p:nvSpPr>
          <p:cNvPr id="47" name="Freeform 7"/>
          <p:cNvSpPr/>
          <p:nvPr/>
        </p:nvSpPr>
        <p:spPr>
          <a:xfrm>
            <a:off x="15017417" y="4767359"/>
            <a:ext cx="543461" cy="467036"/>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chemeClr val="accent4"/>
          </a:solidFill>
        </p:spPr>
      </p:sp>
      <p:sp>
        <p:nvSpPr>
          <p:cNvPr id="48" name="Round Single Corner Rectangle 47"/>
          <p:cNvSpPr/>
          <p:nvPr/>
        </p:nvSpPr>
        <p:spPr>
          <a:xfrm>
            <a:off x="446664" y="6798263"/>
            <a:ext cx="4977882" cy="1104900"/>
          </a:xfrm>
          <a:prstGeom prst="round1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PH" sz="4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a:t>
            </a:r>
            <a:r>
              <a:rPr lang="en-PH" sz="4400" b="1" dirty="0">
                <a:solidFill>
                  <a:srgbClr val="005C2A"/>
                </a:solidFill>
                <a:latin typeface="Arial" panose="020B0604020202020204" pitchFamily="34" charset="0"/>
                <a:ea typeface="Adobe Gothic Std B" panose="020B0800000000000000" pitchFamily="34" charset="-128"/>
                <a:cs typeface="Arial" panose="020B0604020202020204" pitchFamily="34" charset="0"/>
              </a:rPr>
              <a:t>C</a:t>
            </a:r>
            <a:r>
              <a:rPr lang="en-PH" sz="4400" b="1" dirty="0" smtClean="0">
                <a:solidFill>
                  <a:srgbClr val="005C2A"/>
                </a:solidFill>
                <a:latin typeface="Arial" panose="020B0604020202020204" pitchFamily="34" charset="0"/>
                <a:ea typeface="Adobe Gothic Std B" panose="020B0800000000000000" pitchFamily="34" charset="-128"/>
                <a:cs typeface="Arial" panose="020B0604020202020204" pitchFamily="34" charset="0"/>
              </a:rPr>
              <a:t>oconut meat</a:t>
            </a:r>
          </a:p>
          <a:p>
            <a:pPr marL="571500" indent="-571500">
              <a:buFont typeface="Arial" panose="020B0604020202020204" pitchFamily="34" charset="0"/>
              <a:buChar char="•"/>
            </a:pPr>
            <a:r>
              <a:rPr lang="en-PH" sz="3200"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Coconut oil </a:t>
            </a:r>
          </a:p>
          <a:p>
            <a:pPr marL="571500" indent="-571500">
              <a:buFont typeface="Arial" panose="020B0604020202020204" pitchFamily="34" charset="0"/>
              <a:buChar char="•"/>
            </a:pPr>
            <a:r>
              <a:rPr lang="en-PH" sz="3200"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Coconut milk</a:t>
            </a:r>
          </a:p>
          <a:p>
            <a:pPr marL="571500" indent="-571500">
              <a:buFont typeface="Arial" panose="020B0604020202020204" pitchFamily="34" charset="0"/>
              <a:buChar char="•"/>
            </a:pPr>
            <a:r>
              <a:rPr lang="en-PH" sz="3200"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copra </a:t>
            </a:r>
          </a:p>
          <a:p>
            <a:pPr algn="just"/>
            <a:r>
              <a:rPr lang="en-PH" sz="4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a:t>
            </a:r>
            <a:r>
              <a:rPr lang="en-PH" sz="4800" b="1" u="sng" dirty="0" smtClean="0">
                <a:solidFill>
                  <a:srgbClr val="820000"/>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403587123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Box 13"/>
          <p:cNvSpPr txBox="1"/>
          <p:nvPr/>
        </p:nvSpPr>
        <p:spPr>
          <a:xfrm>
            <a:off x="1671387" y="1531257"/>
            <a:ext cx="2203151" cy="2306426"/>
          </a:xfrm>
          <a:prstGeom prst="rect">
            <a:avLst/>
          </a:prstGeom>
        </p:spPr>
        <p:txBody>
          <a:bodyPr lIns="50800" tIns="50800" rIns="50800" bIns="50800" rtlCol="0" anchor="ctr"/>
          <a:lstStyle/>
          <a:p>
            <a:pPr algn="ctr">
              <a:lnSpc>
                <a:spcPts val="2659"/>
              </a:lnSpc>
              <a:spcBef>
                <a:spcPct val="0"/>
              </a:spcBef>
            </a:pPr>
            <a:endParaRPr/>
          </a:p>
        </p:txBody>
      </p:sp>
      <p:pic>
        <p:nvPicPr>
          <p:cNvPr id="18" name="Picture 17"/>
          <p:cNvPicPr>
            <a:picLocks noChangeAspect="1"/>
          </p:cNvPicPr>
          <p:nvPr/>
        </p:nvPicPr>
        <p:blipFill>
          <a:blip r:embed="rId2"/>
          <a:stretch>
            <a:fillRect/>
          </a:stretch>
        </p:blipFill>
        <p:spPr>
          <a:xfrm>
            <a:off x="76200" y="9266338"/>
            <a:ext cx="2327677" cy="1020662"/>
          </a:xfrm>
          <a:prstGeom prst="rect">
            <a:avLst/>
          </a:prstGeom>
        </p:spPr>
      </p:pic>
      <p:pic>
        <p:nvPicPr>
          <p:cNvPr id="19" name="Picture 18"/>
          <p:cNvPicPr>
            <a:picLocks noChangeAspect="1"/>
          </p:cNvPicPr>
          <p:nvPr/>
        </p:nvPicPr>
        <p:blipFill>
          <a:blip r:embed="rId3"/>
          <a:stretch>
            <a:fillRect/>
          </a:stretch>
        </p:blipFill>
        <p:spPr>
          <a:xfrm rot="10800000">
            <a:off x="-44904" y="1213601"/>
            <a:ext cx="18288000" cy="267610"/>
          </a:xfrm>
          <a:prstGeom prst="rect">
            <a:avLst/>
          </a:prstGeom>
        </p:spPr>
      </p:pic>
      <p:sp>
        <p:nvSpPr>
          <p:cNvPr id="21" name="Round Single Corner Rectangle 20"/>
          <p:cNvSpPr/>
          <p:nvPr/>
        </p:nvSpPr>
        <p:spPr>
          <a:xfrm>
            <a:off x="5494020" y="160397"/>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4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Background of the Study   </a:t>
            </a:r>
            <a:r>
              <a:rPr lang="en-PH" sz="4800" b="1" u="sng" dirty="0" smtClean="0">
                <a:solidFill>
                  <a:srgbClr val="820000"/>
                </a:solidFill>
                <a:latin typeface="Arial" panose="020B0604020202020204" pitchFamily="34" charset="0"/>
                <a:cs typeface="Arial" panose="020B0604020202020204" pitchFamily="34" charset="0"/>
              </a:rPr>
              <a:t> </a:t>
            </a:r>
          </a:p>
        </p:txBody>
      </p:sp>
      <p:pic>
        <p:nvPicPr>
          <p:cNvPr id="20" name="Picture 19"/>
          <p:cNvPicPr>
            <a:picLocks noChangeAspect="1"/>
          </p:cNvPicPr>
          <p:nvPr/>
        </p:nvPicPr>
        <p:blipFill>
          <a:blip r:embed="rId3"/>
          <a:stretch>
            <a:fillRect/>
          </a:stretch>
        </p:blipFill>
        <p:spPr>
          <a:xfrm>
            <a:off x="0" y="0"/>
            <a:ext cx="18288000" cy="267611"/>
          </a:xfrm>
          <a:prstGeom prst="rect">
            <a:avLst/>
          </a:prstGeom>
        </p:spPr>
      </p:pic>
      <p:sp>
        <p:nvSpPr>
          <p:cNvPr id="4" name="Parallelogram 3"/>
          <p:cNvSpPr/>
          <p:nvPr/>
        </p:nvSpPr>
        <p:spPr>
          <a:xfrm>
            <a:off x="2388637" y="9936689"/>
            <a:ext cx="9727163" cy="236011"/>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2" name="Parallelogram 21"/>
          <p:cNvSpPr/>
          <p:nvPr/>
        </p:nvSpPr>
        <p:spPr>
          <a:xfrm>
            <a:off x="12192000" y="9944100"/>
            <a:ext cx="1421363" cy="228600"/>
          </a:xfrm>
          <a:prstGeom prst="parallelogram">
            <a:avLst/>
          </a:prstGeom>
          <a:solidFill>
            <a:srgbClr val="FFC000"/>
          </a:solidFill>
          <a:ln>
            <a:solidFill>
              <a:srgbClr val="FFC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3" name="Parallelogram 22"/>
          <p:cNvSpPr/>
          <p:nvPr/>
        </p:nvSpPr>
        <p:spPr>
          <a:xfrm>
            <a:off x="13689563" y="9944100"/>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24" name="Picture 23"/>
          <p:cNvPicPr>
            <a:picLocks noChangeAspect="1"/>
          </p:cNvPicPr>
          <p:nvPr/>
        </p:nvPicPr>
        <p:blipFill>
          <a:blip r:embed="rId3"/>
          <a:stretch>
            <a:fillRect/>
          </a:stretch>
        </p:blipFill>
        <p:spPr>
          <a:xfrm rot="10800000" flipV="1">
            <a:off x="2403877" y="9668509"/>
            <a:ext cx="15899363" cy="232657"/>
          </a:xfrm>
          <a:prstGeom prst="rect">
            <a:avLst/>
          </a:prstGeom>
        </p:spPr>
      </p:pic>
      <p:pic>
        <p:nvPicPr>
          <p:cNvPr id="6" name="Picture 5"/>
          <p:cNvPicPr>
            <a:picLocks noChangeAspect="1"/>
          </p:cNvPicPr>
          <p:nvPr/>
        </p:nvPicPr>
        <p:blipFill>
          <a:blip r:embed="rId4"/>
          <a:stretch>
            <a:fillRect/>
          </a:stretch>
        </p:blipFill>
        <p:spPr>
          <a:xfrm>
            <a:off x="15030450" y="488370"/>
            <a:ext cx="3257550" cy="523875"/>
          </a:xfrm>
          <a:prstGeom prst="rect">
            <a:avLst/>
          </a:prstGeom>
        </p:spPr>
      </p:pic>
      <p:sp>
        <p:nvSpPr>
          <p:cNvPr id="25" name="Parallelogram 24"/>
          <p:cNvSpPr/>
          <p:nvPr/>
        </p:nvSpPr>
        <p:spPr>
          <a:xfrm>
            <a:off x="13030200" y="760176"/>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13" name="Picture 12"/>
          <p:cNvPicPr>
            <a:picLocks noChangeAspect="1"/>
          </p:cNvPicPr>
          <p:nvPr/>
        </p:nvPicPr>
        <p:blipFill>
          <a:blip r:embed="rId4"/>
          <a:stretch>
            <a:fillRect/>
          </a:stretch>
        </p:blipFill>
        <p:spPr>
          <a:xfrm rot="10800000">
            <a:off x="0" y="612538"/>
            <a:ext cx="3257550" cy="523875"/>
          </a:xfrm>
          <a:prstGeom prst="rect">
            <a:avLst/>
          </a:prstGeom>
        </p:spPr>
      </p:pic>
      <p:sp>
        <p:nvSpPr>
          <p:cNvPr id="14" name="Parallelogram 13"/>
          <p:cNvSpPr/>
          <p:nvPr/>
        </p:nvSpPr>
        <p:spPr>
          <a:xfrm>
            <a:off x="659363" y="577015"/>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7" name="AutoShape 5"/>
          <p:cNvSpPr/>
          <p:nvPr/>
        </p:nvSpPr>
        <p:spPr>
          <a:xfrm rot="5400000">
            <a:off x="9214294" y="-3442054"/>
            <a:ext cx="93440" cy="17203302"/>
          </a:xfrm>
          <a:prstGeom prst="line">
            <a:avLst/>
          </a:prstGeom>
          <a:ln w="114300" cap="flat">
            <a:solidFill>
              <a:srgbClr val="FFC000"/>
            </a:solidFill>
            <a:prstDash val="solid"/>
            <a:headEnd type="none" w="sm" len="sm"/>
            <a:tailEnd type="none" w="sm" len="sm"/>
          </a:ln>
        </p:spPr>
      </p:sp>
      <p:sp>
        <p:nvSpPr>
          <p:cNvPr id="29" name="Freeform 7"/>
          <p:cNvSpPr/>
          <p:nvPr/>
        </p:nvSpPr>
        <p:spPr>
          <a:xfrm>
            <a:off x="2229501" y="4941777"/>
            <a:ext cx="543461" cy="467036"/>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chemeClr val="accent4"/>
          </a:solidFill>
        </p:spPr>
      </p:sp>
      <p:sp>
        <p:nvSpPr>
          <p:cNvPr id="34" name="Round Single Corner Rectangle 33"/>
          <p:cNvSpPr/>
          <p:nvPr/>
        </p:nvSpPr>
        <p:spPr>
          <a:xfrm>
            <a:off x="4637857" y="3026518"/>
            <a:ext cx="4764736" cy="1516797"/>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PH" sz="4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a:t>
            </a:r>
            <a:r>
              <a:rPr lang="en-PH" sz="4400" b="1" dirty="0">
                <a:solidFill>
                  <a:srgbClr val="005C2A"/>
                </a:solidFill>
                <a:latin typeface="Arial" panose="020B0604020202020204" pitchFamily="34" charset="0"/>
                <a:ea typeface="Adobe Gothic Std B" panose="020B0800000000000000" pitchFamily="34" charset="-128"/>
                <a:cs typeface="Arial" panose="020B0604020202020204" pitchFamily="34" charset="0"/>
              </a:rPr>
              <a:t>C</a:t>
            </a:r>
            <a:r>
              <a:rPr lang="en-PH" sz="4400" b="1" dirty="0" smtClean="0">
                <a:solidFill>
                  <a:srgbClr val="005C2A"/>
                </a:solidFill>
                <a:latin typeface="Arial" panose="020B0604020202020204" pitchFamily="34" charset="0"/>
                <a:ea typeface="Adobe Gothic Std B" panose="020B0800000000000000" pitchFamily="34" charset="-128"/>
                <a:cs typeface="Arial" panose="020B0604020202020204" pitchFamily="34" charset="0"/>
              </a:rPr>
              <a:t>oconut roots</a:t>
            </a:r>
          </a:p>
          <a:p>
            <a:pPr marL="571500" indent="-571500">
              <a:buFont typeface="Arial" panose="020B0604020202020204" pitchFamily="34" charset="0"/>
              <a:buChar char="•"/>
            </a:pPr>
            <a:r>
              <a:rPr lang="en-PH" sz="2800"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Used as dyes</a:t>
            </a:r>
          </a:p>
          <a:p>
            <a:pPr marL="571500" indent="-571500">
              <a:buFont typeface="Arial" panose="020B0604020202020204" pitchFamily="34" charset="0"/>
              <a:buChar char="•"/>
            </a:pPr>
            <a:r>
              <a:rPr lang="en-PH" sz="2800"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Used as mouthwash</a:t>
            </a:r>
          </a:p>
          <a:p>
            <a:pPr marL="571500" indent="-571500">
              <a:buFont typeface="Arial" panose="020B0604020202020204" pitchFamily="34" charset="0"/>
              <a:buChar char="•"/>
            </a:pPr>
            <a:r>
              <a:rPr lang="en-PH" sz="2800"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Medicine as a treatment for </a:t>
            </a:r>
            <a:r>
              <a:rPr lang="en-PH" sz="2800" dirty="0" err="1"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dysentry</a:t>
            </a:r>
            <a:r>
              <a:rPr lang="en-PH" sz="2800"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a:t>
            </a:r>
          </a:p>
          <a:p>
            <a:pPr algn="just"/>
            <a:r>
              <a:rPr lang="en-PH" sz="4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a:t>
            </a:r>
            <a:r>
              <a:rPr lang="en-PH" sz="4800" b="1" u="sng" dirty="0" smtClean="0">
                <a:solidFill>
                  <a:srgbClr val="820000"/>
                </a:solidFill>
                <a:latin typeface="Arial" panose="020B0604020202020204" pitchFamily="34" charset="0"/>
                <a:cs typeface="Arial" panose="020B0604020202020204" pitchFamily="34" charset="0"/>
              </a:rPr>
              <a:t> </a:t>
            </a:r>
          </a:p>
        </p:txBody>
      </p:sp>
      <p:sp>
        <p:nvSpPr>
          <p:cNvPr id="36" name="Round Single Corner Rectangle 35"/>
          <p:cNvSpPr/>
          <p:nvPr/>
        </p:nvSpPr>
        <p:spPr>
          <a:xfrm>
            <a:off x="9144000" y="6487355"/>
            <a:ext cx="4690998" cy="1757487"/>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PH" sz="4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a:t>
            </a:r>
            <a:r>
              <a:rPr lang="en-PH" sz="4400" b="1" dirty="0">
                <a:solidFill>
                  <a:srgbClr val="005C2A"/>
                </a:solidFill>
                <a:latin typeface="Arial" panose="020B0604020202020204" pitchFamily="34" charset="0"/>
                <a:ea typeface="Adobe Gothic Std B" panose="020B0800000000000000" pitchFamily="34" charset="-128"/>
                <a:cs typeface="Arial" panose="020B0604020202020204" pitchFamily="34" charset="0"/>
              </a:rPr>
              <a:t>C</a:t>
            </a:r>
            <a:r>
              <a:rPr lang="en-PH" sz="4400" b="1" dirty="0" smtClean="0">
                <a:solidFill>
                  <a:srgbClr val="005C2A"/>
                </a:solidFill>
                <a:latin typeface="Arial" panose="020B0604020202020204" pitchFamily="34" charset="0"/>
                <a:ea typeface="Adobe Gothic Std B" panose="020B0800000000000000" pitchFamily="34" charset="-128"/>
                <a:cs typeface="Arial" panose="020B0604020202020204" pitchFamily="34" charset="0"/>
              </a:rPr>
              <a:t>oconut husk</a:t>
            </a:r>
          </a:p>
          <a:p>
            <a:pPr marL="571500" indent="-571500">
              <a:buFont typeface="Arial" panose="020B0604020202020204" pitchFamily="34" charset="0"/>
              <a:buChar char="•"/>
            </a:pPr>
            <a:r>
              <a:rPr lang="en-PH" sz="3200"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The </a:t>
            </a:r>
            <a:r>
              <a:rPr lang="en-PH" sz="3200" dirty="0" err="1"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fiber</a:t>
            </a:r>
            <a:r>
              <a:rPr lang="en-PH" sz="3200"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can be used to make rope, matting and coarse cloth </a:t>
            </a:r>
          </a:p>
          <a:p>
            <a:r>
              <a:rPr lang="en-PH" sz="4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a:t>
            </a:r>
            <a:r>
              <a:rPr lang="en-PH" sz="4800" b="1" u="sng" dirty="0" smtClean="0">
                <a:solidFill>
                  <a:srgbClr val="820000"/>
                </a:solidFill>
                <a:latin typeface="Arial" panose="020B0604020202020204" pitchFamily="34" charset="0"/>
                <a:cs typeface="Arial" panose="020B0604020202020204" pitchFamily="34" charset="0"/>
              </a:rPr>
              <a:t> </a:t>
            </a:r>
          </a:p>
        </p:txBody>
      </p:sp>
      <p:sp>
        <p:nvSpPr>
          <p:cNvPr id="40" name="Freeform 7"/>
          <p:cNvSpPr/>
          <p:nvPr/>
        </p:nvSpPr>
        <p:spPr>
          <a:xfrm>
            <a:off x="6399382" y="4941777"/>
            <a:ext cx="543461" cy="467036"/>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chemeClr val="accent4"/>
          </a:solidFill>
        </p:spPr>
      </p:sp>
      <p:sp>
        <p:nvSpPr>
          <p:cNvPr id="41" name="Freeform 7"/>
          <p:cNvSpPr/>
          <p:nvPr/>
        </p:nvSpPr>
        <p:spPr>
          <a:xfrm>
            <a:off x="10847536" y="4941777"/>
            <a:ext cx="543461" cy="467036"/>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chemeClr val="accent4"/>
          </a:solidFill>
        </p:spPr>
      </p:sp>
      <p:sp>
        <p:nvSpPr>
          <p:cNvPr id="45" name="Round Single Corner Rectangle 44"/>
          <p:cNvSpPr/>
          <p:nvPr/>
        </p:nvSpPr>
        <p:spPr>
          <a:xfrm>
            <a:off x="13245065" y="3259381"/>
            <a:ext cx="4977882"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PH" sz="4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a:t>
            </a:r>
            <a:r>
              <a:rPr lang="en-PH" sz="4400" b="1" dirty="0">
                <a:solidFill>
                  <a:srgbClr val="005C2A"/>
                </a:solidFill>
                <a:latin typeface="Arial" panose="020B0604020202020204" pitchFamily="34" charset="0"/>
                <a:ea typeface="Adobe Gothic Std B" panose="020B0800000000000000" pitchFamily="34" charset="-128"/>
                <a:cs typeface="Arial" panose="020B0604020202020204" pitchFamily="34" charset="0"/>
              </a:rPr>
              <a:t>C</a:t>
            </a:r>
            <a:r>
              <a:rPr lang="en-PH" sz="4400" b="1" dirty="0" smtClean="0">
                <a:solidFill>
                  <a:srgbClr val="005C2A"/>
                </a:solidFill>
                <a:latin typeface="Arial" panose="020B0604020202020204" pitchFamily="34" charset="0"/>
                <a:ea typeface="Adobe Gothic Std B" panose="020B0800000000000000" pitchFamily="34" charset="-128"/>
                <a:cs typeface="Arial" panose="020B0604020202020204" pitchFamily="34" charset="0"/>
              </a:rPr>
              <a:t>oconut nectar</a:t>
            </a:r>
          </a:p>
          <a:p>
            <a:pPr marL="571500" indent="-571500" algn="just">
              <a:buFont typeface="Arial" panose="020B0604020202020204" pitchFamily="34" charset="0"/>
              <a:buChar char="•"/>
            </a:pPr>
            <a:r>
              <a:rPr lang="en-PH" sz="3200"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Coconut sugar are made from the sap of flower buds.</a:t>
            </a:r>
          </a:p>
          <a:p>
            <a:pPr marL="571500" indent="-571500" algn="just">
              <a:buFont typeface="Arial" panose="020B0604020202020204" pitchFamily="34" charset="0"/>
              <a:buChar char="•"/>
            </a:pPr>
            <a:r>
              <a:rPr lang="en-PH" sz="3200"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Low </a:t>
            </a:r>
            <a:r>
              <a:rPr lang="en-PH" sz="3200" dirty="0" err="1"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glycemic</a:t>
            </a:r>
            <a:r>
              <a:rPr lang="en-PH" sz="3200"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index</a:t>
            </a:r>
          </a:p>
          <a:p>
            <a:pPr algn="just"/>
            <a:endParaRPr lang="en-PH" sz="3200"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endParaRPr>
          </a:p>
          <a:p>
            <a:pPr algn="just"/>
            <a:endParaRPr lang="en-PH" sz="3200"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endParaRPr>
          </a:p>
          <a:p>
            <a:pPr algn="just"/>
            <a:r>
              <a:rPr lang="en-PH" sz="4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a:t>
            </a:r>
            <a:r>
              <a:rPr lang="en-PH" sz="4800" b="1" u="sng" dirty="0" smtClean="0">
                <a:solidFill>
                  <a:srgbClr val="820000"/>
                </a:solidFill>
                <a:latin typeface="Arial" panose="020B0604020202020204" pitchFamily="34" charset="0"/>
                <a:cs typeface="Arial" panose="020B0604020202020204" pitchFamily="34" charset="0"/>
              </a:rPr>
              <a:t> </a:t>
            </a:r>
          </a:p>
        </p:txBody>
      </p:sp>
      <p:sp>
        <p:nvSpPr>
          <p:cNvPr id="47" name="Freeform 7"/>
          <p:cNvSpPr/>
          <p:nvPr/>
        </p:nvSpPr>
        <p:spPr>
          <a:xfrm>
            <a:off x="15019726" y="4893908"/>
            <a:ext cx="543461" cy="467036"/>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chemeClr val="accent4"/>
          </a:solidFill>
        </p:spPr>
      </p:sp>
      <p:sp>
        <p:nvSpPr>
          <p:cNvPr id="48" name="Round Single Corner Rectangle 47"/>
          <p:cNvSpPr/>
          <p:nvPr/>
        </p:nvSpPr>
        <p:spPr>
          <a:xfrm>
            <a:off x="263589" y="6801454"/>
            <a:ext cx="4977882" cy="1104900"/>
          </a:xfrm>
          <a:prstGeom prst="round1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PH" sz="4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a:t>
            </a:r>
            <a:r>
              <a:rPr lang="en-PH" sz="4400" b="1" dirty="0">
                <a:solidFill>
                  <a:srgbClr val="005C2A"/>
                </a:solidFill>
                <a:latin typeface="Arial" panose="020B0604020202020204" pitchFamily="34" charset="0"/>
                <a:ea typeface="Adobe Gothic Std B" panose="020B0800000000000000" pitchFamily="34" charset="-128"/>
                <a:cs typeface="Arial" panose="020B0604020202020204" pitchFamily="34" charset="0"/>
              </a:rPr>
              <a:t>C</a:t>
            </a:r>
            <a:r>
              <a:rPr lang="en-PH" sz="4400" b="1" dirty="0" smtClean="0">
                <a:solidFill>
                  <a:srgbClr val="005C2A"/>
                </a:solidFill>
                <a:latin typeface="Arial" panose="020B0604020202020204" pitchFamily="34" charset="0"/>
                <a:ea typeface="Adobe Gothic Std B" panose="020B0800000000000000" pitchFamily="34" charset="-128"/>
                <a:cs typeface="Arial" panose="020B0604020202020204" pitchFamily="34" charset="0"/>
              </a:rPr>
              <a:t>oconut leaves</a:t>
            </a:r>
          </a:p>
          <a:p>
            <a:pPr marL="571500" indent="-571500">
              <a:buFont typeface="Arial" panose="020B0604020202020204" pitchFamily="34" charset="0"/>
              <a:buChar char="•"/>
            </a:pPr>
            <a:r>
              <a:rPr lang="en-PH" sz="3200"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Brooms </a:t>
            </a:r>
          </a:p>
          <a:p>
            <a:pPr marL="571500" indent="-571500">
              <a:buFont typeface="Arial" panose="020B0604020202020204" pitchFamily="34" charset="0"/>
              <a:buChar char="•"/>
            </a:pPr>
            <a:r>
              <a:rPr lang="en-PH" sz="3200"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Basket and mats</a:t>
            </a:r>
          </a:p>
          <a:p>
            <a:pPr marL="571500" indent="-571500">
              <a:buFont typeface="Arial" panose="020B0604020202020204" pitchFamily="34" charset="0"/>
              <a:buChar char="•"/>
            </a:pPr>
            <a:r>
              <a:rPr lang="en-PH" sz="3200"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Cooking skewers </a:t>
            </a:r>
          </a:p>
          <a:p>
            <a:pPr algn="just"/>
            <a:r>
              <a:rPr lang="en-PH" sz="4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a:t>
            </a:r>
            <a:r>
              <a:rPr lang="en-PH" sz="4800" b="1" u="sng" dirty="0" smtClean="0">
                <a:solidFill>
                  <a:srgbClr val="820000"/>
                </a:solidFill>
                <a:latin typeface="Arial" panose="020B0604020202020204" pitchFamily="34" charset="0"/>
                <a:cs typeface="Arial" panose="020B0604020202020204" pitchFamily="34" charset="0"/>
              </a:rPr>
              <a:t> </a:t>
            </a:r>
          </a:p>
        </p:txBody>
      </p:sp>
      <p:pic>
        <p:nvPicPr>
          <p:cNvPr id="3" name="Picture 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50018" y="1828304"/>
            <a:ext cx="4121981" cy="3065604"/>
          </a:xfrm>
          <a:prstGeom prst="rect">
            <a:avLst/>
          </a:prstGeom>
        </p:spPr>
      </p:pic>
      <p:pic>
        <p:nvPicPr>
          <p:cNvPr id="5" name="Picture 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44430" y="5723942"/>
            <a:ext cx="4353784" cy="3284317"/>
          </a:xfrm>
          <a:prstGeom prst="rect">
            <a:avLst/>
          </a:prstGeom>
        </p:spPr>
      </p:pic>
      <p:pic>
        <p:nvPicPr>
          <p:cNvPr id="30" name="Picture 2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261014" y="1861188"/>
            <a:ext cx="3881260" cy="2910945"/>
          </a:xfrm>
          <a:prstGeom prst="rect">
            <a:avLst/>
          </a:prstGeom>
        </p:spPr>
      </p:pic>
      <p:pic>
        <p:nvPicPr>
          <p:cNvPr id="8" name="Picture 7"/>
          <p:cNvPicPr>
            <a:picLocks noChangeAspect="1"/>
          </p:cNvPicPr>
          <p:nvPr/>
        </p:nvPicPr>
        <p:blipFill>
          <a:blip r:embed="rId8"/>
          <a:stretch>
            <a:fillRect/>
          </a:stretch>
        </p:blipFill>
        <p:spPr>
          <a:xfrm>
            <a:off x="13689563" y="5583190"/>
            <a:ext cx="4295162" cy="3565819"/>
          </a:xfrm>
          <a:prstGeom prst="rect">
            <a:avLst/>
          </a:prstGeom>
        </p:spPr>
      </p:pic>
    </p:spTree>
    <p:extLst>
      <p:ext uri="{BB962C8B-B14F-4D97-AF65-F5344CB8AC3E}">
        <p14:creationId xmlns:p14="http://schemas.microsoft.com/office/powerpoint/2010/main" val="294486410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Box 13"/>
          <p:cNvSpPr txBox="1"/>
          <p:nvPr/>
        </p:nvSpPr>
        <p:spPr>
          <a:xfrm>
            <a:off x="1671387" y="1531257"/>
            <a:ext cx="2203151" cy="2306426"/>
          </a:xfrm>
          <a:prstGeom prst="rect">
            <a:avLst/>
          </a:prstGeom>
        </p:spPr>
        <p:txBody>
          <a:bodyPr lIns="50800" tIns="50800" rIns="50800" bIns="50800" rtlCol="0" anchor="ctr"/>
          <a:lstStyle/>
          <a:p>
            <a:pPr algn="ctr">
              <a:lnSpc>
                <a:spcPts val="2659"/>
              </a:lnSpc>
              <a:spcBef>
                <a:spcPct val="0"/>
              </a:spcBef>
            </a:pPr>
            <a:endParaRPr/>
          </a:p>
        </p:txBody>
      </p:sp>
      <p:sp>
        <p:nvSpPr>
          <p:cNvPr id="21" name="Round Single Corner Rectangle 20"/>
          <p:cNvSpPr/>
          <p:nvPr/>
        </p:nvSpPr>
        <p:spPr>
          <a:xfrm>
            <a:off x="-228600" y="264707"/>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4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Background of the Study   </a:t>
            </a:r>
            <a:r>
              <a:rPr lang="en-PH" sz="4800" b="1" u="sng" dirty="0" smtClean="0">
                <a:solidFill>
                  <a:srgbClr val="820000"/>
                </a:solidFill>
                <a:latin typeface="Arial" panose="020B0604020202020204" pitchFamily="34" charset="0"/>
                <a:cs typeface="Arial" panose="020B0604020202020204" pitchFamily="34" charset="0"/>
              </a:rPr>
              <a:t> </a:t>
            </a:r>
          </a:p>
        </p:txBody>
      </p:sp>
      <p:pic>
        <p:nvPicPr>
          <p:cNvPr id="20" name="Picture 19"/>
          <p:cNvPicPr>
            <a:picLocks noChangeAspect="1"/>
          </p:cNvPicPr>
          <p:nvPr/>
        </p:nvPicPr>
        <p:blipFill>
          <a:blip r:embed="rId2"/>
          <a:stretch>
            <a:fillRect/>
          </a:stretch>
        </p:blipFill>
        <p:spPr>
          <a:xfrm>
            <a:off x="0" y="0"/>
            <a:ext cx="18288000" cy="267611"/>
          </a:xfrm>
          <a:prstGeom prst="rect">
            <a:avLst/>
          </a:prstGeom>
        </p:spPr>
      </p:pic>
      <p:pic>
        <p:nvPicPr>
          <p:cNvPr id="2" name="Picture 1"/>
          <p:cNvPicPr>
            <a:picLocks noChangeAspect="1"/>
          </p:cNvPicPr>
          <p:nvPr/>
        </p:nvPicPr>
        <p:blipFill>
          <a:blip r:embed="rId3"/>
          <a:stretch>
            <a:fillRect/>
          </a:stretch>
        </p:blipFill>
        <p:spPr>
          <a:xfrm>
            <a:off x="0" y="1369606"/>
            <a:ext cx="9562869" cy="7888693"/>
          </a:xfrm>
          <a:prstGeom prst="rect">
            <a:avLst/>
          </a:prstGeom>
        </p:spPr>
      </p:pic>
      <p:pic>
        <p:nvPicPr>
          <p:cNvPr id="5" name="Picture 4"/>
          <p:cNvPicPr>
            <a:picLocks noChangeAspect="1"/>
          </p:cNvPicPr>
          <p:nvPr/>
        </p:nvPicPr>
        <p:blipFill>
          <a:blip r:embed="rId4"/>
          <a:stretch>
            <a:fillRect/>
          </a:stretch>
        </p:blipFill>
        <p:spPr>
          <a:xfrm>
            <a:off x="9866853" y="6134100"/>
            <a:ext cx="8192547" cy="3511243"/>
          </a:xfrm>
          <a:prstGeom prst="rect">
            <a:avLst/>
          </a:prstGeom>
        </p:spPr>
      </p:pic>
      <p:sp>
        <p:nvSpPr>
          <p:cNvPr id="7" name="Rectangle 6"/>
          <p:cNvSpPr/>
          <p:nvPr/>
        </p:nvSpPr>
        <p:spPr>
          <a:xfrm>
            <a:off x="112553" y="9410700"/>
            <a:ext cx="9031447" cy="646331"/>
          </a:xfrm>
          <a:prstGeom prst="rect">
            <a:avLst/>
          </a:prstGeom>
        </p:spPr>
        <p:txBody>
          <a:bodyPr wrap="none">
            <a:spAutoFit/>
          </a:bodyPr>
          <a:lstStyle/>
          <a:p>
            <a:r>
              <a:rPr lang="en-PH" dirty="0">
                <a:hlinkClick r:id="rId5"/>
              </a:rPr>
              <a:t>https://</a:t>
            </a:r>
            <a:r>
              <a:rPr lang="en-PH" dirty="0" smtClean="0">
                <a:hlinkClick r:id="rId5"/>
              </a:rPr>
              <a:t>www.mapsofworld.com/world-top-ten/world-map-coconut-production-countries.html</a:t>
            </a:r>
            <a:endParaRPr lang="en-PH" dirty="0" smtClean="0"/>
          </a:p>
          <a:p>
            <a:endParaRPr lang="en-PH" dirty="0"/>
          </a:p>
        </p:txBody>
      </p:sp>
      <p:pic>
        <p:nvPicPr>
          <p:cNvPr id="9" name="Picture 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590577" y="476011"/>
            <a:ext cx="8468823" cy="5147506"/>
          </a:xfrm>
          <a:prstGeom prst="rect">
            <a:avLst/>
          </a:prstGeom>
        </p:spPr>
      </p:pic>
      <p:sp>
        <p:nvSpPr>
          <p:cNvPr id="10" name="Rectangle 9"/>
          <p:cNvSpPr/>
          <p:nvPr/>
        </p:nvSpPr>
        <p:spPr>
          <a:xfrm>
            <a:off x="9866853" y="5656521"/>
            <a:ext cx="7916270" cy="646331"/>
          </a:xfrm>
          <a:prstGeom prst="rect">
            <a:avLst/>
          </a:prstGeom>
        </p:spPr>
        <p:txBody>
          <a:bodyPr wrap="none">
            <a:spAutoFit/>
          </a:bodyPr>
          <a:lstStyle/>
          <a:p>
            <a:r>
              <a:rPr lang="en-PH" dirty="0">
                <a:hlinkClick r:id="rId7"/>
              </a:rPr>
              <a:t>https://www.helgilibrary.com/charts/which-country-produces-the-most-coconuts</a:t>
            </a:r>
            <a:r>
              <a:rPr lang="en-PH" dirty="0" smtClean="0">
                <a:hlinkClick r:id="rId7"/>
              </a:rPr>
              <a:t>/</a:t>
            </a:r>
            <a:endParaRPr lang="en-PH" dirty="0" smtClean="0"/>
          </a:p>
          <a:p>
            <a:endParaRPr lang="en-PH" dirty="0"/>
          </a:p>
        </p:txBody>
      </p:sp>
      <p:sp>
        <p:nvSpPr>
          <p:cNvPr id="11" name="Rectangle 10"/>
          <p:cNvSpPr/>
          <p:nvPr/>
        </p:nvSpPr>
        <p:spPr>
          <a:xfrm>
            <a:off x="9590577" y="9705017"/>
            <a:ext cx="8671541" cy="646331"/>
          </a:xfrm>
          <a:prstGeom prst="rect">
            <a:avLst/>
          </a:prstGeom>
        </p:spPr>
        <p:txBody>
          <a:bodyPr wrap="none">
            <a:spAutoFit/>
          </a:bodyPr>
          <a:lstStyle/>
          <a:p>
            <a:r>
              <a:rPr lang="en-PH" dirty="0">
                <a:hlinkClick r:id="rId8"/>
              </a:rPr>
              <a:t>http://</a:t>
            </a:r>
            <a:r>
              <a:rPr lang="en-PH" dirty="0" smtClean="0">
                <a:hlinkClick r:id="rId8"/>
              </a:rPr>
              <a:t>www.commoditiescontrol.com/eagritrader/commodityknowledge/copra/copra.htm</a:t>
            </a:r>
            <a:endParaRPr lang="en-PH" dirty="0" smtClean="0"/>
          </a:p>
          <a:p>
            <a:endParaRPr lang="en-PH" dirty="0"/>
          </a:p>
        </p:txBody>
      </p:sp>
    </p:spTree>
    <p:extLst>
      <p:ext uri="{BB962C8B-B14F-4D97-AF65-F5344CB8AC3E}">
        <p14:creationId xmlns:p14="http://schemas.microsoft.com/office/powerpoint/2010/main" val="218555514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Box 13"/>
          <p:cNvSpPr txBox="1"/>
          <p:nvPr/>
        </p:nvSpPr>
        <p:spPr>
          <a:xfrm>
            <a:off x="1671387" y="1531257"/>
            <a:ext cx="2203151" cy="2306426"/>
          </a:xfrm>
          <a:prstGeom prst="rect">
            <a:avLst/>
          </a:prstGeom>
        </p:spPr>
        <p:txBody>
          <a:bodyPr lIns="50800" tIns="50800" rIns="50800" bIns="50800" rtlCol="0" anchor="ctr"/>
          <a:lstStyle/>
          <a:p>
            <a:pPr algn="ctr">
              <a:lnSpc>
                <a:spcPts val="2659"/>
              </a:lnSpc>
              <a:spcBef>
                <a:spcPct val="0"/>
              </a:spcBef>
            </a:pPr>
            <a:endParaRPr/>
          </a:p>
        </p:txBody>
      </p:sp>
      <p:pic>
        <p:nvPicPr>
          <p:cNvPr id="18" name="Picture 17"/>
          <p:cNvPicPr>
            <a:picLocks noChangeAspect="1"/>
          </p:cNvPicPr>
          <p:nvPr/>
        </p:nvPicPr>
        <p:blipFill>
          <a:blip r:embed="rId2"/>
          <a:stretch>
            <a:fillRect/>
          </a:stretch>
        </p:blipFill>
        <p:spPr>
          <a:xfrm>
            <a:off x="76200" y="9266338"/>
            <a:ext cx="2327677" cy="1020662"/>
          </a:xfrm>
          <a:prstGeom prst="rect">
            <a:avLst/>
          </a:prstGeom>
        </p:spPr>
      </p:pic>
      <p:pic>
        <p:nvPicPr>
          <p:cNvPr id="19" name="Picture 18"/>
          <p:cNvPicPr>
            <a:picLocks noChangeAspect="1"/>
          </p:cNvPicPr>
          <p:nvPr/>
        </p:nvPicPr>
        <p:blipFill>
          <a:blip r:embed="rId3"/>
          <a:stretch>
            <a:fillRect/>
          </a:stretch>
        </p:blipFill>
        <p:spPr>
          <a:xfrm rot="10800000">
            <a:off x="-30480" y="1294489"/>
            <a:ext cx="18288000" cy="267610"/>
          </a:xfrm>
          <a:prstGeom prst="rect">
            <a:avLst/>
          </a:prstGeom>
        </p:spPr>
      </p:pic>
      <p:sp>
        <p:nvSpPr>
          <p:cNvPr id="21" name="Round Single Corner Rectangle 20"/>
          <p:cNvSpPr/>
          <p:nvPr/>
        </p:nvSpPr>
        <p:spPr>
          <a:xfrm>
            <a:off x="1596975" y="267611"/>
            <a:ext cx="14296675"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4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Statement of the Problem   </a:t>
            </a:r>
            <a:r>
              <a:rPr lang="en-PH" sz="4800" b="1" u="sng" dirty="0" smtClean="0">
                <a:solidFill>
                  <a:srgbClr val="820000"/>
                </a:solidFill>
                <a:latin typeface="Arial" panose="020B0604020202020204" pitchFamily="34" charset="0"/>
                <a:cs typeface="Arial" panose="020B0604020202020204" pitchFamily="34" charset="0"/>
              </a:rPr>
              <a:t> </a:t>
            </a:r>
          </a:p>
        </p:txBody>
      </p:sp>
      <p:pic>
        <p:nvPicPr>
          <p:cNvPr id="20" name="Picture 19"/>
          <p:cNvPicPr>
            <a:picLocks noChangeAspect="1"/>
          </p:cNvPicPr>
          <p:nvPr/>
        </p:nvPicPr>
        <p:blipFill>
          <a:blip r:embed="rId3"/>
          <a:stretch>
            <a:fillRect/>
          </a:stretch>
        </p:blipFill>
        <p:spPr>
          <a:xfrm>
            <a:off x="0" y="0"/>
            <a:ext cx="18288000" cy="267611"/>
          </a:xfrm>
          <a:prstGeom prst="rect">
            <a:avLst/>
          </a:prstGeom>
        </p:spPr>
      </p:pic>
      <p:sp>
        <p:nvSpPr>
          <p:cNvPr id="4" name="Parallelogram 3"/>
          <p:cNvSpPr/>
          <p:nvPr/>
        </p:nvSpPr>
        <p:spPr>
          <a:xfrm>
            <a:off x="2388637" y="9936689"/>
            <a:ext cx="9727163" cy="236011"/>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2" name="Parallelogram 21"/>
          <p:cNvSpPr/>
          <p:nvPr/>
        </p:nvSpPr>
        <p:spPr>
          <a:xfrm>
            <a:off x="12192000" y="9944100"/>
            <a:ext cx="1421363" cy="228600"/>
          </a:xfrm>
          <a:prstGeom prst="parallelogram">
            <a:avLst/>
          </a:prstGeom>
          <a:solidFill>
            <a:srgbClr val="FFC000"/>
          </a:solidFill>
          <a:ln>
            <a:solidFill>
              <a:srgbClr val="FFC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3" name="Parallelogram 22"/>
          <p:cNvSpPr/>
          <p:nvPr/>
        </p:nvSpPr>
        <p:spPr>
          <a:xfrm>
            <a:off x="13689563" y="9944100"/>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24" name="Picture 23"/>
          <p:cNvPicPr>
            <a:picLocks noChangeAspect="1"/>
          </p:cNvPicPr>
          <p:nvPr/>
        </p:nvPicPr>
        <p:blipFill>
          <a:blip r:embed="rId3"/>
          <a:stretch>
            <a:fillRect/>
          </a:stretch>
        </p:blipFill>
        <p:spPr>
          <a:xfrm rot="10800000" flipV="1">
            <a:off x="2403877" y="9668509"/>
            <a:ext cx="15899363" cy="232657"/>
          </a:xfrm>
          <a:prstGeom prst="rect">
            <a:avLst/>
          </a:prstGeom>
        </p:spPr>
      </p:pic>
      <p:pic>
        <p:nvPicPr>
          <p:cNvPr id="6" name="Picture 5"/>
          <p:cNvPicPr>
            <a:picLocks noChangeAspect="1"/>
          </p:cNvPicPr>
          <p:nvPr/>
        </p:nvPicPr>
        <p:blipFill>
          <a:blip r:embed="rId4"/>
          <a:stretch>
            <a:fillRect/>
          </a:stretch>
        </p:blipFill>
        <p:spPr>
          <a:xfrm>
            <a:off x="14999970" y="322437"/>
            <a:ext cx="3257550" cy="523875"/>
          </a:xfrm>
          <a:prstGeom prst="rect">
            <a:avLst/>
          </a:prstGeom>
        </p:spPr>
      </p:pic>
      <p:sp>
        <p:nvSpPr>
          <p:cNvPr id="25" name="Parallelogram 24"/>
          <p:cNvSpPr/>
          <p:nvPr/>
        </p:nvSpPr>
        <p:spPr>
          <a:xfrm>
            <a:off x="13704803" y="846312"/>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13" name="Picture 12"/>
          <p:cNvPicPr>
            <a:picLocks noChangeAspect="1"/>
          </p:cNvPicPr>
          <p:nvPr/>
        </p:nvPicPr>
        <p:blipFill>
          <a:blip r:embed="rId4"/>
          <a:stretch>
            <a:fillRect/>
          </a:stretch>
        </p:blipFill>
        <p:spPr>
          <a:xfrm rot="10800000">
            <a:off x="0" y="612538"/>
            <a:ext cx="3257550" cy="523875"/>
          </a:xfrm>
          <a:prstGeom prst="rect">
            <a:avLst/>
          </a:prstGeom>
        </p:spPr>
      </p:pic>
      <p:sp>
        <p:nvSpPr>
          <p:cNvPr id="14" name="Parallelogram 13"/>
          <p:cNvSpPr/>
          <p:nvPr/>
        </p:nvSpPr>
        <p:spPr>
          <a:xfrm>
            <a:off x="89418" y="300760"/>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 name="Rectangle 1"/>
          <p:cNvSpPr/>
          <p:nvPr/>
        </p:nvSpPr>
        <p:spPr>
          <a:xfrm>
            <a:off x="381000" y="2050346"/>
            <a:ext cx="17145000" cy="6649064"/>
          </a:xfrm>
          <a:prstGeom prst="rect">
            <a:avLst/>
          </a:prstGeom>
        </p:spPr>
        <p:txBody>
          <a:bodyPr wrap="square">
            <a:spAutoFit/>
          </a:bodyPr>
          <a:lstStyle/>
          <a:p>
            <a:pPr indent="457200" algn="just">
              <a:lnSpc>
                <a:spcPct val="150000"/>
              </a:lnSpc>
            </a:pPr>
            <a:r>
              <a:rPr lang="en-US" sz="3200" dirty="0" smtClean="0">
                <a:solidFill>
                  <a:srgbClr val="820000"/>
                </a:solidFill>
                <a:latin typeface="Arial MT"/>
                <a:ea typeface="Arial MT"/>
                <a:cs typeface="Arial MT"/>
              </a:rPr>
              <a:t>	During </a:t>
            </a:r>
            <a:r>
              <a:rPr lang="en-US" sz="3200" dirty="0">
                <a:solidFill>
                  <a:srgbClr val="820000"/>
                </a:solidFill>
                <a:latin typeface="Arial MT"/>
                <a:ea typeface="Arial MT"/>
                <a:cs typeface="Arial MT"/>
              </a:rPr>
              <a:t>the six-month germination of coconut seed, the </a:t>
            </a:r>
            <a:r>
              <a:rPr lang="en-US" sz="3200" dirty="0" err="1">
                <a:solidFill>
                  <a:srgbClr val="820000"/>
                </a:solidFill>
                <a:latin typeface="Arial MT"/>
                <a:ea typeface="Arial MT"/>
                <a:cs typeface="Arial MT"/>
              </a:rPr>
              <a:t>haustorium</a:t>
            </a:r>
            <a:r>
              <a:rPr lang="en-US" sz="3200" dirty="0">
                <a:solidFill>
                  <a:srgbClr val="820000"/>
                </a:solidFill>
                <a:latin typeface="Arial MT"/>
                <a:ea typeface="Arial MT"/>
                <a:cs typeface="Arial MT"/>
              </a:rPr>
              <a:t> of the coconut embryo in the nut enlarges and grows towards the cavity of the nut. This organ digests and absorbs nutrients which it supplies to the growing shoot and root. The mechanism suggests an explanation for the observed correlation between fatty acid composition and development during the germination period. In addition, the nutrients like carbohydrates, fat, proteins, fiber, and minerals present in the matured kernel are utilized during the germination and early development of the embryo. Thus, characterization of the different parts of a germinating coconut seed is essential to determine its composition and identify metabolites responsible for the medicinal claims. </a:t>
            </a:r>
            <a:endParaRPr lang="en-PH" sz="3200" dirty="0">
              <a:solidFill>
                <a:srgbClr val="820000"/>
              </a:solidFill>
              <a:effectLst/>
              <a:latin typeface="Arial MT"/>
              <a:ea typeface="Arial MT"/>
              <a:cs typeface="Arial MT"/>
            </a:endParaRPr>
          </a:p>
        </p:txBody>
      </p:sp>
    </p:spTree>
    <p:extLst>
      <p:ext uri="{BB962C8B-B14F-4D97-AF65-F5344CB8AC3E}">
        <p14:creationId xmlns:p14="http://schemas.microsoft.com/office/powerpoint/2010/main" val="362140680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Box 13"/>
          <p:cNvSpPr txBox="1"/>
          <p:nvPr/>
        </p:nvSpPr>
        <p:spPr>
          <a:xfrm>
            <a:off x="1671387" y="1531257"/>
            <a:ext cx="2203151" cy="2306426"/>
          </a:xfrm>
          <a:prstGeom prst="rect">
            <a:avLst/>
          </a:prstGeom>
        </p:spPr>
        <p:txBody>
          <a:bodyPr lIns="50800" tIns="50800" rIns="50800" bIns="50800" rtlCol="0" anchor="ctr"/>
          <a:lstStyle/>
          <a:p>
            <a:pPr algn="ctr">
              <a:lnSpc>
                <a:spcPts val="2659"/>
              </a:lnSpc>
              <a:spcBef>
                <a:spcPct val="0"/>
              </a:spcBef>
            </a:pPr>
            <a:endParaRPr/>
          </a:p>
        </p:txBody>
      </p:sp>
      <p:pic>
        <p:nvPicPr>
          <p:cNvPr id="18" name="Picture 17"/>
          <p:cNvPicPr>
            <a:picLocks noChangeAspect="1"/>
          </p:cNvPicPr>
          <p:nvPr/>
        </p:nvPicPr>
        <p:blipFill>
          <a:blip r:embed="rId2"/>
          <a:stretch>
            <a:fillRect/>
          </a:stretch>
        </p:blipFill>
        <p:spPr>
          <a:xfrm>
            <a:off x="76200" y="9266338"/>
            <a:ext cx="2327677" cy="1020662"/>
          </a:xfrm>
          <a:prstGeom prst="rect">
            <a:avLst/>
          </a:prstGeom>
        </p:spPr>
      </p:pic>
      <p:pic>
        <p:nvPicPr>
          <p:cNvPr id="19" name="Picture 18"/>
          <p:cNvPicPr>
            <a:picLocks noChangeAspect="1"/>
          </p:cNvPicPr>
          <p:nvPr/>
        </p:nvPicPr>
        <p:blipFill>
          <a:blip r:embed="rId3"/>
          <a:stretch>
            <a:fillRect/>
          </a:stretch>
        </p:blipFill>
        <p:spPr>
          <a:xfrm rot="10800000">
            <a:off x="-30480" y="1294489"/>
            <a:ext cx="18288000" cy="267610"/>
          </a:xfrm>
          <a:prstGeom prst="rect">
            <a:avLst/>
          </a:prstGeom>
        </p:spPr>
      </p:pic>
      <p:sp>
        <p:nvSpPr>
          <p:cNvPr id="21" name="Round Single Corner Rectangle 20"/>
          <p:cNvSpPr/>
          <p:nvPr/>
        </p:nvSpPr>
        <p:spPr>
          <a:xfrm>
            <a:off x="5494020" y="160397"/>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4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a:t>
            </a:r>
            <a:r>
              <a:rPr lang="en-PH" sz="4400" b="1" dirty="0">
                <a:solidFill>
                  <a:srgbClr val="820000"/>
                </a:solidFill>
                <a:latin typeface="Arial" panose="020B0604020202020204" pitchFamily="34" charset="0"/>
                <a:ea typeface="Adobe Gothic Std B" panose="020B0800000000000000" pitchFamily="34" charset="-128"/>
                <a:cs typeface="Arial" panose="020B0604020202020204" pitchFamily="34" charset="0"/>
              </a:rPr>
              <a:t>O</a:t>
            </a:r>
            <a:r>
              <a:rPr lang="en-PH" sz="4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bjectives of the Study    </a:t>
            </a:r>
            <a:r>
              <a:rPr lang="en-PH" sz="4800" b="1" u="sng" dirty="0" smtClean="0">
                <a:solidFill>
                  <a:srgbClr val="820000"/>
                </a:solidFill>
                <a:latin typeface="Arial" panose="020B0604020202020204" pitchFamily="34" charset="0"/>
                <a:cs typeface="Arial" panose="020B0604020202020204" pitchFamily="34" charset="0"/>
              </a:rPr>
              <a:t> </a:t>
            </a:r>
          </a:p>
        </p:txBody>
      </p:sp>
      <p:pic>
        <p:nvPicPr>
          <p:cNvPr id="20" name="Picture 19"/>
          <p:cNvPicPr>
            <a:picLocks noChangeAspect="1"/>
          </p:cNvPicPr>
          <p:nvPr/>
        </p:nvPicPr>
        <p:blipFill>
          <a:blip r:embed="rId3"/>
          <a:stretch>
            <a:fillRect/>
          </a:stretch>
        </p:blipFill>
        <p:spPr>
          <a:xfrm>
            <a:off x="0" y="0"/>
            <a:ext cx="18288000" cy="267611"/>
          </a:xfrm>
          <a:prstGeom prst="rect">
            <a:avLst/>
          </a:prstGeom>
        </p:spPr>
      </p:pic>
      <p:sp>
        <p:nvSpPr>
          <p:cNvPr id="4" name="Parallelogram 3"/>
          <p:cNvSpPr/>
          <p:nvPr/>
        </p:nvSpPr>
        <p:spPr>
          <a:xfrm>
            <a:off x="2388637" y="9936689"/>
            <a:ext cx="9727163" cy="236011"/>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2" name="Parallelogram 21"/>
          <p:cNvSpPr/>
          <p:nvPr/>
        </p:nvSpPr>
        <p:spPr>
          <a:xfrm>
            <a:off x="12192000" y="9944100"/>
            <a:ext cx="1421363" cy="228600"/>
          </a:xfrm>
          <a:prstGeom prst="parallelogram">
            <a:avLst/>
          </a:prstGeom>
          <a:solidFill>
            <a:srgbClr val="FFC000"/>
          </a:solidFill>
          <a:ln>
            <a:solidFill>
              <a:srgbClr val="FFC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3" name="Parallelogram 22"/>
          <p:cNvSpPr/>
          <p:nvPr/>
        </p:nvSpPr>
        <p:spPr>
          <a:xfrm>
            <a:off x="13689563" y="9944100"/>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24" name="Picture 23"/>
          <p:cNvPicPr>
            <a:picLocks noChangeAspect="1"/>
          </p:cNvPicPr>
          <p:nvPr/>
        </p:nvPicPr>
        <p:blipFill>
          <a:blip r:embed="rId3"/>
          <a:stretch>
            <a:fillRect/>
          </a:stretch>
        </p:blipFill>
        <p:spPr>
          <a:xfrm rot="10800000" flipV="1">
            <a:off x="2403877" y="9668509"/>
            <a:ext cx="15899363" cy="232657"/>
          </a:xfrm>
          <a:prstGeom prst="rect">
            <a:avLst/>
          </a:prstGeom>
        </p:spPr>
      </p:pic>
      <p:pic>
        <p:nvPicPr>
          <p:cNvPr id="6" name="Picture 5"/>
          <p:cNvPicPr>
            <a:picLocks noChangeAspect="1"/>
          </p:cNvPicPr>
          <p:nvPr/>
        </p:nvPicPr>
        <p:blipFill>
          <a:blip r:embed="rId4"/>
          <a:stretch>
            <a:fillRect/>
          </a:stretch>
        </p:blipFill>
        <p:spPr>
          <a:xfrm>
            <a:off x="15030450" y="488370"/>
            <a:ext cx="3257550" cy="523875"/>
          </a:xfrm>
          <a:prstGeom prst="rect">
            <a:avLst/>
          </a:prstGeom>
        </p:spPr>
      </p:pic>
      <p:sp>
        <p:nvSpPr>
          <p:cNvPr id="25" name="Parallelogram 24"/>
          <p:cNvSpPr/>
          <p:nvPr/>
        </p:nvSpPr>
        <p:spPr>
          <a:xfrm>
            <a:off x="13030200" y="760176"/>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13" name="Picture 12"/>
          <p:cNvPicPr>
            <a:picLocks noChangeAspect="1"/>
          </p:cNvPicPr>
          <p:nvPr/>
        </p:nvPicPr>
        <p:blipFill>
          <a:blip r:embed="rId4"/>
          <a:stretch>
            <a:fillRect/>
          </a:stretch>
        </p:blipFill>
        <p:spPr>
          <a:xfrm rot="10800000">
            <a:off x="0" y="612538"/>
            <a:ext cx="3257550" cy="523875"/>
          </a:xfrm>
          <a:prstGeom prst="rect">
            <a:avLst/>
          </a:prstGeom>
        </p:spPr>
      </p:pic>
      <p:sp>
        <p:nvSpPr>
          <p:cNvPr id="14" name="Parallelogram 13"/>
          <p:cNvSpPr/>
          <p:nvPr/>
        </p:nvSpPr>
        <p:spPr>
          <a:xfrm>
            <a:off x="659363" y="577015"/>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 name="Rectangle 1"/>
          <p:cNvSpPr/>
          <p:nvPr/>
        </p:nvSpPr>
        <p:spPr>
          <a:xfrm>
            <a:off x="273721" y="1693796"/>
            <a:ext cx="17633279" cy="1487587"/>
          </a:xfrm>
          <a:prstGeom prst="rect">
            <a:avLst/>
          </a:prstGeom>
          <a:gradFill>
            <a:gsLst>
              <a:gs pos="0">
                <a:srgbClr val="820000"/>
              </a:gs>
              <a:gs pos="82000">
                <a:schemeClr val="accent1">
                  <a:lumMod val="45000"/>
                  <a:lumOff val="55000"/>
                  <a:alpha val="11000"/>
                </a:schemeClr>
              </a:gs>
              <a:gs pos="0">
                <a:srgbClr val="A40000">
                  <a:alpha val="8000"/>
                </a:srgbClr>
              </a:gs>
              <a:gs pos="0">
                <a:srgbClr val="FFFF00">
                  <a:alpha val="69000"/>
                </a:srgbClr>
              </a:gs>
            </a:gsLst>
            <a:path path="rect">
              <a:fillToRect l="100000" t="100000"/>
            </a:path>
          </a:gradFill>
          <a:ln w="38100">
            <a:solidFill>
              <a:schemeClr val="tx1"/>
            </a:solidFill>
          </a:ln>
        </p:spPr>
        <p:txBody>
          <a:bodyPr wrap="square">
            <a:spAutoFit/>
          </a:bodyPr>
          <a:lstStyle/>
          <a:p>
            <a:pPr marL="434340" indent="-342900" algn="just">
              <a:spcAft>
                <a:spcPts val="800"/>
              </a:spcAft>
              <a:buFont typeface="Arial" panose="020B0604020202020204" pitchFamily="34" charset="0"/>
              <a:buChar char="•"/>
            </a:pPr>
            <a:r>
              <a:rPr lang="en-US" sz="2800" dirty="0">
                <a:solidFill>
                  <a:srgbClr val="820000"/>
                </a:solidFill>
                <a:latin typeface="Arial" panose="020B0604020202020204" pitchFamily="34" charset="0"/>
                <a:cs typeface="Arial" panose="020B0604020202020204" pitchFamily="34" charset="0"/>
              </a:rPr>
              <a:t>Thus, this study aims to characterize the crude </a:t>
            </a:r>
            <a:r>
              <a:rPr lang="en-US" sz="2800" dirty="0" err="1">
                <a:solidFill>
                  <a:srgbClr val="820000"/>
                </a:solidFill>
                <a:latin typeface="Arial" panose="020B0604020202020204" pitchFamily="34" charset="0"/>
                <a:cs typeface="Arial" panose="020B0604020202020204" pitchFamily="34" charset="0"/>
              </a:rPr>
              <a:t>methanolic</a:t>
            </a:r>
            <a:r>
              <a:rPr lang="en-US" sz="2800" dirty="0">
                <a:solidFill>
                  <a:srgbClr val="820000"/>
                </a:solidFill>
                <a:latin typeface="Arial" panose="020B0604020202020204" pitchFamily="34" charset="0"/>
                <a:cs typeface="Arial" panose="020B0604020202020204" pitchFamily="34" charset="0"/>
              </a:rPr>
              <a:t> extracts of </a:t>
            </a:r>
            <a:r>
              <a:rPr lang="en-US" sz="2800" dirty="0" err="1">
                <a:solidFill>
                  <a:srgbClr val="820000"/>
                </a:solidFill>
                <a:latin typeface="Arial" panose="020B0604020202020204" pitchFamily="34" charset="0"/>
                <a:cs typeface="Arial" panose="020B0604020202020204" pitchFamily="34" charset="0"/>
              </a:rPr>
              <a:t>haustorium</a:t>
            </a:r>
            <a:r>
              <a:rPr lang="en-US" sz="2800" dirty="0">
                <a:solidFill>
                  <a:srgbClr val="820000"/>
                </a:solidFill>
                <a:latin typeface="Arial" panose="020B0604020202020204" pitchFamily="34" charset="0"/>
                <a:cs typeface="Arial" panose="020B0604020202020204" pitchFamily="34" charset="0"/>
              </a:rPr>
              <a:t>, endosperm, roots, shoots, and leaves of a six-month old germinating coconut seed. </a:t>
            </a:r>
            <a:endParaRPr lang="en-PH" sz="2800" dirty="0">
              <a:solidFill>
                <a:srgbClr val="820000"/>
              </a:solidFill>
              <a:latin typeface="Arial" panose="020B0604020202020204" pitchFamily="34" charset="0"/>
              <a:cs typeface="Arial" panose="020B0604020202020204" pitchFamily="34" charset="0"/>
            </a:endParaRPr>
          </a:p>
          <a:p>
            <a:pPr marL="434340" marR="0" indent="-342900" algn="just">
              <a:spcBef>
                <a:spcPts val="0"/>
              </a:spcBef>
              <a:spcAft>
                <a:spcPts val="800"/>
              </a:spcAft>
              <a:buFont typeface="Arial" panose="020B0604020202020204" pitchFamily="34" charset="0"/>
              <a:buChar char="•"/>
            </a:pPr>
            <a:endParaRPr lang="en-PH" sz="2800" dirty="0">
              <a:solidFill>
                <a:srgbClr val="005C2A"/>
              </a:solidFill>
              <a:latin typeface="Arial MT"/>
              <a:ea typeface="Arial MT"/>
              <a:cs typeface="Arial MT"/>
            </a:endParaRPr>
          </a:p>
        </p:txBody>
      </p:sp>
      <p:sp>
        <p:nvSpPr>
          <p:cNvPr id="46" name="TextBox 8"/>
          <p:cNvSpPr txBox="1"/>
          <p:nvPr/>
        </p:nvSpPr>
        <p:spPr>
          <a:xfrm>
            <a:off x="5573143" y="4221034"/>
            <a:ext cx="390613" cy="492511"/>
          </a:xfrm>
          <a:prstGeom prst="rect">
            <a:avLst/>
          </a:prstGeom>
        </p:spPr>
        <p:txBody>
          <a:bodyPr lIns="50800" tIns="50800" rIns="50800" bIns="50800" rtlCol="0" anchor="ctr"/>
          <a:lstStyle/>
          <a:p>
            <a:pPr algn="ctr">
              <a:lnSpc>
                <a:spcPts val="2659"/>
              </a:lnSpc>
            </a:pPr>
            <a:endParaRPr/>
          </a:p>
        </p:txBody>
      </p:sp>
      <p:sp>
        <p:nvSpPr>
          <p:cNvPr id="99" name="AutoShape 30"/>
          <p:cNvSpPr/>
          <p:nvPr/>
        </p:nvSpPr>
        <p:spPr>
          <a:xfrm rot="5372477" flipV="1">
            <a:off x="2606" y="5163577"/>
            <a:ext cx="1425721" cy="11153"/>
          </a:xfrm>
          <a:prstGeom prst="line">
            <a:avLst/>
          </a:prstGeom>
          <a:ln w="38100" cap="flat">
            <a:solidFill>
              <a:srgbClr val="093D00"/>
            </a:solidFill>
            <a:prstDash val="solid"/>
            <a:headEnd type="none" w="sm" len="sm"/>
            <a:tailEnd type="none" w="sm" len="sm"/>
          </a:ln>
        </p:spPr>
      </p:sp>
      <p:sp>
        <p:nvSpPr>
          <p:cNvPr id="16" name="Rounded Rectangle 15"/>
          <p:cNvSpPr/>
          <p:nvPr/>
        </p:nvSpPr>
        <p:spPr>
          <a:xfrm>
            <a:off x="120998" y="5768951"/>
            <a:ext cx="4639711" cy="2939068"/>
          </a:xfrm>
          <a:prstGeom prst="roundRect">
            <a:avLst/>
          </a:prstGeom>
          <a:ln w="28575">
            <a:solidFill>
              <a:srgbClr val="005C2A"/>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PH" sz="3200" dirty="0">
                <a:solidFill>
                  <a:srgbClr val="820000"/>
                </a:solidFill>
                <a:latin typeface="Arial" panose="020B0604020202020204" pitchFamily="34" charset="0"/>
                <a:cs typeface="Arial" panose="020B0604020202020204" pitchFamily="34" charset="0"/>
              </a:rPr>
              <a:t>Column Chromatography</a:t>
            </a:r>
            <a:endParaRPr lang="en-PH" sz="3200" b="1" dirty="0">
              <a:solidFill>
                <a:srgbClr val="820000"/>
              </a:solidFill>
              <a:latin typeface="Arial" panose="020B0604020202020204" pitchFamily="34" charset="0"/>
              <a:cs typeface="Arial" panose="020B0604020202020204" pitchFamily="34" charset="0"/>
            </a:endParaRPr>
          </a:p>
        </p:txBody>
      </p:sp>
      <p:sp>
        <p:nvSpPr>
          <p:cNvPr id="109" name="Rounded Rectangle 108"/>
          <p:cNvSpPr/>
          <p:nvPr/>
        </p:nvSpPr>
        <p:spPr>
          <a:xfrm>
            <a:off x="273721" y="3343804"/>
            <a:ext cx="4069679" cy="1047577"/>
          </a:xfrm>
          <a:prstGeom prst="roundRect">
            <a:avLst/>
          </a:prstGeom>
          <a:ln w="28575">
            <a:solidFill>
              <a:srgbClr val="005C2A"/>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400" b="1" spc="72" dirty="0" smtClean="0">
              <a:solidFill>
                <a:srgbClr val="1F5014"/>
              </a:solidFill>
              <a:latin typeface="Arial" panose="020B0604020202020204" pitchFamily="34" charset="0"/>
              <a:cs typeface="Arial" panose="020B0604020202020204" pitchFamily="34" charset="0"/>
            </a:endParaRPr>
          </a:p>
          <a:p>
            <a:pPr algn="ctr"/>
            <a:r>
              <a:rPr lang="en-US" sz="2400" b="1" spc="72" dirty="0" smtClean="0">
                <a:solidFill>
                  <a:srgbClr val="1F5014"/>
                </a:solidFill>
                <a:latin typeface="Arial" panose="020B0604020202020204" pitchFamily="34" charset="0"/>
                <a:cs typeface="Arial" panose="020B0604020202020204" pitchFamily="34" charset="0"/>
              </a:rPr>
              <a:t>SPECIFICALLY</a:t>
            </a:r>
            <a:r>
              <a:rPr lang="en-US" sz="2400" b="1" spc="72" dirty="0">
                <a:solidFill>
                  <a:srgbClr val="1F5014"/>
                </a:solidFill>
                <a:latin typeface="Arial" panose="020B0604020202020204" pitchFamily="34" charset="0"/>
                <a:cs typeface="Arial" panose="020B0604020202020204" pitchFamily="34" charset="0"/>
              </a:rPr>
              <a:t>, THIS STUDY AIMED TO :</a:t>
            </a:r>
          </a:p>
          <a:p>
            <a:pPr algn="ctr"/>
            <a:endParaRPr lang="en-PH" dirty="0"/>
          </a:p>
        </p:txBody>
      </p:sp>
      <p:sp>
        <p:nvSpPr>
          <p:cNvPr id="113" name="Rounded Rectangle 112"/>
          <p:cNvSpPr/>
          <p:nvPr/>
        </p:nvSpPr>
        <p:spPr>
          <a:xfrm>
            <a:off x="5860067" y="6865641"/>
            <a:ext cx="4639711" cy="2502229"/>
          </a:xfrm>
          <a:prstGeom prst="roundRect">
            <a:avLst/>
          </a:prstGeom>
          <a:ln w="28575">
            <a:solidFill>
              <a:srgbClr val="005C2A"/>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PH" sz="3200" dirty="0" smtClean="0">
                <a:solidFill>
                  <a:srgbClr val="820000"/>
                </a:solidFill>
                <a:latin typeface="Arial" panose="020B0604020202020204" pitchFamily="34" charset="0"/>
                <a:cs typeface="Arial" panose="020B0604020202020204" pitchFamily="34" charset="0"/>
              </a:rPr>
              <a:t>Chemical profiling </a:t>
            </a:r>
          </a:p>
          <a:p>
            <a:pPr algn="ctr"/>
            <a:r>
              <a:rPr lang="en-PH" sz="3200" dirty="0" smtClean="0">
                <a:solidFill>
                  <a:srgbClr val="820000"/>
                </a:solidFill>
                <a:latin typeface="Arial" panose="020B0604020202020204" pitchFamily="34" charset="0"/>
                <a:cs typeface="Arial" panose="020B0604020202020204" pitchFamily="34" charset="0"/>
              </a:rPr>
              <a:t>GC-MS</a:t>
            </a:r>
            <a:endParaRPr lang="en-PH" sz="3200" dirty="0">
              <a:solidFill>
                <a:srgbClr val="820000"/>
              </a:solidFill>
              <a:latin typeface="Arial" panose="020B0604020202020204" pitchFamily="34" charset="0"/>
              <a:cs typeface="Arial" panose="020B0604020202020204" pitchFamily="34" charset="0"/>
            </a:endParaRPr>
          </a:p>
        </p:txBody>
      </p:sp>
      <p:sp>
        <p:nvSpPr>
          <p:cNvPr id="119" name="Flowchart: Connector 118"/>
          <p:cNvSpPr/>
          <p:nvPr/>
        </p:nvSpPr>
        <p:spPr>
          <a:xfrm>
            <a:off x="1714128" y="4867857"/>
            <a:ext cx="1549209" cy="1534417"/>
          </a:xfrm>
          <a:prstGeom prst="flowChartConnector">
            <a:avLst/>
          </a:prstGeom>
          <a:blipFill>
            <a:blip r:embed="rId5"/>
            <a:stretch>
              <a:fillRect b="-6420"/>
            </a:stretch>
          </a:blipFill>
          <a:ln w="28575">
            <a:solidFill>
              <a:srgbClr val="005C2A"/>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120" name="Flowchart: Connector 119"/>
          <p:cNvSpPr/>
          <p:nvPr/>
        </p:nvSpPr>
        <p:spPr>
          <a:xfrm>
            <a:off x="5011608" y="7869716"/>
            <a:ext cx="1549209" cy="1534417"/>
          </a:xfrm>
          <a:prstGeom prst="flowChartConnector">
            <a:avLst/>
          </a:prstGeom>
          <a:blipFill>
            <a:blip r:embed="rId6"/>
            <a:stretch>
              <a:fillRect b="-6420"/>
            </a:stretch>
          </a:blipFill>
          <a:ln w="28575">
            <a:solidFill>
              <a:srgbClr val="005C2A"/>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121" name="Rounded Rectangle 120"/>
          <p:cNvSpPr/>
          <p:nvPr/>
        </p:nvSpPr>
        <p:spPr>
          <a:xfrm>
            <a:off x="4855217" y="3538821"/>
            <a:ext cx="4639711" cy="2258498"/>
          </a:xfrm>
          <a:prstGeom prst="roundRect">
            <a:avLst/>
          </a:prstGeom>
          <a:ln w="28575">
            <a:solidFill>
              <a:srgbClr val="005C2A"/>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PH" sz="4400" b="1" dirty="0" smtClean="0">
                <a:solidFill>
                  <a:srgbClr val="820000"/>
                </a:solidFill>
                <a:latin typeface="Arial" panose="020B0604020202020204" pitchFamily="34" charset="0"/>
                <a:cs typeface="Arial" panose="020B0604020202020204" pitchFamily="34" charset="0"/>
              </a:rPr>
              <a:t>QTLC</a:t>
            </a:r>
            <a:endParaRPr lang="en-PH" sz="4400" b="1" dirty="0">
              <a:solidFill>
                <a:srgbClr val="820000"/>
              </a:solidFill>
              <a:latin typeface="Arial" panose="020B0604020202020204" pitchFamily="34" charset="0"/>
              <a:cs typeface="Arial" panose="020B0604020202020204" pitchFamily="34" charset="0"/>
            </a:endParaRPr>
          </a:p>
        </p:txBody>
      </p:sp>
      <p:sp>
        <p:nvSpPr>
          <p:cNvPr id="122" name="AutoShape 30"/>
          <p:cNvSpPr/>
          <p:nvPr/>
        </p:nvSpPr>
        <p:spPr>
          <a:xfrm rot="5372477" flipH="1">
            <a:off x="5305986" y="6953814"/>
            <a:ext cx="8802" cy="1099324"/>
          </a:xfrm>
          <a:prstGeom prst="line">
            <a:avLst/>
          </a:prstGeom>
          <a:ln w="38100" cap="flat">
            <a:solidFill>
              <a:srgbClr val="093D00"/>
            </a:solidFill>
            <a:prstDash val="solid"/>
            <a:headEnd type="none" w="sm" len="sm"/>
            <a:tailEnd type="none" w="sm" len="sm"/>
          </a:ln>
        </p:spPr>
      </p:sp>
      <p:sp>
        <p:nvSpPr>
          <p:cNvPr id="127" name="AutoShape 30"/>
          <p:cNvSpPr/>
          <p:nvPr/>
        </p:nvSpPr>
        <p:spPr>
          <a:xfrm rot="5372477">
            <a:off x="7337257" y="6318942"/>
            <a:ext cx="1080694" cy="12638"/>
          </a:xfrm>
          <a:prstGeom prst="line">
            <a:avLst/>
          </a:prstGeom>
          <a:ln w="38100" cap="flat">
            <a:solidFill>
              <a:srgbClr val="093D00"/>
            </a:solidFill>
            <a:prstDash val="solid"/>
            <a:headEnd type="none" w="sm" len="sm"/>
            <a:tailEnd type="none" w="sm" len="sm"/>
          </a:ln>
        </p:spPr>
      </p:sp>
      <p:sp>
        <p:nvSpPr>
          <p:cNvPr id="128" name="Rounded Rectangle 127"/>
          <p:cNvSpPr/>
          <p:nvPr/>
        </p:nvSpPr>
        <p:spPr>
          <a:xfrm>
            <a:off x="10212854" y="3340343"/>
            <a:ext cx="3921023" cy="2401893"/>
          </a:xfrm>
          <a:prstGeom prst="roundRect">
            <a:avLst/>
          </a:prstGeom>
          <a:ln w="28575">
            <a:solidFill>
              <a:srgbClr val="005C2A"/>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PH" sz="3600" dirty="0">
                <a:solidFill>
                  <a:srgbClr val="820000"/>
                </a:solidFill>
                <a:latin typeface="Arial" panose="020B0604020202020204" pitchFamily="34" charset="0"/>
                <a:cs typeface="Arial" panose="020B0604020202020204" pitchFamily="34" charset="0"/>
              </a:rPr>
              <a:t>Chemical profiling </a:t>
            </a:r>
          </a:p>
          <a:p>
            <a:pPr algn="ctr"/>
            <a:r>
              <a:rPr lang="en-PH" sz="3600" dirty="0" smtClean="0">
                <a:solidFill>
                  <a:srgbClr val="820000"/>
                </a:solidFill>
                <a:latin typeface="Arial" panose="020B0604020202020204" pitchFamily="34" charset="0"/>
                <a:cs typeface="Arial" panose="020B0604020202020204" pitchFamily="34" charset="0"/>
              </a:rPr>
              <a:t>LC-MS</a:t>
            </a:r>
            <a:endParaRPr lang="en-PH" sz="3600" dirty="0">
              <a:solidFill>
                <a:srgbClr val="820000"/>
              </a:solidFill>
              <a:latin typeface="Arial" panose="020B0604020202020204" pitchFamily="34" charset="0"/>
              <a:cs typeface="Arial" panose="020B0604020202020204" pitchFamily="34" charset="0"/>
            </a:endParaRPr>
          </a:p>
          <a:p>
            <a:pPr algn="ctr"/>
            <a:endParaRPr lang="en-PH" dirty="0"/>
          </a:p>
        </p:txBody>
      </p:sp>
      <p:sp>
        <p:nvSpPr>
          <p:cNvPr id="133" name="Flowchart: Connector 132"/>
          <p:cNvSpPr/>
          <p:nvPr/>
        </p:nvSpPr>
        <p:spPr>
          <a:xfrm>
            <a:off x="5016708" y="5131856"/>
            <a:ext cx="1549209" cy="1534417"/>
          </a:xfrm>
          <a:prstGeom prst="flowChartConnector">
            <a:avLst/>
          </a:prstGeom>
          <a:blipFill>
            <a:blip r:embed="rId7"/>
            <a:stretch>
              <a:fillRect b="-6420"/>
            </a:stretch>
          </a:blipFill>
          <a:ln w="28575">
            <a:solidFill>
              <a:srgbClr val="005C2A"/>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134" name="AutoShape 30"/>
          <p:cNvSpPr/>
          <p:nvPr/>
        </p:nvSpPr>
        <p:spPr>
          <a:xfrm rot="5372477" flipH="1">
            <a:off x="9849694" y="4326035"/>
            <a:ext cx="8608" cy="717667"/>
          </a:xfrm>
          <a:prstGeom prst="line">
            <a:avLst/>
          </a:prstGeom>
          <a:ln w="38100" cap="flat">
            <a:solidFill>
              <a:srgbClr val="093D00"/>
            </a:solidFill>
            <a:prstDash val="solid"/>
            <a:headEnd type="none" w="sm" len="sm"/>
            <a:tailEnd type="none" w="sm" len="sm"/>
          </a:ln>
        </p:spPr>
      </p:sp>
      <p:sp>
        <p:nvSpPr>
          <p:cNvPr id="135" name="Flowchart: Connector 134"/>
          <p:cNvSpPr/>
          <p:nvPr/>
        </p:nvSpPr>
        <p:spPr>
          <a:xfrm>
            <a:off x="11951165" y="5171504"/>
            <a:ext cx="1549209" cy="1534417"/>
          </a:xfrm>
          <a:prstGeom prst="flowChartConnector">
            <a:avLst/>
          </a:prstGeom>
          <a:blipFill>
            <a:blip r:embed="rId8"/>
            <a:stretch>
              <a:fillRect b="-6420"/>
            </a:stretch>
          </a:blipFill>
          <a:ln w="28575">
            <a:solidFill>
              <a:srgbClr val="005C2A"/>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136" name="Rounded Rectangle 135"/>
          <p:cNvSpPr/>
          <p:nvPr/>
        </p:nvSpPr>
        <p:spPr>
          <a:xfrm>
            <a:off x="10786702" y="6924392"/>
            <a:ext cx="4119736" cy="2502229"/>
          </a:xfrm>
          <a:prstGeom prst="roundRect">
            <a:avLst/>
          </a:prstGeom>
          <a:ln w="28575">
            <a:solidFill>
              <a:srgbClr val="005C2A"/>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PH" sz="2800" dirty="0" smtClean="0">
                <a:solidFill>
                  <a:srgbClr val="820000"/>
                </a:solidFill>
                <a:latin typeface="Arial" panose="020B0604020202020204" pitchFamily="34" charset="0"/>
                <a:cs typeface="Arial" panose="020B0604020202020204" pitchFamily="34" charset="0"/>
              </a:rPr>
              <a:t>Phytochemical Analysis </a:t>
            </a:r>
          </a:p>
          <a:p>
            <a:pPr algn="ctr"/>
            <a:r>
              <a:rPr lang="en-PH" sz="2800" dirty="0" smtClean="0">
                <a:solidFill>
                  <a:srgbClr val="820000"/>
                </a:solidFill>
                <a:latin typeface="Arial" panose="020B0604020202020204" pitchFamily="34" charset="0"/>
                <a:cs typeface="Arial" panose="020B0604020202020204" pitchFamily="34" charset="0"/>
              </a:rPr>
              <a:t>TPC and TFC</a:t>
            </a:r>
            <a:endParaRPr lang="en-PH" sz="2800" dirty="0">
              <a:solidFill>
                <a:srgbClr val="820000"/>
              </a:solidFill>
              <a:latin typeface="Arial" panose="020B0604020202020204" pitchFamily="34" charset="0"/>
              <a:cs typeface="Arial" panose="020B0604020202020204" pitchFamily="34" charset="0"/>
            </a:endParaRPr>
          </a:p>
        </p:txBody>
      </p:sp>
      <p:sp>
        <p:nvSpPr>
          <p:cNvPr id="141" name="AutoShape 30"/>
          <p:cNvSpPr/>
          <p:nvPr/>
        </p:nvSpPr>
        <p:spPr>
          <a:xfrm rot="5372477">
            <a:off x="10791722" y="6358365"/>
            <a:ext cx="1189759" cy="0"/>
          </a:xfrm>
          <a:prstGeom prst="line">
            <a:avLst/>
          </a:prstGeom>
          <a:ln w="38100" cap="flat">
            <a:solidFill>
              <a:srgbClr val="093D00"/>
            </a:solidFill>
            <a:prstDash val="solid"/>
            <a:headEnd type="none" w="sm" len="sm"/>
            <a:tailEnd type="none" w="sm" len="sm"/>
          </a:ln>
        </p:spPr>
      </p:sp>
      <p:sp>
        <p:nvSpPr>
          <p:cNvPr id="142" name="Flowchart: Connector 141"/>
          <p:cNvSpPr/>
          <p:nvPr/>
        </p:nvSpPr>
        <p:spPr>
          <a:xfrm>
            <a:off x="14418757" y="8121345"/>
            <a:ext cx="1549209" cy="1534417"/>
          </a:xfrm>
          <a:prstGeom prst="flowChartConnector">
            <a:avLst/>
          </a:prstGeom>
          <a:blipFill>
            <a:blip r:embed="rId9"/>
            <a:stretch>
              <a:fillRect b="-6420"/>
            </a:stretch>
          </a:blipFill>
          <a:ln w="28575">
            <a:solidFill>
              <a:srgbClr val="005C2A"/>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144" name="Rounded Rectangle 143"/>
          <p:cNvSpPr/>
          <p:nvPr/>
        </p:nvSpPr>
        <p:spPr>
          <a:xfrm>
            <a:off x="14989639" y="4371732"/>
            <a:ext cx="3409515" cy="3402044"/>
          </a:xfrm>
          <a:prstGeom prst="roundRect">
            <a:avLst/>
          </a:prstGeom>
          <a:ln w="28575">
            <a:solidFill>
              <a:srgbClr val="005C2A"/>
            </a:solidFill>
          </a:ln>
        </p:spPr>
        <p:style>
          <a:lnRef idx="2">
            <a:schemeClr val="accent6"/>
          </a:lnRef>
          <a:fillRef idx="1">
            <a:schemeClr val="lt1"/>
          </a:fillRef>
          <a:effectRef idx="0">
            <a:schemeClr val="accent6"/>
          </a:effectRef>
          <a:fontRef idx="minor">
            <a:schemeClr val="dk1"/>
          </a:fontRef>
        </p:style>
        <p:txBody>
          <a:bodyPr rtlCol="0" anchor="t"/>
          <a:lstStyle/>
          <a:p>
            <a:pPr algn="ctr"/>
            <a:endParaRPr lang="en-PH" sz="2800" dirty="0" smtClean="0"/>
          </a:p>
          <a:p>
            <a:pPr algn="just"/>
            <a:r>
              <a:rPr lang="en-PH" sz="2800" dirty="0" smtClean="0">
                <a:solidFill>
                  <a:srgbClr val="820000"/>
                </a:solidFill>
                <a:latin typeface="Arial" panose="020B0604020202020204" pitchFamily="34" charset="0"/>
                <a:cs typeface="Arial" panose="020B0604020202020204" pitchFamily="34" charset="0"/>
              </a:rPr>
              <a:t> </a:t>
            </a:r>
            <a:r>
              <a:rPr lang="en-PH" sz="2800" dirty="0" err="1">
                <a:solidFill>
                  <a:srgbClr val="820000"/>
                </a:solidFill>
                <a:latin typeface="Arial" panose="020B0604020202020204" pitchFamily="34" charset="0"/>
                <a:cs typeface="Arial" panose="020B0604020202020204" pitchFamily="34" charset="0"/>
              </a:rPr>
              <a:t>i</a:t>
            </a:r>
            <a:r>
              <a:rPr lang="en-PH" sz="2400" dirty="0">
                <a:solidFill>
                  <a:srgbClr val="820000"/>
                </a:solidFill>
                <a:latin typeface="Arial" panose="020B0604020202020204" pitchFamily="34" charset="0"/>
                <a:cs typeface="Arial" panose="020B0604020202020204" pitchFamily="34" charset="0"/>
              </a:rPr>
              <a:t>. in vitro glucose diffusion retardation </a:t>
            </a:r>
            <a:r>
              <a:rPr lang="en-PH" sz="2400" dirty="0" smtClean="0">
                <a:solidFill>
                  <a:srgbClr val="820000"/>
                </a:solidFill>
                <a:latin typeface="Arial" panose="020B0604020202020204" pitchFamily="34" charset="0"/>
                <a:cs typeface="Arial" panose="020B0604020202020204" pitchFamily="34" charset="0"/>
              </a:rPr>
              <a:t>assay</a:t>
            </a:r>
          </a:p>
          <a:p>
            <a:pPr algn="just"/>
            <a:endParaRPr lang="en-PH" sz="2400" dirty="0">
              <a:solidFill>
                <a:srgbClr val="820000"/>
              </a:solidFill>
              <a:latin typeface="Arial" panose="020B0604020202020204" pitchFamily="34" charset="0"/>
              <a:cs typeface="Arial" panose="020B0604020202020204" pitchFamily="34" charset="0"/>
            </a:endParaRPr>
          </a:p>
          <a:p>
            <a:pPr algn="just"/>
            <a:r>
              <a:rPr lang="en-PH" sz="2400" dirty="0" smtClean="0">
                <a:solidFill>
                  <a:srgbClr val="820000"/>
                </a:solidFill>
                <a:latin typeface="Arial" panose="020B0604020202020204" pitchFamily="34" charset="0"/>
                <a:cs typeface="Arial" panose="020B0604020202020204" pitchFamily="34" charset="0"/>
              </a:rPr>
              <a:t>ii.</a:t>
            </a:r>
            <a:r>
              <a:rPr lang="en-PH" sz="2400" dirty="0">
                <a:solidFill>
                  <a:srgbClr val="820000"/>
                </a:solidFill>
                <a:latin typeface="Arial" panose="020B0604020202020204" pitchFamily="34" charset="0"/>
                <a:cs typeface="Arial" panose="020B0604020202020204" pitchFamily="34" charset="0"/>
              </a:rPr>
              <a:t> alpha-amylase inhibition assay</a:t>
            </a:r>
          </a:p>
          <a:p>
            <a:endParaRPr lang="en-PH" sz="2400" dirty="0"/>
          </a:p>
          <a:p>
            <a:pPr algn="ctr"/>
            <a:endParaRPr lang="en-PH" sz="2800" dirty="0">
              <a:solidFill>
                <a:srgbClr val="005C2A"/>
              </a:solidFill>
            </a:endParaRPr>
          </a:p>
        </p:txBody>
      </p:sp>
      <p:sp>
        <p:nvSpPr>
          <p:cNvPr id="149" name="AutoShape 30"/>
          <p:cNvSpPr/>
          <p:nvPr/>
        </p:nvSpPr>
        <p:spPr>
          <a:xfrm rot="5372477" flipV="1">
            <a:off x="13239859" y="6520913"/>
            <a:ext cx="758586" cy="5506"/>
          </a:xfrm>
          <a:prstGeom prst="line">
            <a:avLst/>
          </a:prstGeom>
          <a:ln w="38100" cap="flat">
            <a:solidFill>
              <a:srgbClr val="093D00"/>
            </a:solidFill>
            <a:prstDash val="solid"/>
            <a:headEnd type="none" w="sm" len="sm"/>
            <a:tailEnd type="none" w="sm" len="sm"/>
          </a:ln>
        </p:spPr>
      </p:sp>
      <p:sp>
        <p:nvSpPr>
          <p:cNvPr id="150" name="Flowchart: Connector 149"/>
          <p:cNvSpPr/>
          <p:nvPr/>
        </p:nvSpPr>
        <p:spPr>
          <a:xfrm>
            <a:off x="15833244" y="3539087"/>
            <a:ext cx="1549209" cy="1534417"/>
          </a:xfrm>
          <a:prstGeom prst="flowChartConnector">
            <a:avLst/>
          </a:prstGeom>
          <a:blipFill>
            <a:blip r:embed="rId10"/>
            <a:stretch>
              <a:fillRect b="-6420"/>
            </a:stretch>
          </a:blipFill>
          <a:ln w="28575">
            <a:solidFill>
              <a:srgbClr val="005C2A"/>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grpSp>
        <p:nvGrpSpPr>
          <p:cNvPr id="151" name="Group 52"/>
          <p:cNvGrpSpPr/>
          <p:nvPr/>
        </p:nvGrpSpPr>
        <p:grpSpPr>
          <a:xfrm>
            <a:off x="7016062" y="6395382"/>
            <a:ext cx="162371" cy="162371"/>
            <a:chOff x="0" y="0"/>
            <a:chExt cx="6350000" cy="6350000"/>
          </a:xfrm>
        </p:grpSpPr>
        <p:sp>
          <p:nvSpPr>
            <p:cNvPr id="152" name="Freeform 53"/>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93D00"/>
            </a:solidFill>
          </p:spPr>
        </p:sp>
      </p:grpSp>
      <p:grpSp>
        <p:nvGrpSpPr>
          <p:cNvPr id="107" name="Group 52"/>
          <p:cNvGrpSpPr/>
          <p:nvPr/>
        </p:nvGrpSpPr>
        <p:grpSpPr>
          <a:xfrm>
            <a:off x="636038" y="4310195"/>
            <a:ext cx="162371" cy="162371"/>
            <a:chOff x="0" y="0"/>
            <a:chExt cx="6350000" cy="6350000"/>
          </a:xfrm>
        </p:grpSpPr>
        <p:sp>
          <p:nvSpPr>
            <p:cNvPr id="108" name="Freeform 53"/>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93D00"/>
            </a:solidFill>
          </p:spPr>
        </p:sp>
      </p:grpSp>
      <p:grpSp>
        <p:nvGrpSpPr>
          <p:cNvPr id="153" name="Group 52"/>
          <p:cNvGrpSpPr/>
          <p:nvPr/>
        </p:nvGrpSpPr>
        <p:grpSpPr>
          <a:xfrm>
            <a:off x="645565" y="5661050"/>
            <a:ext cx="162371" cy="162371"/>
            <a:chOff x="0" y="0"/>
            <a:chExt cx="6350000" cy="6350000"/>
          </a:xfrm>
        </p:grpSpPr>
        <p:sp>
          <p:nvSpPr>
            <p:cNvPr id="154" name="Freeform 53"/>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93D00"/>
            </a:solidFill>
          </p:spPr>
        </p:sp>
      </p:grpSp>
      <p:grpSp>
        <p:nvGrpSpPr>
          <p:cNvPr id="155" name="Group 52"/>
          <p:cNvGrpSpPr/>
          <p:nvPr/>
        </p:nvGrpSpPr>
        <p:grpSpPr>
          <a:xfrm>
            <a:off x="4692846" y="7431092"/>
            <a:ext cx="162371" cy="162371"/>
            <a:chOff x="0" y="0"/>
            <a:chExt cx="6350000" cy="6350000"/>
          </a:xfrm>
        </p:grpSpPr>
        <p:sp>
          <p:nvSpPr>
            <p:cNvPr id="156" name="Freeform 53"/>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93D00"/>
            </a:solidFill>
          </p:spPr>
        </p:sp>
      </p:grpSp>
      <p:grpSp>
        <p:nvGrpSpPr>
          <p:cNvPr id="157" name="Group 52"/>
          <p:cNvGrpSpPr/>
          <p:nvPr/>
        </p:nvGrpSpPr>
        <p:grpSpPr>
          <a:xfrm>
            <a:off x="5786212" y="7406706"/>
            <a:ext cx="162371" cy="162371"/>
            <a:chOff x="0" y="0"/>
            <a:chExt cx="6350000" cy="6350000"/>
          </a:xfrm>
        </p:grpSpPr>
        <p:sp>
          <p:nvSpPr>
            <p:cNvPr id="158" name="Freeform 53"/>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93D00"/>
            </a:solidFill>
          </p:spPr>
        </p:sp>
      </p:grpSp>
      <p:grpSp>
        <p:nvGrpSpPr>
          <p:cNvPr id="159" name="Group 52"/>
          <p:cNvGrpSpPr/>
          <p:nvPr/>
        </p:nvGrpSpPr>
        <p:grpSpPr>
          <a:xfrm>
            <a:off x="7798409" y="5713875"/>
            <a:ext cx="162371" cy="162371"/>
            <a:chOff x="0" y="0"/>
            <a:chExt cx="6350000" cy="6350000"/>
          </a:xfrm>
        </p:grpSpPr>
        <p:sp>
          <p:nvSpPr>
            <p:cNvPr id="160" name="Freeform 53"/>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93D00"/>
            </a:solidFill>
          </p:spPr>
        </p:sp>
      </p:grpSp>
      <p:grpSp>
        <p:nvGrpSpPr>
          <p:cNvPr id="161" name="Group 52"/>
          <p:cNvGrpSpPr/>
          <p:nvPr/>
        </p:nvGrpSpPr>
        <p:grpSpPr>
          <a:xfrm>
            <a:off x="7796418" y="6751341"/>
            <a:ext cx="162371" cy="162371"/>
            <a:chOff x="0" y="0"/>
            <a:chExt cx="6350000" cy="6350000"/>
          </a:xfrm>
        </p:grpSpPr>
        <p:sp>
          <p:nvSpPr>
            <p:cNvPr id="162" name="Freeform 53"/>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93D00"/>
            </a:solidFill>
          </p:spPr>
        </p:sp>
      </p:grpSp>
      <p:grpSp>
        <p:nvGrpSpPr>
          <p:cNvPr id="163" name="Group 52"/>
          <p:cNvGrpSpPr/>
          <p:nvPr/>
        </p:nvGrpSpPr>
        <p:grpSpPr>
          <a:xfrm>
            <a:off x="9413362" y="4578746"/>
            <a:ext cx="162371" cy="162371"/>
            <a:chOff x="0" y="0"/>
            <a:chExt cx="6350000" cy="6350000"/>
          </a:xfrm>
        </p:grpSpPr>
        <p:sp>
          <p:nvSpPr>
            <p:cNvPr id="164" name="Freeform 53"/>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93D00"/>
            </a:solidFill>
          </p:spPr>
        </p:sp>
      </p:grpSp>
      <p:grpSp>
        <p:nvGrpSpPr>
          <p:cNvPr id="165" name="Group 52"/>
          <p:cNvGrpSpPr/>
          <p:nvPr/>
        </p:nvGrpSpPr>
        <p:grpSpPr>
          <a:xfrm>
            <a:off x="10131670" y="4596505"/>
            <a:ext cx="162371" cy="162371"/>
            <a:chOff x="0" y="0"/>
            <a:chExt cx="6350000" cy="6350000"/>
          </a:xfrm>
        </p:grpSpPr>
        <p:sp>
          <p:nvSpPr>
            <p:cNvPr id="166" name="Freeform 53"/>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93D00"/>
            </a:solidFill>
          </p:spPr>
        </p:sp>
      </p:grpSp>
      <p:grpSp>
        <p:nvGrpSpPr>
          <p:cNvPr id="167" name="Group 52"/>
          <p:cNvGrpSpPr/>
          <p:nvPr/>
        </p:nvGrpSpPr>
        <p:grpSpPr>
          <a:xfrm>
            <a:off x="11293132" y="5671685"/>
            <a:ext cx="162371" cy="162371"/>
            <a:chOff x="0" y="0"/>
            <a:chExt cx="6350000" cy="6350000"/>
          </a:xfrm>
        </p:grpSpPr>
        <p:sp>
          <p:nvSpPr>
            <p:cNvPr id="168" name="Freeform 53"/>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93D00"/>
            </a:solidFill>
          </p:spPr>
        </p:sp>
      </p:grpSp>
      <p:grpSp>
        <p:nvGrpSpPr>
          <p:cNvPr id="169" name="Group 52"/>
          <p:cNvGrpSpPr/>
          <p:nvPr/>
        </p:nvGrpSpPr>
        <p:grpSpPr>
          <a:xfrm>
            <a:off x="11310179" y="6832526"/>
            <a:ext cx="162371" cy="162371"/>
            <a:chOff x="0" y="0"/>
            <a:chExt cx="6350000" cy="6350000"/>
          </a:xfrm>
        </p:grpSpPr>
        <p:sp>
          <p:nvSpPr>
            <p:cNvPr id="170" name="Freeform 53"/>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93D00"/>
            </a:solidFill>
          </p:spPr>
        </p:sp>
      </p:grpSp>
      <p:grpSp>
        <p:nvGrpSpPr>
          <p:cNvPr id="171" name="Group 52"/>
          <p:cNvGrpSpPr/>
          <p:nvPr/>
        </p:nvGrpSpPr>
        <p:grpSpPr>
          <a:xfrm>
            <a:off x="13535849" y="6851657"/>
            <a:ext cx="162371" cy="162371"/>
            <a:chOff x="0" y="0"/>
            <a:chExt cx="6350000" cy="6350000"/>
          </a:xfrm>
        </p:grpSpPr>
        <p:sp>
          <p:nvSpPr>
            <p:cNvPr id="172" name="Freeform 53"/>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93D00"/>
            </a:solidFill>
          </p:spPr>
        </p:sp>
      </p:grpSp>
      <p:grpSp>
        <p:nvGrpSpPr>
          <p:cNvPr id="173" name="Group 52"/>
          <p:cNvGrpSpPr/>
          <p:nvPr/>
        </p:nvGrpSpPr>
        <p:grpSpPr>
          <a:xfrm>
            <a:off x="13535486" y="6089757"/>
            <a:ext cx="162371" cy="162371"/>
            <a:chOff x="0" y="0"/>
            <a:chExt cx="6350000" cy="6350000"/>
          </a:xfrm>
        </p:grpSpPr>
        <p:sp>
          <p:nvSpPr>
            <p:cNvPr id="174" name="Freeform 53"/>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93D00"/>
            </a:solidFill>
          </p:spPr>
        </p:sp>
      </p:grpSp>
      <p:sp>
        <p:nvSpPr>
          <p:cNvPr id="175" name="AutoShape 30"/>
          <p:cNvSpPr/>
          <p:nvPr/>
        </p:nvSpPr>
        <p:spPr>
          <a:xfrm rot="5372477">
            <a:off x="14240705" y="5498428"/>
            <a:ext cx="14605" cy="1317019"/>
          </a:xfrm>
          <a:prstGeom prst="line">
            <a:avLst/>
          </a:prstGeom>
          <a:ln w="38100" cap="flat">
            <a:solidFill>
              <a:srgbClr val="093D00"/>
            </a:solidFill>
            <a:prstDash val="solid"/>
            <a:headEnd type="none" w="sm" len="sm"/>
            <a:tailEnd type="none" w="sm" len="sm"/>
          </a:ln>
        </p:spPr>
      </p:sp>
      <p:grpSp>
        <p:nvGrpSpPr>
          <p:cNvPr id="176" name="Group 52"/>
          <p:cNvGrpSpPr/>
          <p:nvPr/>
        </p:nvGrpSpPr>
        <p:grpSpPr>
          <a:xfrm>
            <a:off x="14908090" y="6077997"/>
            <a:ext cx="162371" cy="162371"/>
            <a:chOff x="0" y="0"/>
            <a:chExt cx="6350000" cy="6350000"/>
          </a:xfrm>
        </p:grpSpPr>
        <p:sp>
          <p:nvSpPr>
            <p:cNvPr id="177" name="Freeform 53"/>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93D00"/>
            </a:solidFill>
          </p:spPr>
        </p:sp>
      </p:grpSp>
    </p:spTree>
    <p:extLst>
      <p:ext uri="{BB962C8B-B14F-4D97-AF65-F5344CB8AC3E}">
        <p14:creationId xmlns:p14="http://schemas.microsoft.com/office/powerpoint/2010/main" val="208272071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Box 13"/>
          <p:cNvSpPr txBox="1"/>
          <p:nvPr/>
        </p:nvSpPr>
        <p:spPr>
          <a:xfrm>
            <a:off x="1671387" y="1531257"/>
            <a:ext cx="2203151" cy="2306426"/>
          </a:xfrm>
          <a:prstGeom prst="rect">
            <a:avLst/>
          </a:prstGeom>
        </p:spPr>
        <p:txBody>
          <a:bodyPr lIns="50800" tIns="50800" rIns="50800" bIns="50800" rtlCol="0" anchor="ctr"/>
          <a:lstStyle/>
          <a:p>
            <a:pPr algn="ctr">
              <a:lnSpc>
                <a:spcPts val="2659"/>
              </a:lnSpc>
              <a:spcBef>
                <a:spcPct val="0"/>
              </a:spcBef>
            </a:pPr>
            <a:endParaRPr/>
          </a:p>
        </p:txBody>
      </p:sp>
      <p:pic>
        <p:nvPicPr>
          <p:cNvPr id="18" name="Picture 17"/>
          <p:cNvPicPr>
            <a:picLocks noChangeAspect="1"/>
          </p:cNvPicPr>
          <p:nvPr/>
        </p:nvPicPr>
        <p:blipFill>
          <a:blip r:embed="rId2"/>
          <a:stretch>
            <a:fillRect/>
          </a:stretch>
        </p:blipFill>
        <p:spPr>
          <a:xfrm>
            <a:off x="76200" y="9266338"/>
            <a:ext cx="2327677" cy="1020662"/>
          </a:xfrm>
          <a:prstGeom prst="rect">
            <a:avLst/>
          </a:prstGeom>
        </p:spPr>
      </p:pic>
      <p:pic>
        <p:nvPicPr>
          <p:cNvPr id="19" name="Picture 18"/>
          <p:cNvPicPr>
            <a:picLocks noChangeAspect="1"/>
          </p:cNvPicPr>
          <p:nvPr/>
        </p:nvPicPr>
        <p:blipFill>
          <a:blip r:embed="rId3"/>
          <a:stretch>
            <a:fillRect/>
          </a:stretch>
        </p:blipFill>
        <p:spPr>
          <a:xfrm rot="10800000">
            <a:off x="-30480" y="1294489"/>
            <a:ext cx="18288000" cy="267610"/>
          </a:xfrm>
          <a:prstGeom prst="rect">
            <a:avLst/>
          </a:prstGeom>
        </p:spPr>
      </p:pic>
      <p:sp>
        <p:nvSpPr>
          <p:cNvPr id="21" name="Round Single Corner Rectangle 20"/>
          <p:cNvSpPr/>
          <p:nvPr/>
        </p:nvSpPr>
        <p:spPr>
          <a:xfrm>
            <a:off x="5494020" y="160397"/>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4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a:t>
            </a:r>
            <a:r>
              <a:rPr lang="en-PH" sz="4400" b="1" dirty="0">
                <a:solidFill>
                  <a:srgbClr val="820000"/>
                </a:solidFill>
                <a:latin typeface="Arial" panose="020B0604020202020204" pitchFamily="34" charset="0"/>
                <a:ea typeface="Adobe Gothic Std B" panose="020B0800000000000000" pitchFamily="34" charset="-128"/>
                <a:cs typeface="Arial" panose="020B0604020202020204" pitchFamily="34" charset="0"/>
              </a:rPr>
              <a:t>O</a:t>
            </a:r>
            <a:r>
              <a:rPr lang="en-PH" sz="4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bjectives of the Study    </a:t>
            </a:r>
            <a:r>
              <a:rPr lang="en-PH" sz="4800" b="1" u="sng" dirty="0" smtClean="0">
                <a:solidFill>
                  <a:srgbClr val="820000"/>
                </a:solidFill>
                <a:latin typeface="Arial" panose="020B0604020202020204" pitchFamily="34" charset="0"/>
                <a:cs typeface="Arial" panose="020B0604020202020204" pitchFamily="34" charset="0"/>
              </a:rPr>
              <a:t> </a:t>
            </a:r>
          </a:p>
        </p:txBody>
      </p:sp>
      <p:pic>
        <p:nvPicPr>
          <p:cNvPr id="20" name="Picture 19"/>
          <p:cNvPicPr>
            <a:picLocks noChangeAspect="1"/>
          </p:cNvPicPr>
          <p:nvPr/>
        </p:nvPicPr>
        <p:blipFill>
          <a:blip r:embed="rId3"/>
          <a:stretch>
            <a:fillRect/>
          </a:stretch>
        </p:blipFill>
        <p:spPr>
          <a:xfrm>
            <a:off x="0" y="0"/>
            <a:ext cx="18288000" cy="267611"/>
          </a:xfrm>
          <a:prstGeom prst="rect">
            <a:avLst/>
          </a:prstGeom>
        </p:spPr>
      </p:pic>
      <p:sp>
        <p:nvSpPr>
          <p:cNvPr id="4" name="Parallelogram 3"/>
          <p:cNvSpPr/>
          <p:nvPr/>
        </p:nvSpPr>
        <p:spPr>
          <a:xfrm>
            <a:off x="2388637" y="9936689"/>
            <a:ext cx="9727163" cy="236011"/>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2" name="Parallelogram 21"/>
          <p:cNvSpPr/>
          <p:nvPr/>
        </p:nvSpPr>
        <p:spPr>
          <a:xfrm>
            <a:off x="12192000" y="9944100"/>
            <a:ext cx="1421363" cy="228600"/>
          </a:xfrm>
          <a:prstGeom prst="parallelogram">
            <a:avLst/>
          </a:prstGeom>
          <a:solidFill>
            <a:srgbClr val="FFC000"/>
          </a:solidFill>
          <a:ln>
            <a:solidFill>
              <a:srgbClr val="FFC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3" name="Parallelogram 22"/>
          <p:cNvSpPr/>
          <p:nvPr/>
        </p:nvSpPr>
        <p:spPr>
          <a:xfrm>
            <a:off x="13689563" y="9944100"/>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24" name="Picture 23"/>
          <p:cNvPicPr>
            <a:picLocks noChangeAspect="1"/>
          </p:cNvPicPr>
          <p:nvPr/>
        </p:nvPicPr>
        <p:blipFill>
          <a:blip r:embed="rId3"/>
          <a:stretch>
            <a:fillRect/>
          </a:stretch>
        </p:blipFill>
        <p:spPr>
          <a:xfrm rot="10800000" flipV="1">
            <a:off x="2403877" y="9668509"/>
            <a:ext cx="15899363" cy="232657"/>
          </a:xfrm>
          <a:prstGeom prst="rect">
            <a:avLst/>
          </a:prstGeom>
        </p:spPr>
      </p:pic>
      <p:pic>
        <p:nvPicPr>
          <p:cNvPr id="6" name="Picture 5"/>
          <p:cNvPicPr>
            <a:picLocks noChangeAspect="1"/>
          </p:cNvPicPr>
          <p:nvPr/>
        </p:nvPicPr>
        <p:blipFill>
          <a:blip r:embed="rId4"/>
          <a:stretch>
            <a:fillRect/>
          </a:stretch>
        </p:blipFill>
        <p:spPr>
          <a:xfrm>
            <a:off x="15030450" y="488370"/>
            <a:ext cx="3257550" cy="523875"/>
          </a:xfrm>
          <a:prstGeom prst="rect">
            <a:avLst/>
          </a:prstGeom>
        </p:spPr>
      </p:pic>
      <p:sp>
        <p:nvSpPr>
          <p:cNvPr id="25" name="Parallelogram 24"/>
          <p:cNvSpPr/>
          <p:nvPr/>
        </p:nvSpPr>
        <p:spPr>
          <a:xfrm>
            <a:off x="13030200" y="760176"/>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13" name="Picture 12"/>
          <p:cNvPicPr>
            <a:picLocks noChangeAspect="1"/>
          </p:cNvPicPr>
          <p:nvPr/>
        </p:nvPicPr>
        <p:blipFill>
          <a:blip r:embed="rId4"/>
          <a:stretch>
            <a:fillRect/>
          </a:stretch>
        </p:blipFill>
        <p:spPr>
          <a:xfrm rot="10800000">
            <a:off x="0" y="612538"/>
            <a:ext cx="3257550" cy="523875"/>
          </a:xfrm>
          <a:prstGeom prst="rect">
            <a:avLst/>
          </a:prstGeom>
        </p:spPr>
      </p:pic>
      <p:sp>
        <p:nvSpPr>
          <p:cNvPr id="14" name="Parallelogram 13"/>
          <p:cNvSpPr/>
          <p:nvPr/>
        </p:nvSpPr>
        <p:spPr>
          <a:xfrm>
            <a:off x="659363" y="577015"/>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109" name="Rounded Rectangle 108"/>
          <p:cNvSpPr/>
          <p:nvPr/>
        </p:nvSpPr>
        <p:spPr>
          <a:xfrm>
            <a:off x="295198" y="2771301"/>
            <a:ext cx="4069679" cy="1397026"/>
          </a:xfrm>
          <a:prstGeom prst="roundRect">
            <a:avLst/>
          </a:prstGeom>
          <a:ln w="28575">
            <a:solidFill>
              <a:srgbClr val="005C2A"/>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400" b="1" spc="72" dirty="0" smtClean="0">
              <a:solidFill>
                <a:srgbClr val="1F5014"/>
              </a:solidFill>
              <a:latin typeface="Arial" panose="020B0604020202020204" pitchFamily="34" charset="0"/>
              <a:cs typeface="Arial" panose="020B0604020202020204" pitchFamily="34" charset="0"/>
            </a:endParaRPr>
          </a:p>
          <a:p>
            <a:pPr algn="ctr"/>
            <a:r>
              <a:rPr lang="en-US" sz="2400" b="1" spc="72" dirty="0" smtClean="0">
                <a:solidFill>
                  <a:srgbClr val="1F5014"/>
                </a:solidFill>
                <a:latin typeface="Arial" panose="020B0604020202020204" pitchFamily="34" charset="0"/>
                <a:cs typeface="Arial" panose="020B0604020202020204" pitchFamily="34" charset="0"/>
              </a:rPr>
              <a:t>SPECIFICALLY</a:t>
            </a:r>
            <a:r>
              <a:rPr lang="en-US" sz="2400" b="1" spc="72" dirty="0">
                <a:solidFill>
                  <a:srgbClr val="1F5014"/>
                </a:solidFill>
                <a:latin typeface="Arial" panose="020B0604020202020204" pitchFamily="34" charset="0"/>
                <a:cs typeface="Arial" panose="020B0604020202020204" pitchFamily="34" charset="0"/>
              </a:rPr>
              <a:t>, THIS STUDY AIMED TO :</a:t>
            </a:r>
          </a:p>
          <a:p>
            <a:pPr algn="ctr"/>
            <a:endParaRPr lang="en-PH" dirty="0"/>
          </a:p>
        </p:txBody>
      </p:sp>
      <p:sp>
        <p:nvSpPr>
          <p:cNvPr id="121" name="Rounded Rectangle 120"/>
          <p:cNvSpPr/>
          <p:nvPr/>
        </p:nvSpPr>
        <p:spPr>
          <a:xfrm>
            <a:off x="4810553" y="5404826"/>
            <a:ext cx="4639711" cy="2120247"/>
          </a:xfrm>
          <a:prstGeom prst="roundRect">
            <a:avLst/>
          </a:prstGeom>
          <a:ln w="28575">
            <a:solidFill>
              <a:srgbClr val="005C2A"/>
            </a:solidFill>
          </a:ln>
        </p:spPr>
        <p:style>
          <a:lnRef idx="2">
            <a:schemeClr val="accent6"/>
          </a:lnRef>
          <a:fillRef idx="1">
            <a:schemeClr val="lt1"/>
          </a:fillRef>
          <a:effectRef idx="0">
            <a:schemeClr val="accent6"/>
          </a:effectRef>
          <a:fontRef idx="minor">
            <a:schemeClr val="dk1"/>
          </a:fontRef>
        </p:style>
        <p:txBody>
          <a:bodyPr rtlCol="0" anchor="ctr"/>
          <a:lstStyle/>
          <a:p>
            <a:pPr marL="0" lvl="2" algn="ctr"/>
            <a:endParaRPr lang="en-PH" sz="3200" b="1" dirty="0" smtClean="0">
              <a:solidFill>
                <a:srgbClr val="005C2A"/>
              </a:solidFill>
            </a:endParaRPr>
          </a:p>
          <a:p>
            <a:pPr marL="0" lvl="2" algn="ctr"/>
            <a:r>
              <a:rPr lang="en-PH" sz="3200" b="1" dirty="0" smtClean="0">
                <a:solidFill>
                  <a:srgbClr val="820000"/>
                </a:solidFill>
              </a:rPr>
              <a:t>apply </a:t>
            </a:r>
            <a:r>
              <a:rPr lang="en-PH" sz="3200" b="1" dirty="0">
                <a:solidFill>
                  <a:srgbClr val="820000"/>
                </a:solidFill>
              </a:rPr>
              <a:t>Principal Component Analysis to correlate the </a:t>
            </a:r>
          </a:p>
          <a:p>
            <a:pPr algn="ctr"/>
            <a:endParaRPr lang="en-PH" sz="2400" b="1" dirty="0">
              <a:solidFill>
                <a:srgbClr val="005C2A"/>
              </a:solidFill>
            </a:endParaRPr>
          </a:p>
        </p:txBody>
      </p:sp>
      <p:sp>
        <p:nvSpPr>
          <p:cNvPr id="150" name="Flowchart: Connector 149"/>
          <p:cNvSpPr/>
          <p:nvPr/>
        </p:nvSpPr>
        <p:spPr>
          <a:xfrm>
            <a:off x="6199505" y="3955647"/>
            <a:ext cx="1687924" cy="1720694"/>
          </a:xfrm>
          <a:prstGeom prst="flowChartConnector">
            <a:avLst/>
          </a:prstGeom>
          <a:solidFill>
            <a:schemeClr val="lt1"/>
          </a:solidFill>
          <a:ln w="28575">
            <a:solidFill>
              <a:srgbClr val="005C2A"/>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62" name="Round Single Corner Rectangle 61"/>
          <p:cNvSpPr/>
          <p:nvPr/>
        </p:nvSpPr>
        <p:spPr>
          <a:xfrm>
            <a:off x="-361950" y="1488398"/>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4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continuation …..    </a:t>
            </a:r>
            <a:r>
              <a:rPr lang="en-PH" sz="4800" b="1" u="sng" dirty="0" smtClean="0">
                <a:solidFill>
                  <a:srgbClr val="820000"/>
                </a:solidFill>
                <a:latin typeface="Arial" panose="020B0604020202020204" pitchFamily="34" charset="0"/>
                <a:cs typeface="Arial" panose="020B0604020202020204" pitchFamily="34" charset="0"/>
              </a:rPr>
              <a:t> </a:t>
            </a:r>
          </a:p>
        </p:txBody>
      </p:sp>
      <p:sp>
        <p:nvSpPr>
          <p:cNvPr id="63" name="AutoShape 30"/>
          <p:cNvSpPr/>
          <p:nvPr/>
        </p:nvSpPr>
        <p:spPr>
          <a:xfrm rot="5372477">
            <a:off x="962730" y="5302647"/>
            <a:ext cx="2258584" cy="52714"/>
          </a:xfrm>
          <a:prstGeom prst="line">
            <a:avLst/>
          </a:prstGeom>
          <a:ln w="38100" cap="flat">
            <a:solidFill>
              <a:srgbClr val="093D00"/>
            </a:solidFill>
            <a:prstDash val="solid"/>
            <a:headEnd type="none" w="sm" len="sm"/>
            <a:tailEnd type="none" w="sm" len="sm"/>
          </a:ln>
        </p:spPr>
      </p:sp>
      <p:sp>
        <p:nvSpPr>
          <p:cNvPr id="64" name="AutoShape 30"/>
          <p:cNvSpPr/>
          <p:nvPr/>
        </p:nvSpPr>
        <p:spPr>
          <a:xfrm rot="5372477" flipH="1">
            <a:off x="3429722" y="5127469"/>
            <a:ext cx="25816" cy="2666468"/>
          </a:xfrm>
          <a:prstGeom prst="line">
            <a:avLst/>
          </a:prstGeom>
          <a:ln w="38100" cap="flat">
            <a:solidFill>
              <a:srgbClr val="093D00"/>
            </a:solidFill>
            <a:prstDash val="solid"/>
            <a:headEnd type="none" w="sm" len="sm"/>
            <a:tailEnd type="none" w="sm" len="sm"/>
          </a:ln>
        </p:spPr>
      </p:sp>
      <p:sp>
        <p:nvSpPr>
          <p:cNvPr id="71" name="Rounded Rectangle 70"/>
          <p:cNvSpPr/>
          <p:nvPr/>
        </p:nvSpPr>
        <p:spPr>
          <a:xfrm>
            <a:off x="5827243" y="7675377"/>
            <a:ext cx="5145557" cy="1402602"/>
          </a:xfrm>
          <a:prstGeom prst="roundRect">
            <a:avLst/>
          </a:prstGeom>
          <a:ln w="28575">
            <a:solidFill>
              <a:srgbClr val="005C2A"/>
            </a:solidFill>
          </a:ln>
        </p:spPr>
        <p:style>
          <a:lnRef idx="2">
            <a:schemeClr val="accent6"/>
          </a:lnRef>
          <a:fillRef idx="1">
            <a:schemeClr val="lt1"/>
          </a:fillRef>
          <a:effectRef idx="0">
            <a:schemeClr val="accent6"/>
          </a:effectRef>
          <a:fontRef idx="minor">
            <a:schemeClr val="dk1"/>
          </a:fontRef>
        </p:style>
        <p:txBody>
          <a:bodyPr rtlCol="0" anchor="ctr"/>
          <a:lstStyle/>
          <a:p>
            <a:pPr lvl="0" algn="ctr"/>
            <a:endParaRPr lang="en-PH" sz="2800" dirty="0" smtClean="0">
              <a:solidFill>
                <a:srgbClr val="005C2A"/>
              </a:solidFill>
            </a:endParaRPr>
          </a:p>
          <a:p>
            <a:pPr lvl="0" algn="just"/>
            <a:r>
              <a:rPr lang="en-PH" sz="2400" b="1" dirty="0" err="1" smtClean="0">
                <a:solidFill>
                  <a:srgbClr val="820000"/>
                </a:solidFill>
              </a:rPr>
              <a:t>phenolics</a:t>
            </a:r>
            <a:r>
              <a:rPr lang="en-PH" sz="2400" b="1" dirty="0" smtClean="0">
                <a:solidFill>
                  <a:srgbClr val="820000"/>
                </a:solidFill>
              </a:rPr>
              <a:t> </a:t>
            </a:r>
            <a:r>
              <a:rPr lang="en-PH" sz="2400" b="1" dirty="0">
                <a:solidFill>
                  <a:srgbClr val="820000"/>
                </a:solidFill>
              </a:rPr>
              <a:t>and flavonoids content between coconut parts and germination period and</a:t>
            </a:r>
          </a:p>
          <a:p>
            <a:pPr algn="ctr"/>
            <a:endParaRPr lang="en-PH" dirty="0"/>
          </a:p>
        </p:txBody>
      </p:sp>
      <p:sp>
        <p:nvSpPr>
          <p:cNvPr id="72" name="Rounded Rectangle 71"/>
          <p:cNvSpPr/>
          <p:nvPr/>
        </p:nvSpPr>
        <p:spPr>
          <a:xfrm>
            <a:off x="12747832" y="7680953"/>
            <a:ext cx="5387768" cy="1397026"/>
          </a:xfrm>
          <a:prstGeom prst="roundRect">
            <a:avLst/>
          </a:prstGeom>
          <a:ln w="28575">
            <a:solidFill>
              <a:srgbClr val="005C2A"/>
            </a:solidFill>
          </a:ln>
        </p:spPr>
        <p:style>
          <a:lnRef idx="2">
            <a:schemeClr val="accent6"/>
          </a:lnRef>
          <a:fillRef idx="1">
            <a:schemeClr val="lt1"/>
          </a:fillRef>
          <a:effectRef idx="0">
            <a:schemeClr val="accent6"/>
          </a:effectRef>
          <a:fontRef idx="minor">
            <a:schemeClr val="dk1"/>
          </a:fontRef>
        </p:style>
        <p:txBody>
          <a:bodyPr rtlCol="0" anchor="ctr"/>
          <a:lstStyle/>
          <a:p>
            <a:pPr lvl="0" algn="ctr"/>
            <a:r>
              <a:rPr lang="en-PH" sz="2400" b="1" dirty="0">
                <a:solidFill>
                  <a:srgbClr val="820000"/>
                </a:solidFill>
              </a:rPr>
              <a:t>lipids and mass detection of six-month-old germinating coconut seed.</a:t>
            </a:r>
          </a:p>
          <a:p>
            <a:pPr algn="ctr"/>
            <a:endParaRPr lang="en-PH" dirty="0"/>
          </a:p>
        </p:txBody>
      </p:sp>
      <p:sp>
        <p:nvSpPr>
          <p:cNvPr id="77" name="AutoShape 30"/>
          <p:cNvSpPr/>
          <p:nvPr/>
        </p:nvSpPr>
        <p:spPr>
          <a:xfrm rot="5372477" flipV="1">
            <a:off x="2552551" y="7428927"/>
            <a:ext cx="1946312" cy="5382"/>
          </a:xfrm>
          <a:prstGeom prst="line">
            <a:avLst/>
          </a:prstGeom>
          <a:ln w="38100" cap="flat">
            <a:solidFill>
              <a:srgbClr val="093D00"/>
            </a:solidFill>
            <a:prstDash val="solid"/>
            <a:headEnd type="none" w="sm" len="sm"/>
            <a:tailEnd type="none" w="sm" len="sm"/>
          </a:ln>
        </p:spPr>
      </p:sp>
      <p:sp>
        <p:nvSpPr>
          <p:cNvPr id="78" name="AutoShape 30"/>
          <p:cNvSpPr/>
          <p:nvPr/>
        </p:nvSpPr>
        <p:spPr>
          <a:xfrm rot="5372477" flipH="1">
            <a:off x="4668076" y="7316900"/>
            <a:ext cx="17989" cy="2246773"/>
          </a:xfrm>
          <a:prstGeom prst="line">
            <a:avLst/>
          </a:prstGeom>
          <a:ln w="38100" cap="flat">
            <a:solidFill>
              <a:srgbClr val="093D00"/>
            </a:solidFill>
            <a:prstDash val="solid"/>
            <a:headEnd type="none" w="sm" len="sm"/>
            <a:tailEnd type="none" w="sm" len="sm"/>
          </a:ln>
        </p:spPr>
      </p:sp>
      <p:sp>
        <p:nvSpPr>
          <p:cNvPr id="81" name="AutoShape 30"/>
          <p:cNvSpPr/>
          <p:nvPr/>
        </p:nvSpPr>
        <p:spPr>
          <a:xfrm rot="5372477" flipH="1">
            <a:off x="11858294" y="7539117"/>
            <a:ext cx="25106" cy="1742452"/>
          </a:xfrm>
          <a:prstGeom prst="line">
            <a:avLst/>
          </a:prstGeom>
          <a:ln w="38100" cap="flat">
            <a:solidFill>
              <a:srgbClr val="093D00"/>
            </a:solidFill>
            <a:prstDash val="solid"/>
            <a:headEnd type="none" w="sm" len="sm"/>
            <a:tailEnd type="none" w="sm" len="sm"/>
          </a:ln>
        </p:spPr>
      </p:sp>
      <p:sp>
        <p:nvSpPr>
          <p:cNvPr id="82" name="Round Single Corner Rectangle 81"/>
          <p:cNvSpPr/>
          <p:nvPr/>
        </p:nvSpPr>
        <p:spPr>
          <a:xfrm>
            <a:off x="6310723" y="3912714"/>
            <a:ext cx="1465488"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4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a:t>
            </a:r>
            <a:r>
              <a:rPr lang="en-PH" sz="4400" b="1" dirty="0" smtClean="0">
                <a:solidFill>
                  <a:srgbClr val="005C2A"/>
                </a:solidFill>
                <a:latin typeface="Arial" panose="020B0604020202020204" pitchFamily="34" charset="0"/>
                <a:ea typeface="Adobe Gothic Std B" panose="020B0800000000000000" pitchFamily="34" charset="-128"/>
                <a:cs typeface="Arial" panose="020B0604020202020204" pitchFamily="34" charset="0"/>
              </a:rPr>
              <a:t>PCA </a:t>
            </a:r>
            <a:r>
              <a:rPr lang="en-PH" sz="4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a:t>
            </a:r>
            <a:r>
              <a:rPr lang="en-PH" sz="4800" b="1" u="sng" dirty="0" smtClean="0">
                <a:solidFill>
                  <a:srgbClr val="820000"/>
                </a:solidFill>
                <a:latin typeface="Arial" panose="020B0604020202020204" pitchFamily="34" charset="0"/>
                <a:cs typeface="Arial" panose="020B0604020202020204" pitchFamily="34" charset="0"/>
              </a:rPr>
              <a:t> </a:t>
            </a:r>
          </a:p>
        </p:txBody>
      </p:sp>
      <p:grpSp>
        <p:nvGrpSpPr>
          <p:cNvPr id="51" name="Group 52"/>
          <p:cNvGrpSpPr/>
          <p:nvPr/>
        </p:nvGrpSpPr>
        <p:grpSpPr>
          <a:xfrm>
            <a:off x="2021237" y="4077009"/>
            <a:ext cx="162371" cy="162371"/>
            <a:chOff x="0" y="0"/>
            <a:chExt cx="6350000" cy="6350000"/>
          </a:xfrm>
        </p:grpSpPr>
        <p:sp>
          <p:nvSpPr>
            <p:cNvPr id="52" name="Freeform 53"/>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93D00"/>
            </a:solidFill>
          </p:spPr>
        </p:sp>
      </p:grpSp>
      <p:grpSp>
        <p:nvGrpSpPr>
          <p:cNvPr id="54" name="Group 52"/>
          <p:cNvGrpSpPr/>
          <p:nvPr/>
        </p:nvGrpSpPr>
        <p:grpSpPr>
          <a:xfrm>
            <a:off x="1993521" y="6383763"/>
            <a:ext cx="162371" cy="162371"/>
            <a:chOff x="0" y="0"/>
            <a:chExt cx="6350000" cy="6350000"/>
          </a:xfrm>
        </p:grpSpPr>
        <p:sp>
          <p:nvSpPr>
            <p:cNvPr id="55" name="Freeform 53"/>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93D00"/>
            </a:solidFill>
          </p:spPr>
        </p:sp>
      </p:grpSp>
      <p:grpSp>
        <p:nvGrpSpPr>
          <p:cNvPr id="56" name="Group 52"/>
          <p:cNvGrpSpPr/>
          <p:nvPr/>
        </p:nvGrpSpPr>
        <p:grpSpPr>
          <a:xfrm>
            <a:off x="3438310" y="6359524"/>
            <a:ext cx="162371" cy="162371"/>
            <a:chOff x="0" y="0"/>
            <a:chExt cx="6350000" cy="6350000"/>
          </a:xfrm>
        </p:grpSpPr>
        <p:sp>
          <p:nvSpPr>
            <p:cNvPr id="57" name="Freeform 53"/>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93D00"/>
            </a:solidFill>
          </p:spPr>
        </p:sp>
      </p:grpSp>
      <p:grpSp>
        <p:nvGrpSpPr>
          <p:cNvPr id="58" name="Group 52"/>
          <p:cNvGrpSpPr/>
          <p:nvPr/>
        </p:nvGrpSpPr>
        <p:grpSpPr>
          <a:xfrm>
            <a:off x="3455004" y="8323577"/>
            <a:ext cx="162371" cy="162371"/>
            <a:chOff x="0" y="0"/>
            <a:chExt cx="6350000" cy="6350000"/>
          </a:xfrm>
        </p:grpSpPr>
        <p:sp>
          <p:nvSpPr>
            <p:cNvPr id="59" name="Freeform 53"/>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93D00"/>
            </a:solidFill>
          </p:spPr>
        </p:sp>
      </p:grpSp>
      <p:grpSp>
        <p:nvGrpSpPr>
          <p:cNvPr id="60" name="Group 52"/>
          <p:cNvGrpSpPr/>
          <p:nvPr/>
        </p:nvGrpSpPr>
        <p:grpSpPr>
          <a:xfrm>
            <a:off x="5746421" y="8345676"/>
            <a:ext cx="162371" cy="162371"/>
            <a:chOff x="0" y="0"/>
            <a:chExt cx="6350000" cy="6350000"/>
          </a:xfrm>
        </p:grpSpPr>
        <p:sp>
          <p:nvSpPr>
            <p:cNvPr id="61" name="Freeform 53"/>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93D00"/>
            </a:solidFill>
          </p:spPr>
        </p:sp>
      </p:grpSp>
      <p:grpSp>
        <p:nvGrpSpPr>
          <p:cNvPr id="94" name="Group 52"/>
          <p:cNvGrpSpPr/>
          <p:nvPr/>
        </p:nvGrpSpPr>
        <p:grpSpPr>
          <a:xfrm>
            <a:off x="12687708" y="8309629"/>
            <a:ext cx="162371" cy="162371"/>
            <a:chOff x="0" y="0"/>
            <a:chExt cx="6350000" cy="6350000"/>
          </a:xfrm>
        </p:grpSpPr>
        <p:sp>
          <p:nvSpPr>
            <p:cNvPr id="95" name="Freeform 53"/>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93D00"/>
            </a:solidFill>
          </p:spPr>
        </p:sp>
      </p:grpSp>
      <p:grpSp>
        <p:nvGrpSpPr>
          <p:cNvPr id="96" name="Group 52"/>
          <p:cNvGrpSpPr/>
          <p:nvPr/>
        </p:nvGrpSpPr>
        <p:grpSpPr>
          <a:xfrm>
            <a:off x="10915520" y="8309629"/>
            <a:ext cx="162371" cy="162371"/>
            <a:chOff x="0" y="0"/>
            <a:chExt cx="6350000" cy="6350000"/>
          </a:xfrm>
        </p:grpSpPr>
        <p:sp>
          <p:nvSpPr>
            <p:cNvPr id="97" name="Freeform 53"/>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93D00"/>
            </a:solidFill>
          </p:spPr>
        </p:sp>
      </p:grpSp>
    </p:spTree>
    <p:extLst>
      <p:ext uri="{BB962C8B-B14F-4D97-AF65-F5344CB8AC3E}">
        <p14:creationId xmlns:p14="http://schemas.microsoft.com/office/powerpoint/2010/main" val="78053618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Box 13"/>
          <p:cNvSpPr txBox="1"/>
          <p:nvPr/>
        </p:nvSpPr>
        <p:spPr>
          <a:xfrm>
            <a:off x="1671387" y="1531257"/>
            <a:ext cx="2203151" cy="2306426"/>
          </a:xfrm>
          <a:prstGeom prst="rect">
            <a:avLst/>
          </a:prstGeom>
        </p:spPr>
        <p:txBody>
          <a:bodyPr lIns="50800" tIns="50800" rIns="50800" bIns="50800" rtlCol="0" anchor="ctr"/>
          <a:lstStyle/>
          <a:p>
            <a:pPr algn="ctr">
              <a:lnSpc>
                <a:spcPts val="2659"/>
              </a:lnSpc>
              <a:spcBef>
                <a:spcPct val="0"/>
              </a:spcBef>
            </a:pPr>
            <a:endParaRPr/>
          </a:p>
        </p:txBody>
      </p:sp>
      <p:sp>
        <p:nvSpPr>
          <p:cNvPr id="21" name="Round Single Corner Rectangle 20"/>
          <p:cNvSpPr/>
          <p:nvPr/>
        </p:nvSpPr>
        <p:spPr>
          <a:xfrm>
            <a:off x="5494020" y="160397"/>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4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Significance of the Study   </a:t>
            </a:r>
            <a:r>
              <a:rPr lang="en-PH" sz="4800" b="1" u="sng" dirty="0" smtClean="0">
                <a:solidFill>
                  <a:srgbClr val="820000"/>
                </a:solidFill>
                <a:latin typeface="Arial" panose="020B0604020202020204" pitchFamily="34" charset="0"/>
                <a:cs typeface="Arial" panose="020B0604020202020204" pitchFamily="34" charset="0"/>
              </a:rPr>
              <a:t> </a:t>
            </a:r>
          </a:p>
        </p:txBody>
      </p:sp>
      <p:pic>
        <p:nvPicPr>
          <p:cNvPr id="20" name="Picture 19"/>
          <p:cNvPicPr>
            <a:picLocks noChangeAspect="1"/>
          </p:cNvPicPr>
          <p:nvPr/>
        </p:nvPicPr>
        <p:blipFill>
          <a:blip r:embed="rId2"/>
          <a:stretch>
            <a:fillRect/>
          </a:stretch>
        </p:blipFill>
        <p:spPr>
          <a:xfrm>
            <a:off x="0" y="0"/>
            <a:ext cx="18288000" cy="267611"/>
          </a:xfrm>
          <a:prstGeom prst="rect">
            <a:avLst/>
          </a:prstGeom>
        </p:spPr>
      </p:pic>
      <p:sp>
        <p:nvSpPr>
          <p:cNvPr id="4" name="Parallelogram 3"/>
          <p:cNvSpPr/>
          <p:nvPr/>
        </p:nvSpPr>
        <p:spPr>
          <a:xfrm>
            <a:off x="152401" y="9936689"/>
            <a:ext cx="11963400" cy="269824"/>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2" name="Parallelogram 21"/>
          <p:cNvSpPr/>
          <p:nvPr/>
        </p:nvSpPr>
        <p:spPr>
          <a:xfrm>
            <a:off x="12192000" y="9944100"/>
            <a:ext cx="1421363" cy="228600"/>
          </a:xfrm>
          <a:prstGeom prst="parallelogram">
            <a:avLst/>
          </a:prstGeom>
          <a:solidFill>
            <a:srgbClr val="FFC000"/>
          </a:solidFill>
          <a:ln>
            <a:solidFill>
              <a:srgbClr val="FFC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3" name="Parallelogram 22"/>
          <p:cNvSpPr/>
          <p:nvPr/>
        </p:nvSpPr>
        <p:spPr>
          <a:xfrm>
            <a:off x="13689563" y="9944100"/>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24" name="Picture 23"/>
          <p:cNvPicPr>
            <a:picLocks noChangeAspect="1"/>
          </p:cNvPicPr>
          <p:nvPr/>
        </p:nvPicPr>
        <p:blipFill>
          <a:blip r:embed="rId2"/>
          <a:stretch>
            <a:fillRect/>
          </a:stretch>
        </p:blipFill>
        <p:spPr>
          <a:xfrm rot="10800000" flipV="1">
            <a:off x="-23702" y="9668509"/>
            <a:ext cx="18326941" cy="268180"/>
          </a:xfrm>
          <a:prstGeom prst="rect">
            <a:avLst/>
          </a:prstGeom>
        </p:spPr>
      </p:pic>
      <p:pic>
        <p:nvPicPr>
          <p:cNvPr id="6" name="Picture 5"/>
          <p:cNvPicPr>
            <a:picLocks noChangeAspect="1"/>
          </p:cNvPicPr>
          <p:nvPr/>
        </p:nvPicPr>
        <p:blipFill>
          <a:blip r:embed="rId3"/>
          <a:stretch>
            <a:fillRect/>
          </a:stretch>
        </p:blipFill>
        <p:spPr>
          <a:xfrm>
            <a:off x="15030450" y="488370"/>
            <a:ext cx="3257550" cy="523875"/>
          </a:xfrm>
          <a:prstGeom prst="rect">
            <a:avLst/>
          </a:prstGeom>
        </p:spPr>
      </p:pic>
      <p:sp>
        <p:nvSpPr>
          <p:cNvPr id="25" name="Parallelogram 24"/>
          <p:cNvSpPr/>
          <p:nvPr/>
        </p:nvSpPr>
        <p:spPr>
          <a:xfrm>
            <a:off x="13030200" y="760176"/>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13" name="Picture 12"/>
          <p:cNvPicPr>
            <a:picLocks noChangeAspect="1"/>
          </p:cNvPicPr>
          <p:nvPr/>
        </p:nvPicPr>
        <p:blipFill>
          <a:blip r:embed="rId3"/>
          <a:stretch>
            <a:fillRect/>
          </a:stretch>
        </p:blipFill>
        <p:spPr>
          <a:xfrm rot="10800000">
            <a:off x="0" y="612538"/>
            <a:ext cx="3257550" cy="523875"/>
          </a:xfrm>
          <a:prstGeom prst="rect">
            <a:avLst/>
          </a:prstGeom>
        </p:spPr>
      </p:pic>
      <p:sp>
        <p:nvSpPr>
          <p:cNvPr id="14" name="Parallelogram 13"/>
          <p:cNvSpPr/>
          <p:nvPr/>
        </p:nvSpPr>
        <p:spPr>
          <a:xfrm>
            <a:off x="659363" y="577015"/>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95" name="TextBox 30"/>
          <p:cNvSpPr txBox="1"/>
          <p:nvPr/>
        </p:nvSpPr>
        <p:spPr>
          <a:xfrm>
            <a:off x="9411258" y="1491975"/>
            <a:ext cx="592948" cy="502317"/>
          </a:xfrm>
          <a:prstGeom prst="rect">
            <a:avLst/>
          </a:prstGeom>
        </p:spPr>
        <p:txBody>
          <a:bodyPr lIns="0" tIns="0" rIns="0" bIns="0" rtlCol="0" anchor="t">
            <a:spAutoFit/>
          </a:bodyPr>
          <a:lstStyle/>
          <a:p>
            <a:pPr algn="ctr">
              <a:lnSpc>
                <a:spcPts val="4252"/>
              </a:lnSpc>
            </a:pPr>
            <a:r>
              <a:rPr lang="en-US" sz="3037" dirty="0" smtClean="0">
                <a:solidFill>
                  <a:srgbClr val="FFFFFF"/>
                </a:solidFill>
                <a:latin typeface="Montserrat Extra-Bold"/>
              </a:rPr>
              <a:t>3</a:t>
            </a:r>
            <a:endParaRPr lang="en-US" sz="3037" dirty="0">
              <a:solidFill>
                <a:srgbClr val="FFFFFF"/>
              </a:solidFill>
              <a:latin typeface="Montserrat Extra-Bold"/>
            </a:endParaRPr>
          </a:p>
        </p:txBody>
      </p:sp>
      <p:sp>
        <p:nvSpPr>
          <p:cNvPr id="97" name="TextBox 30"/>
          <p:cNvSpPr txBox="1"/>
          <p:nvPr/>
        </p:nvSpPr>
        <p:spPr>
          <a:xfrm>
            <a:off x="9652064" y="7466855"/>
            <a:ext cx="592948" cy="551433"/>
          </a:xfrm>
          <a:prstGeom prst="rect">
            <a:avLst/>
          </a:prstGeom>
        </p:spPr>
        <p:txBody>
          <a:bodyPr lIns="0" tIns="0" rIns="0" bIns="0" rtlCol="0" anchor="t">
            <a:spAutoFit/>
          </a:bodyPr>
          <a:lstStyle/>
          <a:p>
            <a:pPr algn="ctr">
              <a:lnSpc>
                <a:spcPts val="4252"/>
              </a:lnSpc>
            </a:pPr>
            <a:r>
              <a:rPr lang="en-US" sz="3037" dirty="0">
                <a:solidFill>
                  <a:srgbClr val="FFFFFF"/>
                </a:solidFill>
                <a:latin typeface="Montserrat Extra-Bold"/>
              </a:rPr>
              <a:t>4</a:t>
            </a:r>
          </a:p>
        </p:txBody>
      </p:sp>
      <p:sp>
        <p:nvSpPr>
          <p:cNvPr id="7" name="Rectangle 6"/>
          <p:cNvSpPr/>
          <p:nvPr/>
        </p:nvSpPr>
        <p:spPr>
          <a:xfrm>
            <a:off x="457200" y="3275363"/>
            <a:ext cx="16790437" cy="584775"/>
          </a:xfrm>
          <a:prstGeom prst="rect">
            <a:avLst/>
          </a:prstGeom>
        </p:spPr>
        <p:txBody>
          <a:bodyPr wrap="square">
            <a:spAutoFit/>
          </a:bodyPr>
          <a:lstStyle/>
          <a:p>
            <a:pPr marL="342900" indent="-342900" algn="just">
              <a:buFont typeface="Arial" panose="020B0604020202020204" pitchFamily="34" charset="0"/>
              <a:buChar char="•"/>
            </a:pPr>
            <a:endParaRPr lang="en-PH" sz="3200" dirty="0">
              <a:solidFill>
                <a:srgbClr val="005C2A"/>
              </a:solidFill>
            </a:endParaRPr>
          </a:p>
        </p:txBody>
      </p:sp>
      <p:sp>
        <p:nvSpPr>
          <p:cNvPr id="8" name="Rectangle 7"/>
          <p:cNvSpPr/>
          <p:nvPr/>
        </p:nvSpPr>
        <p:spPr>
          <a:xfrm>
            <a:off x="302647" y="1696001"/>
            <a:ext cx="17528153" cy="8453596"/>
          </a:xfrm>
          <a:prstGeom prst="rect">
            <a:avLst/>
          </a:prstGeom>
        </p:spPr>
        <p:txBody>
          <a:bodyPr wrap="square">
            <a:spAutoFit/>
          </a:bodyPr>
          <a:lstStyle/>
          <a:p>
            <a:pPr marL="342900" indent="-342900" algn="just">
              <a:buFont typeface="Arial" panose="020B0604020202020204" pitchFamily="34" charset="0"/>
              <a:buChar char="•"/>
            </a:pPr>
            <a:r>
              <a:rPr lang="en-US" sz="3200" dirty="0">
                <a:solidFill>
                  <a:srgbClr val="820000"/>
                </a:solidFill>
              </a:rPr>
              <a:t>Coconut is an important subsistence plant in the tropics, and almost every part of the plant is explored for application in different fields. </a:t>
            </a:r>
            <a:endParaRPr lang="en-US" sz="3200" dirty="0" smtClean="0">
              <a:solidFill>
                <a:srgbClr val="820000"/>
              </a:solidFill>
            </a:endParaRPr>
          </a:p>
          <a:p>
            <a:pPr algn="just"/>
            <a:endParaRPr lang="en-US" sz="3200" dirty="0" smtClean="0">
              <a:solidFill>
                <a:srgbClr val="820000"/>
              </a:solidFill>
            </a:endParaRPr>
          </a:p>
          <a:p>
            <a:pPr marL="342900" indent="-342900" algn="just">
              <a:buFont typeface="Arial" panose="020B0604020202020204" pitchFamily="34" charset="0"/>
              <a:buChar char="•"/>
            </a:pPr>
            <a:r>
              <a:rPr lang="en-US" sz="3200" dirty="0" smtClean="0">
                <a:solidFill>
                  <a:srgbClr val="820000"/>
                </a:solidFill>
              </a:rPr>
              <a:t>Germinating </a:t>
            </a:r>
            <a:r>
              <a:rPr lang="en-US" sz="3200" dirty="0">
                <a:solidFill>
                  <a:srgbClr val="820000"/>
                </a:solidFill>
              </a:rPr>
              <a:t>coconut seeds have been studied previously and shown to have exceptionally high </a:t>
            </a:r>
            <a:r>
              <a:rPr lang="en-US" sz="3200" dirty="0" err="1">
                <a:solidFill>
                  <a:srgbClr val="820000"/>
                </a:solidFill>
              </a:rPr>
              <a:t>lipolytic</a:t>
            </a:r>
            <a:r>
              <a:rPr lang="en-US" sz="3200" dirty="0">
                <a:solidFill>
                  <a:srgbClr val="820000"/>
                </a:solidFill>
              </a:rPr>
              <a:t> activity, probably to meet the energy requirements. Studies conducted for </a:t>
            </a:r>
            <a:r>
              <a:rPr lang="en-US" sz="3200" dirty="0" err="1">
                <a:solidFill>
                  <a:srgbClr val="820000"/>
                </a:solidFill>
              </a:rPr>
              <a:t>haustorium</a:t>
            </a:r>
            <a:r>
              <a:rPr lang="en-US" sz="3200" dirty="0">
                <a:solidFill>
                  <a:srgbClr val="820000"/>
                </a:solidFill>
              </a:rPr>
              <a:t> and endosperm show that </a:t>
            </a:r>
            <a:r>
              <a:rPr lang="en-US" sz="3200" dirty="0" err="1">
                <a:solidFill>
                  <a:srgbClr val="820000"/>
                </a:solidFill>
              </a:rPr>
              <a:t>haustorium</a:t>
            </a:r>
            <a:r>
              <a:rPr lang="en-US" sz="3200" dirty="0">
                <a:solidFill>
                  <a:srgbClr val="820000"/>
                </a:solidFill>
              </a:rPr>
              <a:t> development and seedling growth mainly depend on the nutrients stored in the endosperm at early stages</a:t>
            </a:r>
            <a:r>
              <a:rPr lang="en-US" sz="3200" dirty="0" smtClean="0">
                <a:solidFill>
                  <a:srgbClr val="820000"/>
                </a:solidFill>
              </a:rPr>
              <a:t>.</a:t>
            </a:r>
          </a:p>
          <a:p>
            <a:pPr algn="just"/>
            <a:endParaRPr lang="en-US" sz="3200" dirty="0" smtClean="0">
              <a:solidFill>
                <a:srgbClr val="820000"/>
              </a:solidFill>
            </a:endParaRPr>
          </a:p>
          <a:p>
            <a:pPr marL="342900" indent="-342900" algn="just">
              <a:buFont typeface="Arial" panose="020B0604020202020204" pitchFamily="34" charset="0"/>
              <a:buChar char="•"/>
            </a:pPr>
            <a:r>
              <a:rPr lang="en-US" sz="3200" dirty="0" smtClean="0">
                <a:solidFill>
                  <a:srgbClr val="820000"/>
                </a:solidFill>
              </a:rPr>
              <a:t> </a:t>
            </a:r>
            <a:r>
              <a:rPr lang="en-US" sz="3200" dirty="0">
                <a:solidFill>
                  <a:srgbClr val="820000"/>
                </a:solidFill>
              </a:rPr>
              <a:t>In succeeding stages, its fatty acids degrade rapidly to sugar to provide enough energy for the coconut seed's growing shoots, roots, and leaves. These findings could be used to extend the correlation to other parts of a germinating coconut.</a:t>
            </a:r>
            <a:r>
              <a:rPr lang="en-US" sz="3200" baseline="30000" dirty="0">
                <a:solidFill>
                  <a:srgbClr val="820000"/>
                </a:solidFill>
              </a:rPr>
              <a:t> </a:t>
            </a:r>
            <a:endParaRPr lang="en-US" sz="3200" baseline="30000" dirty="0" smtClean="0">
              <a:solidFill>
                <a:srgbClr val="820000"/>
              </a:solidFill>
            </a:endParaRPr>
          </a:p>
          <a:p>
            <a:pPr algn="just"/>
            <a:endParaRPr lang="en-US" sz="3200" baseline="30000" dirty="0" smtClean="0">
              <a:solidFill>
                <a:srgbClr val="820000"/>
              </a:solidFill>
            </a:endParaRPr>
          </a:p>
          <a:p>
            <a:pPr marL="342900" indent="-342900" algn="just">
              <a:buFont typeface="Arial" panose="020B0604020202020204" pitchFamily="34" charset="0"/>
              <a:buChar char="•"/>
            </a:pPr>
            <a:r>
              <a:rPr lang="en-US" sz="3200" dirty="0" smtClean="0">
                <a:solidFill>
                  <a:srgbClr val="820000"/>
                </a:solidFill>
              </a:rPr>
              <a:t>Although </a:t>
            </a:r>
            <a:r>
              <a:rPr lang="en-US" sz="3200" dirty="0">
                <a:solidFill>
                  <a:srgbClr val="820000"/>
                </a:solidFill>
              </a:rPr>
              <a:t>many studies are available on the application, use, and importance of different parts of the coconut, no correlation study using PCA has been conducted on the different parts of coconut (</a:t>
            </a:r>
            <a:r>
              <a:rPr lang="en-US" sz="3200" dirty="0" err="1">
                <a:solidFill>
                  <a:srgbClr val="820000"/>
                </a:solidFill>
              </a:rPr>
              <a:t>haustorium</a:t>
            </a:r>
            <a:r>
              <a:rPr lang="en-US" sz="3200" dirty="0">
                <a:solidFill>
                  <a:srgbClr val="820000"/>
                </a:solidFill>
              </a:rPr>
              <a:t>, endosperm, roots, shoots, and leaves)  germinating coconut seed on its chemical profile, phytochemical analysis and untargeted bioassay. </a:t>
            </a:r>
            <a:endParaRPr lang="en-PH" sz="3200" dirty="0">
              <a:solidFill>
                <a:srgbClr val="820000"/>
              </a:solidFill>
            </a:endParaRPr>
          </a:p>
          <a:p>
            <a:pPr marL="342900" indent="-342900" algn="just">
              <a:lnSpc>
                <a:spcPct val="150000"/>
              </a:lnSpc>
              <a:buFont typeface="Arial" panose="020B0604020202020204" pitchFamily="34" charset="0"/>
              <a:buChar char="•"/>
            </a:pPr>
            <a:endParaRPr lang="en-PH" sz="2800" dirty="0" smtClean="0">
              <a:solidFill>
                <a:srgbClr val="005C2A"/>
              </a:solidFill>
              <a:latin typeface="Arial" panose="020B0604020202020204" pitchFamily="34" charset="0"/>
              <a:ea typeface="Calibri" panose="020F0502020204030204" pitchFamily="34" charset="0"/>
            </a:endParaRPr>
          </a:p>
        </p:txBody>
      </p:sp>
      <p:pic>
        <p:nvPicPr>
          <p:cNvPr id="19" name="Picture 18"/>
          <p:cNvPicPr>
            <a:picLocks noChangeAspect="1"/>
          </p:cNvPicPr>
          <p:nvPr/>
        </p:nvPicPr>
        <p:blipFill>
          <a:blip r:embed="rId2"/>
          <a:stretch>
            <a:fillRect/>
          </a:stretch>
        </p:blipFill>
        <p:spPr>
          <a:xfrm rot="10800000" flipV="1">
            <a:off x="8143" y="1282117"/>
            <a:ext cx="18326941" cy="268180"/>
          </a:xfrm>
          <a:prstGeom prst="rect">
            <a:avLst/>
          </a:prstGeom>
        </p:spPr>
      </p:pic>
    </p:spTree>
    <p:extLst>
      <p:ext uri="{BB962C8B-B14F-4D97-AF65-F5344CB8AC3E}">
        <p14:creationId xmlns:p14="http://schemas.microsoft.com/office/powerpoint/2010/main" val="304134623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Box 13"/>
          <p:cNvSpPr txBox="1"/>
          <p:nvPr/>
        </p:nvSpPr>
        <p:spPr>
          <a:xfrm>
            <a:off x="1671387" y="1531257"/>
            <a:ext cx="2203151" cy="2306426"/>
          </a:xfrm>
          <a:prstGeom prst="rect">
            <a:avLst/>
          </a:prstGeom>
        </p:spPr>
        <p:txBody>
          <a:bodyPr lIns="50800" tIns="50800" rIns="50800" bIns="50800" rtlCol="0" anchor="ctr"/>
          <a:lstStyle/>
          <a:p>
            <a:pPr algn="ctr">
              <a:lnSpc>
                <a:spcPts val="2659"/>
              </a:lnSpc>
              <a:spcBef>
                <a:spcPct val="0"/>
              </a:spcBef>
            </a:pPr>
            <a:endParaRPr/>
          </a:p>
        </p:txBody>
      </p:sp>
      <p:sp>
        <p:nvSpPr>
          <p:cNvPr id="21" name="Round Single Corner Rectangle 20"/>
          <p:cNvSpPr/>
          <p:nvPr/>
        </p:nvSpPr>
        <p:spPr>
          <a:xfrm>
            <a:off x="5494020" y="160397"/>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4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Scope and Limitations   </a:t>
            </a:r>
            <a:r>
              <a:rPr lang="en-PH" sz="4800" b="1" u="sng" dirty="0" smtClean="0">
                <a:solidFill>
                  <a:srgbClr val="820000"/>
                </a:solidFill>
                <a:latin typeface="Arial" panose="020B0604020202020204" pitchFamily="34" charset="0"/>
                <a:cs typeface="Arial" panose="020B0604020202020204" pitchFamily="34" charset="0"/>
              </a:rPr>
              <a:t> </a:t>
            </a:r>
          </a:p>
        </p:txBody>
      </p:sp>
      <p:pic>
        <p:nvPicPr>
          <p:cNvPr id="20" name="Picture 19"/>
          <p:cNvPicPr>
            <a:picLocks noChangeAspect="1"/>
          </p:cNvPicPr>
          <p:nvPr/>
        </p:nvPicPr>
        <p:blipFill>
          <a:blip r:embed="rId2"/>
          <a:stretch>
            <a:fillRect/>
          </a:stretch>
        </p:blipFill>
        <p:spPr>
          <a:xfrm>
            <a:off x="0" y="0"/>
            <a:ext cx="18288000" cy="267611"/>
          </a:xfrm>
          <a:prstGeom prst="rect">
            <a:avLst/>
          </a:prstGeom>
        </p:spPr>
      </p:pic>
      <p:sp>
        <p:nvSpPr>
          <p:cNvPr id="4" name="Parallelogram 3"/>
          <p:cNvSpPr/>
          <p:nvPr/>
        </p:nvSpPr>
        <p:spPr>
          <a:xfrm>
            <a:off x="152401" y="9936689"/>
            <a:ext cx="11963400" cy="269824"/>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2" name="Parallelogram 21"/>
          <p:cNvSpPr/>
          <p:nvPr/>
        </p:nvSpPr>
        <p:spPr>
          <a:xfrm>
            <a:off x="12192000" y="9944100"/>
            <a:ext cx="1421363" cy="228600"/>
          </a:xfrm>
          <a:prstGeom prst="parallelogram">
            <a:avLst/>
          </a:prstGeom>
          <a:solidFill>
            <a:srgbClr val="FFC000"/>
          </a:solidFill>
          <a:ln>
            <a:solidFill>
              <a:srgbClr val="FFC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3" name="Parallelogram 22"/>
          <p:cNvSpPr/>
          <p:nvPr/>
        </p:nvSpPr>
        <p:spPr>
          <a:xfrm>
            <a:off x="13689563" y="9944100"/>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24" name="Picture 23"/>
          <p:cNvPicPr>
            <a:picLocks noChangeAspect="1"/>
          </p:cNvPicPr>
          <p:nvPr/>
        </p:nvPicPr>
        <p:blipFill>
          <a:blip r:embed="rId2"/>
          <a:stretch>
            <a:fillRect/>
          </a:stretch>
        </p:blipFill>
        <p:spPr>
          <a:xfrm rot="10800000" flipV="1">
            <a:off x="-23702" y="9668509"/>
            <a:ext cx="18326941" cy="268180"/>
          </a:xfrm>
          <a:prstGeom prst="rect">
            <a:avLst/>
          </a:prstGeom>
        </p:spPr>
      </p:pic>
      <p:pic>
        <p:nvPicPr>
          <p:cNvPr id="6" name="Picture 5"/>
          <p:cNvPicPr>
            <a:picLocks noChangeAspect="1"/>
          </p:cNvPicPr>
          <p:nvPr/>
        </p:nvPicPr>
        <p:blipFill>
          <a:blip r:embed="rId3"/>
          <a:stretch>
            <a:fillRect/>
          </a:stretch>
        </p:blipFill>
        <p:spPr>
          <a:xfrm>
            <a:off x="15030450" y="488370"/>
            <a:ext cx="3257550" cy="523875"/>
          </a:xfrm>
          <a:prstGeom prst="rect">
            <a:avLst/>
          </a:prstGeom>
        </p:spPr>
      </p:pic>
      <p:sp>
        <p:nvSpPr>
          <p:cNvPr id="25" name="Parallelogram 24"/>
          <p:cNvSpPr/>
          <p:nvPr/>
        </p:nvSpPr>
        <p:spPr>
          <a:xfrm>
            <a:off x="13030200" y="760176"/>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13" name="Picture 12"/>
          <p:cNvPicPr>
            <a:picLocks noChangeAspect="1"/>
          </p:cNvPicPr>
          <p:nvPr/>
        </p:nvPicPr>
        <p:blipFill>
          <a:blip r:embed="rId3"/>
          <a:stretch>
            <a:fillRect/>
          </a:stretch>
        </p:blipFill>
        <p:spPr>
          <a:xfrm rot="10800000">
            <a:off x="-23702" y="488370"/>
            <a:ext cx="3257550" cy="523875"/>
          </a:xfrm>
          <a:prstGeom prst="rect">
            <a:avLst/>
          </a:prstGeom>
        </p:spPr>
      </p:pic>
      <p:sp>
        <p:nvSpPr>
          <p:cNvPr id="14" name="Parallelogram 13"/>
          <p:cNvSpPr/>
          <p:nvPr/>
        </p:nvSpPr>
        <p:spPr>
          <a:xfrm>
            <a:off x="635661" y="481579"/>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95" name="TextBox 30"/>
          <p:cNvSpPr txBox="1"/>
          <p:nvPr/>
        </p:nvSpPr>
        <p:spPr>
          <a:xfrm>
            <a:off x="9411258" y="1491975"/>
            <a:ext cx="592948" cy="502317"/>
          </a:xfrm>
          <a:prstGeom prst="rect">
            <a:avLst/>
          </a:prstGeom>
        </p:spPr>
        <p:txBody>
          <a:bodyPr lIns="0" tIns="0" rIns="0" bIns="0" rtlCol="0" anchor="t">
            <a:spAutoFit/>
          </a:bodyPr>
          <a:lstStyle/>
          <a:p>
            <a:pPr algn="ctr">
              <a:lnSpc>
                <a:spcPts val="4252"/>
              </a:lnSpc>
            </a:pPr>
            <a:r>
              <a:rPr lang="en-US" sz="3037" dirty="0" smtClean="0">
                <a:solidFill>
                  <a:srgbClr val="FFFFFF"/>
                </a:solidFill>
                <a:latin typeface="Montserrat Extra-Bold"/>
              </a:rPr>
              <a:t>3</a:t>
            </a:r>
            <a:endParaRPr lang="en-US" sz="3037" dirty="0">
              <a:solidFill>
                <a:srgbClr val="FFFFFF"/>
              </a:solidFill>
              <a:latin typeface="Montserrat Extra-Bold"/>
            </a:endParaRPr>
          </a:p>
        </p:txBody>
      </p:sp>
      <p:sp>
        <p:nvSpPr>
          <p:cNvPr id="97" name="TextBox 30"/>
          <p:cNvSpPr txBox="1"/>
          <p:nvPr/>
        </p:nvSpPr>
        <p:spPr>
          <a:xfrm>
            <a:off x="9652064" y="7466855"/>
            <a:ext cx="592948" cy="551433"/>
          </a:xfrm>
          <a:prstGeom prst="rect">
            <a:avLst/>
          </a:prstGeom>
        </p:spPr>
        <p:txBody>
          <a:bodyPr lIns="0" tIns="0" rIns="0" bIns="0" rtlCol="0" anchor="t">
            <a:spAutoFit/>
          </a:bodyPr>
          <a:lstStyle/>
          <a:p>
            <a:pPr algn="ctr">
              <a:lnSpc>
                <a:spcPts val="4252"/>
              </a:lnSpc>
            </a:pPr>
            <a:r>
              <a:rPr lang="en-US" sz="3037" dirty="0">
                <a:solidFill>
                  <a:srgbClr val="FFFFFF"/>
                </a:solidFill>
                <a:latin typeface="Montserrat Extra-Bold"/>
              </a:rPr>
              <a:t>4</a:t>
            </a:r>
          </a:p>
        </p:txBody>
      </p:sp>
      <p:pic>
        <p:nvPicPr>
          <p:cNvPr id="19" name="Picture 18"/>
          <p:cNvPicPr>
            <a:picLocks noChangeAspect="1"/>
          </p:cNvPicPr>
          <p:nvPr/>
        </p:nvPicPr>
        <p:blipFill>
          <a:blip r:embed="rId2"/>
          <a:stretch>
            <a:fillRect/>
          </a:stretch>
        </p:blipFill>
        <p:spPr>
          <a:xfrm rot="10800000" flipV="1">
            <a:off x="0" y="1115534"/>
            <a:ext cx="18326941" cy="268180"/>
          </a:xfrm>
          <a:prstGeom prst="rect">
            <a:avLst/>
          </a:prstGeom>
        </p:spPr>
      </p:pic>
      <p:sp>
        <p:nvSpPr>
          <p:cNvPr id="2" name="Rectangle 1"/>
          <p:cNvSpPr/>
          <p:nvPr/>
        </p:nvSpPr>
        <p:spPr>
          <a:xfrm>
            <a:off x="441960" y="1739898"/>
            <a:ext cx="17171437" cy="7417415"/>
          </a:xfrm>
          <a:prstGeom prst="rect">
            <a:avLst/>
          </a:prstGeom>
        </p:spPr>
        <p:txBody>
          <a:bodyPr wrap="square">
            <a:spAutoFit/>
          </a:bodyPr>
          <a:lstStyle/>
          <a:p>
            <a:pPr marL="434340" marR="19050" indent="-342900" algn="just">
              <a:spcBef>
                <a:spcPts val="0"/>
              </a:spcBef>
              <a:spcAft>
                <a:spcPts val="0"/>
              </a:spcAft>
              <a:buFont typeface="Arial" panose="020B0604020202020204" pitchFamily="34" charset="0"/>
              <a:buChar char="•"/>
              <a:tabLst>
                <a:tab pos="685800" algn="l"/>
              </a:tabLst>
            </a:pPr>
            <a:r>
              <a:rPr lang="en-PH" sz="2800" dirty="0">
                <a:solidFill>
                  <a:srgbClr val="820000"/>
                </a:solidFill>
                <a:latin typeface="Arial" panose="020B0604020202020204" pitchFamily="34" charset="0"/>
                <a:ea typeface="Calibri" panose="020F0502020204030204" pitchFamily="34" charset="0"/>
                <a:cs typeface="Arial" panose="020B0604020202020204" pitchFamily="34" charset="0"/>
              </a:rPr>
              <a:t>The samples</a:t>
            </a:r>
            <a:r>
              <a:rPr lang="en-PH" sz="2800" spc="5" dirty="0">
                <a:solidFill>
                  <a:srgbClr val="820000"/>
                </a:solidFill>
                <a:latin typeface="Arial" panose="020B0604020202020204" pitchFamily="34" charset="0"/>
                <a:ea typeface="Calibri" panose="020F0502020204030204" pitchFamily="34" charset="0"/>
                <a:cs typeface="Arial" panose="020B0604020202020204" pitchFamily="34" charset="0"/>
              </a:rPr>
              <a:t> to be used in this study are already in crude </a:t>
            </a:r>
            <a:r>
              <a:rPr lang="en-PH" sz="2800" spc="5" dirty="0" err="1">
                <a:solidFill>
                  <a:srgbClr val="820000"/>
                </a:solidFill>
                <a:latin typeface="Arial" panose="020B0604020202020204" pitchFamily="34" charset="0"/>
                <a:ea typeface="Calibri" panose="020F0502020204030204" pitchFamily="34" charset="0"/>
                <a:cs typeface="Arial" panose="020B0604020202020204" pitchFamily="34" charset="0"/>
              </a:rPr>
              <a:t>methanolic</a:t>
            </a:r>
            <a:r>
              <a:rPr lang="en-PH" sz="2800" spc="5" dirty="0">
                <a:solidFill>
                  <a:srgbClr val="820000"/>
                </a:solidFill>
                <a:latin typeface="Arial" panose="020B0604020202020204" pitchFamily="34" charset="0"/>
                <a:ea typeface="Calibri" panose="020F0502020204030204" pitchFamily="34" charset="0"/>
                <a:cs typeface="Arial" panose="020B0604020202020204" pitchFamily="34" charset="0"/>
              </a:rPr>
              <a:t> extracts prepared by the previous researchers (</a:t>
            </a:r>
            <a:r>
              <a:rPr lang="en-PH" sz="2800" spc="5" dirty="0" err="1">
                <a:solidFill>
                  <a:srgbClr val="820000"/>
                </a:solidFill>
                <a:latin typeface="Arial" panose="020B0604020202020204" pitchFamily="34" charset="0"/>
                <a:ea typeface="Calibri" panose="020F0502020204030204" pitchFamily="34" charset="0"/>
                <a:cs typeface="Arial" panose="020B0604020202020204" pitchFamily="34" charset="0"/>
              </a:rPr>
              <a:t>Ms.</a:t>
            </a:r>
            <a:r>
              <a:rPr lang="en-PH" sz="2800" spc="5" dirty="0">
                <a:solidFill>
                  <a:srgbClr val="820000"/>
                </a:solidFill>
                <a:latin typeface="Arial" panose="020B0604020202020204" pitchFamily="34" charset="0"/>
                <a:ea typeface="Calibri" panose="020F0502020204030204" pitchFamily="34" charset="0"/>
                <a:cs typeface="Arial" panose="020B0604020202020204" pitchFamily="34" charset="0"/>
              </a:rPr>
              <a:t> Kathleen </a:t>
            </a:r>
            <a:r>
              <a:rPr lang="en-PH" sz="2800" spc="5" dirty="0" err="1">
                <a:solidFill>
                  <a:srgbClr val="820000"/>
                </a:solidFill>
                <a:latin typeface="Arial" panose="020B0604020202020204" pitchFamily="34" charset="0"/>
                <a:ea typeface="Calibri" panose="020F0502020204030204" pitchFamily="34" charset="0"/>
                <a:cs typeface="Arial" panose="020B0604020202020204" pitchFamily="34" charset="0"/>
              </a:rPr>
              <a:t>Aligaya</a:t>
            </a:r>
            <a:r>
              <a:rPr lang="en-PH" sz="2800" spc="5" dirty="0">
                <a:solidFill>
                  <a:srgbClr val="820000"/>
                </a:solidFill>
                <a:latin typeface="Arial" panose="020B0604020202020204" pitchFamily="34" charset="0"/>
                <a:ea typeface="Calibri" panose="020F0502020204030204" pitchFamily="34" charset="0"/>
                <a:cs typeface="Arial" panose="020B0604020202020204" pitchFamily="34" charset="0"/>
              </a:rPr>
              <a:t> and </a:t>
            </a:r>
            <a:r>
              <a:rPr lang="en-PH" sz="2800" spc="5" dirty="0" err="1">
                <a:solidFill>
                  <a:srgbClr val="820000"/>
                </a:solidFill>
                <a:latin typeface="Arial" panose="020B0604020202020204" pitchFamily="34" charset="0"/>
                <a:ea typeface="Calibri" panose="020F0502020204030204" pitchFamily="34" charset="0"/>
                <a:cs typeface="Arial" panose="020B0604020202020204" pitchFamily="34" charset="0"/>
              </a:rPr>
              <a:t>Ms.</a:t>
            </a:r>
            <a:r>
              <a:rPr lang="en-PH" sz="2800" spc="5" dirty="0">
                <a:solidFill>
                  <a:srgbClr val="820000"/>
                </a:solidFill>
                <a:latin typeface="Arial" panose="020B0604020202020204" pitchFamily="34" charset="0"/>
                <a:ea typeface="Calibri" panose="020F0502020204030204" pitchFamily="34" charset="0"/>
                <a:cs typeface="Arial" panose="020B0604020202020204" pitchFamily="34" charset="0"/>
              </a:rPr>
              <a:t> Asia Catherine </a:t>
            </a:r>
            <a:r>
              <a:rPr lang="en-PH" sz="2800" spc="5" dirty="0" err="1">
                <a:solidFill>
                  <a:srgbClr val="820000"/>
                </a:solidFill>
                <a:latin typeface="Arial" panose="020B0604020202020204" pitchFamily="34" charset="0"/>
                <a:ea typeface="Calibri" panose="020F0502020204030204" pitchFamily="34" charset="0"/>
                <a:cs typeface="Arial" panose="020B0604020202020204" pitchFamily="34" charset="0"/>
              </a:rPr>
              <a:t>Mahayag</a:t>
            </a:r>
            <a:r>
              <a:rPr lang="en-PH" sz="2800" spc="5" dirty="0">
                <a:solidFill>
                  <a:srgbClr val="820000"/>
                </a:solidFill>
                <a:latin typeface="Arial" panose="020B0604020202020204" pitchFamily="34" charset="0"/>
                <a:ea typeface="Calibri" panose="020F0502020204030204" pitchFamily="34" charset="0"/>
                <a:cs typeface="Arial" panose="020B0604020202020204" pitchFamily="34" charset="0"/>
              </a:rPr>
              <a:t>) of this project under OVCRE, MSU-IIT. The source of the germinating coconut seed was </a:t>
            </a:r>
            <a:r>
              <a:rPr lang="en-PH" sz="2800" dirty="0">
                <a:solidFill>
                  <a:srgbClr val="820000"/>
                </a:solidFill>
                <a:latin typeface="Arial" panose="020B0604020202020204" pitchFamily="34" charset="0"/>
                <a:ea typeface="Calibri" panose="020F0502020204030204" pitchFamily="34" charset="0"/>
                <a:cs typeface="Arial" panose="020B0604020202020204" pitchFamily="34" charset="0"/>
              </a:rPr>
              <a:t>from</a:t>
            </a:r>
            <a:r>
              <a:rPr lang="en-PH" sz="2800" spc="5" dirty="0">
                <a:solidFill>
                  <a:srgbClr val="820000"/>
                </a:solidFill>
                <a:latin typeface="Arial" panose="020B0604020202020204" pitchFamily="34" charset="0"/>
                <a:ea typeface="Calibri" panose="020F0502020204030204" pitchFamily="34" charset="0"/>
                <a:cs typeface="Arial" panose="020B0604020202020204" pitchFamily="34" charset="0"/>
              </a:rPr>
              <a:t> </a:t>
            </a:r>
            <a:r>
              <a:rPr lang="en-PH" sz="2800" dirty="0" err="1">
                <a:solidFill>
                  <a:srgbClr val="820000"/>
                </a:solidFill>
                <a:latin typeface="Arial" panose="020B0604020202020204" pitchFamily="34" charset="0"/>
                <a:ea typeface="Calibri" panose="020F0502020204030204" pitchFamily="34" charset="0"/>
                <a:cs typeface="Arial" panose="020B0604020202020204" pitchFamily="34" charset="0"/>
              </a:rPr>
              <a:t>Katipunan</a:t>
            </a:r>
            <a:r>
              <a:rPr lang="en-PH" sz="2800" dirty="0">
                <a:solidFill>
                  <a:srgbClr val="820000"/>
                </a:solidFill>
                <a:latin typeface="Arial" panose="020B0604020202020204" pitchFamily="34" charset="0"/>
                <a:ea typeface="Calibri" panose="020F0502020204030204" pitchFamily="34" charset="0"/>
                <a:cs typeface="Arial" panose="020B0604020202020204" pitchFamily="34" charset="0"/>
              </a:rPr>
              <a:t>,</a:t>
            </a:r>
            <a:r>
              <a:rPr lang="en-PH" sz="2800" spc="5" dirty="0">
                <a:solidFill>
                  <a:srgbClr val="820000"/>
                </a:solidFill>
                <a:latin typeface="Arial" panose="020B0604020202020204" pitchFamily="34" charset="0"/>
                <a:ea typeface="Calibri" panose="020F0502020204030204" pitchFamily="34" charset="0"/>
                <a:cs typeface="Arial" panose="020B0604020202020204" pitchFamily="34" charset="0"/>
              </a:rPr>
              <a:t> </a:t>
            </a:r>
            <a:r>
              <a:rPr lang="en-PH" sz="2800" dirty="0">
                <a:solidFill>
                  <a:srgbClr val="820000"/>
                </a:solidFill>
                <a:latin typeface="Arial" panose="020B0604020202020204" pitchFamily="34" charset="0"/>
                <a:ea typeface="Calibri" panose="020F0502020204030204" pitchFamily="34" charset="0"/>
                <a:cs typeface="Arial" panose="020B0604020202020204" pitchFamily="34" charset="0"/>
              </a:rPr>
              <a:t>Ramon</a:t>
            </a:r>
            <a:r>
              <a:rPr lang="en-PH" sz="2800" spc="5" dirty="0">
                <a:solidFill>
                  <a:srgbClr val="820000"/>
                </a:solidFill>
                <a:latin typeface="Arial" panose="020B0604020202020204" pitchFamily="34" charset="0"/>
                <a:ea typeface="Calibri" panose="020F0502020204030204" pitchFamily="34" charset="0"/>
                <a:cs typeface="Arial" panose="020B0604020202020204" pitchFamily="34" charset="0"/>
              </a:rPr>
              <a:t> </a:t>
            </a:r>
            <a:r>
              <a:rPr lang="en-PH" sz="2800" dirty="0">
                <a:solidFill>
                  <a:srgbClr val="820000"/>
                </a:solidFill>
                <a:latin typeface="Arial" panose="020B0604020202020204" pitchFamily="34" charset="0"/>
                <a:ea typeface="Calibri" panose="020F0502020204030204" pitchFamily="34" charset="0"/>
                <a:cs typeface="Arial" panose="020B0604020202020204" pitchFamily="34" charset="0"/>
              </a:rPr>
              <a:t>Magsaysay, </a:t>
            </a:r>
            <a:r>
              <a:rPr lang="en-PH" sz="2800" dirty="0" err="1">
                <a:solidFill>
                  <a:srgbClr val="820000"/>
                </a:solidFill>
                <a:latin typeface="Arial" panose="020B0604020202020204" pitchFamily="34" charset="0"/>
                <a:ea typeface="Calibri" panose="020F0502020204030204" pitchFamily="34" charset="0"/>
                <a:cs typeface="Arial" panose="020B0604020202020204" pitchFamily="34" charset="0"/>
              </a:rPr>
              <a:t>Zamboanga</a:t>
            </a:r>
            <a:r>
              <a:rPr lang="en-PH" sz="2800" dirty="0">
                <a:solidFill>
                  <a:srgbClr val="820000"/>
                </a:solidFill>
                <a:latin typeface="Arial" panose="020B0604020202020204" pitchFamily="34" charset="0"/>
                <a:ea typeface="Calibri" panose="020F0502020204030204" pitchFamily="34" charset="0"/>
                <a:cs typeface="Arial" panose="020B0604020202020204" pitchFamily="34" charset="0"/>
              </a:rPr>
              <a:t> del Sur, Philippines. </a:t>
            </a:r>
            <a:endParaRPr lang="en-PH" sz="2800" dirty="0" smtClean="0">
              <a:solidFill>
                <a:srgbClr val="820000"/>
              </a:solidFill>
              <a:latin typeface="Arial" panose="020B0604020202020204" pitchFamily="34" charset="0"/>
              <a:ea typeface="Calibri" panose="020F0502020204030204" pitchFamily="34" charset="0"/>
              <a:cs typeface="Arial" panose="020B0604020202020204" pitchFamily="34" charset="0"/>
            </a:endParaRPr>
          </a:p>
          <a:p>
            <a:pPr marL="91440" marR="19050" algn="just">
              <a:spcBef>
                <a:spcPts val="0"/>
              </a:spcBef>
              <a:spcAft>
                <a:spcPts val="0"/>
              </a:spcAft>
              <a:tabLst>
                <a:tab pos="685800" algn="l"/>
              </a:tabLst>
            </a:pPr>
            <a:endParaRPr lang="en-PH" sz="2800" dirty="0" smtClean="0">
              <a:solidFill>
                <a:srgbClr val="820000"/>
              </a:solidFill>
              <a:latin typeface="Arial" panose="020B0604020202020204" pitchFamily="34" charset="0"/>
              <a:ea typeface="Calibri" panose="020F0502020204030204" pitchFamily="34" charset="0"/>
              <a:cs typeface="Arial" panose="020B0604020202020204" pitchFamily="34" charset="0"/>
            </a:endParaRPr>
          </a:p>
          <a:p>
            <a:pPr marL="434340" marR="19050" indent="-342900" algn="just">
              <a:spcBef>
                <a:spcPts val="0"/>
              </a:spcBef>
              <a:spcAft>
                <a:spcPts val="0"/>
              </a:spcAft>
              <a:buFont typeface="Arial" panose="020B0604020202020204" pitchFamily="34" charset="0"/>
              <a:buChar char="•"/>
              <a:tabLst>
                <a:tab pos="685800" algn="l"/>
              </a:tabLst>
            </a:pPr>
            <a:r>
              <a:rPr lang="en-PH" sz="2800" dirty="0" smtClean="0">
                <a:solidFill>
                  <a:srgbClr val="820000"/>
                </a:solidFill>
                <a:latin typeface="Arial" panose="020B0604020202020204" pitchFamily="34" charset="0"/>
                <a:ea typeface="Calibri" panose="020F0502020204030204" pitchFamily="34" charset="0"/>
                <a:cs typeface="Arial" panose="020B0604020202020204" pitchFamily="34" charset="0"/>
              </a:rPr>
              <a:t>This </a:t>
            </a:r>
            <a:r>
              <a:rPr lang="en-PH" sz="2800" dirty="0">
                <a:solidFill>
                  <a:srgbClr val="820000"/>
                </a:solidFill>
                <a:latin typeface="Arial" panose="020B0604020202020204" pitchFamily="34" charset="0"/>
                <a:ea typeface="Calibri" panose="020F0502020204030204" pitchFamily="34" charset="0"/>
                <a:cs typeface="Arial" panose="020B0604020202020204" pitchFamily="34" charset="0"/>
              </a:rPr>
              <a:t>study will be limited to a single variety of coconut, the common variety, Local Tall and will use only the six-month-old germinating coconut seeds. </a:t>
            </a:r>
            <a:endParaRPr lang="en-PH" sz="2800" dirty="0" smtClean="0">
              <a:solidFill>
                <a:srgbClr val="820000"/>
              </a:solidFill>
              <a:latin typeface="Arial" panose="020B0604020202020204" pitchFamily="34" charset="0"/>
              <a:ea typeface="Calibri" panose="020F0502020204030204" pitchFamily="34" charset="0"/>
              <a:cs typeface="Arial" panose="020B0604020202020204" pitchFamily="34" charset="0"/>
            </a:endParaRPr>
          </a:p>
          <a:p>
            <a:pPr marL="91440" marR="19050" algn="just">
              <a:spcBef>
                <a:spcPts val="0"/>
              </a:spcBef>
              <a:spcAft>
                <a:spcPts val="0"/>
              </a:spcAft>
              <a:tabLst>
                <a:tab pos="685800" algn="l"/>
              </a:tabLst>
            </a:pPr>
            <a:endParaRPr lang="en-PH" sz="2800" dirty="0" smtClean="0">
              <a:solidFill>
                <a:srgbClr val="820000"/>
              </a:solidFill>
              <a:latin typeface="Arial" panose="020B0604020202020204" pitchFamily="34" charset="0"/>
              <a:ea typeface="Calibri" panose="020F0502020204030204" pitchFamily="34" charset="0"/>
              <a:cs typeface="Arial" panose="020B0604020202020204" pitchFamily="34" charset="0"/>
            </a:endParaRPr>
          </a:p>
          <a:p>
            <a:pPr marL="434340" marR="19050" indent="-342900" algn="just">
              <a:spcBef>
                <a:spcPts val="0"/>
              </a:spcBef>
              <a:spcAft>
                <a:spcPts val="0"/>
              </a:spcAft>
              <a:buFont typeface="Arial" panose="020B0604020202020204" pitchFamily="34" charset="0"/>
              <a:buChar char="•"/>
              <a:tabLst>
                <a:tab pos="685800" algn="l"/>
              </a:tabLst>
            </a:pPr>
            <a:r>
              <a:rPr lang="en-PH" sz="2800" dirty="0" smtClean="0">
                <a:solidFill>
                  <a:srgbClr val="820000"/>
                </a:solidFill>
                <a:latin typeface="Arial" panose="020B0604020202020204" pitchFamily="34" charset="0"/>
                <a:ea typeface="Calibri" panose="020F0502020204030204" pitchFamily="34" charset="0"/>
                <a:cs typeface="Arial" panose="020B0604020202020204" pitchFamily="34" charset="0"/>
              </a:rPr>
              <a:t>Extraction </a:t>
            </a:r>
            <a:r>
              <a:rPr lang="en-PH" sz="2800" dirty="0">
                <a:solidFill>
                  <a:srgbClr val="820000"/>
                </a:solidFill>
                <a:latin typeface="Arial" panose="020B0604020202020204" pitchFamily="34" charset="0"/>
                <a:ea typeface="Calibri" panose="020F0502020204030204" pitchFamily="34" charset="0"/>
                <a:cs typeface="Arial" panose="020B0604020202020204" pitchFamily="34" charset="0"/>
              </a:rPr>
              <a:t>method is limited only to methanol extraction. Characterization of the crude </a:t>
            </a:r>
            <a:r>
              <a:rPr lang="en-PH" sz="2800" dirty="0" err="1">
                <a:solidFill>
                  <a:srgbClr val="820000"/>
                </a:solidFill>
                <a:latin typeface="Arial" panose="020B0604020202020204" pitchFamily="34" charset="0"/>
                <a:ea typeface="Calibri" panose="020F0502020204030204" pitchFamily="34" charset="0"/>
                <a:cs typeface="Arial" panose="020B0604020202020204" pitchFamily="34" charset="0"/>
              </a:rPr>
              <a:t>methanolic</a:t>
            </a:r>
            <a:r>
              <a:rPr lang="en-PH" sz="2800" dirty="0">
                <a:solidFill>
                  <a:srgbClr val="820000"/>
                </a:solidFill>
                <a:latin typeface="Arial" panose="020B0604020202020204" pitchFamily="34" charset="0"/>
                <a:ea typeface="Calibri" panose="020F0502020204030204" pitchFamily="34" charset="0"/>
                <a:cs typeface="Arial" panose="020B0604020202020204" pitchFamily="34" charset="0"/>
              </a:rPr>
              <a:t> extracts will be limited to chemical profiling (GC-MS and LC-MS) and phytochemical analysis (Total Phenolic and </a:t>
            </a:r>
            <a:r>
              <a:rPr lang="en-PH" sz="2800" dirty="0" err="1">
                <a:solidFill>
                  <a:srgbClr val="820000"/>
                </a:solidFill>
                <a:latin typeface="Arial" panose="020B0604020202020204" pitchFamily="34" charset="0"/>
                <a:ea typeface="Calibri" panose="020F0502020204030204" pitchFamily="34" charset="0"/>
                <a:cs typeface="Arial" panose="020B0604020202020204" pitchFamily="34" charset="0"/>
              </a:rPr>
              <a:t>Flavanoid</a:t>
            </a:r>
            <a:r>
              <a:rPr lang="en-PH" sz="2800" dirty="0">
                <a:solidFill>
                  <a:srgbClr val="820000"/>
                </a:solidFill>
                <a:latin typeface="Arial" panose="020B0604020202020204" pitchFamily="34" charset="0"/>
                <a:ea typeface="Calibri" panose="020F0502020204030204" pitchFamily="34" charset="0"/>
                <a:cs typeface="Arial" panose="020B0604020202020204" pitchFamily="34" charset="0"/>
              </a:rPr>
              <a:t> content, Antioxidant activity using DPPH and FRAP assays</a:t>
            </a:r>
            <a:r>
              <a:rPr lang="en-PH" sz="2800" dirty="0" smtClean="0">
                <a:solidFill>
                  <a:srgbClr val="820000"/>
                </a:solidFill>
                <a:latin typeface="Arial" panose="020B0604020202020204" pitchFamily="34" charset="0"/>
                <a:ea typeface="Calibri" panose="020F0502020204030204" pitchFamily="34" charset="0"/>
                <a:cs typeface="Arial" panose="020B0604020202020204" pitchFamily="34" charset="0"/>
              </a:rPr>
              <a:t>).</a:t>
            </a:r>
          </a:p>
          <a:p>
            <a:pPr marL="91440" marR="19050" algn="just">
              <a:spcBef>
                <a:spcPts val="0"/>
              </a:spcBef>
              <a:spcAft>
                <a:spcPts val="0"/>
              </a:spcAft>
              <a:tabLst>
                <a:tab pos="685800" algn="l"/>
              </a:tabLst>
            </a:pPr>
            <a:endParaRPr lang="en-PH" sz="2800" dirty="0" smtClean="0">
              <a:solidFill>
                <a:srgbClr val="820000"/>
              </a:solidFill>
              <a:latin typeface="Arial" panose="020B0604020202020204" pitchFamily="34" charset="0"/>
              <a:ea typeface="Calibri" panose="020F0502020204030204" pitchFamily="34" charset="0"/>
              <a:cs typeface="Arial" panose="020B0604020202020204" pitchFamily="34" charset="0"/>
            </a:endParaRPr>
          </a:p>
          <a:p>
            <a:pPr marL="434340" marR="19050" indent="-342900" algn="just">
              <a:spcBef>
                <a:spcPts val="0"/>
              </a:spcBef>
              <a:spcAft>
                <a:spcPts val="0"/>
              </a:spcAft>
              <a:buFont typeface="Arial" panose="020B0604020202020204" pitchFamily="34" charset="0"/>
              <a:buChar char="•"/>
              <a:tabLst>
                <a:tab pos="685800" algn="l"/>
              </a:tabLst>
            </a:pPr>
            <a:r>
              <a:rPr lang="en-PH" sz="2800" dirty="0" smtClean="0">
                <a:solidFill>
                  <a:srgbClr val="820000"/>
                </a:solidFill>
                <a:latin typeface="Arial" panose="020B0604020202020204" pitchFamily="34" charset="0"/>
                <a:ea typeface="Calibri" panose="020F0502020204030204" pitchFamily="34" charset="0"/>
                <a:cs typeface="Arial" panose="020B0604020202020204" pitchFamily="34" charset="0"/>
              </a:rPr>
              <a:t> </a:t>
            </a:r>
            <a:r>
              <a:rPr lang="en-PH" sz="2800" dirty="0">
                <a:solidFill>
                  <a:srgbClr val="820000"/>
                </a:solidFill>
                <a:latin typeface="Arial" panose="020B0604020202020204" pitchFamily="34" charset="0"/>
                <a:ea typeface="Calibri" panose="020F0502020204030204" pitchFamily="34" charset="0"/>
                <a:cs typeface="Arial" panose="020B0604020202020204" pitchFamily="34" charset="0"/>
              </a:rPr>
              <a:t>GC-MS and LC-MS analysis will be conducted in De La Salle University Manila. Phytochemical analysis will use the </a:t>
            </a:r>
            <a:r>
              <a:rPr lang="en-PH" sz="2800" dirty="0" err="1">
                <a:solidFill>
                  <a:srgbClr val="820000"/>
                </a:solidFill>
                <a:latin typeface="Arial" panose="020B0604020202020204" pitchFamily="34" charset="0"/>
                <a:ea typeface="Calibri" panose="020F0502020204030204" pitchFamily="34" charset="0"/>
                <a:cs typeface="Arial" panose="020B0604020202020204" pitchFamily="34" charset="0"/>
              </a:rPr>
              <a:t>Microplate</a:t>
            </a:r>
            <a:r>
              <a:rPr lang="en-PH" sz="2800" dirty="0">
                <a:solidFill>
                  <a:srgbClr val="820000"/>
                </a:solidFill>
                <a:latin typeface="Arial" panose="020B0604020202020204" pitchFamily="34" charset="0"/>
                <a:ea typeface="Calibri" panose="020F0502020204030204" pitchFamily="34" charset="0"/>
                <a:cs typeface="Arial" panose="020B0604020202020204" pitchFamily="34" charset="0"/>
              </a:rPr>
              <a:t> Reader in the Department of Chemistry, MSU-IIT</a:t>
            </a:r>
            <a:r>
              <a:rPr lang="en-PH" sz="2800" dirty="0" smtClean="0">
                <a:solidFill>
                  <a:srgbClr val="820000"/>
                </a:solidFill>
                <a:latin typeface="Arial" panose="020B0604020202020204" pitchFamily="34" charset="0"/>
                <a:ea typeface="Calibri" panose="020F0502020204030204" pitchFamily="34" charset="0"/>
                <a:cs typeface="Arial" panose="020B0604020202020204" pitchFamily="34" charset="0"/>
              </a:rPr>
              <a:t>.</a:t>
            </a:r>
          </a:p>
          <a:p>
            <a:pPr marL="434340" marR="19050" indent="-342900" algn="just">
              <a:spcBef>
                <a:spcPts val="0"/>
              </a:spcBef>
              <a:spcAft>
                <a:spcPts val="0"/>
              </a:spcAft>
              <a:buFont typeface="Arial" panose="020B0604020202020204" pitchFamily="34" charset="0"/>
              <a:buChar char="•"/>
              <a:tabLst>
                <a:tab pos="685800" algn="l"/>
              </a:tabLst>
            </a:pPr>
            <a:endParaRPr lang="en-PH" sz="2800" dirty="0" smtClean="0">
              <a:solidFill>
                <a:srgbClr val="820000"/>
              </a:solidFill>
              <a:latin typeface="Arial" panose="020B0604020202020204" pitchFamily="34" charset="0"/>
              <a:ea typeface="Calibri" panose="020F0502020204030204" pitchFamily="34" charset="0"/>
              <a:cs typeface="Arial" panose="020B0604020202020204" pitchFamily="34" charset="0"/>
            </a:endParaRPr>
          </a:p>
          <a:p>
            <a:pPr marL="434340" marR="19050" indent="-342900" algn="just">
              <a:spcBef>
                <a:spcPts val="0"/>
              </a:spcBef>
              <a:spcAft>
                <a:spcPts val="0"/>
              </a:spcAft>
              <a:buFont typeface="Arial" panose="020B0604020202020204" pitchFamily="34" charset="0"/>
              <a:buChar char="•"/>
              <a:tabLst>
                <a:tab pos="685800" algn="l"/>
              </a:tabLst>
            </a:pPr>
            <a:r>
              <a:rPr lang="en-PH" sz="2800" dirty="0" smtClean="0">
                <a:solidFill>
                  <a:srgbClr val="820000"/>
                </a:solidFill>
                <a:latin typeface="Arial" panose="020B0604020202020204" pitchFamily="34" charset="0"/>
                <a:ea typeface="Calibri" panose="020F0502020204030204" pitchFamily="34" charset="0"/>
                <a:cs typeface="Arial" panose="020B0604020202020204" pitchFamily="34" charset="0"/>
              </a:rPr>
              <a:t> </a:t>
            </a:r>
            <a:r>
              <a:rPr lang="en-PH" sz="2800" dirty="0">
                <a:solidFill>
                  <a:srgbClr val="820000"/>
                </a:solidFill>
                <a:highlight>
                  <a:srgbClr val="FFFF00"/>
                </a:highlight>
                <a:latin typeface="Arial" panose="020B0604020202020204" pitchFamily="34" charset="0"/>
                <a:ea typeface="Calibri" panose="020F0502020204030204" pitchFamily="34" charset="0"/>
                <a:cs typeface="Arial" panose="020B0604020202020204" pitchFamily="34" charset="0"/>
              </a:rPr>
              <a:t>Column chromatography and thin layer chromatography will be used for further purification of the extracts for further untargeted bioassay.</a:t>
            </a:r>
            <a:endParaRPr lang="en-PH" sz="2800" dirty="0">
              <a:solidFill>
                <a:srgbClr val="820000"/>
              </a:solidFill>
              <a:effectLst/>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3734077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Box 13"/>
          <p:cNvSpPr txBox="1"/>
          <p:nvPr/>
        </p:nvSpPr>
        <p:spPr>
          <a:xfrm>
            <a:off x="1671387" y="1531257"/>
            <a:ext cx="2203151" cy="2306426"/>
          </a:xfrm>
          <a:prstGeom prst="rect">
            <a:avLst/>
          </a:prstGeom>
        </p:spPr>
        <p:txBody>
          <a:bodyPr lIns="50800" tIns="50800" rIns="50800" bIns="50800" rtlCol="0" anchor="ctr"/>
          <a:lstStyle/>
          <a:p>
            <a:pPr algn="ctr">
              <a:lnSpc>
                <a:spcPts val="2659"/>
              </a:lnSpc>
              <a:spcBef>
                <a:spcPct val="0"/>
              </a:spcBef>
            </a:pPr>
            <a:endParaRPr/>
          </a:p>
        </p:txBody>
      </p:sp>
      <p:pic>
        <p:nvPicPr>
          <p:cNvPr id="20" name="Picture 19"/>
          <p:cNvPicPr>
            <a:picLocks noChangeAspect="1"/>
          </p:cNvPicPr>
          <p:nvPr/>
        </p:nvPicPr>
        <p:blipFill>
          <a:blip r:embed="rId2"/>
          <a:stretch>
            <a:fillRect/>
          </a:stretch>
        </p:blipFill>
        <p:spPr>
          <a:xfrm>
            <a:off x="0" y="0"/>
            <a:ext cx="18288000" cy="267611"/>
          </a:xfrm>
          <a:prstGeom prst="rect">
            <a:avLst/>
          </a:prstGeom>
        </p:spPr>
      </p:pic>
      <p:sp>
        <p:nvSpPr>
          <p:cNvPr id="4" name="Parallelogram 3"/>
          <p:cNvSpPr/>
          <p:nvPr/>
        </p:nvSpPr>
        <p:spPr>
          <a:xfrm>
            <a:off x="152401" y="9936689"/>
            <a:ext cx="11963400" cy="269824"/>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2" name="Parallelogram 21"/>
          <p:cNvSpPr/>
          <p:nvPr/>
        </p:nvSpPr>
        <p:spPr>
          <a:xfrm>
            <a:off x="12192000" y="9944100"/>
            <a:ext cx="1421363" cy="228600"/>
          </a:xfrm>
          <a:prstGeom prst="parallelogram">
            <a:avLst/>
          </a:prstGeom>
          <a:solidFill>
            <a:srgbClr val="FFC000"/>
          </a:solidFill>
          <a:ln>
            <a:solidFill>
              <a:srgbClr val="FFC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3" name="Parallelogram 22"/>
          <p:cNvSpPr/>
          <p:nvPr/>
        </p:nvSpPr>
        <p:spPr>
          <a:xfrm>
            <a:off x="13689563" y="9944100"/>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24" name="Picture 23"/>
          <p:cNvPicPr>
            <a:picLocks noChangeAspect="1"/>
          </p:cNvPicPr>
          <p:nvPr/>
        </p:nvPicPr>
        <p:blipFill>
          <a:blip r:embed="rId2"/>
          <a:stretch>
            <a:fillRect/>
          </a:stretch>
        </p:blipFill>
        <p:spPr>
          <a:xfrm rot="10800000" flipV="1">
            <a:off x="-23702" y="9668509"/>
            <a:ext cx="18326941" cy="268180"/>
          </a:xfrm>
          <a:prstGeom prst="rect">
            <a:avLst/>
          </a:prstGeom>
        </p:spPr>
      </p:pic>
      <p:pic>
        <p:nvPicPr>
          <p:cNvPr id="6" name="Picture 5"/>
          <p:cNvPicPr>
            <a:picLocks noChangeAspect="1"/>
          </p:cNvPicPr>
          <p:nvPr/>
        </p:nvPicPr>
        <p:blipFill>
          <a:blip r:embed="rId3"/>
          <a:stretch>
            <a:fillRect/>
          </a:stretch>
        </p:blipFill>
        <p:spPr>
          <a:xfrm>
            <a:off x="15030450" y="488370"/>
            <a:ext cx="3257550" cy="523875"/>
          </a:xfrm>
          <a:prstGeom prst="rect">
            <a:avLst/>
          </a:prstGeom>
        </p:spPr>
      </p:pic>
      <p:sp>
        <p:nvSpPr>
          <p:cNvPr id="25" name="Parallelogram 24"/>
          <p:cNvSpPr/>
          <p:nvPr/>
        </p:nvSpPr>
        <p:spPr>
          <a:xfrm>
            <a:off x="13030200" y="760176"/>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13" name="Picture 12"/>
          <p:cNvPicPr>
            <a:picLocks noChangeAspect="1"/>
          </p:cNvPicPr>
          <p:nvPr/>
        </p:nvPicPr>
        <p:blipFill>
          <a:blip r:embed="rId3"/>
          <a:stretch>
            <a:fillRect/>
          </a:stretch>
        </p:blipFill>
        <p:spPr>
          <a:xfrm rot="10800000">
            <a:off x="0" y="612538"/>
            <a:ext cx="3257550" cy="523875"/>
          </a:xfrm>
          <a:prstGeom prst="rect">
            <a:avLst/>
          </a:prstGeom>
        </p:spPr>
      </p:pic>
      <p:sp>
        <p:nvSpPr>
          <p:cNvPr id="14" name="Parallelogram 13"/>
          <p:cNvSpPr/>
          <p:nvPr/>
        </p:nvSpPr>
        <p:spPr>
          <a:xfrm>
            <a:off x="659363" y="577015"/>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95" name="TextBox 30"/>
          <p:cNvSpPr txBox="1"/>
          <p:nvPr/>
        </p:nvSpPr>
        <p:spPr>
          <a:xfrm>
            <a:off x="9411258" y="1491975"/>
            <a:ext cx="592948" cy="502317"/>
          </a:xfrm>
          <a:prstGeom prst="rect">
            <a:avLst/>
          </a:prstGeom>
        </p:spPr>
        <p:txBody>
          <a:bodyPr lIns="0" tIns="0" rIns="0" bIns="0" rtlCol="0" anchor="t">
            <a:spAutoFit/>
          </a:bodyPr>
          <a:lstStyle/>
          <a:p>
            <a:pPr algn="ctr">
              <a:lnSpc>
                <a:spcPts val="4252"/>
              </a:lnSpc>
            </a:pPr>
            <a:r>
              <a:rPr lang="en-US" sz="3037" dirty="0" smtClean="0">
                <a:solidFill>
                  <a:srgbClr val="FFFFFF"/>
                </a:solidFill>
                <a:latin typeface="Montserrat Extra-Bold"/>
              </a:rPr>
              <a:t>3</a:t>
            </a:r>
            <a:endParaRPr lang="en-US" sz="3037" dirty="0">
              <a:solidFill>
                <a:srgbClr val="FFFFFF"/>
              </a:solidFill>
              <a:latin typeface="Montserrat Extra-Bold"/>
            </a:endParaRPr>
          </a:p>
        </p:txBody>
      </p:sp>
      <p:sp>
        <p:nvSpPr>
          <p:cNvPr id="19" name="Round Single Corner Rectangle 18"/>
          <p:cNvSpPr/>
          <p:nvPr/>
        </p:nvSpPr>
        <p:spPr>
          <a:xfrm>
            <a:off x="5458080" y="146656"/>
            <a:ext cx="7594618"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5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2.Review of Literature     </a:t>
            </a:r>
            <a:r>
              <a:rPr lang="en-PH" sz="6000" b="1" u="sng" dirty="0" smtClean="0">
                <a:solidFill>
                  <a:srgbClr val="820000"/>
                </a:solidFill>
                <a:latin typeface="Arial" panose="020B0604020202020204" pitchFamily="34" charset="0"/>
                <a:cs typeface="Arial" panose="020B0604020202020204" pitchFamily="34" charset="0"/>
              </a:rPr>
              <a:t> </a:t>
            </a:r>
          </a:p>
        </p:txBody>
      </p:sp>
      <p:sp>
        <p:nvSpPr>
          <p:cNvPr id="2" name="Rectangle 1"/>
          <p:cNvSpPr/>
          <p:nvPr/>
        </p:nvSpPr>
        <p:spPr>
          <a:xfrm>
            <a:off x="8661301" y="1531257"/>
            <a:ext cx="9505950" cy="458780"/>
          </a:xfrm>
          <a:prstGeom prst="rect">
            <a:avLst/>
          </a:prstGeom>
          <a:ln w="38100">
            <a:solidFill>
              <a:srgbClr val="005C2A"/>
            </a:solidFill>
          </a:ln>
        </p:spPr>
        <p:txBody>
          <a:bodyPr wrap="square">
            <a:spAutoFit/>
          </a:bodyPr>
          <a:lstStyle/>
          <a:p>
            <a:pPr marL="91440" marR="0" algn="just">
              <a:lnSpc>
                <a:spcPct val="107000"/>
              </a:lnSpc>
              <a:spcBef>
                <a:spcPts val="0"/>
              </a:spcBef>
              <a:spcAft>
                <a:spcPts val="800"/>
              </a:spcAft>
            </a:pPr>
            <a:endParaRPr lang="en-PH" sz="2400" b="1" dirty="0">
              <a:latin typeface="Arial" panose="020B0604020202020204" pitchFamily="34" charset="0"/>
              <a:ea typeface="Times New Roman" panose="02020603050405020304" pitchFamily="18" charset="0"/>
              <a:cs typeface="Times New Roman" panose="02020603050405020304" pitchFamily="18" charset="0"/>
            </a:endParaRPr>
          </a:p>
        </p:txBody>
      </p:sp>
      <p:sp>
        <p:nvSpPr>
          <p:cNvPr id="26" name="Round Single Corner Rectangle 25"/>
          <p:cNvSpPr/>
          <p:nvPr/>
        </p:nvSpPr>
        <p:spPr>
          <a:xfrm>
            <a:off x="8534221" y="1233004"/>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PH" sz="36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2.1 The Coconut     </a:t>
            </a:r>
            <a:r>
              <a:rPr lang="en-PH" sz="4000" b="1" u="sng" dirty="0" smtClean="0">
                <a:solidFill>
                  <a:srgbClr val="820000"/>
                </a:solidFill>
                <a:latin typeface="Arial" panose="020B0604020202020204" pitchFamily="34" charset="0"/>
                <a:cs typeface="Arial" panose="020B0604020202020204" pitchFamily="34" charset="0"/>
              </a:rPr>
              <a:t> </a:t>
            </a:r>
            <a:endParaRPr lang="en-PH" sz="5400" b="1" u="sng" dirty="0" smtClean="0">
              <a:solidFill>
                <a:srgbClr val="820000"/>
              </a:solidFill>
              <a:latin typeface="Arial" panose="020B0604020202020204" pitchFamily="34" charset="0"/>
              <a:cs typeface="Arial" panose="020B0604020202020204" pitchFamily="34" charset="0"/>
            </a:endParaRPr>
          </a:p>
        </p:txBody>
      </p:sp>
      <p:pic>
        <p:nvPicPr>
          <p:cNvPr id="10" name="Picture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04621" y="1571303"/>
            <a:ext cx="8229600" cy="7600421"/>
          </a:xfrm>
          <a:prstGeom prst="rect">
            <a:avLst/>
          </a:prstGeom>
          <a:ln w="28575">
            <a:solidFill>
              <a:srgbClr val="005C2A"/>
            </a:solidFill>
          </a:ln>
        </p:spPr>
      </p:pic>
      <p:sp>
        <p:nvSpPr>
          <p:cNvPr id="11" name="Rectangle 10"/>
          <p:cNvSpPr/>
          <p:nvPr/>
        </p:nvSpPr>
        <p:spPr>
          <a:xfrm>
            <a:off x="212177" y="9171724"/>
            <a:ext cx="6610399" cy="707886"/>
          </a:xfrm>
          <a:prstGeom prst="rect">
            <a:avLst/>
          </a:prstGeom>
        </p:spPr>
        <p:txBody>
          <a:bodyPr wrap="none">
            <a:spAutoFit/>
          </a:bodyPr>
          <a:lstStyle/>
          <a:p>
            <a:r>
              <a:rPr lang="en-PH" sz="2000" b="1" dirty="0">
                <a:hlinkClick r:id="rId5"/>
              </a:rPr>
              <a:t>https://</a:t>
            </a:r>
            <a:r>
              <a:rPr lang="en-PH" sz="2000" b="1" dirty="0" smtClean="0">
                <a:hlinkClick r:id="rId5"/>
              </a:rPr>
              <a:t>www.shutterstock.com/search/germinating-coconut</a:t>
            </a:r>
            <a:endParaRPr lang="en-PH" sz="2000" b="1" dirty="0" smtClean="0"/>
          </a:p>
          <a:p>
            <a:endParaRPr lang="en-PH" sz="2000" b="1" dirty="0"/>
          </a:p>
        </p:txBody>
      </p:sp>
      <p:pic>
        <p:nvPicPr>
          <p:cNvPr id="27" name="image3.png" descr="Diagram&#10;&#10;Description automatically generated"/>
          <p:cNvPicPr/>
          <p:nvPr/>
        </p:nvPicPr>
        <p:blipFill>
          <a:blip r:embed="rId6" cstate="print"/>
          <a:stretch>
            <a:fillRect/>
          </a:stretch>
        </p:blipFill>
        <p:spPr>
          <a:xfrm>
            <a:off x="11911243" y="4457700"/>
            <a:ext cx="5934203" cy="4078212"/>
          </a:xfrm>
          <a:prstGeom prst="rect">
            <a:avLst/>
          </a:prstGeom>
        </p:spPr>
      </p:pic>
      <p:sp>
        <p:nvSpPr>
          <p:cNvPr id="12" name="Rectangle 11"/>
          <p:cNvSpPr/>
          <p:nvPr/>
        </p:nvSpPr>
        <p:spPr>
          <a:xfrm>
            <a:off x="12601427" y="8596296"/>
            <a:ext cx="5455981" cy="369332"/>
          </a:xfrm>
          <a:prstGeom prst="rect">
            <a:avLst/>
          </a:prstGeom>
        </p:spPr>
        <p:txBody>
          <a:bodyPr wrap="none">
            <a:spAutoFit/>
          </a:bodyPr>
          <a:lstStyle/>
          <a:p>
            <a:r>
              <a:rPr lang="en-PH" b="1" dirty="0">
                <a:latin typeface="Arial" panose="020B0604020202020204" pitchFamily="34" charset="0"/>
                <a:ea typeface="Calibri" panose="020F0502020204030204" pitchFamily="34" charset="0"/>
              </a:rPr>
              <a:t>Figure</a:t>
            </a:r>
            <a:r>
              <a:rPr lang="en-PH" b="1" spc="-20" dirty="0">
                <a:latin typeface="Arial" panose="020B0604020202020204" pitchFamily="34" charset="0"/>
                <a:ea typeface="Calibri" panose="020F0502020204030204" pitchFamily="34" charset="0"/>
              </a:rPr>
              <a:t> </a:t>
            </a:r>
            <a:r>
              <a:rPr lang="en-PH" b="1" dirty="0">
                <a:latin typeface="Arial" panose="020B0604020202020204" pitchFamily="34" charset="0"/>
                <a:ea typeface="Calibri" panose="020F0502020204030204" pitchFamily="34" charset="0"/>
              </a:rPr>
              <a:t>3.</a:t>
            </a:r>
            <a:r>
              <a:rPr lang="en-PH" b="1" spc="-5" dirty="0">
                <a:latin typeface="Arial" panose="020B0604020202020204" pitchFamily="34" charset="0"/>
                <a:ea typeface="Calibri" panose="020F0502020204030204" pitchFamily="34" charset="0"/>
              </a:rPr>
              <a:t> </a:t>
            </a:r>
            <a:r>
              <a:rPr lang="en-PH" b="1" dirty="0">
                <a:latin typeface="Arial" panose="020B0604020202020204" pitchFamily="34" charset="0"/>
                <a:ea typeface="Calibri" panose="020F0502020204030204" pitchFamily="34" charset="0"/>
              </a:rPr>
              <a:t>Different</a:t>
            </a:r>
            <a:r>
              <a:rPr lang="en-PH" b="1" spc="-5" dirty="0">
                <a:latin typeface="Arial" panose="020B0604020202020204" pitchFamily="34" charset="0"/>
                <a:ea typeface="Calibri" panose="020F0502020204030204" pitchFamily="34" charset="0"/>
              </a:rPr>
              <a:t> </a:t>
            </a:r>
            <a:r>
              <a:rPr lang="en-PH" b="1" dirty="0">
                <a:latin typeface="Arial" panose="020B0604020202020204" pitchFamily="34" charset="0"/>
                <a:ea typeface="Calibri" panose="020F0502020204030204" pitchFamily="34" charset="0"/>
              </a:rPr>
              <a:t>parts</a:t>
            </a:r>
            <a:r>
              <a:rPr lang="en-PH" b="1" spc="-15" dirty="0">
                <a:latin typeface="Arial" panose="020B0604020202020204" pitchFamily="34" charset="0"/>
                <a:ea typeface="Calibri" panose="020F0502020204030204" pitchFamily="34" charset="0"/>
              </a:rPr>
              <a:t> </a:t>
            </a:r>
            <a:r>
              <a:rPr lang="en-PH" b="1" dirty="0">
                <a:latin typeface="Arial" panose="020B0604020202020204" pitchFamily="34" charset="0"/>
                <a:ea typeface="Calibri" panose="020F0502020204030204" pitchFamily="34" charset="0"/>
              </a:rPr>
              <a:t>of</a:t>
            </a:r>
            <a:r>
              <a:rPr lang="en-PH" b="1" spc="-10" dirty="0">
                <a:latin typeface="Arial" panose="020B0604020202020204" pitchFamily="34" charset="0"/>
                <a:ea typeface="Calibri" panose="020F0502020204030204" pitchFamily="34" charset="0"/>
              </a:rPr>
              <a:t> </a:t>
            </a:r>
            <a:r>
              <a:rPr lang="en-PH" b="1" dirty="0">
                <a:latin typeface="Arial" panose="020B0604020202020204" pitchFamily="34" charset="0"/>
                <a:ea typeface="Calibri" panose="020F0502020204030204" pitchFamily="34" charset="0"/>
              </a:rPr>
              <a:t>a</a:t>
            </a:r>
            <a:r>
              <a:rPr lang="en-PH" b="1" spc="-20" dirty="0">
                <a:latin typeface="Arial" panose="020B0604020202020204" pitchFamily="34" charset="0"/>
                <a:ea typeface="Calibri" panose="020F0502020204030204" pitchFamily="34" charset="0"/>
              </a:rPr>
              <a:t> </a:t>
            </a:r>
            <a:r>
              <a:rPr lang="en-PH" b="1" dirty="0">
                <a:latin typeface="Arial" panose="020B0604020202020204" pitchFamily="34" charset="0"/>
                <a:ea typeface="Calibri" panose="020F0502020204030204" pitchFamily="34" charset="0"/>
              </a:rPr>
              <a:t>single</a:t>
            </a:r>
            <a:r>
              <a:rPr lang="en-PH" b="1" spc="-20" dirty="0">
                <a:latin typeface="Arial" panose="020B0604020202020204" pitchFamily="34" charset="0"/>
                <a:ea typeface="Calibri" panose="020F0502020204030204" pitchFamily="34" charset="0"/>
              </a:rPr>
              <a:t> </a:t>
            </a:r>
            <a:r>
              <a:rPr lang="en-PH" b="1" dirty="0">
                <a:latin typeface="Arial" panose="020B0604020202020204" pitchFamily="34" charset="0"/>
                <a:ea typeface="Calibri" panose="020F0502020204030204" pitchFamily="34" charset="0"/>
              </a:rPr>
              <a:t>coconut fruit</a:t>
            </a:r>
            <a:endParaRPr lang="en-PH" b="1" dirty="0"/>
          </a:p>
        </p:txBody>
      </p:sp>
      <p:sp>
        <p:nvSpPr>
          <p:cNvPr id="15" name="Rectangle 14"/>
          <p:cNvSpPr/>
          <p:nvPr/>
        </p:nvSpPr>
        <p:spPr>
          <a:xfrm>
            <a:off x="11963400" y="9029354"/>
            <a:ext cx="6096669" cy="646331"/>
          </a:xfrm>
          <a:prstGeom prst="rect">
            <a:avLst/>
          </a:prstGeom>
        </p:spPr>
        <p:txBody>
          <a:bodyPr wrap="none">
            <a:spAutoFit/>
          </a:bodyPr>
          <a:lstStyle/>
          <a:p>
            <a:r>
              <a:rPr lang="en-PH" b="1" dirty="0">
                <a:hlinkClick r:id="rId7"/>
              </a:rPr>
              <a:t>https://</a:t>
            </a:r>
            <a:r>
              <a:rPr lang="en-PH" b="1" dirty="0" smtClean="0">
                <a:hlinkClick r:id="rId7"/>
              </a:rPr>
              <a:t>coconuthandbook.tetrapak.com/chapter/composition</a:t>
            </a:r>
            <a:endParaRPr lang="en-PH" b="1" dirty="0" smtClean="0"/>
          </a:p>
          <a:p>
            <a:endParaRPr lang="en-PH" dirty="0"/>
          </a:p>
        </p:txBody>
      </p:sp>
      <p:sp>
        <p:nvSpPr>
          <p:cNvPr id="16" name="Right Arrow 15"/>
          <p:cNvSpPr/>
          <p:nvPr/>
        </p:nvSpPr>
        <p:spPr>
          <a:xfrm>
            <a:off x="9416020" y="5490232"/>
            <a:ext cx="2027068" cy="2210387"/>
          </a:xfrm>
          <a:prstGeom prst="rightArrow">
            <a:avLst/>
          </a:prstGeom>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3" name="Rectangle 2"/>
          <p:cNvSpPr/>
          <p:nvPr/>
        </p:nvSpPr>
        <p:spPr>
          <a:xfrm>
            <a:off x="8701446" y="2211754"/>
            <a:ext cx="9144000" cy="2492990"/>
          </a:xfrm>
          <a:prstGeom prst="rect">
            <a:avLst/>
          </a:prstGeom>
        </p:spPr>
        <p:txBody>
          <a:bodyPr>
            <a:spAutoFit/>
          </a:bodyPr>
          <a:lstStyle/>
          <a:p>
            <a:pPr algn="just"/>
            <a:r>
              <a:rPr lang="en-PH" sz="3200" i="1" dirty="0" err="1">
                <a:solidFill>
                  <a:srgbClr val="820000"/>
                </a:solidFill>
                <a:latin typeface="Arial" panose="020B0604020202020204" pitchFamily="34" charset="0"/>
                <a:ea typeface="Calibri" panose="020F0502020204030204" pitchFamily="34" charset="0"/>
              </a:rPr>
              <a:t>Cocos</a:t>
            </a:r>
            <a:r>
              <a:rPr lang="en-PH" sz="3200" i="1" dirty="0">
                <a:solidFill>
                  <a:srgbClr val="820000"/>
                </a:solidFill>
                <a:latin typeface="Arial" panose="020B0604020202020204" pitchFamily="34" charset="0"/>
                <a:ea typeface="Calibri" panose="020F0502020204030204" pitchFamily="34" charset="0"/>
              </a:rPr>
              <a:t> </a:t>
            </a:r>
            <a:r>
              <a:rPr lang="en-PH" sz="3200" i="1" dirty="0" err="1">
                <a:solidFill>
                  <a:srgbClr val="820000"/>
                </a:solidFill>
                <a:latin typeface="Arial" panose="020B0604020202020204" pitchFamily="34" charset="0"/>
                <a:ea typeface="Calibri" panose="020F0502020204030204" pitchFamily="34" charset="0"/>
              </a:rPr>
              <a:t>nucifera</a:t>
            </a:r>
            <a:r>
              <a:rPr lang="en-PH" sz="3200" i="1" dirty="0">
                <a:solidFill>
                  <a:srgbClr val="820000"/>
                </a:solidFill>
                <a:latin typeface="Arial" panose="020B0604020202020204" pitchFamily="34" charset="0"/>
                <a:ea typeface="Calibri" panose="020F0502020204030204" pitchFamily="34" charset="0"/>
              </a:rPr>
              <a:t> (Linn)</a:t>
            </a:r>
            <a:r>
              <a:rPr lang="en-PH" sz="3200" dirty="0">
                <a:solidFill>
                  <a:srgbClr val="820000"/>
                </a:solidFill>
                <a:latin typeface="Arial" panose="020B0604020202020204" pitchFamily="34" charset="0"/>
                <a:ea typeface="Calibri" panose="020F0502020204030204" pitchFamily="34" charset="0"/>
              </a:rPr>
              <a:t> is an important member of the family </a:t>
            </a:r>
            <a:r>
              <a:rPr lang="en-PH" sz="3200" dirty="0" err="1">
                <a:solidFill>
                  <a:srgbClr val="820000"/>
                </a:solidFill>
                <a:latin typeface="Arial" panose="020B0604020202020204" pitchFamily="34" charset="0"/>
                <a:ea typeface="Calibri" panose="020F0502020204030204" pitchFamily="34" charset="0"/>
              </a:rPr>
              <a:t>Arecaceae</a:t>
            </a:r>
            <a:r>
              <a:rPr lang="en-PH" sz="3200" dirty="0">
                <a:solidFill>
                  <a:srgbClr val="820000"/>
                </a:solidFill>
                <a:latin typeface="Arial" panose="020B0604020202020204" pitchFamily="34" charset="0"/>
                <a:ea typeface="Calibri" panose="020F0502020204030204" pitchFamily="34" charset="0"/>
              </a:rPr>
              <a:t> (palm family) popularly known as coconut, coco, coco-da-Bahia, or coconut-of </a:t>
            </a:r>
            <a:r>
              <a:rPr lang="en-PH" sz="3200" dirty="0" smtClean="0">
                <a:solidFill>
                  <a:srgbClr val="820000"/>
                </a:solidFill>
                <a:latin typeface="Arial" panose="020B0604020202020204" pitchFamily="34" charset="0"/>
                <a:ea typeface="Calibri" panose="020F0502020204030204" pitchFamily="34" charset="0"/>
              </a:rPr>
              <a:t>the-beach</a:t>
            </a:r>
            <a:r>
              <a:rPr lang="en-PH" sz="2800" dirty="0" smtClean="0">
                <a:solidFill>
                  <a:srgbClr val="820000"/>
                </a:solidFill>
                <a:latin typeface="Arial" panose="020B0604020202020204" pitchFamily="34" charset="0"/>
                <a:ea typeface="Calibri" panose="020F0502020204030204" pitchFamily="34" charset="0"/>
              </a:rPr>
              <a:t>.</a:t>
            </a:r>
            <a:r>
              <a:rPr lang="en-PH" sz="2800" baseline="30000" dirty="0">
                <a:latin typeface="Arial" panose="020B0604020202020204" pitchFamily="34" charset="0"/>
                <a:cs typeface="Arial" panose="020B0604020202020204" pitchFamily="34" charset="0"/>
              </a:rPr>
              <a:t> </a:t>
            </a:r>
            <a:r>
              <a:rPr lang="en-PH" sz="2800" baseline="30000" dirty="0" smtClean="0">
                <a:latin typeface="Arial" panose="020B0604020202020204" pitchFamily="34" charset="0"/>
                <a:cs typeface="Arial" panose="020B0604020202020204" pitchFamily="34" charset="0"/>
              </a:rPr>
              <a:t>11,16</a:t>
            </a:r>
            <a:endParaRPr lang="en-PH" sz="2800" dirty="0">
              <a:latin typeface="Arial" panose="020B0604020202020204" pitchFamily="34" charset="0"/>
              <a:ea typeface="Calibri" panose="020F0502020204030204" pitchFamily="34" charset="0"/>
              <a:cs typeface="Arial" panose="020B0604020202020204" pitchFamily="34" charset="0"/>
            </a:endParaRPr>
          </a:p>
          <a:p>
            <a:pPr algn="just"/>
            <a:endParaRPr lang="en-PH" sz="2800" dirty="0">
              <a:solidFill>
                <a:srgbClr val="820000"/>
              </a:solidFill>
            </a:endParaRPr>
          </a:p>
        </p:txBody>
      </p:sp>
    </p:spTree>
    <p:extLst>
      <p:ext uri="{BB962C8B-B14F-4D97-AF65-F5344CB8AC3E}">
        <p14:creationId xmlns:p14="http://schemas.microsoft.com/office/powerpoint/2010/main" val="19818601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Box 13"/>
          <p:cNvSpPr txBox="1"/>
          <p:nvPr/>
        </p:nvSpPr>
        <p:spPr>
          <a:xfrm>
            <a:off x="1671387" y="1531257"/>
            <a:ext cx="2203151" cy="2306426"/>
          </a:xfrm>
          <a:prstGeom prst="rect">
            <a:avLst/>
          </a:prstGeom>
        </p:spPr>
        <p:txBody>
          <a:bodyPr lIns="50800" tIns="50800" rIns="50800" bIns="50800" rtlCol="0" anchor="ctr"/>
          <a:lstStyle/>
          <a:p>
            <a:pPr algn="ctr">
              <a:lnSpc>
                <a:spcPts val="2659"/>
              </a:lnSpc>
              <a:spcBef>
                <a:spcPct val="0"/>
              </a:spcBef>
            </a:pPr>
            <a:endParaRPr/>
          </a:p>
        </p:txBody>
      </p:sp>
      <p:pic>
        <p:nvPicPr>
          <p:cNvPr id="20" name="Picture 19"/>
          <p:cNvPicPr>
            <a:picLocks noChangeAspect="1"/>
          </p:cNvPicPr>
          <p:nvPr/>
        </p:nvPicPr>
        <p:blipFill>
          <a:blip r:embed="rId2"/>
          <a:stretch>
            <a:fillRect/>
          </a:stretch>
        </p:blipFill>
        <p:spPr>
          <a:xfrm>
            <a:off x="0" y="0"/>
            <a:ext cx="18288000" cy="267611"/>
          </a:xfrm>
          <a:prstGeom prst="rect">
            <a:avLst/>
          </a:prstGeom>
        </p:spPr>
      </p:pic>
      <p:sp>
        <p:nvSpPr>
          <p:cNvPr id="4" name="Parallelogram 3"/>
          <p:cNvSpPr/>
          <p:nvPr/>
        </p:nvSpPr>
        <p:spPr>
          <a:xfrm>
            <a:off x="152401" y="9936689"/>
            <a:ext cx="11963400" cy="269824"/>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2" name="Parallelogram 21"/>
          <p:cNvSpPr/>
          <p:nvPr/>
        </p:nvSpPr>
        <p:spPr>
          <a:xfrm>
            <a:off x="12192000" y="9944100"/>
            <a:ext cx="1421363" cy="228600"/>
          </a:xfrm>
          <a:prstGeom prst="parallelogram">
            <a:avLst/>
          </a:prstGeom>
          <a:solidFill>
            <a:srgbClr val="FFC000"/>
          </a:solidFill>
          <a:ln>
            <a:solidFill>
              <a:srgbClr val="FFC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3" name="Parallelogram 22"/>
          <p:cNvSpPr/>
          <p:nvPr/>
        </p:nvSpPr>
        <p:spPr>
          <a:xfrm>
            <a:off x="13689563" y="9944100"/>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24" name="Picture 23"/>
          <p:cNvPicPr>
            <a:picLocks noChangeAspect="1"/>
          </p:cNvPicPr>
          <p:nvPr/>
        </p:nvPicPr>
        <p:blipFill>
          <a:blip r:embed="rId2"/>
          <a:stretch>
            <a:fillRect/>
          </a:stretch>
        </p:blipFill>
        <p:spPr>
          <a:xfrm rot="10800000" flipV="1">
            <a:off x="-23702" y="9668509"/>
            <a:ext cx="18326941" cy="268180"/>
          </a:xfrm>
          <a:prstGeom prst="rect">
            <a:avLst/>
          </a:prstGeom>
        </p:spPr>
      </p:pic>
      <p:pic>
        <p:nvPicPr>
          <p:cNvPr id="6" name="Picture 5"/>
          <p:cNvPicPr>
            <a:picLocks noChangeAspect="1"/>
          </p:cNvPicPr>
          <p:nvPr/>
        </p:nvPicPr>
        <p:blipFill>
          <a:blip r:embed="rId3"/>
          <a:stretch>
            <a:fillRect/>
          </a:stretch>
        </p:blipFill>
        <p:spPr>
          <a:xfrm>
            <a:off x="15030450" y="488370"/>
            <a:ext cx="3257550" cy="523875"/>
          </a:xfrm>
          <a:prstGeom prst="rect">
            <a:avLst/>
          </a:prstGeom>
        </p:spPr>
      </p:pic>
      <p:sp>
        <p:nvSpPr>
          <p:cNvPr id="25" name="Parallelogram 24"/>
          <p:cNvSpPr/>
          <p:nvPr/>
        </p:nvSpPr>
        <p:spPr>
          <a:xfrm>
            <a:off x="13030200" y="760176"/>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13" name="Picture 12"/>
          <p:cNvPicPr>
            <a:picLocks noChangeAspect="1"/>
          </p:cNvPicPr>
          <p:nvPr/>
        </p:nvPicPr>
        <p:blipFill>
          <a:blip r:embed="rId3"/>
          <a:stretch>
            <a:fillRect/>
          </a:stretch>
        </p:blipFill>
        <p:spPr>
          <a:xfrm rot="10800000">
            <a:off x="0" y="612538"/>
            <a:ext cx="3257550" cy="523875"/>
          </a:xfrm>
          <a:prstGeom prst="rect">
            <a:avLst/>
          </a:prstGeom>
        </p:spPr>
      </p:pic>
      <p:sp>
        <p:nvSpPr>
          <p:cNvPr id="14" name="Parallelogram 13"/>
          <p:cNvSpPr/>
          <p:nvPr/>
        </p:nvSpPr>
        <p:spPr>
          <a:xfrm>
            <a:off x="659363" y="577015"/>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97" name="TextBox 30"/>
          <p:cNvSpPr txBox="1"/>
          <p:nvPr/>
        </p:nvSpPr>
        <p:spPr>
          <a:xfrm>
            <a:off x="9652064" y="7466855"/>
            <a:ext cx="592948" cy="551433"/>
          </a:xfrm>
          <a:prstGeom prst="rect">
            <a:avLst/>
          </a:prstGeom>
        </p:spPr>
        <p:txBody>
          <a:bodyPr lIns="0" tIns="0" rIns="0" bIns="0" rtlCol="0" anchor="t">
            <a:spAutoFit/>
          </a:bodyPr>
          <a:lstStyle/>
          <a:p>
            <a:pPr algn="ctr">
              <a:lnSpc>
                <a:spcPts val="4252"/>
              </a:lnSpc>
            </a:pPr>
            <a:r>
              <a:rPr lang="en-US" sz="3037" dirty="0">
                <a:solidFill>
                  <a:srgbClr val="FFFFFF"/>
                </a:solidFill>
                <a:latin typeface="Montserrat Extra-Bold"/>
              </a:rPr>
              <a:t>4</a:t>
            </a:r>
          </a:p>
        </p:txBody>
      </p:sp>
      <p:sp>
        <p:nvSpPr>
          <p:cNvPr id="19" name="Round Single Corner Rectangle 18"/>
          <p:cNvSpPr/>
          <p:nvPr/>
        </p:nvSpPr>
        <p:spPr>
          <a:xfrm>
            <a:off x="5494020" y="160397"/>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5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Review of Literature     </a:t>
            </a:r>
            <a:r>
              <a:rPr lang="en-PH" sz="6000" b="1" u="sng" dirty="0" smtClean="0">
                <a:solidFill>
                  <a:srgbClr val="820000"/>
                </a:solidFill>
                <a:latin typeface="Arial" panose="020B0604020202020204" pitchFamily="34" charset="0"/>
                <a:cs typeface="Arial" panose="020B0604020202020204" pitchFamily="34" charset="0"/>
              </a:rPr>
              <a:t> </a:t>
            </a:r>
          </a:p>
        </p:txBody>
      </p:sp>
      <p:sp>
        <p:nvSpPr>
          <p:cNvPr id="26" name="Round Single Corner Rectangle 25"/>
          <p:cNvSpPr/>
          <p:nvPr/>
        </p:nvSpPr>
        <p:spPr>
          <a:xfrm>
            <a:off x="0" y="1216837"/>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PH" sz="5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a:t>
            </a:r>
            <a:r>
              <a:rPr lang="en-PH" sz="3200" dirty="0">
                <a:solidFill>
                  <a:srgbClr val="820000"/>
                </a:solidFill>
                <a:latin typeface="Arial" panose="020B0604020202020204" pitchFamily="34" charset="0"/>
                <a:cs typeface="Arial" panose="020B0604020202020204" pitchFamily="34" charset="0"/>
              </a:rPr>
              <a:t>2.2	Coconut Seed Germination</a:t>
            </a:r>
          </a:p>
          <a:p>
            <a:r>
              <a:rPr lang="en-PH" sz="32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a:t>
            </a:r>
            <a:r>
              <a:rPr lang="en-PH" sz="3600" b="1" u="sng" dirty="0" smtClean="0">
                <a:solidFill>
                  <a:srgbClr val="820000"/>
                </a:solidFill>
                <a:latin typeface="Arial" panose="020B0604020202020204" pitchFamily="34" charset="0"/>
                <a:cs typeface="Arial" panose="020B0604020202020204" pitchFamily="34" charset="0"/>
              </a:rPr>
              <a:t> </a:t>
            </a:r>
            <a:endParaRPr lang="en-PH" sz="6000" b="1" u="sng" dirty="0" smtClean="0">
              <a:solidFill>
                <a:srgbClr val="820000"/>
              </a:solidFill>
              <a:latin typeface="Arial" panose="020B0604020202020204" pitchFamily="34" charset="0"/>
              <a:cs typeface="Arial" panose="020B0604020202020204" pitchFamily="34" charset="0"/>
            </a:endParaRPr>
          </a:p>
        </p:txBody>
      </p: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41936" y="2290564"/>
            <a:ext cx="10003076" cy="3675814"/>
          </a:xfrm>
          <a:prstGeom prst="rect">
            <a:avLst/>
          </a:prstGeom>
        </p:spPr>
      </p:pic>
      <p:sp>
        <p:nvSpPr>
          <p:cNvPr id="27" name="Rectangle 26"/>
          <p:cNvSpPr/>
          <p:nvPr/>
        </p:nvSpPr>
        <p:spPr>
          <a:xfrm>
            <a:off x="194577" y="5966378"/>
            <a:ext cx="9989126" cy="3170099"/>
          </a:xfrm>
          <a:prstGeom prst="rect">
            <a:avLst/>
          </a:prstGeom>
        </p:spPr>
        <p:txBody>
          <a:bodyPr wrap="square">
            <a:spAutoFit/>
          </a:bodyPr>
          <a:lstStyle/>
          <a:p>
            <a:pPr algn="just"/>
            <a:r>
              <a:rPr lang="en-US" sz="2000" b="1" dirty="0"/>
              <a:t>Figure 4.</a:t>
            </a:r>
            <a:r>
              <a:rPr lang="en-US" sz="2000" dirty="0"/>
              <a:t> Coconut germination stages: (</a:t>
            </a:r>
            <a:r>
              <a:rPr lang="en-US" sz="2000" b="1" dirty="0"/>
              <a:t>a</a:t>
            </a:r>
            <a:r>
              <a:rPr lang="en-US" sz="2000" dirty="0"/>
              <a:t>) </a:t>
            </a:r>
            <a:r>
              <a:rPr lang="en-US" sz="2000" dirty="0" err="1"/>
              <a:t>Ungerminated</a:t>
            </a:r>
            <a:r>
              <a:rPr lang="en-US" sz="2000" dirty="0"/>
              <a:t> coconut fruit. Embryo (</a:t>
            </a:r>
            <a:r>
              <a:rPr lang="en-US" sz="2000" dirty="0" err="1"/>
              <a:t>em</a:t>
            </a:r>
            <a:r>
              <a:rPr lang="en-US" sz="2000" dirty="0"/>
              <a:t>) consists of a short </a:t>
            </a:r>
            <a:r>
              <a:rPr lang="en-US" sz="2000" dirty="0" err="1"/>
              <a:t>plumular</a:t>
            </a:r>
            <a:r>
              <a:rPr lang="en-US" sz="2000" dirty="0"/>
              <a:t>-radicular axis. The </a:t>
            </a:r>
            <a:r>
              <a:rPr lang="en-US" sz="2000" dirty="0" err="1"/>
              <a:t>plumule</a:t>
            </a:r>
            <a:r>
              <a:rPr lang="en-US" sz="2000" dirty="0"/>
              <a:t> consists of a central </a:t>
            </a:r>
            <a:r>
              <a:rPr lang="en-US" sz="2000" dirty="0" err="1"/>
              <a:t>meristematic</a:t>
            </a:r>
            <a:r>
              <a:rPr lang="en-US" sz="2000" dirty="0"/>
              <a:t> zone enclosed by scaly-leaf </a:t>
            </a:r>
            <a:r>
              <a:rPr lang="en-US" sz="2000" dirty="0" err="1"/>
              <a:t>primordia</a:t>
            </a:r>
            <a:r>
              <a:rPr lang="en-US" sz="2000" dirty="0"/>
              <a:t>, which are then surrounded by the </a:t>
            </a:r>
            <a:r>
              <a:rPr lang="en-US" sz="2000" dirty="0" err="1"/>
              <a:t>cotyledonary</a:t>
            </a:r>
            <a:r>
              <a:rPr lang="en-US" sz="2000" dirty="0"/>
              <a:t> petiole. (</a:t>
            </a:r>
            <a:r>
              <a:rPr lang="en-US" sz="2000" b="1" dirty="0"/>
              <a:t>b</a:t>
            </a:r>
            <a:r>
              <a:rPr lang="en-US" sz="2000" dirty="0"/>
              <a:t>) In the proximal end of the embryo, the </a:t>
            </a:r>
            <a:r>
              <a:rPr lang="en-US" sz="2000" dirty="0" err="1"/>
              <a:t>cotyledonary</a:t>
            </a:r>
            <a:r>
              <a:rPr lang="en-US" sz="2000" dirty="0"/>
              <a:t> petiole (</a:t>
            </a:r>
            <a:r>
              <a:rPr lang="en-US" sz="2000" dirty="0" err="1"/>
              <a:t>cp</a:t>
            </a:r>
            <a:r>
              <a:rPr lang="en-US" sz="2000" dirty="0"/>
              <a:t>) extends through the germination pore (</a:t>
            </a:r>
            <a:r>
              <a:rPr lang="en-US" sz="2000" dirty="0" err="1"/>
              <a:t>gp</a:t>
            </a:r>
            <a:r>
              <a:rPr lang="en-US" sz="2000" dirty="0"/>
              <a:t>). (</a:t>
            </a:r>
            <a:r>
              <a:rPr lang="en-US" sz="2000" b="1" dirty="0"/>
              <a:t>c</a:t>
            </a:r>
            <a:r>
              <a:rPr lang="en-US" sz="2000" dirty="0"/>
              <a:t>) </a:t>
            </a:r>
            <a:r>
              <a:rPr lang="en-US" sz="2000" dirty="0" err="1"/>
              <a:t>Germinative</a:t>
            </a:r>
            <a:r>
              <a:rPr lang="en-US" sz="2000" dirty="0"/>
              <a:t> button formation and radicle emergence (</a:t>
            </a:r>
            <a:r>
              <a:rPr lang="en-US" sz="2000" dirty="0" err="1"/>
              <a:t>ra</a:t>
            </a:r>
            <a:r>
              <a:rPr lang="en-US" sz="2000" dirty="0"/>
              <a:t>) from the </a:t>
            </a:r>
            <a:r>
              <a:rPr lang="en-US" sz="2000" dirty="0" err="1"/>
              <a:t>cotyledonary</a:t>
            </a:r>
            <a:r>
              <a:rPr lang="en-US" sz="2000" dirty="0"/>
              <a:t> petiole. The </a:t>
            </a:r>
            <a:r>
              <a:rPr lang="en-US" sz="2000" dirty="0" err="1"/>
              <a:t>cotyledonary</a:t>
            </a:r>
            <a:r>
              <a:rPr lang="en-US" sz="2000" dirty="0"/>
              <a:t> blade (distal end of the embryo) starts expanding to form a </a:t>
            </a:r>
            <a:r>
              <a:rPr lang="en-US" sz="2000" dirty="0" err="1"/>
              <a:t>haustorium</a:t>
            </a:r>
            <a:r>
              <a:rPr lang="en-US" sz="2000" dirty="0"/>
              <a:t> (ha). (</a:t>
            </a:r>
            <a:r>
              <a:rPr lang="en-US" sz="2000" b="1" dirty="0"/>
              <a:t>d</a:t>
            </a:r>
            <a:r>
              <a:rPr lang="en-US" sz="2000" dirty="0"/>
              <a:t>) Radicle elongation, </a:t>
            </a:r>
            <a:r>
              <a:rPr lang="en-US" sz="2000" dirty="0" err="1"/>
              <a:t>plumule</a:t>
            </a:r>
            <a:r>
              <a:rPr lang="en-US" sz="2000" dirty="0"/>
              <a:t> emergence and continuous </a:t>
            </a:r>
            <a:r>
              <a:rPr lang="en-US" sz="2000" dirty="0" err="1"/>
              <a:t>haustorium</a:t>
            </a:r>
            <a:r>
              <a:rPr lang="en-US" sz="2000" dirty="0"/>
              <a:t> growth. (</a:t>
            </a:r>
            <a:r>
              <a:rPr lang="en-US" sz="2000" b="1" dirty="0"/>
              <a:t>e</a:t>
            </a:r>
            <a:r>
              <a:rPr lang="en-US" sz="2000" dirty="0"/>
              <a:t>) Secondary roots forming, </a:t>
            </a:r>
            <a:r>
              <a:rPr lang="en-US" sz="2000" dirty="0" err="1"/>
              <a:t>plumule</a:t>
            </a:r>
            <a:r>
              <a:rPr lang="en-US" sz="2000" dirty="0"/>
              <a:t> elongation and first leaves, extensive </a:t>
            </a:r>
            <a:r>
              <a:rPr lang="en-US" sz="2000" dirty="0" err="1"/>
              <a:t>haustorium</a:t>
            </a:r>
            <a:r>
              <a:rPr lang="en-US" sz="2000" dirty="0"/>
              <a:t> growth. (</a:t>
            </a:r>
            <a:r>
              <a:rPr lang="en-US" sz="2000" b="1" dirty="0"/>
              <a:t>f</a:t>
            </a:r>
            <a:r>
              <a:rPr lang="en-US" sz="2000" dirty="0"/>
              <a:t>) Secondary root (</a:t>
            </a:r>
            <a:r>
              <a:rPr lang="en-US" sz="2000" dirty="0" err="1"/>
              <a:t>sr</a:t>
            </a:r>
            <a:r>
              <a:rPr lang="en-US" sz="2000" dirty="0"/>
              <a:t>) growth, leaf growth, </a:t>
            </a:r>
            <a:r>
              <a:rPr lang="en-US" sz="2000" dirty="0" err="1"/>
              <a:t>haustorium</a:t>
            </a:r>
            <a:r>
              <a:rPr lang="en-US" sz="2000" dirty="0"/>
              <a:t> completely fills the inner cavity (endosperm). </a:t>
            </a:r>
            <a:endParaRPr lang="en-PH" sz="2000" dirty="0"/>
          </a:p>
        </p:txBody>
      </p:sp>
      <p:sp>
        <p:nvSpPr>
          <p:cNvPr id="28" name="Rectangle 27"/>
          <p:cNvSpPr/>
          <p:nvPr/>
        </p:nvSpPr>
        <p:spPr>
          <a:xfrm>
            <a:off x="194577" y="9170293"/>
            <a:ext cx="4802725" cy="646331"/>
          </a:xfrm>
          <a:prstGeom prst="rect">
            <a:avLst/>
          </a:prstGeom>
        </p:spPr>
        <p:txBody>
          <a:bodyPr wrap="none">
            <a:spAutoFit/>
          </a:bodyPr>
          <a:lstStyle/>
          <a:p>
            <a:r>
              <a:rPr lang="en-PH" b="1" dirty="0">
                <a:hlinkClick r:id="rId5"/>
              </a:rPr>
              <a:t>https://</a:t>
            </a:r>
            <a:r>
              <a:rPr lang="en-PH" b="1" dirty="0" smtClean="0">
                <a:hlinkClick r:id="rId5"/>
              </a:rPr>
              <a:t>www.mdpi.com/2223-7747/11/23/3293</a:t>
            </a:r>
            <a:endParaRPr lang="en-PH" b="1" dirty="0" smtClean="0"/>
          </a:p>
          <a:p>
            <a:endParaRPr lang="en-PH" b="1" dirty="0"/>
          </a:p>
        </p:txBody>
      </p:sp>
      <p:pic>
        <p:nvPicPr>
          <p:cNvPr id="30" name="Picture 29"/>
          <p:cNvPicPr/>
          <p:nvPr/>
        </p:nvPicPr>
        <p:blipFill>
          <a:blip r:embed="rId6"/>
          <a:stretch>
            <a:fillRect/>
          </a:stretch>
        </p:blipFill>
        <p:spPr>
          <a:xfrm>
            <a:off x="10591800" y="1925452"/>
            <a:ext cx="7262043" cy="6092836"/>
          </a:xfrm>
          <a:prstGeom prst="rect">
            <a:avLst/>
          </a:prstGeom>
        </p:spPr>
      </p:pic>
      <p:sp>
        <p:nvSpPr>
          <p:cNvPr id="2" name="Rectangle 18"/>
          <p:cNvSpPr>
            <a:spLocks noChangeArrowheads="1"/>
          </p:cNvSpPr>
          <p:nvPr/>
        </p:nvSpPr>
        <p:spPr bwMode="auto">
          <a:xfrm>
            <a:off x="0" y="0"/>
            <a:ext cx="18288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PH" sz="1200" b="1" i="0" u="none" strike="noStrike" cap="none" normalizeH="0" baseline="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Figure 4. </a:t>
            </a:r>
            <a:r>
              <a:rPr kumimoji="0" lang="en-PH" sz="1200" b="0" i="0" u="none" strike="noStrike" cap="none" normalizeH="0" baseline="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Comparison of Early and Late Germination</a:t>
            </a:r>
            <a:r>
              <a:rPr kumimoji="0" lang="en-PH" sz="1200" b="0" i="0" u="none" strike="noStrike" cap="none" normalizeH="0" baseline="3000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3</a:t>
            </a:r>
            <a:r>
              <a:rPr kumimoji="0" lang="en-PH" sz="1200" b="1" i="0" u="none" strike="noStrike" cap="none" normalizeH="0" baseline="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endParaRPr kumimoji="0" lang="en-PH" sz="1800" b="0" i="0" u="none" strike="noStrike" cap="none" normalizeH="0" baseline="0" smtClean="0">
              <a:ln>
                <a:noFill/>
              </a:ln>
              <a:solidFill>
                <a:schemeClr val="tx1"/>
              </a:solidFill>
              <a:effectLst/>
              <a:latin typeface="Arial" panose="020B0604020202020204" pitchFamily="34" charset="0"/>
            </a:endParaRPr>
          </a:p>
        </p:txBody>
      </p:sp>
      <p:sp>
        <p:nvSpPr>
          <p:cNvPr id="3" name="Rectangle 19"/>
          <p:cNvSpPr>
            <a:spLocks noChangeArrowheads="1"/>
          </p:cNvSpPr>
          <p:nvPr/>
        </p:nvSpPr>
        <p:spPr bwMode="auto">
          <a:xfrm>
            <a:off x="11015051" y="8093953"/>
            <a:ext cx="641553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PH" sz="2000" b="1"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Figure 4. </a:t>
            </a:r>
            <a:r>
              <a:rPr kumimoji="0" lang="en-PH" sz="20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Comparison of Early and Late Germination</a:t>
            </a:r>
            <a:r>
              <a:rPr kumimoji="0" lang="en-PH" sz="2000" b="0" i="0" u="none" strike="noStrike" cap="none" normalizeH="0" baseline="3000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3</a:t>
            </a:r>
            <a:r>
              <a:rPr kumimoji="0" lang="en-PH" sz="2000" b="1"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endParaRPr kumimoji="0" lang="en-PH" sz="32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8988984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Box 13"/>
          <p:cNvSpPr txBox="1"/>
          <p:nvPr/>
        </p:nvSpPr>
        <p:spPr>
          <a:xfrm>
            <a:off x="1671387" y="1531257"/>
            <a:ext cx="2203151" cy="2306426"/>
          </a:xfrm>
          <a:prstGeom prst="rect">
            <a:avLst/>
          </a:prstGeom>
        </p:spPr>
        <p:txBody>
          <a:bodyPr lIns="50800" tIns="50800" rIns="50800" bIns="50800" rtlCol="0" anchor="ctr"/>
          <a:lstStyle/>
          <a:p>
            <a:pPr algn="ctr">
              <a:lnSpc>
                <a:spcPts val="2659"/>
              </a:lnSpc>
              <a:spcBef>
                <a:spcPct val="0"/>
              </a:spcBef>
            </a:pPr>
            <a:endParaRPr/>
          </a:p>
        </p:txBody>
      </p:sp>
      <p:pic>
        <p:nvPicPr>
          <p:cNvPr id="20" name="Picture 19"/>
          <p:cNvPicPr>
            <a:picLocks noChangeAspect="1"/>
          </p:cNvPicPr>
          <p:nvPr/>
        </p:nvPicPr>
        <p:blipFill>
          <a:blip r:embed="rId3"/>
          <a:stretch>
            <a:fillRect/>
          </a:stretch>
        </p:blipFill>
        <p:spPr>
          <a:xfrm>
            <a:off x="0" y="0"/>
            <a:ext cx="18288000" cy="267611"/>
          </a:xfrm>
          <a:prstGeom prst="rect">
            <a:avLst/>
          </a:prstGeom>
        </p:spPr>
      </p:pic>
      <p:sp>
        <p:nvSpPr>
          <p:cNvPr id="4" name="Parallelogram 3"/>
          <p:cNvSpPr/>
          <p:nvPr/>
        </p:nvSpPr>
        <p:spPr>
          <a:xfrm>
            <a:off x="152401" y="9936689"/>
            <a:ext cx="11963400" cy="269824"/>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2" name="Parallelogram 21"/>
          <p:cNvSpPr/>
          <p:nvPr/>
        </p:nvSpPr>
        <p:spPr>
          <a:xfrm>
            <a:off x="12192000" y="9944100"/>
            <a:ext cx="1421363" cy="228600"/>
          </a:xfrm>
          <a:prstGeom prst="parallelogram">
            <a:avLst/>
          </a:prstGeom>
          <a:solidFill>
            <a:srgbClr val="FFC000"/>
          </a:solidFill>
          <a:ln>
            <a:solidFill>
              <a:srgbClr val="FFC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3" name="Parallelogram 22"/>
          <p:cNvSpPr/>
          <p:nvPr/>
        </p:nvSpPr>
        <p:spPr>
          <a:xfrm>
            <a:off x="13689563" y="9944100"/>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24" name="Picture 23"/>
          <p:cNvPicPr>
            <a:picLocks noChangeAspect="1"/>
          </p:cNvPicPr>
          <p:nvPr/>
        </p:nvPicPr>
        <p:blipFill>
          <a:blip r:embed="rId3"/>
          <a:stretch>
            <a:fillRect/>
          </a:stretch>
        </p:blipFill>
        <p:spPr>
          <a:xfrm rot="10800000" flipV="1">
            <a:off x="-23702" y="9668509"/>
            <a:ext cx="18326941" cy="268180"/>
          </a:xfrm>
          <a:prstGeom prst="rect">
            <a:avLst/>
          </a:prstGeom>
        </p:spPr>
      </p:pic>
      <p:pic>
        <p:nvPicPr>
          <p:cNvPr id="6" name="Picture 5"/>
          <p:cNvPicPr>
            <a:picLocks noChangeAspect="1"/>
          </p:cNvPicPr>
          <p:nvPr/>
        </p:nvPicPr>
        <p:blipFill>
          <a:blip r:embed="rId4"/>
          <a:stretch>
            <a:fillRect/>
          </a:stretch>
        </p:blipFill>
        <p:spPr>
          <a:xfrm>
            <a:off x="15030450" y="488370"/>
            <a:ext cx="3257550" cy="523875"/>
          </a:xfrm>
          <a:prstGeom prst="rect">
            <a:avLst/>
          </a:prstGeom>
        </p:spPr>
      </p:pic>
      <p:sp>
        <p:nvSpPr>
          <p:cNvPr id="25" name="Parallelogram 24"/>
          <p:cNvSpPr/>
          <p:nvPr/>
        </p:nvSpPr>
        <p:spPr>
          <a:xfrm>
            <a:off x="13030200" y="760176"/>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13" name="Picture 12"/>
          <p:cNvPicPr>
            <a:picLocks noChangeAspect="1"/>
          </p:cNvPicPr>
          <p:nvPr/>
        </p:nvPicPr>
        <p:blipFill>
          <a:blip r:embed="rId4"/>
          <a:stretch>
            <a:fillRect/>
          </a:stretch>
        </p:blipFill>
        <p:spPr>
          <a:xfrm rot="10800000">
            <a:off x="0" y="612538"/>
            <a:ext cx="3257550" cy="523875"/>
          </a:xfrm>
          <a:prstGeom prst="rect">
            <a:avLst/>
          </a:prstGeom>
        </p:spPr>
      </p:pic>
      <p:sp>
        <p:nvSpPr>
          <p:cNvPr id="14" name="Parallelogram 13"/>
          <p:cNvSpPr/>
          <p:nvPr/>
        </p:nvSpPr>
        <p:spPr>
          <a:xfrm>
            <a:off x="659363" y="577015"/>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95" name="TextBox 30"/>
          <p:cNvSpPr txBox="1"/>
          <p:nvPr/>
        </p:nvSpPr>
        <p:spPr>
          <a:xfrm>
            <a:off x="9411258" y="1491975"/>
            <a:ext cx="592948" cy="502317"/>
          </a:xfrm>
          <a:prstGeom prst="rect">
            <a:avLst/>
          </a:prstGeom>
        </p:spPr>
        <p:txBody>
          <a:bodyPr lIns="0" tIns="0" rIns="0" bIns="0" rtlCol="0" anchor="t">
            <a:spAutoFit/>
          </a:bodyPr>
          <a:lstStyle/>
          <a:p>
            <a:pPr algn="ctr">
              <a:lnSpc>
                <a:spcPts val="4252"/>
              </a:lnSpc>
            </a:pPr>
            <a:r>
              <a:rPr lang="en-US" sz="3037" dirty="0" smtClean="0">
                <a:solidFill>
                  <a:srgbClr val="FFFFFF"/>
                </a:solidFill>
                <a:latin typeface="Montserrat Extra-Bold"/>
              </a:rPr>
              <a:t>3</a:t>
            </a:r>
            <a:endParaRPr lang="en-US" sz="3037" dirty="0">
              <a:solidFill>
                <a:srgbClr val="FFFFFF"/>
              </a:solidFill>
              <a:latin typeface="Montserrat Extra-Bold"/>
            </a:endParaRPr>
          </a:p>
        </p:txBody>
      </p:sp>
      <p:sp>
        <p:nvSpPr>
          <p:cNvPr id="19" name="Round Single Corner Rectangle 18"/>
          <p:cNvSpPr/>
          <p:nvPr/>
        </p:nvSpPr>
        <p:spPr>
          <a:xfrm>
            <a:off x="5494020" y="160397"/>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5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Review of Literature     </a:t>
            </a:r>
            <a:r>
              <a:rPr lang="en-PH" sz="6000" b="1" u="sng" dirty="0" smtClean="0">
                <a:solidFill>
                  <a:srgbClr val="820000"/>
                </a:solidFill>
                <a:latin typeface="Arial" panose="020B0604020202020204" pitchFamily="34" charset="0"/>
                <a:cs typeface="Arial" panose="020B0604020202020204" pitchFamily="34" charset="0"/>
              </a:rPr>
              <a:t> </a:t>
            </a:r>
          </a:p>
        </p:txBody>
      </p:sp>
      <p:sp>
        <p:nvSpPr>
          <p:cNvPr id="26" name="Round Single Corner Rectangle 25"/>
          <p:cNvSpPr/>
          <p:nvPr/>
        </p:nvSpPr>
        <p:spPr>
          <a:xfrm>
            <a:off x="0" y="1216837"/>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PH" sz="5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a:t>
            </a:r>
            <a:r>
              <a:rPr lang="en-PH" sz="3200" b="1" dirty="0">
                <a:solidFill>
                  <a:srgbClr val="820000"/>
                </a:solidFill>
                <a:latin typeface="Arial" panose="020B0604020202020204" pitchFamily="34" charset="0"/>
                <a:ea typeface="Adobe Gothic Std B" panose="020B0800000000000000" pitchFamily="34" charset="-128"/>
                <a:cs typeface="Arial" panose="020B0604020202020204" pitchFamily="34" charset="0"/>
              </a:rPr>
              <a:t>C</a:t>
            </a:r>
            <a:r>
              <a:rPr lang="en-PH" sz="32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oconut seed Germination       </a:t>
            </a:r>
            <a:r>
              <a:rPr lang="en-PH" sz="3600" b="1" u="sng" dirty="0" smtClean="0">
                <a:solidFill>
                  <a:srgbClr val="820000"/>
                </a:solidFill>
                <a:latin typeface="Arial" panose="020B0604020202020204" pitchFamily="34" charset="0"/>
                <a:cs typeface="Arial" panose="020B0604020202020204" pitchFamily="34" charset="0"/>
              </a:rPr>
              <a:t> </a:t>
            </a:r>
            <a:endParaRPr lang="en-PH" sz="6000" b="1" u="sng" dirty="0" smtClean="0">
              <a:solidFill>
                <a:srgbClr val="820000"/>
              </a:solidFill>
              <a:latin typeface="Arial" panose="020B0604020202020204" pitchFamily="34" charset="0"/>
              <a:cs typeface="Arial" panose="020B0604020202020204" pitchFamily="34" charset="0"/>
            </a:endParaRPr>
          </a:p>
        </p:txBody>
      </p:sp>
      <p:pic>
        <p:nvPicPr>
          <p:cNvPr id="21" name="Picture 20"/>
          <p:cNvPicPr/>
          <p:nvPr/>
        </p:nvPicPr>
        <p:blipFill>
          <a:blip r:embed="rId5"/>
          <a:stretch>
            <a:fillRect/>
          </a:stretch>
        </p:blipFill>
        <p:spPr>
          <a:xfrm>
            <a:off x="293184" y="2283637"/>
            <a:ext cx="8469816" cy="6349087"/>
          </a:xfrm>
          <a:prstGeom prst="rect">
            <a:avLst/>
          </a:prstGeom>
        </p:spPr>
      </p:pic>
      <p:sp>
        <p:nvSpPr>
          <p:cNvPr id="8" name="Rectangle 7"/>
          <p:cNvSpPr/>
          <p:nvPr/>
        </p:nvSpPr>
        <p:spPr>
          <a:xfrm>
            <a:off x="187037" y="8721801"/>
            <a:ext cx="7421968" cy="369332"/>
          </a:xfrm>
          <a:prstGeom prst="rect">
            <a:avLst/>
          </a:prstGeom>
        </p:spPr>
        <p:txBody>
          <a:bodyPr wrap="none">
            <a:spAutoFit/>
          </a:bodyPr>
          <a:lstStyle/>
          <a:p>
            <a:r>
              <a:rPr lang="en-PH" b="1" dirty="0">
                <a:hlinkClick r:id="rId6"/>
              </a:rPr>
              <a:t>https://agritech.tnau.ac.in/horticulture/horti_pcrops_coconut_botany.html</a:t>
            </a:r>
            <a:endParaRPr lang="en-PH" b="1" dirty="0"/>
          </a:p>
        </p:txBody>
      </p:sp>
      <p:sp>
        <p:nvSpPr>
          <p:cNvPr id="10" name="Rectangle 9"/>
          <p:cNvSpPr/>
          <p:nvPr/>
        </p:nvSpPr>
        <p:spPr>
          <a:xfrm>
            <a:off x="8968069" y="8875981"/>
            <a:ext cx="5320046" cy="677108"/>
          </a:xfrm>
          <a:prstGeom prst="rect">
            <a:avLst/>
          </a:prstGeom>
        </p:spPr>
        <p:txBody>
          <a:bodyPr wrap="none">
            <a:spAutoFit/>
          </a:bodyPr>
          <a:lstStyle/>
          <a:p>
            <a:r>
              <a:rPr lang="en-PH" sz="2000" b="1" dirty="0">
                <a:hlinkClick r:id="rId7"/>
              </a:rPr>
              <a:t>https://</a:t>
            </a:r>
            <a:r>
              <a:rPr lang="en-PH" sz="2000" b="1" dirty="0" smtClean="0">
                <a:hlinkClick r:id="rId7"/>
              </a:rPr>
              <a:t>www.mdpi.com/2223-7747/11/23/3293</a:t>
            </a:r>
            <a:endParaRPr lang="en-PH" sz="2000" b="1" dirty="0" smtClean="0"/>
          </a:p>
          <a:p>
            <a:endParaRPr lang="en-PH" dirty="0"/>
          </a:p>
        </p:txBody>
      </p:sp>
      <p:graphicFrame>
        <p:nvGraphicFramePr>
          <p:cNvPr id="17" name="Object 16"/>
          <p:cNvGraphicFramePr>
            <a:graphicFrameLocks noChangeAspect="1"/>
          </p:cNvGraphicFramePr>
          <p:nvPr>
            <p:extLst>
              <p:ext uri="{D42A27DB-BD31-4B8C-83A1-F6EECF244321}">
                <p14:modId xmlns:p14="http://schemas.microsoft.com/office/powerpoint/2010/main" val="1343645270"/>
              </p:ext>
            </p:extLst>
          </p:nvPr>
        </p:nvGraphicFramePr>
        <p:xfrm>
          <a:off x="98425" y="98425"/>
          <a:ext cx="1657350" cy="479425"/>
        </p:xfrm>
        <a:graphic>
          <a:graphicData uri="http://schemas.openxmlformats.org/presentationml/2006/ole">
            <mc:AlternateContent xmlns:mc="http://schemas.openxmlformats.org/markup-compatibility/2006">
              <mc:Choice xmlns:v="urn:schemas-microsoft-com:vml" Requires="v">
                <p:oleObj spid="_x0000_s2069" name="Packager Shell Object" showAsIcon="1" r:id="rId8" imgW="1657080" imgH="478800" progId="Package">
                  <p:embed/>
                </p:oleObj>
              </mc:Choice>
              <mc:Fallback>
                <p:oleObj name="Packager Shell Object" showAsIcon="1" r:id="rId8" imgW="1657080" imgH="478800" progId="Package">
                  <p:embed/>
                  <p:pic>
                    <p:nvPicPr>
                      <p:cNvPr id="0" name=""/>
                      <p:cNvPicPr/>
                      <p:nvPr/>
                    </p:nvPicPr>
                    <p:blipFill>
                      <a:blip r:embed="rId9"/>
                      <a:stretch>
                        <a:fillRect/>
                      </a:stretch>
                    </p:blipFill>
                    <p:spPr>
                      <a:xfrm>
                        <a:off x="98425" y="98425"/>
                        <a:ext cx="1657350" cy="479425"/>
                      </a:xfrm>
                      <a:prstGeom prst="rect">
                        <a:avLst/>
                      </a:prstGeom>
                    </p:spPr>
                  </p:pic>
                </p:oleObj>
              </mc:Fallback>
            </mc:AlternateContent>
          </a:graphicData>
        </a:graphic>
      </p:graphicFrame>
      <p:pic>
        <p:nvPicPr>
          <p:cNvPr id="18" name="Picture 17"/>
          <p:cNvPicPr>
            <a:picLocks noChangeAspect="1"/>
          </p:cNvPicPr>
          <p:nvPr/>
        </p:nvPicPr>
        <p:blipFill>
          <a:blip r:embed="rId10"/>
          <a:stretch>
            <a:fillRect/>
          </a:stretch>
        </p:blipFill>
        <p:spPr>
          <a:xfrm>
            <a:off x="9056184" y="1380072"/>
            <a:ext cx="8727767" cy="6270605"/>
          </a:xfrm>
          <a:prstGeom prst="rect">
            <a:avLst/>
          </a:prstGeom>
        </p:spPr>
      </p:pic>
      <p:sp>
        <p:nvSpPr>
          <p:cNvPr id="2" name="Rectangle 1"/>
          <p:cNvSpPr/>
          <p:nvPr/>
        </p:nvSpPr>
        <p:spPr>
          <a:xfrm>
            <a:off x="8848067" y="7640032"/>
            <a:ext cx="9144000" cy="1200329"/>
          </a:xfrm>
          <a:prstGeom prst="rect">
            <a:avLst/>
          </a:prstGeom>
        </p:spPr>
        <p:txBody>
          <a:bodyPr>
            <a:spAutoFit/>
          </a:bodyPr>
          <a:lstStyle/>
          <a:p>
            <a:pPr algn="just"/>
            <a:r>
              <a:rPr lang="en-US" b="1" dirty="0">
                <a:latin typeface="Arial" panose="020B0604020202020204" pitchFamily="34" charset="0"/>
                <a:cs typeface="Arial" panose="020B0604020202020204" pitchFamily="34" charset="0"/>
              </a:rPr>
              <a:t>Figure 3. Differences in morphology of (a) wild and (b) domesticated coconut fruit. Domesticated varieties show a smaller pericarp region, having significantly less </a:t>
            </a:r>
            <a:r>
              <a:rPr lang="en-US" b="1" dirty="0" err="1">
                <a:latin typeface="Arial" panose="020B0604020202020204" pitchFamily="34" charset="0"/>
                <a:cs typeface="Arial" panose="020B0604020202020204" pitchFamily="34" charset="0"/>
              </a:rPr>
              <a:t>mesocarp</a:t>
            </a:r>
            <a:r>
              <a:rPr lang="en-US" b="1" dirty="0">
                <a:latin typeface="Arial" panose="020B0604020202020204" pitchFamily="34" charset="0"/>
                <a:cs typeface="Arial" panose="020B0604020202020204" pitchFamily="34" charset="0"/>
              </a:rPr>
              <a:t> as compared to wild types. They also have a rounder shape which allows a higher volume of water to be held inside the seed</a:t>
            </a:r>
            <a:endParaRPr lang="en-PH"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9697151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Box 13"/>
          <p:cNvSpPr txBox="1"/>
          <p:nvPr/>
        </p:nvSpPr>
        <p:spPr>
          <a:xfrm>
            <a:off x="1671387" y="1531257"/>
            <a:ext cx="2203151" cy="2306426"/>
          </a:xfrm>
          <a:prstGeom prst="rect">
            <a:avLst/>
          </a:prstGeom>
        </p:spPr>
        <p:txBody>
          <a:bodyPr lIns="50800" tIns="50800" rIns="50800" bIns="50800" rtlCol="0" anchor="ctr"/>
          <a:lstStyle/>
          <a:p>
            <a:pPr algn="ctr">
              <a:lnSpc>
                <a:spcPts val="2659"/>
              </a:lnSpc>
              <a:spcBef>
                <a:spcPct val="0"/>
              </a:spcBef>
            </a:pPr>
            <a:endParaRPr/>
          </a:p>
        </p:txBody>
      </p:sp>
      <p:pic>
        <p:nvPicPr>
          <p:cNvPr id="20" name="Picture 19"/>
          <p:cNvPicPr>
            <a:picLocks noChangeAspect="1"/>
          </p:cNvPicPr>
          <p:nvPr/>
        </p:nvPicPr>
        <p:blipFill>
          <a:blip r:embed="rId2"/>
          <a:stretch>
            <a:fillRect/>
          </a:stretch>
        </p:blipFill>
        <p:spPr>
          <a:xfrm>
            <a:off x="0" y="0"/>
            <a:ext cx="18288000" cy="267611"/>
          </a:xfrm>
          <a:prstGeom prst="rect">
            <a:avLst/>
          </a:prstGeom>
        </p:spPr>
      </p:pic>
      <p:sp>
        <p:nvSpPr>
          <p:cNvPr id="4" name="Parallelogram 3"/>
          <p:cNvSpPr/>
          <p:nvPr/>
        </p:nvSpPr>
        <p:spPr>
          <a:xfrm>
            <a:off x="152401" y="9936689"/>
            <a:ext cx="11963400" cy="269824"/>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2" name="Parallelogram 21"/>
          <p:cNvSpPr/>
          <p:nvPr/>
        </p:nvSpPr>
        <p:spPr>
          <a:xfrm>
            <a:off x="12192000" y="9944100"/>
            <a:ext cx="1421363" cy="228600"/>
          </a:xfrm>
          <a:prstGeom prst="parallelogram">
            <a:avLst/>
          </a:prstGeom>
          <a:solidFill>
            <a:srgbClr val="FFC000"/>
          </a:solidFill>
          <a:ln>
            <a:solidFill>
              <a:srgbClr val="FFC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3" name="Parallelogram 22"/>
          <p:cNvSpPr/>
          <p:nvPr/>
        </p:nvSpPr>
        <p:spPr>
          <a:xfrm>
            <a:off x="13689563" y="9944100"/>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24" name="Picture 23"/>
          <p:cNvPicPr>
            <a:picLocks noChangeAspect="1"/>
          </p:cNvPicPr>
          <p:nvPr/>
        </p:nvPicPr>
        <p:blipFill>
          <a:blip r:embed="rId2"/>
          <a:stretch>
            <a:fillRect/>
          </a:stretch>
        </p:blipFill>
        <p:spPr>
          <a:xfrm rot="10800000" flipV="1">
            <a:off x="-23702" y="9668509"/>
            <a:ext cx="18326941" cy="268180"/>
          </a:xfrm>
          <a:prstGeom prst="rect">
            <a:avLst/>
          </a:prstGeom>
        </p:spPr>
      </p:pic>
      <p:pic>
        <p:nvPicPr>
          <p:cNvPr id="6" name="Picture 5"/>
          <p:cNvPicPr>
            <a:picLocks noChangeAspect="1"/>
          </p:cNvPicPr>
          <p:nvPr/>
        </p:nvPicPr>
        <p:blipFill>
          <a:blip r:embed="rId3"/>
          <a:stretch>
            <a:fillRect/>
          </a:stretch>
        </p:blipFill>
        <p:spPr>
          <a:xfrm>
            <a:off x="15030450" y="488370"/>
            <a:ext cx="3257550" cy="523875"/>
          </a:xfrm>
          <a:prstGeom prst="rect">
            <a:avLst/>
          </a:prstGeom>
        </p:spPr>
      </p:pic>
      <p:sp>
        <p:nvSpPr>
          <p:cNvPr id="25" name="Parallelogram 24"/>
          <p:cNvSpPr/>
          <p:nvPr/>
        </p:nvSpPr>
        <p:spPr>
          <a:xfrm>
            <a:off x="13030200" y="760176"/>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13" name="Picture 12"/>
          <p:cNvPicPr>
            <a:picLocks noChangeAspect="1"/>
          </p:cNvPicPr>
          <p:nvPr/>
        </p:nvPicPr>
        <p:blipFill>
          <a:blip r:embed="rId3"/>
          <a:stretch>
            <a:fillRect/>
          </a:stretch>
        </p:blipFill>
        <p:spPr>
          <a:xfrm rot="10800000">
            <a:off x="0" y="612538"/>
            <a:ext cx="3257550" cy="523875"/>
          </a:xfrm>
          <a:prstGeom prst="rect">
            <a:avLst/>
          </a:prstGeom>
        </p:spPr>
      </p:pic>
      <p:sp>
        <p:nvSpPr>
          <p:cNvPr id="14" name="Parallelogram 13"/>
          <p:cNvSpPr/>
          <p:nvPr/>
        </p:nvSpPr>
        <p:spPr>
          <a:xfrm>
            <a:off x="659363" y="577015"/>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95" name="TextBox 30"/>
          <p:cNvSpPr txBox="1"/>
          <p:nvPr/>
        </p:nvSpPr>
        <p:spPr>
          <a:xfrm>
            <a:off x="9411258" y="1491975"/>
            <a:ext cx="592948" cy="502317"/>
          </a:xfrm>
          <a:prstGeom prst="rect">
            <a:avLst/>
          </a:prstGeom>
        </p:spPr>
        <p:txBody>
          <a:bodyPr lIns="0" tIns="0" rIns="0" bIns="0" rtlCol="0" anchor="t">
            <a:spAutoFit/>
          </a:bodyPr>
          <a:lstStyle/>
          <a:p>
            <a:pPr algn="ctr">
              <a:lnSpc>
                <a:spcPts val="4252"/>
              </a:lnSpc>
            </a:pPr>
            <a:r>
              <a:rPr lang="en-US" sz="3037" dirty="0" smtClean="0">
                <a:solidFill>
                  <a:srgbClr val="FFFFFF"/>
                </a:solidFill>
                <a:latin typeface="Montserrat Extra-Bold"/>
              </a:rPr>
              <a:t>3</a:t>
            </a:r>
            <a:endParaRPr lang="en-US" sz="3037" dirty="0">
              <a:solidFill>
                <a:srgbClr val="FFFFFF"/>
              </a:solidFill>
              <a:latin typeface="Montserrat Extra-Bold"/>
            </a:endParaRPr>
          </a:p>
        </p:txBody>
      </p:sp>
      <p:sp>
        <p:nvSpPr>
          <p:cNvPr id="19" name="Round Single Corner Rectangle 18"/>
          <p:cNvSpPr/>
          <p:nvPr/>
        </p:nvSpPr>
        <p:spPr>
          <a:xfrm>
            <a:off x="5494020" y="160397"/>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5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Review of Literature     </a:t>
            </a:r>
            <a:r>
              <a:rPr lang="en-PH" sz="6000" b="1" u="sng" dirty="0" smtClean="0">
                <a:solidFill>
                  <a:srgbClr val="820000"/>
                </a:solidFill>
                <a:latin typeface="Arial" panose="020B0604020202020204" pitchFamily="34" charset="0"/>
                <a:cs typeface="Arial" panose="020B0604020202020204" pitchFamily="34" charset="0"/>
              </a:rPr>
              <a:t> </a:t>
            </a: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65287" y="3889066"/>
            <a:ext cx="4888731" cy="3730953"/>
          </a:xfrm>
          <a:prstGeom prst="rect">
            <a:avLst/>
          </a:prstGeom>
        </p:spPr>
      </p:pic>
      <p:sp>
        <p:nvSpPr>
          <p:cNvPr id="5" name="Rectangle 4"/>
          <p:cNvSpPr/>
          <p:nvPr/>
        </p:nvSpPr>
        <p:spPr>
          <a:xfrm>
            <a:off x="267258" y="9191404"/>
            <a:ext cx="7553927" cy="677108"/>
          </a:xfrm>
          <a:prstGeom prst="rect">
            <a:avLst/>
          </a:prstGeom>
        </p:spPr>
        <p:txBody>
          <a:bodyPr wrap="none">
            <a:spAutoFit/>
          </a:bodyPr>
          <a:lstStyle/>
          <a:p>
            <a:r>
              <a:rPr lang="en-PH" sz="2000" dirty="0" smtClean="0">
                <a:hlinkClick r:id="rId5"/>
              </a:rPr>
              <a:t>[2] https</a:t>
            </a:r>
            <a:r>
              <a:rPr lang="en-PH" sz="2000" dirty="0">
                <a:hlinkClick r:id="rId5"/>
              </a:rPr>
              <a:t>://</a:t>
            </a:r>
            <a:r>
              <a:rPr lang="en-PH" sz="2000" dirty="0" smtClean="0">
                <a:hlinkClick r:id="rId5"/>
              </a:rPr>
              <a:t>www.quora.com/What-are-the-by-products-of-coconut-tree</a:t>
            </a:r>
            <a:endParaRPr lang="en-PH" sz="2000" dirty="0" smtClean="0"/>
          </a:p>
          <a:p>
            <a:endParaRPr lang="en-PH" dirty="0"/>
          </a:p>
        </p:txBody>
      </p:sp>
      <p:sp>
        <p:nvSpPr>
          <p:cNvPr id="2" name="Rectangle 1"/>
          <p:cNvSpPr/>
          <p:nvPr/>
        </p:nvSpPr>
        <p:spPr>
          <a:xfrm>
            <a:off x="267258" y="1965575"/>
            <a:ext cx="18059400" cy="1569660"/>
          </a:xfrm>
          <a:prstGeom prst="rect">
            <a:avLst/>
          </a:prstGeom>
          <a:ln>
            <a:solidFill>
              <a:srgbClr val="005C2A"/>
            </a:solidFill>
          </a:ln>
        </p:spPr>
        <p:txBody>
          <a:bodyPr wrap="square">
            <a:spAutoFit/>
          </a:bodyPr>
          <a:lstStyle/>
          <a:p>
            <a:pPr algn="just"/>
            <a:r>
              <a:rPr lang="en-PH" sz="2400" b="1" dirty="0">
                <a:latin typeface="Arial" panose="020B0604020202020204" pitchFamily="34" charset="0"/>
                <a:ea typeface="Calibri" panose="020F0502020204030204" pitchFamily="34" charset="0"/>
              </a:rPr>
              <a:t>Coconut oil is </a:t>
            </a:r>
            <a:r>
              <a:rPr lang="en-PH" sz="2400" dirty="0">
                <a:latin typeface="Arial" panose="020B0604020202020204" pitchFamily="34" charset="0"/>
                <a:ea typeface="Calibri" panose="020F0502020204030204" pitchFamily="34" charset="0"/>
              </a:rPr>
              <a:t>a vegetable oil obtained from the nut of the tropical palm tree, </a:t>
            </a:r>
            <a:r>
              <a:rPr lang="en-PH" sz="2400" dirty="0" err="1">
                <a:latin typeface="Arial" panose="020B0604020202020204" pitchFamily="34" charset="0"/>
                <a:ea typeface="Calibri" panose="020F0502020204030204" pitchFamily="34" charset="0"/>
              </a:rPr>
              <a:t>Cocos</a:t>
            </a:r>
            <a:r>
              <a:rPr lang="en-PH" sz="2400" dirty="0">
                <a:latin typeface="Arial" panose="020B0604020202020204" pitchFamily="34" charset="0"/>
                <a:ea typeface="Calibri" panose="020F0502020204030204" pitchFamily="34" charset="0"/>
              </a:rPr>
              <a:t> </a:t>
            </a:r>
            <a:r>
              <a:rPr lang="en-PH" sz="2400" dirty="0" err="1">
                <a:latin typeface="Arial" panose="020B0604020202020204" pitchFamily="34" charset="0"/>
                <a:ea typeface="Calibri" panose="020F0502020204030204" pitchFamily="34" charset="0"/>
              </a:rPr>
              <a:t>nucifera</a:t>
            </a:r>
            <a:r>
              <a:rPr lang="en-PH" sz="2400" dirty="0">
                <a:latin typeface="Arial" panose="020B0604020202020204" pitchFamily="34" charset="0"/>
                <a:ea typeface="Calibri" panose="020F0502020204030204" pitchFamily="34" charset="0"/>
              </a:rPr>
              <a:t> L. </a:t>
            </a:r>
            <a:r>
              <a:rPr lang="en-PH" sz="2400" b="1" dirty="0">
                <a:latin typeface="Arial" panose="020B0604020202020204" pitchFamily="34" charset="0"/>
                <a:ea typeface="Calibri" panose="020F0502020204030204" pitchFamily="34" charset="0"/>
              </a:rPr>
              <a:t>Refined coconut oil (RCO) </a:t>
            </a:r>
            <a:r>
              <a:rPr lang="en-PH" sz="2400" dirty="0">
                <a:latin typeface="Arial" panose="020B0604020202020204" pitchFamily="34" charset="0"/>
                <a:ea typeface="Calibri" panose="020F0502020204030204" pitchFamily="34" charset="0"/>
              </a:rPr>
              <a:t>is produced by extraction of the oil from dried copra, followed by chemical refinement, bleaching, and deodorization (1). On the other hand, </a:t>
            </a:r>
            <a:r>
              <a:rPr lang="en-PH" sz="2400" b="1" dirty="0">
                <a:latin typeface="Arial" panose="020B0604020202020204" pitchFamily="34" charset="0"/>
                <a:ea typeface="Calibri" panose="020F0502020204030204" pitchFamily="34" charset="0"/>
              </a:rPr>
              <a:t>Virgin coconut oil (VCO) </a:t>
            </a:r>
            <a:r>
              <a:rPr lang="en-PH" sz="2400" dirty="0">
                <a:latin typeface="Arial" panose="020B0604020202020204" pitchFamily="34" charset="0"/>
                <a:ea typeface="Calibri" panose="020F0502020204030204" pitchFamily="34" charset="0"/>
              </a:rPr>
              <a:t>is produced from fresh mature coconut meat and processed by mechanical and natural processes </a:t>
            </a:r>
            <a:r>
              <a:rPr lang="en-PH" sz="2400" dirty="0" smtClean="0">
                <a:latin typeface="Arial" panose="020B0604020202020204" pitchFamily="34" charset="0"/>
                <a:ea typeface="Calibri" panose="020F0502020204030204" pitchFamily="34" charset="0"/>
              </a:rPr>
              <a:t>. [1]</a:t>
            </a:r>
            <a:endParaRPr lang="en-PH" sz="2400" dirty="0"/>
          </a:p>
        </p:txBody>
      </p:sp>
      <p:sp>
        <p:nvSpPr>
          <p:cNvPr id="21" name="Round Single Corner Rectangle 20"/>
          <p:cNvSpPr/>
          <p:nvPr/>
        </p:nvSpPr>
        <p:spPr>
          <a:xfrm>
            <a:off x="-97246" y="967214"/>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PH" sz="5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a:t>
            </a:r>
            <a:r>
              <a:rPr lang="en-PH" sz="40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2.3 The Coconut oil      </a:t>
            </a:r>
            <a:r>
              <a:rPr lang="en-PH" sz="4400" b="1" u="sng" dirty="0" smtClean="0">
                <a:solidFill>
                  <a:srgbClr val="820000"/>
                </a:solidFill>
                <a:latin typeface="Arial" panose="020B0604020202020204" pitchFamily="34" charset="0"/>
                <a:cs typeface="Arial" panose="020B0604020202020204" pitchFamily="34" charset="0"/>
              </a:rPr>
              <a:t> </a:t>
            </a:r>
            <a:endParaRPr lang="en-PH" sz="6000" b="1" u="sng" dirty="0" smtClean="0">
              <a:solidFill>
                <a:srgbClr val="820000"/>
              </a:solidFill>
              <a:latin typeface="Arial" panose="020B0604020202020204" pitchFamily="34" charset="0"/>
              <a:cs typeface="Arial" panose="020B0604020202020204" pitchFamily="34" charset="0"/>
            </a:endParaRPr>
          </a:p>
        </p:txBody>
      </p:sp>
      <p:sp>
        <p:nvSpPr>
          <p:cNvPr id="26" name="Round Single Corner Rectangle 25"/>
          <p:cNvSpPr/>
          <p:nvPr/>
        </p:nvSpPr>
        <p:spPr>
          <a:xfrm>
            <a:off x="1547307" y="7269057"/>
            <a:ext cx="1321837"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PH" sz="36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a:t>
            </a:r>
            <a:r>
              <a:rPr lang="en-PH" sz="2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[1]      </a:t>
            </a:r>
            <a:r>
              <a:rPr lang="en-PH" sz="2800" b="1" u="sng" dirty="0" smtClean="0">
                <a:solidFill>
                  <a:srgbClr val="820000"/>
                </a:solidFill>
                <a:latin typeface="Arial" panose="020B0604020202020204" pitchFamily="34" charset="0"/>
                <a:cs typeface="Arial" panose="020B0604020202020204" pitchFamily="34" charset="0"/>
              </a:rPr>
              <a:t> </a:t>
            </a:r>
            <a:endParaRPr lang="en-PH" sz="4000" b="1" u="sng" dirty="0" smtClean="0">
              <a:solidFill>
                <a:srgbClr val="820000"/>
              </a:solidFill>
              <a:latin typeface="Arial" panose="020B0604020202020204" pitchFamily="34" charset="0"/>
              <a:cs typeface="Arial" panose="020B0604020202020204" pitchFamily="34" charset="0"/>
            </a:endParaRPr>
          </a:p>
        </p:txBody>
      </p:sp>
      <p:sp>
        <p:nvSpPr>
          <p:cNvPr id="27" name="Round Single Corner Rectangle 26"/>
          <p:cNvSpPr/>
          <p:nvPr/>
        </p:nvSpPr>
        <p:spPr>
          <a:xfrm>
            <a:off x="8636039" y="7387337"/>
            <a:ext cx="1321837"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PH" sz="36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a:t>
            </a:r>
            <a:r>
              <a:rPr lang="en-PH" sz="2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[2]      </a:t>
            </a:r>
            <a:r>
              <a:rPr lang="en-PH" sz="2800" b="1" u="sng" dirty="0" smtClean="0">
                <a:solidFill>
                  <a:srgbClr val="820000"/>
                </a:solidFill>
                <a:latin typeface="Arial" panose="020B0604020202020204" pitchFamily="34" charset="0"/>
                <a:cs typeface="Arial" panose="020B0604020202020204" pitchFamily="34" charset="0"/>
              </a:rPr>
              <a:t> </a:t>
            </a:r>
            <a:endParaRPr lang="en-PH" sz="4000" b="1" u="sng" dirty="0" smtClean="0">
              <a:solidFill>
                <a:srgbClr val="820000"/>
              </a:solidFill>
              <a:latin typeface="Arial" panose="020B0604020202020204" pitchFamily="34" charset="0"/>
              <a:cs typeface="Arial" panose="020B0604020202020204" pitchFamily="34" charset="0"/>
            </a:endParaRPr>
          </a:p>
        </p:txBody>
      </p:sp>
      <p:sp>
        <p:nvSpPr>
          <p:cNvPr id="28" name="Round Single Corner Rectangle 27"/>
          <p:cNvSpPr/>
          <p:nvPr/>
        </p:nvSpPr>
        <p:spPr>
          <a:xfrm>
            <a:off x="15849600" y="7207331"/>
            <a:ext cx="1321837"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PH" sz="36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a:t>
            </a:r>
            <a:r>
              <a:rPr lang="en-PH" sz="2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[3]      </a:t>
            </a:r>
            <a:r>
              <a:rPr lang="en-PH" sz="2800" b="1" u="sng" dirty="0" smtClean="0">
                <a:solidFill>
                  <a:srgbClr val="820000"/>
                </a:solidFill>
                <a:latin typeface="Arial" panose="020B0604020202020204" pitchFamily="34" charset="0"/>
                <a:cs typeface="Arial" panose="020B0604020202020204" pitchFamily="34" charset="0"/>
              </a:rPr>
              <a:t> </a:t>
            </a:r>
            <a:endParaRPr lang="en-PH" sz="4000" b="1" u="sng" dirty="0" smtClean="0">
              <a:solidFill>
                <a:srgbClr val="820000"/>
              </a:solidFill>
              <a:latin typeface="Arial" panose="020B0604020202020204" pitchFamily="34" charset="0"/>
              <a:cs typeface="Arial" panose="020B0604020202020204" pitchFamily="34" charset="0"/>
            </a:endParaRPr>
          </a:p>
        </p:txBody>
      </p:sp>
      <p:sp>
        <p:nvSpPr>
          <p:cNvPr id="8" name="Rectangle 7"/>
          <p:cNvSpPr/>
          <p:nvPr/>
        </p:nvSpPr>
        <p:spPr>
          <a:xfrm>
            <a:off x="10940597" y="9089405"/>
            <a:ext cx="7386061" cy="646331"/>
          </a:xfrm>
          <a:prstGeom prst="rect">
            <a:avLst/>
          </a:prstGeom>
        </p:spPr>
        <p:txBody>
          <a:bodyPr wrap="none">
            <a:spAutoFit/>
          </a:bodyPr>
          <a:lstStyle/>
          <a:p>
            <a:r>
              <a:rPr lang="en-PH" dirty="0" smtClean="0">
                <a:hlinkClick r:id="rId6"/>
              </a:rPr>
              <a:t>[3] https</a:t>
            </a:r>
            <a:r>
              <a:rPr lang="en-PH" dirty="0">
                <a:hlinkClick r:id="rId6"/>
              </a:rPr>
              <a:t>://</a:t>
            </a:r>
            <a:r>
              <a:rPr lang="en-PH" dirty="0" smtClean="0">
                <a:hlinkClick r:id="rId6"/>
              </a:rPr>
              <a:t>www.unlockfood.ca/en/Articles/Fat/Coconut-Oil-Facts-and-Myths</a:t>
            </a:r>
            <a:endParaRPr lang="en-PH" dirty="0" smtClean="0"/>
          </a:p>
          <a:p>
            <a:endParaRPr lang="en-PH" dirty="0"/>
          </a:p>
        </p:txBody>
      </p:sp>
      <p:sp>
        <p:nvSpPr>
          <p:cNvPr id="10" name="Rectangle 9"/>
          <p:cNvSpPr/>
          <p:nvPr/>
        </p:nvSpPr>
        <p:spPr>
          <a:xfrm>
            <a:off x="267258" y="8631914"/>
            <a:ext cx="9144000" cy="923330"/>
          </a:xfrm>
          <a:prstGeom prst="rect">
            <a:avLst/>
          </a:prstGeom>
        </p:spPr>
        <p:txBody>
          <a:bodyPr>
            <a:spAutoFit/>
          </a:bodyPr>
          <a:lstStyle/>
          <a:p>
            <a:r>
              <a:rPr lang="en-PH" dirty="0" smtClean="0"/>
              <a:t>[1] </a:t>
            </a:r>
            <a:r>
              <a:rPr lang="en-PH" dirty="0" smtClean="0">
                <a:hlinkClick r:id="rId7"/>
              </a:rPr>
              <a:t>https</a:t>
            </a:r>
            <a:r>
              <a:rPr lang="en-PH" dirty="0">
                <a:hlinkClick r:id="rId7"/>
              </a:rPr>
              <a:t>://</a:t>
            </a:r>
            <a:r>
              <a:rPr lang="en-PH" dirty="0" smtClean="0">
                <a:hlinkClick r:id="rId7"/>
              </a:rPr>
              <a:t>www.justdial.com/jdmart/Kangayam/Organic-Coconut-Copra/pid-2016907259/9999P4258-4258-180205184811-U6T4</a:t>
            </a:r>
            <a:endParaRPr lang="en-PH" dirty="0" smtClean="0"/>
          </a:p>
          <a:p>
            <a:endParaRPr lang="en-PH" dirty="0"/>
          </a:p>
        </p:txBody>
      </p:sp>
      <p:sp>
        <p:nvSpPr>
          <p:cNvPr id="15" name="Right Arrow 14"/>
          <p:cNvSpPr/>
          <p:nvPr/>
        </p:nvSpPr>
        <p:spPr>
          <a:xfrm>
            <a:off x="4522944" y="4977157"/>
            <a:ext cx="1649255" cy="1524000"/>
          </a:xfrm>
          <a:prstGeom prst="rightArrow">
            <a:avLst/>
          </a:prstGeom>
          <a:solidFill>
            <a:srgbClr val="005C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0" name="Right Arrow 29"/>
          <p:cNvSpPr/>
          <p:nvPr/>
        </p:nvSpPr>
        <p:spPr>
          <a:xfrm>
            <a:off x="12000244" y="4965159"/>
            <a:ext cx="1804873" cy="1524000"/>
          </a:xfrm>
          <a:prstGeom prst="rightArrow">
            <a:avLst/>
          </a:prstGeom>
          <a:solidFill>
            <a:srgbClr val="005C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1" name="Flowchart: Connector 30"/>
          <p:cNvSpPr/>
          <p:nvPr/>
        </p:nvSpPr>
        <p:spPr>
          <a:xfrm>
            <a:off x="156254" y="3918486"/>
            <a:ext cx="3621973" cy="3617346"/>
          </a:xfrm>
          <a:prstGeom prst="flowChartConnector">
            <a:avLst/>
          </a:prstGeom>
          <a:blipFill>
            <a:blip r:embed="rId8"/>
            <a:stretch>
              <a:fillRect/>
            </a:stretch>
          </a:blipFill>
          <a:ln w="28575">
            <a:solidFill>
              <a:srgbClr val="005C2A"/>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32" name="Flowchart: Connector 31"/>
          <p:cNvSpPr/>
          <p:nvPr/>
        </p:nvSpPr>
        <p:spPr>
          <a:xfrm>
            <a:off x="14177794" y="3589985"/>
            <a:ext cx="3621973" cy="3617346"/>
          </a:xfrm>
          <a:prstGeom prst="flowChartConnector">
            <a:avLst/>
          </a:prstGeom>
          <a:blipFill>
            <a:blip r:embed="rId9"/>
            <a:stretch>
              <a:fillRect/>
            </a:stretch>
          </a:blipFill>
          <a:ln w="28575">
            <a:solidFill>
              <a:srgbClr val="005C2A"/>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Tree>
    <p:extLst>
      <p:ext uri="{BB962C8B-B14F-4D97-AF65-F5344CB8AC3E}">
        <p14:creationId xmlns:p14="http://schemas.microsoft.com/office/powerpoint/2010/main" val="96055710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Box 13"/>
          <p:cNvSpPr txBox="1"/>
          <p:nvPr/>
        </p:nvSpPr>
        <p:spPr>
          <a:xfrm>
            <a:off x="1671387" y="1531257"/>
            <a:ext cx="2203151" cy="2306426"/>
          </a:xfrm>
          <a:prstGeom prst="rect">
            <a:avLst/>
          </a:prstGeom>
        </p:spPr>
        <p:txBody>
          <a:bodyPr lIns="50800" tIns="50800" rIns="50800" bIns="50800" rtlCol="0" anchor="ctr"/>
          <a:lstStyle/>
          <a:p>
            <a:pPr algn="ctr">
              <a:lnSpc>
                <a:spcPts val="2659"/>
              </a:lnSpc>
              <a:spcBef>
                <a:spcPct val="0"/>
              </a:spcBef>
            </a:pPr>
            <a:endParaRPr/>
          </a:p>
        </p:txBody>
      </p:sp>
      <p:pic>
        <p:nvPicPr>
          <p:cNvPr id="20" name="Picture 19"/>
          <p:cNvPicPr>
            <a:picLocks noChangeAspect="1"/>
          </p:cNvPicPr>
          <p:nvPr/>
        </p:nvPicPr>
        <p:blipFill>
          <a:blip r:embed="rId2"/>
          <a:stretch>
            <a:fillRect/>
          </a:stretch>
        </p:blipFill>
        <p:spPr>
          <a:xfrm>
            <a:off x="0" y="0"/>
            <a:ext cx="18288000" cy="267611"/>
          </a:xfrm>
          <a:prstGeom prst="rect">
            <a:avLst/>
          </a:prstGeom>
        </p:spPr>
      </p:pic>
      <p:sp>
        <p:nvSpPr>
          <p:cNvPr id="4" name="Parallelogram 3"/>
          <p:cNvSpPr/>
          <p:nvPr/>
        </p:nvSpPr>
        <p:spPr>
          <a:xfrm>
            <a:off x="152401" y="9936689"/>
            <a:ext cx="11963400" cy="269824"/>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2" name="Parallelogram 21"/>
          <p:cNvSpPr/>
          <p:nvPr/>
        </p:nvSpPr>
        <p:spPr>
          <a:xfrm>
            <a:off x="12192000" y="9944100"/>
            <a:ext cx="1421363" cy="228600"/>
          </a:xfrm>
          <a:prstGeom prst="parallelogram">
            <a:avLst/>
          </a:prstGeom>
          <a:solidFill>
            <a:srgbClr val="FFC000"/>
          </a:solidFill>
          <a:ln>
            <a:solidFill>
              <a:srgbClr val="FFC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3" name="Parallelogram 22"/>
          <p:cNvSpPr/>
          <p:nvPr/>
        </p:nvSpPr>
        <p:spPr>
          <a:xfrm>
            <a:off x="13689563" y="9944100"/>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24" name="Picture 23"/>
          <p:cNvPicPr>
            <a:picLocks noChangeAspect="1"/>
          </p:cNvPicPr>
          <p:nvPr/>
        </p:nvPicPr>
        <p:blipFill>
          <a:blip r:embed="rId2"/>
          <a:stretch>
            <a:fillRect/>
          </a:stretch>
        </p:blipFill>
        <p:spPr>
          <a:xfrm rot="10800000" flipV="1">
            <a:off x="-23702" y="9668509"/>
            <a:ext cx="18326941" cy="268180"/>
          </a:xfrm>
          <a:prstGeom prst="rect">
            <a:avLst/>
          </a:prstGeom>
        </p:spPr>
      </p:pic>
      <p:pic>
        <p:nvPicPr>
          <p:cNvPr id="6" name="Picture 5"/>
          <p:cNvPicPr>
            <a:picLocks noChangeAspect="1"/>
          </p:cNvPicPr>
          <p:nvPr/>
        </p:nvPicPr>
        <p:blipFill>
          <a:blip r:embed="rId3"/>
          <a:stretch>
            <a:fillRect/>
          </a:stretch>
        </p:blipFill>
        <p:spPr>
          <a:xfrm>
            <a:off x="15030450" y="488370"/>
            <a:ext cx="3257550" cy="523875"/>
          </a:xfrm>
          <a:prstGeom prst="rect">
            <a:avLst/>
          </a:prstGeom>
        </p:spPr>
      </p:pic>
      <p:sp>
        <p:nvSpPr>
          <p:cNvPr id="25" name="Parallelogram 24"/>
          <p:cNvSpPr/>
          <p:nvPr/>
        </p:nvSpPr>
        <p:spPr>
          <a:xfrm>
            <a:off x="13030200" y="760176"/>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13" name="Picture 12"/>
          <p:cNvPicPr>
            <a:picLocks noChangeAspect="1"/>
          </p:cNvPicPr>
          <p:nvPr/>
        </p:nvPicPr>
        <p:blipFill>
          <a:blip r:embed="rId3"/>
          <a:stretch>
            <a:fillRect/>
          </a:stretch>
        </p:blipFill>
        <p:spPr>
          <a:xfrm rot="10800000">
            <a:off x="0" y="612538"/>
            <a:ext cx="3257550" cy="523875"/>
          </a:xfrm>
          <a:prstGeom prst="rect">
            <a:avLst/>
          </a:prstGeom>
        </p:spPr>
      </p:pic>
      <p:sp>
        <p:nvSpPr>
          <p:cNvPr id="14" name="Parallelogram 13"/>
          <p:cNvSpPr/>
          <p:nvPr/>
        </p:nvSpPr>
        <p:spPr>
          <a:xfrm>
            <a:off x="659363" y="577015"/>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95" name="TextBox 30"/>
          <p:cNvSpPr txBox="1"/>
          <p:nvPr/>
        </p:nvSpPr>
        <p:spPr>
          <a:xfrm>
            <a:off x="9411258" y="1491975"/>
            <a:ext cx="592948" cy="502317"/>
          </a:xfrm>
          <a:prstGeom prst="rect">
            <a:avLst/>
          </a:prstGeom>
        </p:spPr>
        <p:txBody>
          <a:bodyPr lIns="0" tIns="0" rIns="0" bIns="0" rtlCol="0" anchor="t">
            <a:spAutoFit/>
          </a:bodyPr>
          <a:lstStyle/>
          <a:p>
            <a:pPr algn="ctr">
              <a:lnSpc>
                <a:spcPts val="4252"/>
              </a:lnSpc>
            </a:pPr>
            <a:r>
              <a:rPr lang="en-US" sz="3037" dirty="0" smtClean="0">
                <a:solidFill>
                  <a:srgbClr val="FFFFFF"/>
                </a:solidFill>
                <a:latin typeface="Montserrat Extra-Bold"/>
              </a:rPr>
              <a:t>3</a:t>
            </a:r>
            <a:endParaRPr lang="en-US" sz="3037" dirty="0">
              <a:solidFill>
                <a:srgbClr val="FFFFFF"/>
              </a:solidFill>
              <a:latin typeface="Montserrat Extra-Bold"/>
            </a:endParaRPr>
          </a:p>
        </p:txBody>
      </p:sp>
      <p:sp>
        <p:nvSpPr>
          <p:cNvPr id="19" name="Round Single Corner Rectangle 18"/>
          <p:cNvSpPr/>
          <p:nvPr/>
        </p:nvSpPr>
        <p:spPr>
          <a:xfrm>
            <a:off x="5494020" y="160397"/>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5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Review of Literature     </a:t>
            </a:r>
            <a:r>
              <a:rPr lang="en-PH" sz="6000" b="1" u="sng" dirty="0" smtClean="0">
                <a:solidFill>
                  <a:srgbClr val="820000"/>
                </a:solidFill>
                <a:latin typeface="Arial" panose="020B0604020202020204" pitchFamily="34" charset="0"/>
                <a:cs typeface="Arial" panose="020B0604020202020204" pitchFamily="34" charset="0"/>
              </a:rPr>
              <a:t> </a:t>
            </a:r>
          </a:p>
        </p:txBody>
      </p:sp>
      <p:sp>
        <p:nvSpPr>
          <p:cNvPr id="28" name="Round Single Corner Rectangle 27"/>
          <p:cNvSpPr/>
          <p:nvPr/>
        </p:nvSpPr>
        <p:spPr>
          <a:xfrm>
            <a:off x="8452601" y="7039130"/>
            <a:ext cx="1321837"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PH" sz="36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a:t>
            </a:r>
            <a:r>
              <a:rPr lang="en-PH" sz="2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[5]      </a:t>
            </a:r>
            <a:r>
              <a:rPr lang="en-PH" sz="2800" b="1" u="sng" dirty="0" smtClean="0">
                <a:solidFill>
                  <a:srgbClr val="820000"/>
                </a:solidFill>
                <a:latin typeface="Arial" panose="020B0604020202020204" pitchFamily="34" charset="0"/>
                <a:cs typeface="Arial" panose="020B0604020202020204" pitchFamily="34" charset="0"/>
              </a:rPr>
              <a:t> </a:t>
            </a:r>
            <a:endParaRPr lang="en-PH" sz="4000" b="1" u="sng" dirty="0" smtClean="0">
              <a:solidFill>
                <a:srgbClr val="820000"/>
              </a:solidFill>
              <a:latin typeface="Arial" panose="020B0604020202020204" pitchFamily="34" charset="0"/>
              <a:cs typeface="Arial" panose="020B0604020202020204" pitchFamily="34" charset="0"/>
            </a:endParaRPr>
          </a:p>
        </p:txBody>
      </p:sp>
      <p:sp>
        <p:nvSpPr>
          <p:cNvPr id="8" name="Rectangle 7"/>
          <p:cNvSpPr/>
          <p:nvPr/>
        </p:nvSpPr>
        <p:spPr>
          <a:xfrm>
            <a:off x="8922457" y="9261202"/>
            <a:ext cx="7386061" cy="646331"/>
          </a:xfrm>
          <a:prstGeom prst="rect">
            <a:avLst/>
          </a:prstGeom>
        </p:spPr>
        <p:txBody>
          <a:bodyPr wrap="none">
            <a:spAutoFit/>
          </a:bodyPr>
          <a:lstStyle/>
          <a:p>
            <a:r>
              <a:rPr lang="en-PH" dirty="0" smtClean="0">
                <a:hlinkClick r:id="rId4"/>
              </a:rPr>
              <a:t>[6] https</a:t>
            </a:r>
            <a:r>
              <a:rPr lang="en-PH" dirty="0">
                <a:hlinkClick r:id="rId4"/>
              </a:rPr>
              <a:t>://</a:t>
            </a:r>
            <a:r>
              <a:rPr lang="en-PH" dirty="0" smtClean="0">
                <a:hlinkClick r:id="rId4"/>
              </a:rPr>
              <a:t>www.unlockfood.ca/en/Articles/Fat/Coconut-Oil-Facts-and-Myths</a:t>
            </a:r>
            <a:endParaRPr lang="en-PH" dirty="0" smtClean="0"/>
          </a:p>
          <a:p>
            <a:endParaRPr lang="en-PH" dirty="0"/>
          </a:p>
        </p:txBody>
      </p:sp>
      <p:sp>
        <p:nvSpPr>
          <p:cNvPr id="12" name="Rectangle 11"/>
          <p:cNvSpPr/>
          <p:nvPr/>
        </p:nvSpPr>
        <p:spPr>
          <a:xfrm>
            <a:off x="128193" y="8961076"/>
            <a:ext cx="6762364" cy="646331"/>
          </a:xfrm>
          <a:prstGeom prst="rect">
            <a:avLst/>
          </a:prstGeom>
        </p:spPr>
        <p:txBody>
          <a:bodyPr wrap="none">
            <a:spAutoFit/>
          </a:bodyPr>
          <a:lstStyle/>
          <a:p>
            <a:r>
              <a:rPr lang="en-PH" dirty="0" smtClean="0"/>
              <a:t>[4] </a:t>
            </a:r>
            <a:r>
              <a:rPr lang="en-PH" dirty="0" smtClean="0">
                <a:hlinkClick r:id="rId5"/>
              </a:rPr>
              <a:t>https</a:t>
            </a:r>
            <a:r>
              <a:rPr lang="en-PH" dirty="0">
                <a:hlinkClick r:id="rId5"/>
              </a:rPr>
              <a:t>://www.jmitra.com.my/product/vegan-coconut-milk-powder</a:t>
            </a:r>
            <a:r>
              <a:rPr lang="en-PH" dirty="0" smtClean="0">
                <a:hlinkClick r:id="rId5"/>
              </a:rPr>
              <a:t>/</a:t>
            </a:r>
            <a:endParaRPr lang="en-PH" dirty="0" smtClean="0"/>
          </a:p>
          <a:p>
            <a:endParaRPr lang="en-PH" dirty="0"/>
          </a:p>
        </p:txBody>
      </p:sp>
      <p:sp>
        <p:nvSpPr>
          <p:cNvPr id="29" name="Round Single Corner Rectangle 28"/>
          <p:cNvSpPr/>
          <p:nvPr/>
        </p:nvSpPr>
        <p:spPr>
          <a:xfrm>
            <a:off x="1671387" y="6884269"/>
            <a:ext cx="1321837"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PH" sz="36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a:t>
            </a:r>
            <a:r>
              <a:rPr lang="en-PH" sz="2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[4]      </a:t>
            </a:r>
            <a:r>
              <a:rPr lang="en-PH" sz="2800" b="1" u="sng" dirty="0" smtClean="0">
                <a:solidFill>
                  <a:srgbClr val="820000"/>
                </a:solidFill>
                <a:latin typeface="Arial" panose="020B0604020202020204" pitchFamily="34" charset="0"/>
                <a:cs typeface="Arial" panose="020B0604020202020204" pitchFamily="34" charset="0"/>
              </a:rPr>
              <a:t> </a:t>
            </a:r>
            <a:endParaRPr lang="en-PH" sz="4000" b="1" u="sng" dirty="0" smtClean="0">
              <a:solidFill>
                <a:srgbClr val="820000"/>
              </a:solidFill>
              <a:latin typeface="Arial" panose="020B0604020202020204" pitchFamily="34" charset="0"/>
              <a:cs typeface="Arial" panose="020B0604020202020204" pitchFamily="34" charset="0"/>
            </a:endParaRPr>
          </a:p>
        </p:txBody>
      </p:sp>
      <p:sp>
        <p:nvSpPr>
          <p:cNvPr id="15" name="Right Arrow 14"/>
          <p:cNvSpPr/>
          <p:nvPr/>
        </p:nvSpPr>
        <p:spPr>
          <a:xfrm>
            <a:off x="4228478" y="4327525"/>
            <a:ext cx="1323746" cy="1524000"/>
          </a:xfrm>
          <a:prstGeom prst="rightArrow">
            <a:avLst/>
          </a:prstGeom>
          <a:solidFill>
            <a:srgbClr val="005C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0" name="Right Arrow 29"/>
          <p:cNvSpPr/>
          <p:nvPr/>
        </p:nvSpPr>
        <p:spPr>
          <a:xfrm>
            <a:off x="10826223" y="3943561"/>
            <a:ext cx="1323746" cy="1524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1" name="Round Single Corner Rectangle 30"/>
          <p:cNvSpPr/>
          <p:nvPr/>
        </p:nvSpPr>
        <p:spPr>
          <a:xfrm>
            <a:off x="675408" y="1300819"/>
            <a:ext cx="8239991"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PH" sz="5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a:t>
            </a:r>
            <a:r>
              <a:rPr lang="en-PH" sz="40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The Virgin Coconut oil ( VCO )     </a:t>
            </a:r>
            <a:r>
              <a:rPr lang="en-PH" sz="4400" b="1" u="sng" dirty="0" smtClean="0">
                <a:solidFill>
                  <a:srgbClr val="820000"/>
                </a:solidFill>
                <a:latin typeface="Arial" panose="020B0604020202020204" pitchFamily="34" charset="0"/>
                <a:cs typeface="Arial" panose="020B0604020202020204" pitchFamily="34" charset="0"/>
              </a:rPr>
              <a:t> </a:t>
            </a:r>
            <a:endParaRPr lang="en-PH" sz="6000" b="1" u="sng" dirty="0" smtClean="0">
              <a:solidFill>
                <a:srgbClr val="820000"/>
              </a:solidFill>
              <a:latin typeface="Arial" panose="020B0604020202020204" pitchFamily="34" charset="0"/>
              <a:cs typeface="Arial" panose="020B0604020202020204" pitchFamily="34" charset="0"/>
            </a:endParaRPr>
          </a:p>
        </p:txBody>
      </p:sp>
      <p:sp>
        <p:nvSpPr>
          <p:cNvPr id="32" name="Flowchart: Connector 31"/>
          <p:cNvSpPr/>
          <p:nvPr/>
        </p:nvSpPr>
        <p:spPr>
          <a:xfrm>
            <a:off x="459185" y="3367356"/>
            <a:ext cx="3621973" cy="3617346"/>
          </a:xfrm>
          <a:prstGeom prst="flowChartConnector">
            <a:avLst/>
          </a:prstGeom>
          <a:blipFill>
            <a:blip r:embed="rId6"/>
            <a:stretch>
              <a:fillRect/>
            </a:stretch>
          </a:blipFill>
          <a:ln w="28575">
            <a:solidFill>
              <a:srgbClr val="005C2A"/>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17" name="Rectangle 16"/>
          <p:cNvSpPr/>
          <p:nvPr/>
        </p:nvSpPr>
        <p:spPr>
          <a:xfrm>
            <a:off x="128193" y="9294064"/>
            <a:ext cx="4767074" cy="646331"/>
          </a:xfrm>
          <a:prstGeom prst="rect">
            <a:avLst/>
          </a:prstGeom>
        </p:spPr>
        <p:txBody>
          <a:bodyPr wrap="none">
            <a:spAutoFit/>
          </a:bodyPr>
          <a:lstStyle/>
          <a:p>
            <a:r>
              <a:rPr lang="en-PH" dirty="0" smtClean="0"/>
              <a:t>[5] </a:t>
            </a:r>
            <a:r>
              <a:rPr lang="en-PH" dirty="0" smtClean="0">
                <a:hlinkClick r:id="rId7"/>
              </a:rPr>
              <a:t>https</a:t>
            </a:r>
            <a:r>
              <a:rPr lang="en-PH" dirty="0">
                <a:hlinkClick r:id="rId7"/>
              </a:rPr>
              <a:t>://</a:t>
            </a:r>
            <a:r>
              <a:rPr lang="en-PH" dirty="0" smtClean="0">
                <a:hlinkClick r:id="rId7"/>
              </a:rPr>
              <a:t>www.mdpi.com/2227-9717/10/2/315</a:t>
            </a:r>
            <a:endParaRPr lang="en-PH" dirty="0" smtClean="0"/>
          </a:p>
          <a:p>
            <a:endParaRPr lang="en-PH" dirty="0"/>
          </a:p>
        </p:txBody>
      </p:sp>
      <p:pic>
        <p:nvPicPr>
          <p:cNvPr id="18" name="Picture 17"/>
          <p:cNvPicPr>
            <a:picLocks noChangeAspect="1"/>
          </p:cNvPicPr>
          <p:nvPr/>
        </p:nvPicPr>
        <p:blipFill>
          <a:blip r:embed="rId8"/>
          <a:stretch>
            <a:fillRect/>
          </a:stretch>
        </p:blipFill>
        <p:spPr>
          <a:xfrm>
            <a:off x="5768052" y="2715679"/>
            <a:ext cx="6581775" cy="4410075"/>
          </a:xfrm>
          <a:prstGeom prst="rect">
            <a:avLst/>
          </a:prstGeom>
        </p:spPr>
      </p:pic>
      <p:sp>
        <p:nvSpPr>
          <p:cNvPr id="35" name="Flowchart: Connector 34"/>
          <p:cNvSpPr/>
          <p:nvPr/>
        </p:nvSpPr>
        <p:spPr>
          <a:xfrm>
            <a:off x="14177794" y="3401827"/>
            <a:ext cx="3621973" cy="3617346"/>
          </a:xfrm>
          <a:prstGeom prst="flowChartConnector">
            <a:avLst/>
          </a:prstGeom>
          <a:blipFill>
            <a:blip r:embed="rId9"/>
            <a:stretch>
              <a:fillRect/>
            </a:stretch>
          </a:blipFill>
          <a:ln w="28575">
            <a:solidFill>
              <a:srgbClr val="005C2A"/>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36" name="Right Arrow 35"/>
          <p:cNvSpPr/>
          <p:nvPr/>
        </p:nvSpPr>
        <p:spPr>
          <a:xfrm>
            <a:off x="12615488" y="4297791"/>
            <a:ext cx="1323746" cy="1524000"/>
          </a:xfrm>
          <a:prstGeom prst="rightArrow">
            <a:avLst/>
          </a:prstGeom>
          <a:solidFill>
            <a:srgbClr val="005C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7" name="Round Single Corner Rectangle 36"/>
          <p:cNvSpPr/>
          <p:nvPr/>
        </p:nvSpPr>
        <p:spPr>
          <a:xfrm>
            <a:off x="15773400" y="7278154"/>
            <a:ext cx="1321837"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PH" sz="36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a:t>
            </a:r>
            <a:r>
              <a:rPr lang="en-PH" sz="2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[6]      </a:t>
            </a:r>
            <a:r>
              <a:rPr lang="en-PH" sz="2800" b="1" u="sng" dirty="0" smtClean="0">
                <a:solidFill>
                  <a:srgbClr val="820000"/>
                </a:solidFill>
                <a:latin typeface="Arial" panose="020B0604020202020204" pitchFamily="34" charset="0"/>
                <a:cs typeface="Arial" panose="020B0604020202020204" pitchFamily="34" charset="0"/>
              </a:rPr>
              <a:t> </a:t>
            </a:r>
            <a:endParaRPr lang="en-PH" sz="4000" b="1" u="sng" dirty="0" smtClean="0">
              <a:solidFill>
                <a:srgbClr val="82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924882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Picture 42"/>
          <p:cNvPicPr/>
          <p:nvPr/>
        </p:nvPicPr>
        <p:blipFill>
          <a:blip r:embed="rId2"/>
          <a:stretch>
            <a:fillRect/>
          </a:stretch>
        </p:blipFill>
        <p:spPr>
          <a:xfrm>
            <a:off x="5855532" y="1177824"/>
            <a:ext cx="5498268" cy="4750238"/>
          </a:xfrm>
          <a:prstGeom prst="rect">
            <a:avLst/>
          </a:prstGeom>
        </p:spPr>
      </p:pic>
      <p:sp>
        <p:nvSpPr>
          <p:cNvPr id="53" name="TextBox 13"/>
          <p:cNvSpPr txBox="1"/>
          <p:nvPr/>
        </p:nvSpPr>
        <p:spPr>
          <a:xfrm>
            <a:off x="1671387" y="1531257"/>
            <a:ext cx="2203151" cy="2306426"/>
          </a:xfrm>
          <a:prstGeom prst="rect">
            <a:avLst/>
          </a:prstGeom>
        </p:spPr>
        <p:txBody>
          <a:bodyPr lIns="50800" tIns="50800" rIns="50800" bIns="50800" rtlCol="0" anchor="ctr"/>
          <a:lstStyle/>
          <a:p>
            <a:pPr algn="ctr">
              <a:lnSpc>
                <a:spcPts val="2659"/>
              </a:lnSpc>
              <a:spcBef>
                <a:spcPct val="0"/>
              </a:spcBef>
            </a:pPr>
            <a:endParaRPr/>
          </a:p>
        </p:txBody>
      </p:sp>
      <p:pic>
        <p:nvPicPr>
          <p:cNvPr id="18" name="Picture 17"/>
          <p:cNvPicPr>
            <a:picLocks noChangeAspect="1"/>
          </p:cNvPicPr>
          <p:nvPr/>
        </p:nvPicPr>
        <p:blipFill>
          <a:blip r:embed="rId3"/>
          <a:stretch>
            <a:fillRect/>
          </a:stretch>
        </p:blipFill>
        <p:spPr>
          <a:xfrm>
            <a:off x="76200" y="9266338"/>
            <a:ext cx="2327677" cy="1020662"/>
          </a:xfrm>
          <a:prstGeom prst="rect">
            <a:avLst/>
          </a:prstGeom>
        </p:spPr>
      </p:pic>
      <p:sp>
        <p:nvSpPr>
          <p:cNvPr id="21" name="Round Single Corner Rectangle 20"/>
          <p:cNvSpPr/>
          <p:nvPr/>
        </p:nvSpPr>
        <p:spPr>
          <a:xfrm>
            <a:off x="5494020" y="160397"/>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5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Review of Literature     </a:t>
            </a:r>
            <a:r>
              <a:rPr lang="en-PH" sz="6000" b="1" u="sng" dirty="0" smtClean="0">
                <a:solidFill>
                  <a:srgbClr val="820000"/>
                </a:solidFill>
                <a:latin typeface="Arial" panose="020B0604020202020204" pitchFamily="34" charset="0"/>
                <a:cs typeface="Arial" panose="020B0604020202020204" pitchFamily="34" charset="0"/>
              </a:rPr>
              <a:t> </a:t>
            </a:r>
          </a:p>
        </p:txBody>
      </p:sp>
      <p:pic>
        <p:nvPicPr>
          <p:cNvPr id="20" name="Picture 19"/>
          <p:cNvPicPr>
            <a:picLocks noChangeAspect="1"/>
          </p:cNvPicPr>
          <p:nvPr/>
        </p:nvPicPr>
        <p:blipFill>
          <a:blip r:embed="rId4"/>
          <a:stretch>
            <a:fillRect/>
          </a:stretch>
        </p:blipFill>
        <p:spPr>
          <a:xfrm>
            <a:off x="0" y="0"/>
            <a:ext cx="18288000" cy="267611"/>
          </a:xfrm>
          <a:prstGeom prst="rect">
            <a:avLst/>
          </a:prstGeom>
        </p:spPr>
      </p:pic>
      <p:sp>
        <p:nvSpPr>
          <p:cNvPr id="4" name="Parallelogram 3"/>
          <p:cNvSpPr/>
          <p:nvPr/>
        </p:nvSpPr>
        <p:spPr>
          <a:xfrm>
            <a:off x="2388637" y="9936689"/>
            <a:ext cx="9727163" cy="236011"/>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2" name="Parallelogram 21"/>
          <p:cNvSpPr/>
          <p:nvPr/>
        </p:nvSpPr>
        <p:spPr>
          <a:xfrm>
            <a:off x="12192000" y="9944100"/>
            <a:ext cx="1421363" cy="228600"/>
          </a:xfrm>
          <a:prstGeom prst="parallelogram">
            <a:avLst/>
          </a:prstGeom>
          <a:solidFill>
            <a:srgbClr val="FFC000"/>
          </a:solidFill>
          <a:ln>
            <a:solidFill>
              <a:srgbClr val="FFC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3" name="Parallelogram 22"/>
          <p:cNvSpPr/>
          <p:nvPr/>
        </p:nvSpPr>
        <p:spPr>
          <a:xfrm>
            <a:off x="13689563" y="9944100"/>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24" name="Picture 23"/>
          <p:cNvPicPr>
            <a:picLocks noChangeAspect="1"/>
          </p:cNvPicPr>
          <p:nvPr/>
        </p:nvPicPr>
        <p:blipFill>
          <a:blip r:embed="rId4"/>
          <a:stretch>
            <a:fillRect/>
          </a:stretch>
        </p:blipFill>
        <p:spPr>
          <a:xfrm rot="10800000" flipV="1">
            <a:off x="2403877" y="9668509"/>
            <a:ext cx="15899363" cy="232657"/>
          </a:xfrm>
          <a:prstGeom prst="rect">
            <a:avLst/>
          </a:prstGeom>
        </p:spPr>
      </p:pic>
      <p:pic>
        <p:nvPicPr>
          <p:cNvPr id="6" name="Picture 5"/>
          <p:cNvPicPr>
            <a:picLocks noChangeAspect="1"/>
          </p:cNvPicPr>
          <p:nvPr/>
        </p:nvPicPr>
        <p:blipFill>
          <a:blip r:embed="rId5"/>
          <a:stretch>
            <a:fillRect/>
          </a:stretch>
        </p:blipFill>
        <p:spPr>
          <a:xfrm>
            <a:off x="15030450" y="488370"/>
            <a:ext cx="3257550" cy="523875"/>
          </a:xfrm>
          <a:prstGeom prst="rect">
            <a:avLst/>
          </a:prstGeom>
        </p:spPr>
      </p:pic>
      <p:sp>
        <p:nvSpPr>
          <p:cNvPr id="25" name="Parallelogram 24"/>
          <p:cNvSpPr/>
          <p:nvPr/>
        </p:nvSpPr>
        <p:spPr>
          <a:xfrm>
            <a:off x="13030200" y="760176"/>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13" name="Picture 12"/>
          <p:cNvPicPr>
            <a:picLocks noChangeAspect="1"/>
          </p:cNvPicPr>
          <p:nvPr/>
        </p:nvPicPr>
        <p:blipFill>
          <a:blip r:embed="rId5"/>
          <a:stretch>
            <a:fillRect/>
          </a:stretch>
        </p:blipFill>
        <p:spPr>
          <a:xfrm rot="10800000">
            <a:off x="0" y="612538"/>
            <a:ext cx="3257550" cy="523875"/>
          </a:xfrm>
          <a:prstGeom prst="rect">
            <a:avLst/>
          </a:prstGeom>
        </p:spPr>
      </p:pic>
      <p:sp>
        <p:nvSpPr>
          <p:cNvPr id="14" name="Parallelogram 13"/>
          <p:cNvSpPr/>
          <p:nvPr/>
        </p:nvSpPr>
        <p:spPr>
          <a:xfrm>
            <a:off x="659363" y="577015"/>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7" name="Rectangle 6"/>
          <p:cNvSpPr/>
          <p:nvPr/>
        </p:nvSpPr>
        <p:spPr>
          <a:xfrm>
            <a:off x="369132" y="6538068"/>
            <a:ext cx="17549735" cy="1815882"/>
          </a:xfrm>
          <a:prstGeom prst="rect">
            <a:avLst/>
          </a:prstGeom>
          <a:ln w="38100">
            <a:solidFill>
              <a:schemeClr val="tx1"/>
            </a:solidFill>
          </a:ln>
        </p:spPr>
        <p:txBody>
          <a:bodyPr wrap="square">
            <a:spAutoFit/>
          </a:bodyPr>
          <a:lstStyle/>
          <a:p>
            <a:pPr algn="just"/>
            <a:r>
              <a:rPr lang="en-PH" sz="2800" b="1" i="1" dirty="0" err="1">
                <a:latin typeface="Arial" panose="020B0604020202020204" pitchFamily="34" charset="0"/>
                <a:ea typeface="Calibri" panose="020F0502020204030204" pitchFamily="34" charset="0"/>
              </a:rPr>
              <a:t>Cocos</a:t>
            </a:r>
            <a:r>
              <a:rPr lang="en-PH" sz="2800" b="1" i="1" dirty="0">
                <a:latin typeface="Arial" panose="020B0604020202020204" pitchFamily="34" charset="0"/>
                <a:ea typeface="Calibri" panose="020F0502020204030204" pitchFamily="34" charset="0"/>
              </a:rPr>
              <a:t> </a:t>
            </a:r>
            <a:r>
              <a:rPr lang="en-PH" sz="2800" b="1" i="1" dirty="0" err="1">
                <a:latin typeface="Arial" panose="020B0604020202020204" pitchFamily="34" charset="0"/>
                <a:ea typeface="Calibri" panose="020F0502020204030204" pitchFamily="34" charset="0"/>
              </a:rPr>
              <a:t>nucifera</a:t>
            </a:r>
            <a:r>
              <a:rPr lang="en-PH" sz="2800" b="1" i="1" dirty="0">
                <a:latin typeface="Arial" panose="020B0604020202020204" pitchFamily="34" charset="0"/>
                <a:ea typeface="Calibri" panose="020F0502020204030204" pitchFamily="34" charset="0"/>
              </a:rPr>
              <a:t> (L.)</a:t>
            </a:r>
            <a:r>
              <a:rPr lang="en-PH" sz="2800" dirty="0">
                <a:latin typeface="Arial" panose="020B0604020202020204" pitchFamily="34" charset="0"/>
                <a:ea typeface="Calibri" panose="020F0502020204030204" pitchFamily="34" charset="0"/>
              </a:rPr>
              <a:t> is an important member of the family </a:t>
            </a:r>
            <a:r>
              <a:rPr lang="en-PH" sz="2800" dirty="0" err="1">
                <a:latin typeface="Arial" panose="020B0604020202020204" pitchFamily="34" charset="0"/>
                <a:ea typeface="Calibri" panose="020F0502020204030204" pitchFamily="34" charset="0"/>
              </a:rPr>
              <a:t>Arecaceae</a:t>
            </a:r>
            <a:r>
              <a:rPr lang="en-PH" sz="2800" dirty="0">
                <a:latin typeface="Arial" panose="020B0604020202020204" pitchFamily="34" charset="0"/>
                <a:ea typeface="Calibri" panose="020F0502020204030204" pitchFamily="34" charset="0"/>
              </a:rPr>
              <a:t> (palm family) popularly known as coconut, coco, coco-da-Bahia, or coconut-of the-beach (</a:t>
            </a:r>
            <a:r>
              <a:rPr lang="en-PH" sz="2800" dirty="0" err="1">
                <a:latin typeface="Arial" panose="020B0604020202020204" pitchFamily="34" charset="0"/>
                <a:ea typeface="Calibri" panose="020F0502020204030204" pitchFamily="34" charset="0"/>
              </a:rPr>
              <a:t>Aragao</a:t>
            </a:r>
            <a:r>
              <a:rPr lang="en-PH" sz="2800" dirty="0">
                <a:latin typeface="Arial" panose="020B0604020202020204" pitchFamily="34" charset="0"/>
                <a:ea typeface="Calibri" panose="020F0502020204030204" pitchFamily="34" charset="0"/>
              </a:rPr>
              <a:t> WM. (2002), as cited in E.B.C, 2015)</a:t>
            </a:r>
            <a:r>
              <a:rPr lang="en-PH" sz="2800" b="1" baseline="30000" dirty="0">
                <a:latin typeface="Arial" panose="020B0604020202020204" pitchFamily="34" charset="0"/>
                <a:ea typeface="Calibri" panose="020F0502020204030204" pitchFamily="34" charset="0"/>
              </a:rPr>
              <a:t>7</a:t>
            </a:r>
            <a:r>
              <a:rPr lang="en-PH" sz="2800" baseline="30000" dirty="0">
                <a:latin typeface="Arial" panose="020B0604020202020204" pitchFamily="34" charset="0"/>
                <a:ea typeface="Calibri" panose="020F0502020204030204" pitchFamily="34" charset="0"/>
              </a:rPr>
              <a:t> </a:t>
            </a:r>
            <a:r>
              <a:rPr lang="en-PH" sz="2800" dirty="0">
                <a:latin typeface="Arial" panose="020B0604020202020204" pitchFamily="34" charset="0"/>
                <a:ea typeface="Calibri" panose="020F0502020204030204" pitchFamily="34" charset="0"/>
              </a:rPr>
              <a:t>the plant is originally from Southeast Asia (Malaysia, Indonesia, and the Philippines) and the islands between the Indian and Pacific Oceans. </a:t>
            </a:r>
            <a:endParaRPr lang="en-PH" sz="2800" dirty="0"/>
          </a:p>
        </p:txBody>
      </p:sp>
      <p:sp>
        <p:nvSpPr>
          <p:cNvPr id="40" name="Round Single Corner Rectangle 39"/>
          <p:cNvSpPr/>
          <p:nvPr/>
        </p:nvSpPr>
        <p:spPr>
          <a:xfrm>
            <a:off x="2270180" y="5661393"/>
            <a:ext cx="965133"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20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[1]     </a:t>
            </a:r>
            <a:r>
              <a:rPr lang="en-PH" sz="2400" b="1" u="sng" dirty="0" smtClean="0">
                <a:solidFill>
                  <a:srgbClr val="820000"/>
                </a:solidFill>
                <a:latin typeface="Arial" panose="020B0604020202020204" pitchFamily="34" charset="0"/>
                <a:cs typeface="Arial" panose="020B0604020202020204" pitchFamily="34" charset="0"/>
              </a:rPr>
              <a:t> </a:t>
            </a:r>
          </a:p>
        </p:txBody>
      </p:sp>
      <p:sp>
        <p:nvSpPr>
          <p:cNvPr id="42" name="Round Single Corner Rectangle 41"/>
          <p:cNvSpPr/>
          <p:nvPr/>
        </p:nvSpPr>
        <p:spPr>
          <a:xfrm>
            <a:off x="8085191" y="5592411"/>
            <a:ext cx="965133"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20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[2]     </a:t>
            </a:r>
            <a:r>
              <a:rPr lang="en-PH" sz="2400" b="1" u="sng" dirty="0" smtClean="0">
                <a:solidFill>
                  <a:srgbClr val="820000"/>
                </a:solidFill>
                <a:latin typeface="Arial" panose="020B0604020202020204" pitchFamily="34" charset="0"/>
                <a:cs typeface="Arial" panose="020B0604020202020204" pitchFamily="34" charset="0"/>
              </a:rPr>
              <a:t> </a:t>
            </a:r>
          </a:p>
        </p:txBody>
      </p:sp>
      <p:sp>
        <p:nvSpPr>
          <p:cNvPr id="44" name="Round Single Corner Rectangle 43"/>
          <p:cNvSpPr/>
          <p:nvPr/>
        </p:nvSpPr>
        <p:spPr>
          <a:xfrm>
            <a:off x="14547883" y="5720916"/>
            <a:ext cx="965133"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20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[3]     </a:t>
            </a:r>
            <a:r>
              <a:rPr lang="en-PH" sz="2400" b="1" u="sng" dirty="0" smtClean="0">
                <a:solidFill>
                  <a:srgbClr val="820000"/>
                </a:solidFill>
                <a:latin typeface="Arial" panose="020B0604020202020204" pitchFamily="34" charset="0"/>
                <a:cs typeface="Arial" panose="020B0604020202020204" pitchFamily="34" charset="0"/>
              </a:rPr>
              <a:t> </a:t>
            </a:r>
          </a:p>
        </p:txBody>
      </p:sp>
      <p:pic>
        <p:nvPicPr>
          <p:cNvPr id="2" name="Picture 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9273" y="1300818"/>
            <a:ext cx="5572771" cy="4627243"/>
          </a:xfrm>
          <a:prstGeom prst="rect">
            <a:avLst/>
          </a:prstGeom>
        </p:spPr>
      </p:pic>
      <p:sp>
        <p:nvSpPr>
          <p:cNvPr id="3" name="Rectangle 2"/>
          <p:cNvSpPr/>
          <p:nvPr/>
        </p:nvSpPr>
        <p:spPr>
          <a:xfrm>
            <a:off x="2388637" y="8418921"/>
            <a:ext cx="5985293" cy="646331"/>
          </a:xfrm>
          <a:prstGeom prst="rect">
            <a:avLst/>
          </a:prstGeom>
        </p:spPr>
        <p:txBody>
          <a:bodyPr wrap="none">
            <a:spAutoFit/>
          </a:bodyPr>
          <a:lstStyle/>
          <a:p>
            <a:r>
              <a:rPr lang="en-PH" b="1" dirty="0" smtClean="0"/>
              <a:t>[1] </a:t>
            </a:r>
            <a:r>
              <a:rPr lang="en-PH" b="1" dirty="0" smtClean="0">
                <a:hlinkClick r:id="rId7"/>
              </a:rPr>
              <a:t>https</a:t>
            </a:r>
            <a:r>
              <a:rPr lang="en-PH" b="1" dirty="0">
                <a:hlinkClick r:id="rId7"/>
              </a:rPr>
              <a:t>://www.khaosok.com/national-park/coconut-palm</a:t>
            </a:r>
            <a:r>
              <a:rPr lang="en-PH" b="1" dirty="0" smtClean="0">
                <a:hlinkClick r:id="rId7"/>
              </a:rPr>
              <a:t>/</a:t>
            </a:r>
            <a:endParaRPr lang="en-PH" b="1" dirty="0" smtClean="0"/>
          </a:p>
          <a:p>
            <a:endParaRPr lang="en-PH" dirty="0"/>
          </a:p>
        </p:txBody>
      </p:sp>
      <p:sp>
        <p:nvSpPr>
          <p:cNvPr id="5" name="Rectangle 4"/>
          <p:cNvSpPr/>
          <p:nvPr/>
        </p:nvSpPr>
        <p:spPr>
          <a:xfrm>
            <a:off x="9178635" y="8465468"/>
            <a:ext cx="7742569" cy="646331"/>
          </a:xfrm>
          <a:prstGeom prst="rect">
            <a:avLst/>
          </a:prstGeom>
        </p:spPr>
        <p:txBody>
          <a:bodyPr wrap="none">
            <a:spAutoFit/>
          </a:bodyPr>
          <a:lstStyle/>
          <a:p>
            <a:r>
              <a:rPr lang="en-PH" b="1" dirty="0" smtClean="0"/>
              <a:t>[2] </a:t>
            </a:r>
            <a:r>
              <a:rPr lang="en-PH" b="1" dirty="0" smtClean="0">
                <a:hlinkClick r:id="rId8"/>
              </a:rPr>
              <a:t>https</a:t>
            </a:r>
            <a:r>
              <a:rPr lang="en-PH" b="1" dirty="0">
                <a:hlinkClick r:id="rId8"/>
              </a:rPr>
              <a:t>://</a:t>
            </a:r>
            <a:r>
              <a:rPr lang="en-PH" b="1" dirty="0" smtClean="0">
                <a:hlinkClick r:id="rId8"/>
              </a:rPr>
              <a:t>agritech.tnau.ac.in/horticulture/horti_pcrops_coconut_botany.html</a:t>
            </a:r>
            <a:endParaRPr lang="en-PH" b="1" dirty="0" smtClean="0"/>
          </a:p>
          <a:p>
            <a:endParaRPr lang="en-PH" b="1" dirty="0"/>
          </a:p>
        </p:txBody>
      </p:sp>
      <p:pic>
        <p:nvPicPr>
          <p:cNvPr id="8" name="Picture 7"/>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493470" y="1241812"/>
            <a:ext cx="6135167" cy="4709719"/>
          </a:xfrm>
          <a:prstGeom prst="rect">
            <a:avLst/>
          </a:prstGeom>
        </p:spPr>
      </p:pic>
      <p:sp>
        <p:nvSpPr>
          <p:cNvPr id="9" name="Rectangle 8"/>
          <p:cNvSpPr/>
          <p:nvPr/>
        </p:nvSpPr>
        <p:spPr>
          <a:xfrm>
            <a:off x="2403877" y="8901841"/>
            <a:ext cx="9144000" cy="923330"/>
          </a:xfrm>
          <a:prstGeom prst="rect">
            <a:avLst/>
          </a:prstGeom>
        </p:spPr>
        <p:txBody>
          <a:bodyPr>
            <a:spAutoFit/>
          </a:bodyPr>
          <a:lstStyle/>
          <a:p>
            <a:r>
              <a:rPr lang="en-PH" b="1" dirty="0" smtClean="0"/>
              <a:t>[3] </a:t>
            </a:r>
            <a:r>
              <a:rPr lang="en-PH" b="1" dirty="0" smtClean="0">
                <a:hlinkClick r:id="rId10"/>
              </a:rPr>
              <a:t>https</a:t>
            </a:r>
            <a:r>
              <a:rPr lang="en-PH" b="1" dirty="0">
                <a:hlinkClick r:id="rId10"/>
              </a:rPr>
              <a:t>://</a:t>
            </a:r>
            <a:r>
              <a:rPr lang="en-PH" b="1" dirty="0" smtClean="0">
                <a:hlinkClick r:id="rId10"/>
              </a:rPr>
              <a:t>www.researchgate.net/figure/Anatomy-a-and-development-of-normal-coconut-a-c-Note-the-reduced-level-of-liquid_fig5_354913466</a:t>
            </a:r>
            <a:endParaRPr lang="en-PH" b="1" dirty="0" smtClean="0"/>
          </a:p>
          <a:p>
            <a:endParaRPr lang="en-PH" b="1" dirty="0"/>
          </a:p>
        </p:txBody>
      </p:sp>
    </p:spTree>
    <p:extLst>
      <p:ext uri="{BB962C8B-B14F-4D97-AF65-F5344CB8AC3E}">
        <p14:creationId xmlns:p14="http://schemas.microsoft.com/office/powerpoint/2010/main" val="248580897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Box 13"/>
          <p:cNvSpPr txBox="1"/>
          <p:nvPr/>
        </p:nvSpPr>
        <p:spPr>
          <a:xfrm>
            <a:off x="1671387" y="1531257"/>
            <a:ext cx="2203151" cy="2306426"/>
          </a:xfrm>
          <a:prstGeom prst="rect">
            <a:avLst/>
          </a:prstGeom>
        </p:spPr>
        <p:txBody>
          <a:bodyPr lIns="50800" tIns="50800" rIns="50800" bIns="50800" rtlCol="0" anchor="ctr"/>
          <a:lstStyle/>
          <a:p>
            <a:pPr algn="ctr">
              <a:lnSpc>
                <a:spcPts val="2659"/>
              </a:lnSpc>
              <a:spcBef>
                <a:spcPct val="0"/>
              </a:spcBef>
            </a:pPr>
            <a:endParaRPr/>
          </a:p>
        </p:txBody>
      </p:sp>
      <p:pic>
        <p:nvPicPr>
          <p:cNvPr id="18" name="Picture 17"/>
          <p:cNvPicPr>
            <a:picLocks noChangeAspect="1"/>
          </p:cNvPicPr>
          <p:nvPr/>
        </p:nvPicPr>
        <p:blipFill>
          <a:blip r:embed="rId2"/>
          <a:stretch>
            <a:fillRect/>
          </a:stretch>
        </p:blipFill>
        <p:spPr>
          <a:xfrm>
            <a:off x="76200" y="9266338"/>
            <a:ext cx="2327677" cy="1020662"/>
          </a:xfrm>
          <a:prstGeom prst="rect">
            <a:avLst/>
          </a:prstGeom>
        </p:spPr>
      </p:pic>
      <p:pic>
        <p:nvPicPr>
          <p:cNvPr id="19" name="Picture 18"/>
          <p:cNvPicPr>
            <a:picLocks noChangeAspect="1"/>
          </p:cNvPicPr>
          <p:nvPr/>
        </p:nvPicPr>
        <p:blipFill>
          <a:blip r:embed="rId3"/>
          <a:stretch>
            <a:fillRect/>
          </a:stretch>
        </p:blipFill>
        <p:spPr>
          <a:xfrm rot="10800000">
            <a:off x="-30480" y="1294489"/>
            <a:ext cx="18288000" cy="267610"/>
          </a:xfrm>
          <a:prstGeom prst="rect">
            <a:avLst/>
          </a:prstGeom>
        </p:spPr>
      </p:pic>
      <p:sp>
        <p:nvSpPr>
          <p:cNvPr id="21" name="Round Single Corner Rectangle 20"/>
          <p:cNvSpPr/>
          <p:nvPr/>
        </p:nvSpPr>
        <p:spPr>
          <a:xfrm>
            <a:off x="5494020" y="160397"/>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5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Review of Literature     </a:t>
            </a:r>
            <a:r>
              <a:rPr lang="en-PH" sz="6000" b="1" u="sng" dirty="0" smtClean="0">
                <a:solidFill>
                  <a:srgbClr val="820000"/>
                </a:solidFill>
                <a:latin typeface="Arial" panose="020B0604020202020204" pitchFamily="34" charset="0"/>
                <a:cs typeface="Arial" panose="020B0604020202020204" pitchFamily="34" charset="0"/>
              </a:rPr>
              <a:t> </a:t>
            </a:r>
          </a:p>
        </p:txBody>
      </p:sp>
      <p:pic>
        <p:nvPicPr>
          <p:cNvPr id="20" name="Picture 19"/>
          <p:cNvPicPr>
            <a:picLocks noChangeAspect="1"/>
          </p:cNvPicPr>
          <p:nvPr/>
        </p:nvPicPr>
        <p:blipFill>
          <a:blip r:embed="rId3"/>
          <a:stretch>
            <a:fillRect/>
          </a:stretch>
        </p:blipFill>
        <p:spPr>
          <a:xfrm>
            <a:off x="0" y="0"/>
            <a:ext cx="18288000" cy="267611"/>
          </a:xfrm>
          <a:prstGeom prst="rect">
            <a:avLst/>
          </a:prstGeom>
        </p:spPr>
      </p:pic>
      <p:sp>
        <p:nvSpPr>
          <p:cNvPr id="4" name="Parallelogram 3"/>
          <p:cNvSpPr/>
          <p:nvPr/>
        </p:nvSpPr>
        <p:spPr>
          <a:xfrm>
            <a:off x="2388637" y="9936689"/>
            <a:ext cx="9727163" cy="236011"/>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2" name="Parallelogram 21"/>
          <p:cNvSpPr/>
          <p:nvPr/>
        </p:nvSpPr>
        <p:spPr>
          <a:xfrm>
            <a:off x="12192000" y="9944100"/>
            <a:ext cx="1421363" cy="228600"/>
          </a:xfrm>
          <a:prstGeom prst="parallelogram">
            <a:avLst/>
          </a:prstGeom>
          <a:solidFill>
            <a:srgbClr val="FFC000"/>
          </a:solidFill>
          <a:ln>
            <a:solidFill>
              <a:srgbClr val="FFC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3" name="Parallelogram 22"/>
          <p:cNvSpPr/>
          <p:nvPr/>
        </p:nvSpPr>
        <p:spPr>
          <a:xfrm>
            <a:off x="13689563" y="9944100"/>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24" name="Picture 23"/>
          <p:cNvPicPr>
            <a:picLocks noChangeAspect="1"/>
          </p:cNvPicPr>
          <p:nvPr/>
        </p:nvPicPr>
        <p:blipFill>
          <a:blip r:embed="rId3"/>
          <a:stretch>
            <a:fillRect/>
          </a:stretch>
        </p:blipFill>
        <p:spPr>
          <a:xfrm rot="10800000" flipV="1">
            <a:off x="2403877" y="9668509"/>
            <a:ext cx="15899363" cy="232657"/>
          </a:xfrm>
          <a:prstGeom prst="rect">
            <a:avLst/>
          </a:prstGeom>
        </p:spPr>
      </p:pic>
      <p:pic>
        <p:nvPicPr>
          <p:cNvPr id="6" name="Picture 5"/>
          <p:cNvPicPr>
            <a:picLocks noChangeAspect="1"/>
          </p:cNvPicPr>
          <p:nvPr/>
        </p:nvPicPr>
        <p:blipFill>
          <a:blip r:embed="rId4"/>
          <a:stretch>
            <a:fillRect/>
          </a:stretch>
        </p:blipFill>
        <p:spPr>
          <a:xfrm>
            <a:off x="15030450" y="488370"/>
            <a:ext cx="3257550" cy="523875"/>
          </a:xfrm>
          <a:prstGeom prst="rect">
            <a:avLst/>
          </a:prstGeom>
        </p:spPr>
      </p:pic>
      <p:sp>
        <p:nvSpPr>
          <p:cNvPr id="25" name="Parallelogram 24"/>
          <p:cNvSpPr/>
          <p:nvPr/>
        </p:nvSpPr>
        <p:spPr>
          <a:xfrm>
            <a:off x="13030200" y="760176"/>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13" name="Picture 12"/>
          <p:cNvPicPr>
            <a:picLocks noChangeAspect="1"/>
          </p:cNvPicPr>
          <p:nvPr/>
        </p:nvPicPr>
        <p:blipFill>
          <a:blip r:embed="rId4"/>
          <a:stretch>
            <a:fillRect/>
          </a:stretch>
        </p:blipFill>
        <p:spPr>
          <a:xfrm rot="10800000">
            <a:off x="0" y="612538"/>
            <a:ext cx="3257550" cy="523875"/>
          </a:xfrm>
          <a:prstGeom prst="rect">
            <a:avLst/>
          </a:prstGeom>
        </p:spPr>
      </p:pic>
      <p:sp>
        <p:nvSpPr>
          <p:cNvPr id="14" name="Parallelogram 13"/>
          <p:cNvSpPr/>
          <p:nvPr/>
        </p:nvSpPr>
        <p:spPr>
          <a:xfrm>
            <a:off x="659363" y="577015"/>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26" name="Picture 25"/>
          <p:cNvPicPr>
            <a:picLocks noChangeAspect="1"/>
          </p:cNvPicPr>
          <p:nvPr/>
        </p:nvPicPr>
        <p:blipFill>
          <a:blip r:embed="rId5"/>
          <a:stretch>
            <a:fillRect/>
          </a:stretch>
        </p:blipFill>
        <p:spPr>
          <a:xfrm>
            <a:off x="228600" y="1745099"/>
            <a:ext cx="6380339" cy="4948853"/>
          </a:xfrm>
          <a:prstGeom prst="rect">
            <a:avLst/>
          </a:prstGeom>
        </p:spPr>
      </p:pic>
      <p:pic>
        <p:nvPicPr>
          <p:cNvPr id="27" name="Picture 26"/>
          <p:cNvPicPr>
            <a:picLocks noChangeAspect="1"/>
          </p:cNvPicPr>
          <p:nvPr/>
        </p:nvPicPr>
        <p:blipFill>
          <a:blip r:embed="rId6"/>
          <a:stretch>
            <a:fillRect/>
          </a:stretch>
        </p:blipFill>
        <p:spPr>
          <a:xfrm>
            <a:off x="6608939" y="1645983"/>
            <a:ext cx="6115963" cy="5065730"/>
          </a:xfrm>
          <a:prstGeom prst="rect">
            <a:avLst/>
          </a:prstGeom>
        </p:spPr>
      </p:pic>
      <p:pic>
        <p:nvPicPr>
          <p:cNvPr id="28" name="Picture 27"/>
          <p:cNvPicPr>
            <a:picLocks noChangeAspect="1"/>
          </p:cNvPicPr>
          <p:nvPr/>
        </p:nvPicPr>
        <p:blipFill>
          <a:blip r:embed="rId7"/>
          <a:stretch>
            <a:fillRect/>
          </a:stretch>
        </p:blipFill>
        <p:spPr>
          <a:xfrm>
            <a:off x="12485308" y="1605033"/>
            <a:ext cx="5802691" cy="5088919"/>
          </a:xfrm>
          <a:prstGeom prst="rect">
            <a:avLst/>
          </a:prstGeom>
        </p:spPr>
      </p:pic>
      <p:sp>
        <p:nvSpPr>
          <p:cNvPr id="3" name="Rectangle 2"/>
          <p:cNvSpPr/>
          <p:nvPr/>
        </p:nvSpPr>
        <p:spPr>
          <a:xfrm>
            <a:off x="522920" y="6989982"/>
            <a:ext cx="17231680" cy="2246769"/>
          </a:xfrm>
          <a:prstGeom prst="rect">
            <a:avLst/>
          </a:prstGeom>
        </p:spPr>
        <p:txBody>
          <a:bodyPr wrap="square">
            <a:spAutoFit/>
          </a:bodyPr>
          <a:lstStyle/>
          <a:p>
            <a:pPr algn="just"/>
            <a:r>
              <a:rPr lang="en-PH" sz="2800" dirty="0">
                <a:latin typeface="Arial" panose="020B0604020202020204" pitchFamily="34" charset="0"/>
                <a:ea typeface="Calibri" panose="020F0502020204030204" pitchFamily="34" charset="0"/>
              </a:rPr>
              <a:t>Coconut oil is a vegetable oil obtained from the nut of the tropical palm tree, </a:t>
            </a:r>
            <a:r>
              <a:rPr lang="en-PH" sz="2800" dirty="0" err="1">
                <a:latin typeface="Arial" panose="020B0604020202020204" pitchFamily="34" charset="0"/>
                <a:ea typeface="Calibri" panose="020F0502020204030204" pitchFamily="34" charset="0"/>
              </a:rPr>
              <a:t>Cocos</a:t>
            </a:r>
            <a:r>
              <a:rPr lang="en-PH" sz="2800" dirty="0">
                <a:latin typeface="Arial" panose="020B0604020202020204" pitchFamily="34" charset="0"/>
                <a:ea typeface="Calibri" panose="020F0502020204030204" pitchFamily="34" charset="0"/>
              </a:rPr>
              <a:t> </a:t>
            </a:r>
            <a:r>
              <a:rPr lang="en-PH" sz="2800" dirty="0" err="1">
                <a:latin typeface="Arial" panose="020B0604020202020204" pitchFamily="34" charset="0"/>
                <a:ea typeface="Calibri" panose="020F0502020204030204" pitchFamily="34" charset="0"/>
              </a:rPr>
              <a:t>nucifera</a:t>
            </a:r>
            <a:r>
              <a:rPr lang="en-PH" sz="2800" dirty="0">
                <a:latin typeface="Arial" panose="020B0604020202020204" pitchFamily="34" charset="0"/>
                <a:ea typeface="Calibri" panose="020F0502020204030204" pitchFamily="34" charset="0"/>
              </a:rPr>
              <a:t> L. Refined coconut oil (RCO) is produced by extraction of the oil from dried copra, followed by chemical refinement, bleaching, and deodorization (1). On the other hand, Virgin coconut oil (VCO) is produced from fresh mature coconut meat and processed by mechanical and natural processes (2). Several methods are used to produce VCO, such as natural separation, expeller, and centrifugation (3). </a:t>
            </a:r>
            <a:endParaRPr lang="en-PH" sz="2800" dirty="0"/>
          </a:p>
        </p:txBody>
      </p:sp>
    </p:spTree>
    <p:extLst>
      <p:ext uri="{BB962C8B-B14F-4D97-AF65-F5344CB8AC3E}">
        <p14:creationId xmlns:p14="http://schemas.microsoft.com/office/powerpoint/2010/main" val="24484680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Box 13"/>
          <p:cNvSpPr txBox="1"/>
          <p:nvPr/>
        </p:nvSpPr>
        <p:spPr>
          <a:xfrm>
            <a:off x="1671387" y="1531257"/>
            <a:ext cx="2203151" cy="2306426"/>
          </a:xfrm>
          <a:prstGeom prst="rect">
            <a:avLst/>
          </a:prstGeom>
        </p:spPr>
        <p:txBody>
          <a:bodyPr lIns="50800" tIns="50800" rIns="50800" bIns="50800" rtlCol="0" anchor="ctr"/>
          <a:lstStyle/>
          <a:p>
            <a:pPr algn="ctr">
              <a:lnSpc>
                <a:spcPts val="2659"/>
              </a:lnSpc>
              <a:spcBef>
                <a:spcPct val="0"/>
              </a:spcBef>
            </a:pPr>
            <a:endParaRPr/>
          </a:p>
        </p:txBody>
      </p:sp>
      <p:pic>
        <p:nvPicPr>
          <p:cNvPr id="18" name="Picture 17"/>
          <p:cNvPicPr>
            <a:picLocks noChangeAspect="1"/>
          </p:cNvPicPr>
          <p:nvPr/>
        </p:nvPicPr>
        <p:blipFill>
          <a:blip r:embed="rId2"/>
          <a:stretch>
            <a:fillRect/>
          </a:stretch>
        </p:blipFill>
        <p:spPr>
          <a:xfrm>
            <a:off x="76200" y="9266338"/>
            <a:ext cx="2327677" cy="1020662"/>
          </a:xfrm>
          <a:prstGeom prst="rect">
            <a:avLst/>
          </a:prstGeom>
        </p:spPr>
      </p:pic>
      <p:pic>
        <p:nvPicPr>
          <p:cNvPr id="19" name="Picture 18"/>
          <p:cNvPicPr>
            <a:picLocks noChangeAspect="1"/>
          </p:cNvPicPr>
          <p:nvPr/>
        </p:nvPicPr>
        <p:blipFill>
          <a:blip r:embed="rId3"/>
          <a:stretch>
            <a:fillRect/>
          </a:stretch>
        </p:blipFill>
        <p:spPr>
          <a:xfrm rot="10800000">
            <a:off x="-30480" y="1370689"/>
            <a:ext cx="18288000" cy="267610"/>
          </a:xfrm>
          <a:prstGeom prst="rect">
            <a:avLst/>
          </a:prstGeom>
        </p:spPr>
      </p:pic>
      <p:pic>
        <p:nvPicPr>
          <p:cNvPr id="20" name="Picture 19"/>
          <p:cNvPicPr>
            <a:picLocks noChangeAspect="1"/>
          </p:cNvPicPr>
          <p:nvPr/>
        </p:nvPicPr>
        <p:blipFill>
          <a:blip r:embed="rId3"/>
          <a:stretch>
            <a:fillRect/>
          </a:stretch>
        </p:blipFill>
        <p:spPr>
          <a:xfrm>
            <a:off x="0" y="0"/>
            <a:ext cx="18288000" cy="267611"/>
          </a:xfrm>
          <a:prstGeom prst="rect">
            <a:avLst/>
          </a:prstGeom>
        </p:spPr>
      </p:pic>
      <p:sp>
        <p:nvSpPr>
          <p:cNvPr id="4" name="Parallelogram 3"/>
          <p:cNvSpPr/>
          <p:nvPr/>
        </p:nvSpPr>
        <p:spPr>
          <a:xfrm>
            <a:off x="2388637" y="9936689"/>
            <a:ext cx="9727163" cy="236011"/>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2" name="Parallelogram 21"/>
          <p:cNvSpPr/>
          <p:nvPr/>
        </p:nvSpPr>
        <p:spPr>
          <a:xfrm>
            <a:off x="12192000" y="9944100"/>
            <a:ext cx="1421363" cy="228600"/>
          </a:xfrm>
          <a:prstGeom prst="parallelogram">
            <a:avLst/>
          </a:prstGeom>
          <a:solidFill>
            <a:srgbClr val="FFC000"/>
          </a:solidFill>
          <a:ln>
            <a:solidFill>
              <a:srgbClr val="FFC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3" name="Parallelogram 22"/>
          <p:cNvSpPr/>
          <p:nvPr/>
        </p:nvSpPr>
        <p:spPr>
          <a:xfrm>
            <a:off x="13689563" y="9944100"/>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24" name="Picture 23"/>
          <p:cNvPicPr>
            <a:picLocks noChangeAspect="1"/>
          </p:cNvPicPr>
          <p:nvPr/>
        </p:nvPicPr>
        <p:blipFill>
          <a:blip r:embed="rId3"/>
          <a:stretch>
            <a:fillRect/>
          </a:stretch>
        </p:blipFill>
        <p:spPr>
          <a:xfrm rot="10800000" flipV="1">
            <a:off x="2403877" y="9668509"/>
            <a:ext cx="15899363" cy="232657"/>
          </a:xfrm>
          <a:prstGeom prst="rect">
            <a:avLst/>
          </a:prstGeom>
        </p:spPr>
      </p:pic>
      <p:pic>
        <p:nvPicPr>
          <p:cNvPr id="6" name="Picture 5"/>
          <p:cNvPicPr>
            <a:picLocks noChangeAspect="1"/>
          </p:cNvPicPr>
          <p:nvPr/>
        </p:nvPicPr>
        <p:blipFill>
          <a:blip r:embed="rId4"/>
          <a:stretch>
            <a:fillRect/>
          </a:stretch>
        </p:blipFill>
        <p:spPr>
          <a:xfrm>
            <a:off x="15030450" y="488370"/>
            <a:ext cx="3257550" cy="523875"/>
          </a:xfrm>
          <a:prstGeom prst="rect">
            <a:avLst/>
          </a:prstGeom>
        </p:spPr>
      </p:pic>
      <p:sp>
        <p:nvSpPr>
          <p:cNvPr id="25" name="Parallelogram 24"/>
          <p:cNvSpPr/>
          <p:nvPr/>
        </p:nvSpPr>
        <p:spPr>
          <a:xfrm>
            <a:off x="13030200" y="760176"/>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13" name="Picture 12"/>
          <p:cNvPicPr>
            <a:picLocks noChangeAspect="1"/>
          </p:cNvPicPr>
          <p:nvPr/>
        </p:nvPicPr>
        <p:blipFill>
          <a:blip r:embed="rId4"/>
          <a:stretch>
            <a:fillRect/>
          </a:stretch>
        </p:blipFill>
        <p:spPr>
          <a:xfrm rot="10800000">
            <a:off x="0" y="612538"/>
            <a:ext cx="3257550" cy="523875"/>
          </a:xfrm>
          <a:prstGeom prst="rect">
            <a:avLst/>
          </a:prstGeom>
        </p:spPr>
      </p:pic>
      <p:sp>
        <p:nvSpPr>
          <p:cNvPr id="14" name="Parallelogram 13"/>
          <p:cNvSpPr/>
          <p:nvPr/>
        </p:nvSpPr>
        <p:spPr>
          <a:xfrm>
            <a:off x="659363" y="577015"/>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17" name="Round Single Corner Rectangle 16"/>
          <p:cNvSpPr/>
          <p:nvPr/>
        </p:nvSpPr>
        <p:spPr>
          <a:xfrm>
            <a:off x="5494020" y="160397"/>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5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Review of Literature     </a:t>
            </a:r>
            <a:r>
              <a:rPr lang="en-PH" sz="6000" b="1" u="sng" dirty="0" smtClean="0">
                <a:solidFill>
                  <a:srgbClr val="820000"/>
                </a:solidFill>
                <a:latin typeface="Arial" panose="020B0604020202020204" pitchFamily="34" charset="0"/>
                <a:cs typeface="Arial" panose="020B0604020202020204" pitchFamily="34" charset="0"/>
              </a:rPr>
              <a:t> </a:t>
            </a:r>
          </a:p>
        </p:txBody>
      </p:sp>
      <p:sp>
        <p:nvSpPr>
          <p:cNvPr id="2" name="Left Brace 1"/>
          <p:cNvSpPr/>
          <p:nvPr/>
        </p:nvSpPr>
        <p:spPr>
          <a:xfrm>
            <a:off x="10933625" y="1202819"/>
            <a:ext cx="45719" cy="10490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PH"/>
          </a:p>
        </p:txBody>
      </p:sp>
      <p:sp>
        <p:nvSpPr>
          <p:cNvPr id="3" name="Rectangle 2"/>
          <p:cNvSpPr/>
          <p:nvPr/>
        </p:nvSpPr>
        <p:spPr>
          <a:xfrm>
            <a:off x="228600" y="1743691"/>
            <a:ext cx="9144000" cy="1323439"/>
          </a:xfrm>
          <a:prstGeom prst="rect">
            <a:avLst/>
          </a:prstGeom>
        </p:spPr>
        <p:txBody>
          <a:bodyPr>
            <a:spAutoFit/>
          </a:bodyPr>
          <a:lstStyle/>
          <a:p>
            <a:pPr algn="just"/>
            <a:r>
              <a:rPr lang="en-PH" sz="4400" dirty="0">
                <a:solidFill>
                  <a:srgbClr val="820000"/>
                </a:solidFill>
                <a:latin typeface="Arial" panose="020B0604020202020204" pitchFamily="34" charset="0"/>
                <a:ea typeface="Times New Roman" panose="02020603050405020304" pitchFamily="18" charset="0"/>
              </a:rPr>
              <a:t>2.4	Chemical Profiling</a:t>
            </a:r>
            <a:endParaRPr lang="en-PH" sz="3600" dirty="0">
              <a:latin typeface="Times New Roman" panose="02020603050405020304" pitchFamily="18" charset="0"/>
              <a:ea typeface="Times New Roman" panose="02020603050405020304" pitchFamily="18" charset="0"/>
            </a:endParaRPr>
          </a:p>
          <a:p>
            <a:pPr algn="just"/>
            <a:r>
              <a:rPr lang="en-PH" sz="3600" dirty="0">
                <a:solidFill>
                  <a:srgbClr val="820000"/>
                </a:solidFill>
                <a:latin typeface="Arial" panose="020B0604020202020204" pitchFamily="34" charset="0"/>
                <a:ea typeface="Times New Roman" panose="02020603050405020304" pitchFamily="18" charset="0"/>
              </a:rPr>
              <a:t>    </a:t>
            </a:r>
            <a:endParaRPr lang="en-PH" sz="2800" dirty="0">
              <a:effectLst/>
              <a:latin typeface="Times New Roman" panose="02020603050405020304" pitchFamily="18" charset="0"/>
              <a:ea typeface="Times New Roman" panose="02020603050405020304" pitchFamily="18" charset="0"/>
            </a:endParaRPr>
          </a:p>
        </p:txBody>
      </p:sp>
      <p:sp>
        <p:nvSpPr>
          <p:cNvPr id="5" name="Rectangle 4"/>
          <p:cNvSpPr/>
          <p:nvPr/>
        </p:nvSpPr>
        <p:spPr>
          <a:xfrm>
            <a:off x="228600" y="2752692"/>
            <a:ext cx="17373600" cy="7396897"/>
          </a:xfrm>
          <a:prstGeom prst="rect">
            <a:avLst/>
          </a:prstGeom>
        </p:spPr>
        <p:txBody>
          <a:bodyPr wrap="square">
            <a:spAutoFit/>
          </a:bodyPr>
          <a:lstStyle/>
          <a:p>
            <a:pPr marL="342900" indent="-342900" algn="just">
              <a:buFont typeface="Arial" panose="020B0604020202020204" pitchFamily="34" charset="0"/>
              <a:buChar char="•"/>
            </a:pPr>
            <a:r>
              <a:rPr lang="en-PH" sz="2800" b="1" dirty="0">
                <a:solidFill>
                  <a:srgbClr val="820000"/>
                </a:solidFill>
                <a:latin typeface="Arial" panose="020B0604020202020204" pitchFamily="34" charset="0"/>
                <a:ea typeface="Calibri" panose="020F0502020204030204" pitchFamily="34" charset="0"/>
              </a:rPr>
              <a:t>Chemical profiling </a:t>
            </a:r>
            <a:r>
              <a:rPr lang="en-PH" sz="2800" dirty="0">
                <a:solidFill>
                  <a:srgbClr val="820000"/>
                </a:solidFill>
                <a:latin typeface="Arial" panose="020B0604020202020204" pitchFamily="34" charset="0"/>
                <a:ea typeface="Calibri" panose="020F0502020204030204" pitchFamily="34" charset="0"/>
              </a:rPr>
              <a:t>of a plant extract refers to the chromatographic and/or spectroscopic or spectroscopic analysis of plant extracts to establish their identity and quality. This method assumes that the phytochemical composition of each plant species is unique and that this reflects the quality of the plant </a:t>
            </a:r>
            <a:r>
              <a:rPr lang="en-PH" sz="2800" dirty="0" smtClean="0">
                <a:solidFill>
                  <a:srgbClr val="820000"/>
                </a:solidFill>
                <a:latin typeface="Arial" panose="020B0604020202020204" pitchFamily="34" charset="0"/>
                <a:ea typeface="Calibri" panose="020F0502020204030204" pitchFamily="34" charset="0"/>
              </a:rPr>
              <a:t>sample</a:t>
            </a:r>
            <a:r>
              <a:rPr lang="en-PH" sz="2800" dirty="0" smtClean="0">
                <a:solidFill>
                  <a:srgbClr val="820000"/>
                </a:solidFill>
                <a:latin typeface="Arial" panose="020B0604020202020204" pitchFamily="34" charset="0"/>
                <a:ea typeface="Calibri" panose="020F0502020204030204" pitchFamily="34" charset="0"/>
                <a:cs typeface="Arial" panose="020B0604020202020204" pitchFamily="34" charset="0"/>
              </a:rPr>
              <a:t>.</a:t>
            </a:r>
            <a:r>
              <a:rPr lang="en-PH" sz="2800" baseline="30000" dirty="0">
                <a:solidFill>
                  <a:srgbClr val="820000"/>
                </a:solidFill>
                <a:latin typeface="Arial" panose="020B0604020202020204" pitchFamily="34" charset="0"/>
                <a:cs typeface="Arial" panose="020B0604020202020204" pitchFamily="34" charset="0"/>
              </a:rPr>
              <a:t> </a:t>
            </a:r>
            <a:r>
              <a:rPr lang="en-PH" sz="2800" b="1" baseline="30000" dirty="0" smtClean="0">
                <a:solidFill>
                  <a:srgbClr val="820000"/>
                </a:solidFill>
                <a:latin typeface="Arial" panose="020B0604020202020204" pitchFamily="34" charset="0"/>
                <a:cs typeface="Arial" panose="020B0604020202020204" pitchFamily="34" charset="0"/>
              </a:rPr>
              <a:t>25</a:t>
            </a:r>
          </a:p>
          <a:p>
            <a:pPr algn="just">
              <a:lnSpc>
                <a:spcPct val="150000"/>
              </a:lnSpc>
            </a:pPr>
            <a:endParaRPr lang="en-PH" sz="2800" b="1" baseline="30000" dirty="0">
              <a:solidFill>
                <a:srgbClr val="820000"/>
              </a:solidFill>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n-PH" sz="2800" b="1" dirty="0">
                <a:solidFill>
                  <a:srgbClr val="820000"/>
                </a:solidFill>
                <a:latin typeface="Arial" panose="020B0604020202020204" pitchFamily="34" charset="0"/>
                <a:ea typeface="Calibri" panose="020F0502020204030204" pitchFamily="34" charset="0"/>
              </a:rPr>
              <a:t>Chemical profiling </a:t>
            </a:r>
            <a:r>
              <a:rPr lang="en-PH" sz="2800" dirty="0">
                <a:solidFill>
                  <a:srgbClr val="820000"/>
                </a:solidFill>
                <a:latin typeface="Arial" panose="020B0604020202020204" pitchFamily="34" charset="0"/>
                <a:ea typeface="Calibri" panose="020F0502020204030204" pitchFamily="34" charset="0"/>
              </a:rPr>
              <a:t>has become a tool for the standardization of medicinal plants, from farm production, manufacturing, and determination of shelf life.</a:t>
            </a:r>
            <a:r>
              <a:rPr lang="en-PH" sz="2800" b="1" baseline="30000" dirty="0">
                <a:solidFill>
                  <a:srgbClr val="820000"/>
                </a:solidFill>
                <a:latin typeface="Arial" panose="020B0604020202020204" pitchFamily="34" charset="0"/>
                <a:cs typeface="Arial" panose="020B0604020202020204" pitchFamily="34" charset="0"/>
              </a:rPr>
              <a:t> </a:t>
            </a:r>
            <a:r>
              <a:rPr lang="en-PH" sz="2800" b="1" baseline="30000" dirty="0" smtClean="0">
                <a:solidFill>
                  <a:srgbClr val="820000"/>
                </a:solidFill>
                <a:latin typeface="Arial" panose="020B0604020202020204" pitchFamily="34" charset="0"/>
                <a:cs typeface="Arial" panose="020B0604020202020204" pitchFamily="34" charset="0"/>
              </a:rPr>
              <a:t>23,26</a:t>
            </a:r>
          </a:p>
          <a:p>
            <a:pPr marL="342900" indent="-342900" algn="just">
              <a:buFont typeface="Arial" panose="020B0604020202020204" pitchFamily="34" charset="0"/>
              <a:buChar char="•"/>
            </a:pPr>
            <a:endParaRPr lang="en-PH" sz="2800" b="1" baseline="30000" dirty="0">
              <a:solidFill>
                <a:srgbClr val="820000"/>
              </a:solidFill>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n-PH" sz="2800" dirty="0">
                <a:solidFill>
                  <a:srgbClr val="820000"/>
                </a:solidFill>
                <a:latin typeface="Arial" panose="020B0604020202020204" pitchFamily="34" charset="0"/>
                <a:cs typeface="Arial" panose="020B0604020202020204" pitchFamily="34" charset="0"/>
              </a:rPr>
              <a:t>The analytical methods that have been used for chemical profiling include </a:t>
            </a:r>
            <a:r>
              <a:rPr lang="en-PH" sz="2800" b="1" dirty="0">
                <a:solidFill>
                  <a:srgbClr val="820000"/>
                </a:solidFill>
                <a:latin typeface="Arial" panose="020B0604020202020204" pitchFamily="34" charset="0"/>
                <a:cs typeface="Arial" panose="020B0604020202020204" pitchFamily="34" charset="0"/>
              </a:rPr>
              <a:t>chromatographic technique </a:t>
            </a:r>
            <a:r>
              <a:rPr lang="en-PH" sz="2800" dirty="0">
                <a:solidFill>
                  <a:srgbClr val="820000"/>
                </a:solidFill>
                <a:latin typeface="Arial" panose="020B0604020202020204" pitchFamily="34" charset="0"/>
                <a:cs typeface="Arial" panose="020B0604020202020204" pitchFamily="34" charset="0"/>
              </a:rPr>
              <a:t>(</a:t>
            </a:r>
            <a:r>
              <a:rPr lang="en-PH" sz="2800" b="1" dirty="0">
                <a:solidFill>
                  <a:srgbClr val="820000"/>
                </a:solidFill>
                <a:latin typeface="Arial" panose="020B0604020202020204" pitchFamily="34" charset="0"/>
                <a:cs typeface="Arial" panose="020B0604020202020204" pitchFamily="34" charset="0"/>
              </a:rPr>
              <a:t>TLC, GC, HPLC</a:t>
            </a:r>
            <a:r>
              <a:rPr lang="en-PH" sz="2800" dirty="0">
                <a:solidFill>
                  <a:srgbClr val="820000"/>
                </a:solidFill>
                <a:latin typeface="Arial" panose="020B0604020202020204" pitchFamily="34" charset="0"/>
                <a:cs typeface="Arial" panose="020B0604020202020204" pitchFamily="34" charset="0"/>
              </a:rPr>
              <a:t>) and their hyphenated MS techniques (</a:t>
            </a:r>
            <a:r>
              <a:rPr lang="en-PH" sz="2800" b="1" dirty="0">
                <a:solidFill>
                  <a:srgbClr val="820000"/>
                </a:solidFill>
                <a:latin typeface="Arial" panose="020B0604020202020204" pitchFamily="34" charset="0"/>
                <a:cs typeface="Arial" panose="020B0604020202020204" pitchFamily="34" charset="0"/>
              </a:rPr>
              <a:t>GC-MS and LC-MS</a:t>
            </a:r>
            <a:r>
              <a:rPr lang="en-PH" sz="2800" dirty="0">
                <a:solidFill>
                  <a:srgbClr val="820000"/>
                </a:solidFill>
                <a:latin typeface="Arial" panose="020B0604020202020204" pitchFamily="34" charset="0"/>
                <a:cs typeface="Arial" panose="020B0604020202020204" pitchFamily="34" charset="0"/>
              </a:rPr>
              <a:t>), and spectroscopic technique (</a:t>
            </a:r>
            <a:r>
              <a:rPr lang="en-PH" sz="2800" b="1" dirty="0">
                <a:solidFill>
                  <a:srgbClr val="820000"/>
                </a:solidFill>
                <a:latin typeface="Arial" panose="020B0604020202020204" pitchFamily="34" charset="0"/>
                <a:cs typeface="Arial" panose="020B0604020202020204" pitchFamily="34" charset="0"/>
              </a:rPr>
              <a:t>FTIR, NMR</a:t>
            </a:r>
            <a:r>
              <a:rPr lang="en-PH" sz="2800" dirty="0" smtClean="0">
                <a:solidFill>
                  <a:srgbClr val="820000"/>
                </a:solidFill>
                <a:latin typeface="Arial" panose="020B0604020202020204" pitchFamily="34" charset="0"/>
                <a:cs typeface="Arial" panose="020B0604020202020204" pitchFamily="34" charset="0"/>
              </a:rPr>
              <a:t>).</a:t>
            </a:r>
            <a:r>
              <a:rPr lang="en-PH" sz="2800" b="1" baseline="30000" dirty="0">
                <a:solidFill>
                  <a:srgbClr val="820000"/>
                </a:solidFill>
                <a:latin typeface="Arial" panose="020B0604020202020204" pitchFamily="34" charset="0"/>
                <a:cs typeface="Arial" panose="020B0604020202020204" pitchFamily="34" charset="0"/>
              </a:rPr>
              <a:t> </a:t>
            </a:r>
            <a:r>
              <a:rPr lang="en-PH" sz="2800" b="1" baseline="30000" dirty="0" smtClean="0">
                <a:solidFill>
                  <a:srgbClr val="820000"/>
                </a:solidFill>
                <a:latin typeface="Arial" panose="020B0604020202020204" pitchFamily="34" charset="0"/>
                <a:cs typeface="Arial" panose="020B0604020202020204" pitchFamily="34" charset="0"/>
              </a:rPr>
              <a:t>25</a:t>
            </a:r>
          </a:p>
          <a:p>
            <a:pPr marL="342900" indent="-342900" algn="just">
              <a:buFont typeface="Arial" panose="020B0604020202020204" pitchFamily="34" charset="0"/>
              <a:buChar char="•"/>
            </a:pPr>
            <a:endParaRPr lang="en-PH" sz="2800" b="1" baseline="30000" dirty="0">
              <a:solidFill>
                <a:srgbClr val="820000"/>
              </a:solidFill>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endParaRPr lang="en-PH" sz="2800" b="1" baseline="30000" dirty="0" smtClean="0">
              <a:solidFill>
                <a:srgbClr val="820000"/>
              </a:solidFill>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n-PH" sz="2800" b="1" dirty="0">
                <a:solidFill>
                  <a:srgbClr val="820000"/>
                </a:solidFill>
                <a:latin typeface="Arial" panose="020B0604020202020204" pitchFamily="34" charset="0"/>
                <a:cs typeface="Arial" panose="020B0604020202020204" pitchFamily="34" charset="0"/>
              </a:rPr>
              <a:t>Quality assurance </a:t>
            </a:r>
            <a:r>
              <a:rPr lang="en-PH" sz="2800" dirty="0">
                <a:solidFill>
                  <a:srgbClr val="820000"/>
                </a:solidFill>
                <a:latin typeface="Arial" panose="020B0604020202020204" pitchFamily="34" charset="0"/>
                <a:cs typeface="Arial" panose="020B0604020202020204" pitchFamily="34" charset="0"/>
              </a:rPr>
              <a:t>can be based on the targeted analysis of one or few compounds </a:t>
            </a:r>
            <a:r>
              <a:rPr lang="en-PH" sz="2800" b="1" dirty="0">
                <a:solidFill>
                  <a:srgbClr val="820000"/>
                </a:solidFill>
                <a:latin typeface="Arial" panose="020B0604020202020204" pitchFamily="34" charset="0"/>
                <a:cs typeface="Arial" panose="020B0604020202020204" pitchFamily="34" charset="0"/>
              </a:rPr>
              <a:t>(</a:t>
            </a:r>
            <a:r>
              <a:rPr lang="en-PH" sz="2800" b="1" dirty="0" err="1">
                <a:solidFill>
                  <a:srgbClr val="820000"/>
                </a:solidFill>
                <a:latin typeface="Arial" panose="020B0604020202020204" pitchFamily="34" charset="0"/>
                <a:cs typeface="Arial" panose="020B0604020202020204" pitchFamily="34" charset="0"/>
              </a:rPr>
              <a:t>univariate</a:t>
            </a:r>
            <a:r>
              <a:rPr lang="en-PH" sz="2800" b="1" dirty="0">
                <a:solidFill>
                  <a:srgbClr val="820000"/>
                </a:solidFill>
                <a:latin typeface="Arial" panose="020B0604020202020204" pitchFamily="34" charset="0"/>
                <a:cs typeface="Arial" panose="020B0604020202020204" pitchFamily="34" charset="0"/>
              </a:rPr>
              <a:t>)</a:t>
            </a:r>
            <a:r>
              <a:rPr lang="en-PH" sz="2800" dirty="0">
                <a:solidFill>
                  <a:srgbClr val="820000"/>
                </a:solidFill>
                <a:latin typeface="Arial" panose="020B0604020202020204" pitchFamily="34" charset="0"/>
                <a:cs typeface="Arial" panose="020B0604020202020204" pitchFamily="34" charset="0"/>
              </a:rPr>
              <a:t> or on the chemical profile of the plant extract </a:t>
            </a:r>
            <a:r>
              <a:rPr lang="en-PH" sz="2800" b="1" dirty="0">
                <a:solidFill>
                  <a:srgbClr val="820000"/>
                </a:solidFill>
                <a:latin typeface="Arial" panose="020B0604020202020204" pitchFamily="34" charset="0"/>
                <a:cs typeface="Arial" panose="020B0604020202020204" pitchFamily="34" charset="0"/>
              </a:rPr>
              <a:t>(multivariate</a:t>
            </a:r>
            <a:r>
              <a:rPr lang="en-PH" sz="2800" b="1" dirty="0" smtClean="0">
                <a:solidFill>
                  <a:srgbClr val="820000"/>
                </a:solidFill>
                <a:latin typeface="Arial" panose="020B0604020202020204" pitchFamily="34" charset="0"/>
                <a:cs typeface="Arial" panose="020B0604020202020204" pitchFamily="34" charset="0"/>
              </a:rPr>
              <a:t>).</a:t>
            </a:r>
            <a:r>
              <a:rPr lang="en-PH" sz="2800" b="1" baseline="30000" dirty="0" smtClean="0">
                <a:solidFill>
                  <a:srgbClr val="820000"/>
                </a:solidFill>
                <a:latin typeface="Arial" panose="020B0604020202020204" pitchFamily="34" charset="0"/>
                <a:cs typeface="Arial" panose="020B0604020202020204" pitchFamily="34" charset="0"/>
              </a:rPr>
              <a:t> 27</a:t>
            </a:r>
            <a:endParaRPr lang="en-PH" sz="2800" b="1" baseline="30000" dirty="0">
              <a:solidFill>
                <a:srgbClr val="820000"/>
              </a:solidFill>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endParaRPr lang="en-PH" sz="2800" b="1" baseline="30000" dirty="0">
              <a:solidFill>
                <a:srgbClr val="820000"/>
              </a:solidFill>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endParaRPr lang="en-PH" sz="2800" b="1" dirty="0">
              <a:solidFill>
                <a:srgbClr val="820000"/>
              </a:solidFill>
              <a:latin typeface="Arial" panose="020B0604020202020204" pitchFamily="34" charset="0"/>
              <a:cs typeface="Arial" panose="020B0604020202020204" pitchFamily="34" charset="0"/>
            </a:endParaRPr>
          </a:p>
          <a:p>
            <a:pPr algn="just">
              <a:lnSpc>
                <a:spcPct val="150000"/>
              </a:lnSpc>
            </a:pPr>
            <a:endParaRPr lang="en-PH" sz="2400" b="1" dirty="0">
              <a:solidFill>
                <a:srgbClr val="82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1623208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Box 13"/>
          <p:cNvSpPr txBox="1"/>
          <p:nvPr/>
        </p:nvSpPr>
        <p:spPr>
          <a:xfrm>
            <a:off x="1671387" y="1531257"/>
            <a:ext cx="2203151" cy="2306426"/>
          </a:xfrm>
          <a:prstGeom prst="rect">
            <a:avLst/>
          </a:prstGeom>
        </p:spPr>
        <p:txBody>
          <a:bodyPr lIns="50800" tIns="50800" rIns="50800" bIns="50800" rtlCol="0" anchor="ctr"/>
          <a:lstStyle/>
          <a:p>
            <a:pPr algn="ctr">
              <a:lnSpc>
                <a:spcPts val="2659"/>
              </a:lnSpc>
              <a:spcBef>
                <a:spcPct val="0"/>
              </a:spcBef>
            </a:pPr>
            <a:endParaRPr/>
          </a:p>
        </p:txBody>
      </p:sp>
      <p:pic>
        <p:nvPicPr>
          <p:cNvPr id="18" name="Picture 17"/>
          <p:cNvPicPr>
            <a:picLocks noChangeAspect="1"/>
          </p:cNvPicPr>
          <p:nvPr/>
        </p:nvPicPr>
        <p:blipFill>
          <a:blip r:embed="rId2"/>
          <a:stretch>
            <a:fillRect/>
          </a:stretch>
        </p:blipFill>
        <p:spPr>
          <a:xfrm>
            <a:off x="76200" y="9266338"/>
            <a:ext cx="2327677" cy="1020662"/>
          </a:xfrm>
          <a:prstGeom prst="rect">
            <a:avLst/>
          </a:prstGeom>
        </p:spPr>
      </p:pic>
      <p:pic>
        <p:nvPicPr>
          <p:cNvPr id="19" name="Picture 18"/>
          <p:cNvPicPr>
            <a:picLocks noChangeAspect="1"/>
          </p:cNvPicPr>
          <p:nvPr/>
        </p:nvPicPr>
        <p:blipFill>
          <a:blip r:embed="rId3"/>
          <a:stretch>
            <a:fillRect/>
          </a:stretch>
        </p:blipFill>
        <p:spPr>
          <a:xfrm rot="10800000">
            <a:off x="-30480" y="1370689"/>
            <a:ext cx="18288000" cy="267610"/>
          </a:xfrm>
          <a:prstGeom prst="rect">
            <a:avLst/>
          </a:prstGeom>
        </p:spPr>
      </p:pic>
      <p:pic>
        <p:nvPicPr>
          <p:cNvPr id="20" name="Picture 19"/>
          <p:cNvPicPr>
            <a:picLocks noChangeAspect="1"/>
          </p:cNvPicPr>
          <p:nvPr/>
        </p:nvPicPr>
        <p:blipFill>
          <a:blip r:embed="rId3"/>
          <a:stretch>
            <a:fillRect/>
          </a:stretch>
        </p:blipFill>
        <p:spPr>
          <a:xfrm>
            <a:off x="0" y="0"/>
            <a:ext cx="18288000" cy="267611"/>
          </a:xfrm>
          <a:prstGeom prst="rect">
            <a:avLst/>
          </a:prstGeom>
        </p:spPr>
      </p:pic>
      <p:sp>
        <p:nvSpPr>
          <p:cNvPr id="4" name="Parallelogram 3"/>
          <p:cNvSpPr/>
          <p:nvPr/>
        </p:nvSpPr>
        <p:spPr>
          <a:xfrm>
            <a:off x="2388637" y="9936689"/>
            <a:ext cx="9727163" cy="236011"/>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2" name="Parallelogram 21"/>
          <p:cNvSpPr/>
          <p:nvPr/>
        </p:nvSpPr>
        <p:spPr>
          <a:xfrm>
            <a:off x="12192000" y="9944100"/>
            <a:ext cx="1421363" cy="228600"/>
          </a:xfrm>
          <a:prstGeom prst="parallelogram">
            <a:avLst/>
          </a:prstGeom>
          <a:solidFill>
            <a:srgbClr val="FFC000"/>
          </a:solidFill>
          <a:ln>
            <a:solidFill>
              <a:srgbClr val="FFC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3" name="Parallelogram 22"/>
          <p:cNvSpPr/>
          <p:nvPr/>
        </p:nvSpPr>
        <p:spPr>
          <a:xfrm>
            <a:off x="13689563" y="9944100"/>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24" name="Picture 23"/>
          <p:cNvPicPr>
            <a:picLocks noChangeAspect="1"/>
          </p:cNvPicPr>
          <p:nvPr/>
        </p:nvPicPr>
        <p:blipFill>
          <a:blip r:embed="rId3"/>
          <a:stretch>
            <a:fillRect/>
          </a:stretch>
        </p:blipFill>
        <p:spPr>
          <a:xfrm rot="10800000" flipV="1">
            <a:off x="2403877" y="9668509"/>
            <a:ext cx="15899363" cy="232657"/>
          </a:xfrm>
          <a:prstGeom prst="rect">
            <a:avLst/>
          </a:prstGeom>
        </p:spPr>
      </p:pic>
      <p:pic>
        <p:nvPicPr>
          <p:cNvPr id="6" name="Picture 5"/>
          <p:cNvPicPr>
            <a:picLocks noChangeAspect="1"/>
          </p:cNvPicPr>
          <p:nvPr/>
        </p:nvPicPr>
        <p:blipFill>
          <a:blip r:embed="rId4"/>
          <a:stretch>
            <a:fillRect/>
          </a:stretch>
        </p:blipFill>
        <p:spPr>
          <a:xfrm>
            <a:off x="15030450" y="488370"/>
            <a:ext cx="3257550" cy="523875"/>
          </a:xfrm>
          <a:prstGeom prst="rect">
            <a:avLst/>
          </a:prstGeom>
        </p:spPr>
      </p:pic>
      <p:sp>
        <p:nvSpPr>
          <p:cNvPr id="25" name="Parallelogram 24"/>
          <p:cNvSpPr/>
          <p:nvPr/>
        </p:nvSpPr>
        <p:spPr>
          <a:xfrm>
            <a:off x="13030200" y="760176"/>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13" name="Picture 12"/>
          <p:cNvPicPr>
            <a:picLocks noChangeAspect="1"/>
          </p:cNvPicPr>
          <p:nvPr/>
        </p:nvPicPr>
        <p:blipFill>
          <a:blip r:embed="rId4"/>
          <a:stretch>
            <a:fillRect/>
          </a:stretch>
        </p:blipFill>
        <p:spPr>
          <a:xfrm rot="10800000">
            <a:off x="0" y="612538"/>
            <a:ext cx="3257550" cy="523875"/>
          </a:xfrm>
          <a:prstGeom prst="rect">
            <a:avLst/>
          </a:prstGeom>
        </p:spPr>
      </p:pic>
      <p:sp>
        <p:nvSpPr>
          <p:cNvPr id="14" name="Parallelogram 13"/>
          <p:cNvSpPr/>
          <p:nvPr/>
        </p:nvSpPr>
        <p:spPr>
          <a:xfrm>
            <a:off x="659363" y="577015"/>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17" name="Round Single Corner Rectangle 16"/>
          <p:cNvSpPr/>
          <p:nvPr/>
        </p:nvSpPr>
        <p:spPr>
          <a:xfrm>
            <a:off x="5494020" y="160397"/>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5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Review of Literature     </a:t>
            </a:r>
            <a:r>
              <a:rPr lang="en-PH" sz="6000" b="1" u="sng" dirty="0" smtClean="0">
                <a:solidFill>
                  <a:srgbClr val="820000"/>
                </a:solidFill>
                <a:latin typeface="Arial" panose="020B0604020202020204" pitchFamily="34" charset="0"/>
                <a:cs typeface="Arial" panose="020B0604020202020204" pitchFamily="34" charset="0"/>
              </a:rPr>
              <a:t> </a:t>
            </a:r>
          </a:p>
        </p:txBody>
      </p:sp>
      <p:sp>
        <p:nvSpPr>
          <p:cNvPr id="2" name="Left Brace 1"/>
          <p:cNvSpPr/>
          <p:nvPr/>
        </p:nvSpPr>
        <p:spPr>
          <a:xfrm>
            <a:off x="10933625" y="1202819"/>
            <a:ext cx="45719" cy="10490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PH"/>
          </a:p>
        </p:txBody>
      </p:sp>
      <p:sp>
        <p:nvSpPr>
          <p:cNvPr id="3" name="Rectangle 2"/>
          <p:cNvSpPr/>
          <p:nvPr/>
        </p:nvSpPr>
        <p:spPr>
          <a:xfrm>
            <a:off x="91440" y="1755286"/>
            <a:ext cx="9144000" cy="707886"/>
          </a:xfrm>
          <a:prstGeom prst="rect">
            <a:avLst/>
          </a:prstGeom>
        </p:spPr>
        <p:txBody>
          <a:bodyPr>
            <a:spAutoFit/>
          </a:bodyPr>
          <a:lstStyle/>
          <a:p>
            <a:pPr algn="just"/>
            <a:r>
              <a:rPr lang="en-PH" sz="3600" dirty="0"/>
              <a:t> </a:t>
            </a:r>
            <a:r>
              <a:rPr lang="en-PH" sz="4000" dirty="0">
                <a:solidFill>
                  <a:srgbClr val="820000"/>
                </a:solidFill>
                <a:latin typeface="Arial" panose="020B0604020202020204" pitchFamily="34" charset="0"/>
                <a:cs typeface="Arial" panose="020B0604020202020204" pitchFamily="34" charset="0"/>
              </a:rPr>
              <a:t>2.4.1     GC-MS</a:t>
            </a:r>
            <a:r>
              <a:rPr lang="en-PH" sz="4000"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2800"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7" name="Rectangle 6"/>
          <p:cNvSpPr/>
          <p:nvPr/>
        </p:nvSpPr>
        <p:spPr>
          <a:xfrm>
            <a:off x="-30480" y="2612089"/>
            <a:ext cx="8763000" cy="6370975"/>
          </a:xfrm>
          <a:prstGeom prst="rect">
            <a:avLst/>
          </a:prstGeom>
        </p:spPr>
        <p:txBody>
          <a:bodyPr wrap="square">
            <a:spAutoFit/>
          </a:bodyPr>
          <a:lstStyle/>
          <a:p>
            <a:pPr marL="342900" indent="-342900" algn="just">
              <a:buFont typeface="Arial" panose="020B0604020202020204" pitchFamily="34" charset="0"/>
              <a:buChar char="•"/>
            </a:pPr>
            <a:r>
              <a:rPr lang="en-PH" sz="3200" b="1" dirty="0" smtClean="0">
                <a:solidFill>
                  <a:srgbClr val="820000"/>
                </a:solidFill>
                <a:latin typeface="Arial" panose="020B0604020202020204" pitchFamily="34" charset="0"/>
                <a:ea typeface="Calibri" panose="020F0502020204030204" pitchFamily="34" charset="0"/>
              </a:rPr>
              <a:t>Gas Chromatography-Mass </a:t>
            </a:r>
            <a:r>
              <a:rPr lang="en-PH" sz="3200" b="1" dirty="0">
                <a:solidFill>
                  <a:srgbClr val="820000"/>
                </a:solidFill>
                <a:latin typeface="Arial" panose="020B0604020202020204" pitchFamily="34" charset="0"/>
                <a:ea typeface="Calibri" panose="020F0502020204030204" pitchFamily="34" charset="0"/>
              </a:rPr>
              <a:t>spectrometry </a:t>
            </a:r>
            <a:r>
              <a:rPr lang="en-PH" sz="3200" dirty="0">
                <a:solidFill>
                  <a:srgbClr val="820000"/>
                </a:solidFill>
                <a:latin typeface="Arial" panose="020B0604020202020204" pitchFamily="34" charset="0"/>
                <a:ea typeface="Calibri" panose="020F0502020204030204" pitchFamily="34" charset="0"/>
              </a:rPr>
              <a:t>(GC-MS) provides added specificity, sensitivity, and simultaneous multi-component analysis convenience. This applies to many industries and applications today, for example, environmental, forensic, food and beverage, clinical, pharmaceutical, and chemical industries. It is commonly used for the direct separation and analysis of air samples and is often </a:t>
            </a:r>
            <a:r>
              <a:rPr lang="en-PH" sz="3200" dirty="0" err="1">
                <a:solidFill>
                  <a:srgbClr val="820000"/>
                </a:solidFill>
                <a:latin typeface="Arial" panose="020B0604020202020204" pitchFamily="34" charset="0"/>
                <a:ea typeface="Calibri" panose="020F0502020204030204" pitchFamily="34" charset="0"/>
              </a:rPr>
              <a:t>labeled</a:t>
            </a:r>
            <a:r>
              <a:rPr lang="en-PH" sz="3200" dirty="0">
                <a:solidFill>
                  <a:srgbClr val="820000"/>
                </a:solidFill>
                <a:latin typeface="Arial" panose="020B0604020202020204" pitchFamily="34" charset="0"/>
                <a:ea typeface="Calibri" panose="020F0502020204030204" pitchFamily="34" charset="0"/>
              </a:rPr>
              <a:t> as the accepted technique or gold standard for separation and analysis</a:t>
            </a:r>
            <a:r>
              <a:rPr lang="en-PH" sz="2800" dirty="0" smtClean="0">
                <a:solidFill>
                  <a:srgbClr val="820000"/>
                </a:solidFill>
                <a:latin typeface="Arial" panose="020B0604020202020204" pitchFamily="34" charset="0"/>
                <a:ea typeface="Calibri" panose="020F0502020204030204" pitchFamily="34" charset="0"/>
              </a:rPr>
              <a:t>.</a:t>
            </a:r>
            <a:r>
              <a:rPr lang="en-PH" sz="2800" b="1" baseline="30000" dirty="0">
                <a:solidFill>
                  <a:srgbClr val="820000"/>
                </a:solidFill>
                <a:latin typeface="Arial" panose="020B0604020202020204" pitchFamily="34" charset="0"/>
                <a:cs typeface="Arial" panose="020B0604020202020204" pitchFamily="34" charset="0"/>
              </a:rPr>
              <a:t> </a:t>
            </a:r>
            <a:r>
              <a:rPr lang="en-PH" sz="2400" b="1" baseline="30000" dirty="0" smtClean="0">
                <a:solidFill>
                  <a:srgbClr val="820000"/>
                </a:solidFill>
                <a:latin typeface="Arial" panose="020B0604020202020204" pitchFamily="34" charset="0"/>
                <a:cs typeface="Arial" panose="020B0604020202020204" pitchFamily="34" charset="0"/>
              </a:rPr>
              <a:t>30</a:t>
            </a:r>
            <a:endParaRPr lang="en-PH" sz="2400" b="1" baseline="30000" dirty="0">
              <a:solidFill>
                <a:srgbClr val="820000"/>
              </a:solidFill>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endParaRPr lang="en-PH" sz="2400" dirty="0">
              <a:solidFill>
                <a:srgbClr val="820000"/>
              </a:solidFill>
            </a:endParaRPr>
          </a:p>
        </p:txBody>
      </p:sp>
      <p:pic>
        <p:nvPicPr>
          <p:cNvPr id="21" name="Picture 20">
            <a:extLst>
              <a:ext uri="{FF2B5EF4-FFF2-40B4-BE49-F238E27FC236}">
                <a16:creationId xmlns:lc="http://schemas.openxmlformats.org/drawingml/2006/lockedCanvas" xmlns:a16="http://schemas.microsoft.com/office/drawing/2014/main"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6sdtdh="http://schemas.microsoft.com/office/word/2020/wordml/sdtdatahash" xmlns:w16="http://schemas.microsoft.com/office/word/2018/wordml" xmlns:w16cid="http://schemas.microsoft.com/office/word/2016/wordml/cid" xmlns:w16cex="http://schemas.microsoft.com/office/word/2018/wordml/cex" xmlns:w15="http://schemas.microsoft.com/office/word/2012/wordml" xmlns:w14="http://schemas.microsoft.com/office/word/2010/wordml" xmlns:w="http://schemas.openxmlformats.org/wordprocessingml/2006/main" xmlns:w10="urn:schemas-microsoft-com:office:word" xmlns:wp="http://schemas.openxmlformats.org/drawingml/2006/wordprocessingDrawing" xmlns:wp14="http://schemas.microsoft.com/office/word/2010/wordprocessingDrawing" xmlns:v="urn:schemas-microsoft-com:vml" xmlns:m="http://schemas.openxmlformats.org/officeDocument/2006/math" xmlns:oel="http://schemas.microsoft.com/office/2019/extlst" xmlns:o="urn:schemas-microsoft-com:office:office" xmlns:am3d="http://schemas.microsoft.com/office/drawing/2017/model3d" xmlns:aink="http://schemas.microsoft.com/office/drawing/2016/ink" xmlns:mc="http://schemas.openxmlformats.org/markup-compatibility/2006"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xmlns="" id="{7607A124-4AFB-FE1F-6397-8BFD03E303C4}"/>
              </a:ext>
            </a:extLst>
          </p:cNvPr>
          <p:cNvPicPr/>
          <p:nvPr/>
        </p:nvPicPr>
        <p:blipFill rotWithShape="1">
          <a:blip r:embed="rId5">
            <a:extLst>
              <a:ext uri="{BEBA8EAE-BF5A-486C-A8C5-ECC9F3942E4B}">
                <a14:imgProps xmlns:a14="http://schemas.microsoft.com/office/drawing/2010/main">
                  <a14:imgLayer r:embed="rId6">
                    <a14:imgEffect>
                      <a14:sharpenSoften amount="50000"/>
                    </a14:imgEffect>
                  </a14:imgLayer>
                </a14:imgProps>
              </a:ext>
            </a:extLst>
          </a:blip>
          <a:srcRect l="16667" t="21717" r="18181" b="10943"/>
          <a:stretch/>
        </p:blipFill>
        <p:spPr>
          <a:xfrm>
            <a:off x="9052560" y="2132089"/>
            <a:ext cx="7955280" cy="5068811"/>
          </a:xfrm>
          <a:prstGeom prst="rect">
            <a:avLst/>
          </a:prstGeom>
        </p:spPr>
      </p:pic>
      <p:sp>
        <p:nvSpPr>
          <p:cNvPr id="8" name="Rectangle 1"/>
          <p:cNvSpPr>
            <a:spLocks noChangeArrowheads="1"/>
          </p:cNvSpPr>
          <p:nvPr/>
        </p:nvSpPr>
        <p:spPr bwMode="auto">
          <a:xfrm>
            <a:off x="9448800" y="7346870"/>
            <a:ext cx="774923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PH" sz="2400" b="1" i="0" u="none" strike="noStrike" cap="none" normalizeH="0" baseline="0" dirty="0" smtClean="0">
                <a:ln>
                  <a:noFill/>
                </a:ln>
                <a:solidFill>
                  <a:srgbClr val="820000"/>
                </a:solidFill>
                <a:effectLst/>
                <a:latin typeface="Arial" panose="020B0604020202020204" pitchFamily="34" charset="0"/>
                <a:ea typeface="Calibri" panose="020F0502020204030204" pitchFamily="34" charset="0"/>
                <a:cs typeface="Arial" panose="020B0604020202020204" pitchFamily="34" charset="0"/>
              </a:rPr>
              <a:t>Figure 5. </a:t>
            </a:r>
            <a:r>
              <a:rPr kumimoji="0" lang="en-PH" sz="2400" b="0" i="0" u="none" strike="noStrike" cap="none" normalizeH="0" baseline="0" dirty="0" smtClean="0">
                <a:ln>
                  <a:noFill/>
                </a:ln>
                <a:solidFill>
                  <a:srgbClr val="820000"/>
                </a:solidFill>
                <a:effectLst/>
                <a:latin typeface="Arial" panose="020B0604020202020204" pitchFamily="34" charset="0"/>
                <a:ea typeface="Calibri" panose="020F0502020204030204" pitchFamily="34" charset="0"/>
                <a:cs typeface="Arial" panose="020B0604020202020204" pitchFamily="34" charset="0"/>
              </a:rPr>
              <a:t>Gas Chromatography-MS Instrumentation</a:t>
            </a:r>
            <a:r>
              <a:rPr kumimoji="0" lang="en-PH" sz="2400" b="0" i="0" u="none" strike="noStrike" cap="none" normalizeH="0" baseline="30000" dirty="0" smtClean="0">
                <a:ln>
                  <a:noFill/>
                </a:ln>
                <a:solidFill>
                  <a:srgbClr val="820000"/>
                </a:solidFill>
                <a:effectLst/>
                <a:latin typeface="Arial" panose="020B0604020202020204" pitchFamily="34" charset="0"/>
                <a:ea typeface="Calibri" panose="020F0502020204030204" pitchFamily="34" charset="0"/>
                <a:cs typeface="Arial" panose="020B0604020202020204" pitchFamily="34" charset="0"/>
              </a:rPr>
              <a:t>30</a:t>
            </a:r>
            <a:r>
              <a:rPr kumimoji="0" lang="en-PH" sz="2400" b="0" i="0" u="none" strike="noStrike" cap="none" normalizeH="0" baseline="0" dirty="0" smtClean="0">
                <a:ln>
                  <a:noFill/>
                </a:ln>
                <a:solidFill>
                  <a:srgbClr val="820000"/>
                </a:solidFill>
                <a:effectLst/>
                <a:latin typeface="Arial" panose="020B0604020202020204" pitchFamily="34" charset="0"/>
                <a:ea typeface="Calibri" panose="020F0502020204030204" pitchFamily="34" charset="0"/>
                <a:cs typeface="Arial" panose="020B0604020202020204" pitchFamily="34" charset="0"/>
              </a:rPr>
              <a:t> </a:t>
            </a:r>
            <a:r>
              <a:rPr kumimoji="0" lang="en-PH" sz="2400" b="1" i="0" u="none" strike="noStrike" cap="none" normalizeH="0" baseline="0" dirty="0" smtClean="0">
                <a:ln>
                  <a:noFill/>
                </a:ln>
                <a:solidFill>
                  <a:srgbClr val="820000"/>
                </a:solidFill>
                <a:effectLst/>
                <a:latin typeface="Arial" panose="020B0604020202020204" pitchFamily="34" charset="0"/>
                <a:ea typeface="Calibri" panose="020F0502020204030204" pitchFamily="34" charset="0"/>
                <a:cs typeface="Arial" panose="020B0604020202020204" pitchFamily="34" charset="0"/>
              </a:rPr>
              <a:t>  </a:t>
            </a:r>
            <a:endParaRPr kumimoji="0" lang="en-PH" sz="3600" b="0" i="0" u="none" strike="noStrike" cap="none" normalizeH="0" baseline="0" dirty="0" smtClean="0">
              <a:ln>
                <a:noFill/>
              </a:ln>
              <a:solidFill>
                <a:srgbClr val="820000"/>
              </a:solidFill>
              <a:effectLst/>
              <a:latin typeface="Arial" panose="020B0604020202020204" pitchFamily="34" charset="0"/>
            </a:endParaRPr>
          </a:p>
        </p:txBody>
      </p:sp>
    </p:spTree>
    <p:extLst>
      <p:ext uri="{BB962C8B-B14F-4D97-AF65-F5344CB8AC3E}">
        <p14:creationId xmlns:p14="http://schemas.microsoft.com/office/powerpoint/2010/main" val="334471231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Box 13"/>
          <p:cNvSpPr txBox="1"/>
          <p:nvPr/>
        </p:nvSpPr>
        <p:spPr>
          <a:xfrm>
            <a:off x="1671387" y="1531257"/>
            <a:ext cx="2203151" cy="2306426"/>
          </a:xfrm>
          <a:prstGeom prst="rect">
            <a:avLst/>
          </a:prstGeom>
        </p:spPr>
        <p:txBody>
          <a:bodyPr lIns="50800" tIns="50800" rIns="50800" bIns="50800" rtlCol="0" anchor="ctr"/>
          <a:lstStyle/>
          <a:p>
            <a:pPr algn="ctr">
              <a:lnSpc>
                <a:spcPts val="2659"/>
              </a:lnSpc>
              <a:spcBef>
                <a:spcPct val="0"/>
              </a:spcBef>
            </a:pPr>
            <a:endParaRPr/>
          </a:p>
        </p:txBody>
      </p:sp>
      <p:pic>
        <p:nvPicPr>
          <p:cNvPr id="18" name="Picture 17"/>
          <p:cNvPicPr>
            <a:picLocks noChangeAspect="1"/>
          </p:cNvPicPr>
          <p:nvPr/>
        </p:nvPicPr>
        <p:blipFill>
          <a:blip r:embed="rId2"/>
          <a:stretch>
            <a:fillRect/>
          </a:stretch>
        </p:blipFill>
        <p:spPr>
          <a:xfrm>
            <a:off x="76200" y="9266338"/>
            <a:ext cx="2327677" cy="1020662"/>
          </a:xfrm>
          <a:prstGeom prst="rect">
            <a:avLst/>
          </a:prstGeom>
        </p:spPr>
      </p:pic>
      <p:pic>
        <p:nvPicPr>
          <p:cNvPr id="19" name="Picture 18"/>
          <p:cNvPicPr>
            <a:picLocks noChangeAspect="1"/>
          </p:cNvPicPr>
          <p:nvPr/>
        </p:nvPicPr>
        <p:blipFill>
          <a:blip r:embed="rId3"/>
          <a:stretch>
            <a:fillRect/>
          </a:stretch>
        </p:blipFill>
        <p:spPr>
          <a:xfrm rot="10800000">
            <a:off x="-30480" y="1370689"/>
            <a:ext cx="18288000" cy="267610"/>
          </a:xfrm>
          <a:prstGeom prst="rect">
            <a:avLst/>
          </a:prstGeom>
        </p:spPr>
      </p:pic>
      <p:pic>
        <p:nvPicPr>
          <p:cNvPr id="20" name="Picture 19"/>
          <p:cNvPicPr>
            <a:picLocks noChangeAspect="1"/>
          </p:cNvPicPr>
          <p:nvPr/>
        </p:nvPicPr>
        <p:blipFill>
          <a:blip r:embed="rId3"/>
          <a:stretch>
            <a:fillRect/>
          </a:stretch>
        </p:blipFill>
        <p:spPr>
          <a:xfrm>
            <a:off x="0" y="0"/>
            <a:ext cx="18288000" cy="267611"/>
          </a:xfrm>
          <a:prstGeom prst="rect">
            <a:avLst/>
          </a:prstGeom>
        </p:spPr>
      </p:pic>
      <p:sp>
        <p:nvSpPr>
          <p:cNvPr id="4" name="Parallelogram 3"/>
          <p:cNvSpPr/>
          <p:nvPr/>
        </p:nvSpPr>
        <p:spPr>
          <a:xfrm>
            <a:off x="2388637" y="9936689"/>
            <a:ext cx="9727163" cy="236011"/>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2" name="Parallelogram 21"/>
          <p:cNvSpPr/>
          <p:nvPr/>
        </p:nvSpPr>
        <p:spPr>
          <a:xfrm>
            <a:off x="12192000" y="9944100"/>
            <a:ext cx="1421363" cy="228600"/>
          </a:xfrm>
          <a:prstGeom prst="parallelogram">
            <a:avLst/>
          </a:prstGeom>
          <a:solidFill>
            <a:srgbClr val="FFC000"/>
          </a:solidFill>
          <a:ln>
            <a:solidFill>
              <a:srgbClr val="FFC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3" name="Parallelogram 22"/>
          <p:cNvSpPr/>
          <p:nvPr/>
        </p:nvSpPr>
        <p:spPr>
          <a:xfrm>
            <a:off x="13689563" y="9944100"/>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24" name="Picture 23"/>
          <p:cNvPicPr>
            <a:picLocks noChangeAspect="1"/>
          </p:cNvPicPr>
          <p:nvPr/>
        </p:nvPicPr>
        <p:blipFill>
          <a:blip r:embed="rId3"/>
          <a:stretch>
            <a:fillRect/>
          </a:stretch>
        </p:blipFill>
        <p:spPr>
          <a:xfrm rot="10800000" flipV="1">
            <a:off x="2403877" y="9668509"/>
            <a:ext cx="15899363" cy="232657"/>
          </a:xfrm>
          <a:prstGeom prst="rect">
            <a:avLst/>
          </a:prstGeom>
        </p:spPr>
      </p:pic>
      <p:pic>
        <p:nvPicPr>
          <p:cNvPr id="6" name="Picture 5"/>
          <p:cNvPicPr>
            <a:picLocks noChangeAspect="1"/>
          </p:cNvPicPr>
          <p:nvPr/>
        </p:nvPicPr>
        <p:blipFill>
          <a:blip r:embed="rId4"/>
          <a:stretch>
            <a:fillRect/>
          </a:stretch>
        </p:blipFill>
        <p:spPr>
          <a:xfrm>
            <a:off x="15030450" y="488370"/>
            <a:ext cx="3257550" cy="523875"/>
          </a:xfrm>
          <a:prstGeom prst="rect">
            <a:avLst/>
          </a:prstGeom>
        </p:spPr>
      </p:pic>
      <p:sp>
        <p:nvSpPr>
          <p:cNvPr id="25" name="Parallelogram 24"/>
          <p:cNvSpPr/>
          <p:nvPr/>
        </p:nvSpPr>
        <p:spPr>
          <a:xfrm>
            <a:off x="13030200" y="760176"/>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13" name="Picture 12"/>
          <p:cNvPicPr>
            <a:picLocks noChangeAspect="1"/>
          </p:cNvPicPr>
          <p:nvPr/>
        </p:nvPicPr>
        <p:blipFill>
          <a:blip r:embed="rId4"/>
          <a:stretch>
            <a:fillRect/>
          </a:stretch>
        </p:blipFill>
        <p:spPr>
          <a:xfrm rot="10800000">
            <a:off x="0" y="612538"/>
            <a:ext cx="3257550" cy="523875"/>
          </a:xfrm>
          <a:prstGeom prst="rect">
            <a:avLst/>
          </a:prstGeom>
        </p:spPr>
      </p:pic>
      <p:sp>
        <p:nvSpPr>
          <p:cNvPr id="14" name="Parallelogram 13"/>
          <p:cNvSpPr/>
          <p:nvPr/>
        </p:nvSpPr>
        <p:spPr>
          <a:xfrm>
            <a:off x="659363" y="577015"/>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17" name="Round Single Corner Rectangle 16"/>
          <p:cNvSpPr/>
          <p:nvPr/>
        </p:nvSpPr>
        <p:spPr>
          <a:xfrm>
            <a:off x="5494020" y="160397"/>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5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Review of Literature     </a:t>
            </a:r>
            <a:r>
              <a:rPr lang="en-PH" sz="6000" b="1" u="sng" dirty="0" smtClean="0">
                <a:solidFill>
                  <a:srgbClr val="820000"/>
                </a:solidFill>
                <a:latin typeface="Arial" panose="020B0604020202020204" pitchFamily="34" charset="0"/>
                <a:cs typeface="Arial" panose="020B0604020202020204" pitchFamily="34" charset="0"/>
              </a:rPr>
              <a:t> </a:t>
            </a:r>
          </a:p>
        </p:txBody>
      </p:sp>
      <p:sp>
        <p:nvSpPr>
          <p:cNvPr id="2" name="Left Brace 1"/>
          <p:cNvSpPr/>
          <p:nvPr/>
        </p:nvSpPr>
        <p:spPr>
          <a:xfrm>
            <a:off x="10933625" y="1202819"/>
            <a:ext cx="45719" cy="10490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PH"/>
          </a:p>
        </p:txBody>
      </p:sp>
      <p:sp>
        <p:nvSpPr>
          <p:cNvPr id="3" name="Rectangle 2"/>
          <p:cNvSpPr/>
          <p:nvPr/>
        </p:nvSpPr>
        <p:spPr>
          <a:xfrm>
            <a:off x="91440" y="1755286"/>
            <a:ext cx="9144000" cy="707886"/>
          </a:xfrm>
          <a:prstGeom prst="rect">
            <a:avLst/>
          </a:prstGeom>
        </p:spPr>
        <p:txBody>
          <a:bodyPr>
            <a:spAutoFit/>
          </a:bodyPr>
          <a:lstStyle/>
          <a:p>
            <a:pPr algn="just"/>
            <a:r>
              <a:rPr lang="en-PH" sz="3600" dirty="0"/>
              <a:t> </a:t>
            </a:r>
            <a:r>
              <a:rPr lang="en-PH" sz="4000" dirty="0" smtClean="0">
                <a:solidFill>
                  <a:srgbClr val="820000"/>
                </a:solidFill>
                <a:latin typeface="Arial" panose="020B0604020202020204" pitchFamily="34" charset="0"/>
                <a:cs typeface="Arial" panose="020B0604020202020204" pitchFamily="34" charset="0"/>
              </a:rPr>
              <a:t>2.4.2     </a:t>
            </a:r>
            <a:r>
              <a:rPr lang="en-PH" sz="4000" dirty="0">
                <a:solidFill>
                  <a:srgbClr val="820000"/>
                </a:solidFill>
                <a:latin typeface="Arial" panose="020B0604020202020204" pitchFamily="34" charset="0"/>
                <a:cs typeface="Arial" panose="020B0604020202020204" pitchFamily="34" charset="0"/>
              </a:rPr>
              <a:t>L</a:t>
            </a:r>
            <a:r>
              <a:rPr lang="en-PH" sz="4000" dirty="0" smtClean="0">
                <a:solidFill>
                  <a:srgbClr val="820000"/>
                </a:solidFill>
                <a:latin typeface="Arial" panose="020B0604020202020204" pitchFamily="34" charset="0"/>
                <a:cs typeface="Arial" panose="020B0604020202020204" pitchFamily="34" charset="0"/>
              </a:rPr>
              <a:t>C-MS</a:t>
            </a:r>
            <a:r>
              <a:rPr lang="en-PH" sz="4000"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2800"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5" name="Rectangle 4"/>
          <p:cNvSpPr/>
          <p:nvPr/>
        </p:nvSpPr>
        <p:spPr>
          <a:xfrm>
            <a:off x="8515117" y="2382065"/>
            <a:ext cx="9144000" cy="6771084"/>
          </a:xfrm>
          <a:prstGeom prst="rect">
            <a:avLst/>
          </a:prstGeom>
        </p:spPr>
        <p:txBody>
          <a:bodyPr>
            <a:spAutoFit/>
          </a:bodyPr>
          <a:lstStyle/>
          <a:p>
            <a:pPr marL="457200" indent="-457200" algn="just">
              <a:buFont typeface="Arial" panose="020B0604020202020204" pitchFamily="34" charset="0"/>
              <a:buChar char="•"/>
            </a:pPr>
            <a:r>
              <a:rPr lang="en-PH" sz="3200" b="1" dirty="0">
                <a:solidFill>
                  <a:srgbClr val="820000"/>
                </a:solidFill>
                <a:latin typeface="Arial" panose="020B0604020202020204" pitchFamily="34" charset="0"/>
                <a:ea typeface="Calibri" panose="020F0502020204030204" pitchFamily="34" charset="0"/>
              </a:rPr>
              <a:t>Liquid Chromatography-Mass Spectrometry (LC-MS) </a:t>
            </a:r>
            <a:r>
              <a:rPr lang="en-PH" sz="3200" dirty="0">
                <a:solidFill>
                  <a:srgbClr val="820000"/>
                </a:solidFill>
                <a:latin typeface="Arial" panose="020B0604020202020204" pitchFamily="34" charset="0"/>
                <a:ea typeface="Calibri" panose="020F0502020204030204" pitchFamily="34" charset="0"/>
              </a:rPr>
              <a:t>is fast becoming the preferred tool of liquid chromatography. It is a powerful analytical technique that combines the resolving power of liquid chromatography with the detection specificity of mass spectrometry. </a:t>
            </a:r>
            <a:endParaRPr lang="en-PH" sz="3200" dirty="0" smtClean="0">
              <a:solidFill>
                <a:srgbClr val="820000"/>
              </a:solidFill>
              <a:latin typeface="Arial" panose="020B0604020202020204" pitchFamily="34" charset="0"/>
              <a:ea typeface="Calibri" panose="020F0502020204030204" pitchFamily="34" charset="0"/>
            </a:endParaRPr>
          </a:p>
          <a:p>
            <a:pPr marL="457200" indent="-457200" algn="just">
              <a:buFont typeface="Arial" panose="020B0604020202020204" pitchFamily="34" charset="0"/>
              <a:buChar char="•"/>
            </a:pPr>
            <a:r>
              <a:rPr lang="en-PH" sz="3200" dirty="0" smtClean="0">
                <a:solidFill>
                  <a:srgbClr val="820000"/>
                </a:solidFill>
                <a:latin typeface="Arial" panose="020B0604020202020204" pitchFamily="34" charset="0"/>
                <a:ea typeface="Calibri" panose="020F0502020204030204" pitchFamily="34" charset="0"/>
              </a:rPr>
              <a:t>Liquid </a:t>
            </a:r>
            <a:r>
              <a:rPr lang="en-PH" sz="3200" dirty="0">
                <a:solidFill>
                  <a:srgbClr val="820000"/>
                </a:solidFill>
                <a:latin typeface="Arial" panose="020B0604020202020204" pitchFamily="34" charset="0"/>
                <a:ea typeface="Calibri" panose="020F0502020204030204" pitchFamily="34" charset="0"/>
              </a:rPr>
              <a:t>chromatography (LC) separates the sample components and introduces them to the mass spectrometer (MS). The MS creates and detects charged ions. The LC/MS data may provide information about the molecular weight, structure, identity, and quantity of specific sample components</a:t>
            </a:r>
            <a:r>
              <a:rPr lang="en-PH" sz="3200" dirty="0" smtClean="0">
                <a:solidFill>
                  <a:srgbClr val="820000"/>
                </a:solidFill>
                <a:latin typeface="Arial" panose="020B0604020202020204" pitchFamily="34" charset="0"/>
                <a:ea typeface="Calibri" panose="020F0502020204030204" pitchFamily="34" charset="0"/>
              </a:rPr>
              <a:t>.</a:t>
            </a:r>
            <a:r>
              <a:rPr lang="en-PH" sz="3200" b="1" baseline="30000" dirty="0">
                <a:solidFill>
                  <a:srgbClr val="820000"/>
                </a:solidFill>
                <a:latin typeface="Arial" panose="020B0604020202020204" pitchFamily="34" charset="0"/>
                <a:cs typeface="Arial" panose="020B0604020202020204" pitchFamily="34" charset="0"/>
              </a:rPr>
              <a:t> </a:t>
            </a:r>
            <a:r>
              <a:rPr lang="en-PH" sz="3200" b="1" baseline="30000" dirty="0" smtClean="0">
                <a:solidFill>
                  <a:srgbClr val="820000"/>
                </a:solidFill>
                <a:latin typeface="Arial" panose="020B0604020202020204" pitchFamily="34" charset="0"/>
                <a:cs typeface="Arial" panose="020B0604020202020204" pitchFamily="34" charset="0"/>
              </a:rPr>
              <a:t>32</a:t>
            </a:r>
            <a:endParaRPr lang="en-PH" sz="3200" b="1" baseline="30000" dirty="0">
              <a:solidFill>
                <a:srgbClr val="820000"/>
              </a:solidFill>
              <a:latin typeface="Arial" panose="020B0604020202020204" pitchFamily="34" charset="0"/>
              <a:cs typeface="Arial" panose="020B0604020202020204" pitchFamily="34" charset="0"/>
            </a:endParaRPr>
          </a:p>
          <a:p>
            <a:pPr algn="just"/>
            <a:endParaRPr lang="en-PH" dirty="0"/>
          </a:p>
        </p:txBody>
      </p:sp>
      <p:pic>
        <p:nvPicPr>
          <p:cNvPr id="26" name="Picture 25"/>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04800" y="2678975"/>
            <a:ext cx="7848600" cy="4830388"/>
          </a:xfrm>
          <a:prstGeom prst="rect">
            <a:avLst/>
          </a:prstGeom>
          <a:noFill/>
          <a:ln>
            <a:noFill/>
          </a:ln>
        </p:spPr>
      </p:pic>
      <p:sp>
        <p:nvSpPr>
          <p:cNvPr id="15" name="Rectangle 14"/>
          <p:cNvSpPr/>
          <p:nvPr/>
        </p:nvSpPr>
        <p:spPr>
          <a:xfrm>
            <a:off x="-628883" y="7623663"/>
            <a:ext cx="9144000" cy="1846659"/>
          </a:xfrm>
          <a:prstGeom prst="rect">
            <a:avLst/>
          </a:prstGeom>
        </p:spPr>
        <p:txBody>
          <a:bodyPr>
            <a:spAutoFit/>
          </a:bodyPr>
          <a:lstStyle/>
          <a:p>
            <a:pPr marL="228600" algn="ctr">
              <a:lnSpc>
                <a:spcPct val="200000"/>
              </a:lnSpc>
            </a:pPr>
            <a:r>
              <a:rPr lang="en-US" sz="2400" b="1" dirty="0">
                <a:latin typeface="Arial" panose="020B0604020202020204" pitchFamily="34" charset="0"/>
                <a:ea typeface="Arial MT"/>
                <a:cs typeface="Arial" panose="020B0604020202020204" pitchFamily="34" charset="0"/>
              </a:rPr>
              <a:t>Figure 6.</a:t>
            </a:r>
            <a:r>
              <a:rPr lang="en-US" sz="2400" dirty="0">
                <a:latin typeface="Arial" panose="020B0604020202020204" pitchFamily="34" charset="0"/>
                <a:ea typeface="Arial MT"/>
                <a:cs typeface="Arial" panose="020B0604020202020204" pitchFamily="34" charset="0"/>
              </a:rPr>
              <a:t> Schematic diagram of an LC-MS </a:t>
            </a:r>
            <a:r>
              <a:rPr lang="en-US" sz="2400" dirty="0" smtClean="0">
                <a:latin typeface="Arial" panose="020B0604020202020204" pitchFamily="34" charset="0"/>
                <a:ea typeface="Arial MT"/>
                <a:cs typeface="Arial" panose="020B0604020202020204" pitchFamily="34" charset="0"/>
              </a:rPr>
              <a:t>setup</a:t>
            </a:r>
            <a:r>
              <a:rPr lang="en-PH" sz="2400" b="1" baseline="30000" dirty="0" smtClean="0">
                <a:solidFill>
                  <a:srgbClr val="820000"/>
                </a:solidFill>
                <a:latin typeface="Arial" panose="020B0604020202020204" pitchFamily="34" charset="0"/>
                <a:cs typeface="Arial" panose="020B0604020202020204" pitchFamily="34" charset="0"/>
              </a:rPr>
              <a:t>33</a:t>
            </a:r>
            <a:endParaRPr lang="en-PH" sz="2400" b="1" baseline="30000" dirty="0">
              <a:solidFill>
                <a:srgbClr val="820000"/>
              </a:solidFill>
              <a:latin typeface="Arial" panose="020B0604020202020204" pitchFamily="34" charset="0"/>
              <a:cs typeface="Arial" panose="020B0604020202020204" pitchFamily="34" charset="0"/>
            </a:endParaRPr>
          </a:p>
          <a:p>
            <a:pPr marL="228600" marR="0" algn="ctr">
              <a:lnSpc>
                <a:spcPct val="200000"/>
              </a:lnSpc>
              <a:spcBef>
                <a:spcPts val="0"/>
              </a:spcBef>
              <a:spcAft>
                <a:spcPts val="0"/>
              </a:spcAft>
            </a:pPr>
            <a:endParaRPr lang="en-PH" sz="2400" dirty="0">
              <a:latin typeface="Arial" panose="020B0604020202020204" pitchFamily="34" charset="0"/>
              <a:ea typeface="Arial MT"/>
              <a:cs typeface="Arial" panose="020B0604020202020204" pitchFamily="34" charset="0"/>
            </a:endParaRPr>
          </a:p>
          <a:p>
            <a:pPr marL="457200" marR="0" indent="-457200" algn="just">
              <a:spcBef>
                <a:spcPts val="0"/>
              </a:spcBef>
              <a:spcAft>
                <a:spcPts val="0"/>
              </a:spcAft>
            </a:pPr>
            <a:r>
              <a:rPr lang="en-PH" dirty="0">
                <a:latin typeface="Arial" panose="020B0604020202020204" pitchFamily="34" charset="0"/>
                <a:ea typeface="Calibri" panose="020F0502020204030204" pitchFamily="34" charset="0"/>
                <a:cs typeface="Arial" panose="020B0604020202020204" pitchFamily="34" charset="0"/>
              </a:rPr>
              <a:t>	</a:t>
            </a:r>
            <a:r>
              <a:rPr lang="en-PH" sz="1200" dirty="0">
                <a:latin typeface="Arial" panose="020B0604020202020204" pitchFamily="34" charset="0"/>
                <a:ea typeface="Calibri" panose="020F0502020204030204" pitchFamily="34" charset="0"/>
                <a:cs typeface="Times New Roman" panose="02020603050405020304" pitchFamily="18" charset="0"/>
              </a:rPr>
              <a:t> </a:t>
            </a:r>
            <a:endParaRPr lang="en-PH" sz="1200" dirty="0">
              <a:effectLst/>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8167315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Box 13"/>
          <p:cNvSpPr txBox="1"/>
          <p:nvPr/>
        </p:nvSpPr>
        <p:spPr>
          <a:xfrm>
            <a:off x="1671387" y="1531257"/>
            <a:ext cx="2203151" cy="2306426"/>
          </a:xfrm>
          <a:prstGeom prst="rect">
            <a:avLst/>
          </a:prstGeom>
        </p:spPr>
        <p:txBody>
          <a:bodyPr lIns="50800" tIns="50800" rIns="50800" bIns="50800" rtlCol="0" anchor="ctr"/>
          <a:lstStyle/>
          <a:p>
            <a:pPr algn="ctr">
              <a:lnSpc>
                <a:spcPts val="2659"/>
              </a:lnSpc>
              <a:spcBef>
                <a:spcPct val="0"/>
              </a:spcBef>
            </a:pPr>
            <a:endParaRPr/>
          </a:p>
        </p:txBody>
      </p:sp>
      <p:pic>
        <p:nvPicPr>
          <p:cNvPr id="18" name="Picture 17"/>
          <p:cNvPicPr>
            <a:picLocks noChangeAspect="1"/>
          </p:cNvPicPr>
          <p:nvPr/>
        </p:nvPicPr>
        <p:blipFill>
          <a:blip r:embed="rId2"/>
          <a:stretch>
            <a:fillRect/>
          </a:stretch>
        </p:blipFill>
        <p:spPr>
          <a:xfrm>
            <a:off x="76200" y="9266338"/>
            <a:ext cx="2327677" cy="1020662"/>
          </a:xfrm>
          <a:prstGeom prst="rect">
            <a:avLst/>
          </a:prstGeom>
        </p:spPr>
      </p:pic>
      <p:pic>
        <p:nvPicPr>
          <p:cNvPr id="19" name="Picture 18"/>
          <p:cNvPicPr>
            <a:picLocks noChangeAspect="1"/>
          </p:cNvPicPr>
          <p:nvPr/>
        </p:nvPicPr>
        <p:blipFill>
          <a:blip r:embed="rId3"/>
          <a:stretch>
            <a:fillRect/>
          </a:stretch>
        </p:blipFill>
        <p:spPr>
          <a:xfrm rot="10800000">
            <a:off x="-30480" y="1370689"/>
            <a:ext cx="18288000" cy="267610"/>
          </a:xfrm>
          <a:prstGeom prst="rect">
            <a:avLst/>
          </a:prstGeom>
        </p:spPr>
      </p:pic>
      <p:pic>
        <p:nvPicPr>
          <p:cNvPr id="20" name="Picture 19"/>
          <p:cNvPicPr>
            <a:picLocks noChangeAspect="1"/>
          </p:cNvPicPr>
          <p:nvPr/>
        </p:nvPicPr>
        <p:blipFill>
          <a:blip r:embed="rId3"/>
          <a:stretch>
            <a:fillRect/>
          </a:stretch>
        </p:blipFill>
        <p:spPr>
          <a:xfrm>
            <a:off x="0" y="0"/>
            <a:ext cx="18288000" cy="267611"/>
          </a:xfrm>
          <a:prstGeom prst="rect">
            <a:avLst/>
          </a:prstGeom>
        </p:spPr>
      </p:pic>
      <p:sp>
        <p:nvSpPr>
          <p:cNvPr id="4" name="Parallelogram 3"/>
          <p:cNvSpPr/>
          <p:nvPr/>
        </p:nvSpPr>
        <p:spPr>
          <a:xfrm>
            <a:off x="2388637" y="9936689"/>
            <a:ext cx="9727163" cy="236011"/>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2" name="Parallelogram 21"/>
          <p:cNvSpPr/>
          <p:nvPr/>
        </p:nvSpPr>
        <p:spPr>
          <a:xfrm>
            <a:off x="12192000" y="9944100"/>
            <a:ext cx="1421363" cy="228600"/>
          </a:xfrm>
          <a:prstGeom prst="parallelogram">
            <a:avLst/>
          </a:prstGeom>
          <a:solidFill>
            <a:srgbClr val="FFC000"/>
          </a:solidFill>
          <a:ln>
            <a:solidFill>
              <a:srgbClr val="FFC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3" name="Parallelogram 22"/>
          <p:cNvSpPr/>
          <p:nvPr/>
        </p:nvSpPr>
        <p:spPr>
          <a:xfrm>
            <a:off x="13689563" y="9944100"/>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24" name="Picture 23"/>
          <p:cNvPicPr>
            <a:picLocks noChangeAspect="1"/>
          </p:cNvPicPr>
          <p:nvPr/>
        </p:nvPicPr>
        <p:blipFill>
          <a:blip r:embed="rId3"/>
          <a:stretch>
            <a:fillRect/>
          </a:stretch>
        </p:blipFill>
        <p:spPr>
          <a:xfrm rot="10800000" flipV="1">
            <a:off x="2403877" y="9668509"/>
            <a:ext cx="15899363" cy="232657"/>
          </a:xfrm>
          <a:prstGeom prst="rect">
            <a:avLst/>
          </a:prstGeom>
        </p:spPr>
      </p:pic>
      <p:pic>
        <p:nvPicPr>
          <p:cNvPr id="6" name="Picture 5"/>
          <p:cNvPicPr>
            <a:picLocks noChangeAspect="1"/>
          </p:cNvPicPr>
          <p:nvPr/>
        </p:nvPicPr>
        <p:blipFill>
          <a:blip r:embed="rId4"/>
          <a:stretch>
            <a:fillRect/>
          </a:stretch>
        </p:blipFill>
        <p:spPr>
          <a:xfrm>
            <a:off x="15030450" y="488370"/>
            <a:ext cx="3257550" cy="523875"/>
          </a:xfrm>
          <a:prstGeom prst="rect">
            <a:avLst/>
          </a:prstGeom>
        </p:spPr>
      </p:pic>
      <p:sp>
        <p:nvSpPr>
          <p:cNvPr id="25" name="Parallelogram 24"/>
          <p:cNvSpPr/>
          <p:nvPr/>
        </p:nvSpPr>
        <p:spPr>
          <a:xfrm>
            <a:off x="13030200" y="760176"/>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13" name="Picture 12"/>
          <p:cNvPicPr>
            <a:picLocks noChangeAspect="1"/>
          </p:cNvPicPr>
          <p:nvPr/>
        </p:nvPicPr>
        <p:blipFill>
          <a:blip r:embed="rId4"/>
          <a:stretch>
            <a:fillRect/>
          </a:stretch>
        </p:blipFill>
        <p:spPr>
          <a:xfrm rot="10800000">
            <a:off x="0" y="612538"/>
            <a:ext cx="3257550" cy="523875"/>
          </a:xfrm>
          <a:prstGeom prst="rect">
            <a:avLst/>
          </a:prstGeom>
        </p:spPr>
      </p:pic>
      <p:sp>
        <p:nvSpPr>
          <p:cNvPr id="14" name="Parallelogram 13"/>
          <p:cNvSpPr/>
          <p:nvPr/>
        </p:nvSpPr>
        <p:spPr>
          <a:xfrm>
            <a:off x="659363" y="577015"/>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17" name="Round Single Corner Rectangle 16"/>
          <p:cNvSpPr/>
          <p:nvPr/>
        </p:nvSpPr>
        <p:spPr>
          <a:xfrm>
            <a:off x="5494020" y="160397"/>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5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Review of Literature     </a:t>
            </a:r>
            <a:r>
              <a:rPr lang="en-PH" sz="6000" b="1" u="sng" dirty="0" smtClean="0">
                <a:solidFill>
                  <a:srgbClr val="820000"/>
                </a:solidFill>
                <a:latin typeface="Arial" panose="020B0604020202020204" pitchFamily="34" charset="0"/>
                <a:cs typeface="Arial" panose="020B0604020202020204" pitchFamily="34" charset="0"/>
              </a:rPr>
              <a:t> </a:t>
            </a:r>
          </a:p>
        </p:txBody>
      </p:sp>
      <p:sp>
        <p:nvSpPr>
          <p:cNvPr id="2" name="Left Brace 1"/>
          <p:cNvSpPr/>
          <p:nvPr/>
        </p:nvSpPr>
        <p:spPr>
          <a:xfrm>
            <a:off x="10933625" y="1202819"/>
            <a:ext cx="45719" cy="10490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PH"/>
          </a:p>
        </p:txBody>
      </p:sp>
      <p:sp>
        <p:nvSpPr>
          <p:cNvPr id="3" name="Rectangle 2"/>
          <p:cNvSpPr/>
          <p:nvPr/>
        </p:nvSpPr>
        <p:spPr>
          <a:xfrm>
            <a:off x="628883" y="1743691"/>
            <a:ext cx="9144000" cy="707886"/>
          </a:xfrm>
          <a:prstGeom prst="rect">
            <a:avLst/>
          </a:prstGeom>
        </p:spPr>
        <p:txBody>
          <a:bodyPr>
            <a:spAutoFit/>
          </a:bodyPr>
          <a:lstStyle/>
          <a:p>
            <a:pPr algn="just"/>
            <a:r>
              <a:rPr lang="en-PH" sz="3600" b="1" dirty="0"/>
              <a:t> </a:t>
            </a:r>
            <a:r>
              <a:rPr lang="en-PH" sz="4000" b="1" dirty="0" smtClean="0">
                <a:solidFill>
                  <a:srgbClr val="820000"/>
                </a:solidFill>
                <a:latin typeface="Arial" panose="020B0604020202020204" pitchFamily="34" charset="0"/>
                <a:cs typeface="Arial" panose="020B0604020202020204" pitchFamily="34" charset="0"/>
              </a:rPr>
              <a:t>2.5     Phytochemical Analysis</a:t>
            </a:r>
            <a:r>
              <a:rPr lang="en-PH" sz="4000" b="1"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28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8" name="Rectangle 7"/>
          <p:cNvSpPr/>
          <p:nvPr/>
        </p:nvSpPr>
        <p:spPr>
          <a:xfrm>
            <a:off x="628883" y="2438698"/>
            <a:ext cx="16969274" cy="7848302"/>
          </a:xfrm>
          <a:prstGeom prst="rect">
            <a:avLst/>
          </a:prstGeom>
        </p:spPr>
        <p:txBody>
          <a:bodyPr wrap="square">
            <a:spAutoFit/>
          </a:bodyPr>
          <a:lstStyle/>
          <a:p>
            <a:pPr marL="457200" indent="-457200" algn="just">
              <a:buFont typeface="Arial" panose="020B0604020202020204" pitchFamily="34" charset="0"/>
              <a:buChar char="•"/>
            </a:pPr>
            <a:r>
              <a:rPr lang="en-PH" sz="2800" b="1" dirty="0">
                <a:solidFill>
                  <a:srgbClr val="820000"/>
                </a:solidFill>
                <a:latin typeface="Arial" panose="020B0604020202020204" pitchFamily="34" charset="0"/>
                <a:ea typeface="Calibri" panose="020F0502020204030204" pitchFamily="34" charset="0"/>
              </a:rPr>
              <a:t>Phytochemicals</a:t>
            </a:r>
            <a:r>
              <a:rPr lang="en-PH" sz="2800" dirty="0">
                <a:solidFill>
                  <a:srgbClr val="820000"/>
                </a:solidFill>
                <a:latin typeface="Arial" panose="020B0604020202020204" pitchFamily="34" charset="0"/>
                <a:ea typeface="Calibri" panose="020F0502020204030204" pitchFamily="34" charset="0"/>
              </a:rPr>
              <a:t> are chemical compounds naturally present in plants attributing to positive or negative health effects Medicinal plants used in different diseases and ailments are the richest bio reservoirs of various </a:t>
            </a:r>
            <a:r>
              <a:rPr lang="en-PH" sz="2800" dirty="0" smtClean="0">
                <a:solidFill>
                  <a:srgbClr val="820000"/>
                </a:solidFill>
                <a:latin typeface="Arial" panose="020B0604020202020204" pitchFamily="34" charset="0"/>
                <a:ea typeface="Calibri" panose="020F0502020204030204" pitchFamily="34" charset="0"/>
              </a:rPr>
              <a:t>phytochemicals.</a:t>
            </a:r>
            <a:r>
              <a:rPr lang="en-PH" sz="2800" b="1" baseline="30000" dirty="0">
                <a:solidFill>
                  <a:srgbClr val="820000"/>
                </a:solidFill>
                <a:latin typeface="Arial" panose="020B0604020202020204" pitchFamily="34" charset="0"/>
                <a:cs typeface="Arial" panose="020B0604020202020204" pitchFamily="34" charset="0"/>
              </a:rPr>
              <a:t> </a:t>
            </a:r>
            <a:r>
              <a:rPr lang="en-PH" sz="2800" b="1" baseline="30000" dirty="0" smtClean="0">
                <a:solidFill>
                  <a:srgbClr val="820000"/>
                </a:solidFill>
                <a:latin typeface="Arial" panose="020B0604020202020204" pitchFamily="34" charset="0"/>
                <a:cs typeface="Arial" panose="020B0604020202020204" pitchFamily="34" charset="0"/>
              </a:rPr>
              <a:t>29</a:t>
            </a:r>
          </a:p>
          <a:p>
            <a:pPr algn="just"/>
            <a:endParaRPr lang="en-PH" sz="2800" dirty="0" smtClean="0"/>
          </a:p>
          <a:p>
            <a:pPr marL="457200" indent="-457200" algn="just">
              <a:buFont typeface="Arial" panose="020B0604020202020204" pitchFamily="34" charset="0"/>
              <a:buChar char="•"/>
            </a:pPr>
            <a:r>
              <a:rPr lang="en-PH" sz="2800" b="1" dirty="0">
                <a:solidFill>
                  <a:srgbClr val="820000"/>
                </a:solidFill>
                <a:latin typeface="Arial" panose="020B0604020202020204" pitchFamily="34" charset="0"/>
                <a:cs typeface="Arial" panose="020B0604020202020204" pitchFamily="34" charset="0"/>
              </a:rPr>
              <a:t>Phenolic compounds </a:t>
            </a:r>
            <a:r>
              <a:rPr lang="en-PH" sz="2800" dirty="0">
                <a:solidFill>
                  <a:srgbClr val="820000"/>
                </a:solidFill>
                <a:latin typeface="Arial" panose="020B0604020202020204" pitchFamily="34" charset="0"/>
                <a:cs typeface="Arial" panose="020B0604020202020204" pitchFamily="34" charset="0"/>
              </a:rPr>
              <a:t>are important phytochemicals that exhibit several bioactive properties including antioxidant activity. Quantification and identification of phenolic compounds in different kinds of fruits and vegetables and their processed products have been reported in many </a:t>
            </a:r>
            <a:r>
              <a:rPr lang="en-PH" sz="2800" dirty="0" smtClean="0">
                <a:solidFill>
                  <a:srgbClr val="820000"/>
                </a:solidFill>
                <a:latin typeface="Arial" panose="020B0604020202020204" pitchFamily="34" charset="0"/>
                <a:cs typeface="Arial" panose="020B0604020202020204" pitchFamily="34" charset="0"/>
              </a:rPr>
              <a:t>studies.</a:t>
            </a:r>
            <a:r>
              <a:rPr lang="en-PH" sz="2800" b="1" baseline="30000" dirty="0">
                <a:solidFill>
                  <a:srgbClr val="820000"/>
                </a:solidFill>
                <a:latin typeface="Arial" panose="020B0604020202020204" pitchFamily="34" charset="0"/>
                <a:cs typeface="Arial" panose="020B0604020202020204" pitchFamily="34" charset="0"/>
              </a:rPr>
              <a:t> </a:t>
            </a:r>
            <a:r>
              <a:rPr lang="en-PH" sz="2800" b="1" baseline="30000" dirty="0" smtClean="0">
                <a:solidFill>
                  <a:srgbClr val="820000"/>
                </a:solidFill>
                <a:latin typeface="Arial" panose="020B0604020202020204" pitchFamily="34" charset="0"/>
                <a:cs typeface="Arial" panose="020B0604020202020204" pitchFamily="34" charset="0"/>
              </a:rPr>
              <a:t>42</a:t>
            </a:r>
          </a:p>
          <a:p>
            <a:pPr marL="457200" indent="-457200" algn="just">
              <a:buFont typeface="Arial" panose="020B0604020202020204" pitchFamily="34" charset="0"/>
              <a:buChar char="•"/>
            </a:pPr>
            <a:endParaRPr lang="en-PH" sz="2800" b="1" baseline="30000" dirty="0">
              <a:solidFill>
                <a:srgbClr val="820000"/>
              </a:solidFill>
              <a:latin typeface="Arial" panose="020B0604020202020204" pitchFamily="34" charset="0"/>
              <a:cs typeface="Arial" panose="020B0604020202020204" pitchFamily="34" charset="0"/>
            </a:endParaRPr>
          </a:p>
          <a:p>
            <a:pPr marL="457200" indent="-457200" algn="just">
              <a:buFont typeface="Arial" panose="020B0604020202020204" pitchFamily="34" charset="0"/>
              <a:buChar char="•"/>
            </a:pPr>
            <a:endParaRPr lang="en-PH" sz="2800" b="1" baseline="30000" dirty="0" smtClean="0">
              <a:solidFill>
                <a:srgbClr val="820000"/>
              </a:solidFill>
              <a:latin typeface="Arial" panose="020B0604020202020204" pitchFamily="34" charset="0"/>
              <a:cs typeface="Arial" panose="020B0604020202020204" pitchFamily="34" charset="0"/>
            </a:endParaRPr>
          </a:p>
          <a:p>
            <a:pPr marL="457200" indent="-457200" algn="just">
              <a:buFont typeface="Arial" panose="020B0604020202020204" pitchFamily="34" charset="0"/>
              <a:buChar char="•"/>
            </a:pPr>
            <a:r>
              <a:rPr lang="en-PH" sz="2800" dirty="0">
                <a:solidFill>
                  <a:srgbClr val="820000"/>
                </a:solidFill>
                <a:latin typeface="Arial" panose="020B0604020202020204" pitchFamily="34" charset="0"/>
                <a:cs typeface="Arial" panose="020B0604020202020204" pitchFamily="34" charset="0"/>
              </a:rPr>
              <a:t>For coconut meat, fat components are of interest for food scientists and industries. It is well-known that </a:t>
            </a:r>
            <a:r>
              <a:rPr lang="en-PH" sz="2800" dirty="0" err="1">
                <a:solidFill>
                  <a:srgbClr val="820000"/>
                </a:solidFill>
                <a:latin typeface="Arial" panose="020B0604020202020204" pitchFamily="34" charset="0"/>
                <a:cs typeface="Arial" panose="020B0604020202020204" pitchFamily="34" charset="0"/>
              </a:rPr>
              <a:t>triacylglycerols</a:t>
            </a:r>
            <a:r>
              <a:rPr lang="en-PH" sz="2800" dirty="0">
                <a:solidFill>
                  <a:srgbClr val="820000"/>
                </a:solidFill>
                <a:latin typeface="Arial" panose="020B0604020202020204" pitchFamily="34" charset="0"/>
                <a:cs typeface="Arial" panose="020B0604020202020204" pitchFamily="34" charset="0"/>
              </a:rPr>
              <a:t> present in coconut contain mainly </a:t>
            </a:r>
            <a:r>
              <a:rPr lang="en-PH" sz="2800" b="1" dirty="0" err="1">
                <a:solidFill>
                  <a:srgbClr val="820000"/>
                </a:solidFill>
                <a:latin typeface="Arial" panose="020B0604020202020204" pitchFamily="34" charset="0"/>
                <a:cs typeface="Arial" panose="020B0604020202020204" pitchFamily="34" charset="0"/>
              </a:rPr>
              <a:t>lauric</a:t>
            </a:r>
            <a:r>
              <a:rPr lang="en-PH" sz="2800" b="1" dirty="0">
                <a:solidFill>
                  <a:srgbClr val="820000"/>
                </a:solidFill>
                <a:latin typeface="Arial" panose="020B0604020202020204" pitchFamily="34" charset="0"/>
                <a:cs typeface="Arial" panose="020B0604020202020204" pitchFamily="34" charset="0"/>
              </a:rPr>
              <a:t> and other medium chain fatty acids. </a:t>
            </a:r>
            <a:r>
              <a:rPr lang="en-PH" sz="2800" dirty="0">
                <a:solidFill>
                  <a:srgbClr val="820000"/>
                </a:solidFill>
                <a:latin typeface="Arial" panose="020B0604020202020204" pitchFamily="34" charset="0"/>
                <a:cs typeface="Arial" panose="020B0604020202020204" pitchFamily="34" charset="0"/>
              </a:rPr>
              <a:t>These medium chain </a:t>
            </a:r>
            <a:r>
              <a:rPr lang="en-PH" sz="2800" dirty="0" err="1">
                <a:solidFill>
                  <a:srgbClr val="820000"/>
                </a:solidFill>
                <a:latin typeface="Arial" panose="020B0604020202020204" pitchFamily="34" charset="0"/>
                <a:cs typeface="Arial" panose="020B0604020202020204" pitchFamily="34" charset="0"/>
              </a:rPr>
              <a:t>triacylglycerols</a:t>
            </a:r>
            <a:r>
              <a:rPr lang="en-PH" sz="2800" dirty="0">
                <a:solidFill>
                  <a:srgbClr val="820000"/>
                </a:solidFill>
                <a:latin typeface="Arial" panose="020B0604020202020204" pitchFamily="34" charset="0"/>
                <a:cs typeface="Arial" panose="020B0604020202020204" pitchFamily="34" charset="0"/>
              </a:rPr>
              <a:t> show a potential use as a functional food </a:t>
            </a:r>
            <a:r>
              <a:rPr lang="en-PH" sz="2800" dirty="0" smtClean="0">
                <a:solidFill>
                  <a:srgbClr val="820000"/>
                </a:solidFill>
                <a:latin typeface="Arial" panose="020B0604020202020204" pitchFamily="34" charset="0"/>
                <a:cs typeface="Arial" panose="020B0604020202020204" pitchFamily="34" charset="0"/>
              </a:rPr>
              <a:t>ingredient.</a:t>
            </a:r>
            <a:r>
              <a:rPr lang="en-PH" sz="2800" b="1" baseline="30000" dirty="0">
                <a:solidFill>
                  <a:srgbClr val="820000"/>
                </a:solidFill>
                <a:latin typeface="Arial" panose="020B0604020202020204" pitchFamily="34" charset="0"/>
                <a:cs typeface="Arial" panose="020B0604020202020204" pitchFamily="34" charset="0"/>
              </a:rPr>
              <a:t> </a:t>
            </a:r>
            <a:r>
              <a:rPr lang="en-PH" sz="2800" b="1" baseline="30000" dirty="0" smtClean="0">
                <a:solidFill>
                  <a:srgbClr val="820000"/>
                </a:solidFill>
                <a:latin typeface="Arial" panose="020B0604020202020204" pitchFamily="34" charset="0"/>
                <a:cs typeface="Arial" panose="020B0604020202020204" pitchFamily="34" charset="0"/>
              </a:rPr>
              <a:t>50</a:t>
            </a:r>
            <a:endParaRPr lang="en-PH" sz="2800" b="1" baseline="30000" dirty="0">
              <a:solidFill>
                <a:srgbClr val="820000"/>
              </a:solidFill>
              <a:latin typeface="Arial" panose="020B0604020202020204" pitchFamily="34" charset="0"/>
              <a:cs typeface="Arial" panose="020B0604020202020204" pitchFamily="34" charset="0"/>
            </a:endParaRPr>
          </a:p>
          <a:p>
            <a:pPr marL="457200" indent="-457200" algn="just">
              <a:buFont typeface="Arial" panose="020B0604020202020204" pitchFamily="34" charset="0"/>
              <a:buChar char="•"/>
            </a:pPr>
            <a:endParaRPr lang="en-PH" sz="2800" dirty="0">
              <a:solidFill>
                <a:srgbClr val="820000"/>
              </a:solidFill>
              <a:latin typeface="Arial" panose="020B0604020202020204" pitchFamily="34" charset="0"/>
              <a:cs typeface="Arial" panose="020B0604020202020204" pitchFamily="34" charset="0"/>
            </a:endParaRPr>
          </a:p>
          <a:p>
            <a:pPr marL="457200" indent="-457200" algn="just">
              <a:buFont typeface="Arial" panose="020B0604020202020204" pitchFamily="34" charset="0"/>
              <a:buChar char="•"/>
            </a:pPr>
            <a:r>
              <a:rPr lang="en-PH" sz="2800" dirty="0" smtClean="0">
                <a:solidFill>
                  <a:srgbClr val="820000"/>
                </a:solidFill>
                <a:latin typeface="Arial" panose="020B0604020202020204" pitchFamily="34" charset="0"/>
                <a:cs typeface="Arial" panose="020B0604020202020204" pitchFamily="34" charset="0"/>
              </a:rPr>
              <a:t>The </a:t>
            </a:r>
            <a:r>
              <a:rPr lang="en-PH" sz="2800" dirty="0">
                <a:solidFill>
                  <a:srgbClr val="820000"/>
                </a:solidFill>
                <a:latin typeface="Arial" panose="020B0604020202020204" pitchFamily="34" charset="0"/>
                <a:cs typeface="Arial" panose="020B0604020202020204" pitchFamily="34" charset="0"/>
              </a:rPr>
              <a:t>total flavonoid content (TFC) in plants is usually determined </a:t>
            </a:r>
            <a:r>
              <a:rPr lang="en-PH" sz="2800" dirty="0" err="1">
                <a:solidFill>
                  <a:srgbClr val="820000"/>
                </a:solidFill>
                <a:latin typeface="Arial" panose="020B0604020202020204" pitchFamily="34" charset="0"/>
                <a:cs typeface="Arial" panose="020B0604020202020204" pitchFamily="34" charset="0"/>
              </a:rPr>
              <a:t>colorimetrically</a:t>
            </a:r>
            <a:r>
              <a:rPr lang="en-PH" sz="2800" dirty="0">
                <a:solidFill>
                  <a:srgbClr val="820000"/>
                </a:solidFill>
                <a:latin typeface="Arial" panose="020B0604020202020204" pitchFamily="34" charset="0"/>
                <a:cs typeface="Arial" panose="020B0604020202020204" pitchFamily="34" charset="0"/>
              </a:rPr>
              <a:t> after solvent extraction. One of the widely followed methods for the determination of TFC in plant extracts is the </a:t>
            </a:r>
            <a:r>
              <a:rPr lang="en-PH" sz="2800" dirty="0" err="1">
                <a:solidFill>
                  <a:srgbClr val="820000"/>
                </a:solidFill>
                <a:latin typeface="Arial" panose="020B0604020202020204" pitchFamily="34" charset="0"/>
                <a:cs typeface="Arial" panose="020B0604020202020204" pitchFamily="34" charset="0"/>
              </a:rPr>
              <a:t>aluminum</a:t>
            </a:r>
            <a:r>
              <a:rPr lang="en-PH" sz="2800" dirty="0">
                <a:solidFill>
                  <a:srgbClr val="820000"/>
                </a:solidFill>
                <a:latin typeface="Arial" panose="020B0604020202020204" pitchFamily="34" charset="0"/>
                <a:cs typeface="Arial" panose="020B0604020202020204" pitchFamily="34" charset="0"/>
              </a:rPr>
              <a:t> chloride colorimetric assay, where Al(III) is utilized as a </a:t>
            </a:r>
            <a:r>
              <a:rPr lang="en-PH" sz="2800" dirty="0" err="1">
                <a:solidFill>
                  <a:srgbClr val="820000"/>
                </a:solidFill>
                <a:latin typeface="Arial" panose="020B0604020202020204" pitchFamily="34" charset="0"/>
                <a:cs typeface="Arial" panose="020B0604020202020204" pitchFamily="34" charset="0"/>
              </a:rPr>
              <a:t>complexing</a:t>
            </a:r>
            <a:r>
              <a:rPr lang="en-PH" sz="2800" dirty="0">
                <a:solidFill>
                  <a:srgbClr val="820000"/>
                </a:solidFill>
                <a:latin typeface="Arial" panose="020B0604020202020204" pitchFamily="34" charset="0"/>
                <a:cs typeface="Arial" panose="020B0604020202020204" pitchFamily="34" charset="0"/>
              </a:rPr>
              <a:t> </a:t>
            </a:r>
            <a:r>
              <a:rPr lang="en-PH" sz="2800" dirty="0" smtClean="0">
                <a:solidFill>
                  <a:srgbClr val="820000"/>
                </a:solidFill>
                <a:latin typeface="Arial" panose="020B0604020202020204" pitchFamily="34" charset="0"/>
                <a:cs typeface="Arial" panose="020B0604020202020204" pitchFamily="34" charset="0"/>
              </a:rPr>
              <a:t>agent.</a:t>
            </a:r>
            <a:r>
              <a:rPr lang="en-PH" sz="2800" b="1" baseline="30000" dirty="0">
                <a:solidFill>
                  <a:srgbClr val="820000"/>
                </a:solidFill>
                <a:latin typeface="Arial" panose="020B0604020202020204" pitchFamily="34" charset="0"/>
                <a:cs typeface="Arial" panose="020B0604020202020204" pitchFamily="34" charset="0"/>
              </a:rPr>
              <a:t> </a:t>
            </a:r>
            <a:r>
              <a:rPr lang="en-PH" sz="2800" b="1" baseline="30000" dirty="0" smtClean="0">
                <a:solidFill>
                  <a:srgbClr val="820000"/>
                </a:solidFill>
                <a:latin typeface="Arial" panose="020B0604020202020204" pitchFamily="34" charset="0"/>
                <a:cs typeface="Arial" panose="020B0604020202020204" pitchFamily="34" charset="0"/>
              </a:rPr>
              <a:t>51</a:t>
            </a:r>
            <a:endParaRPr lang="en-PH" sz="2800" b="1" baseline="30000" dirty="0">
              <a:solidFill>
                <a:srgbClr val="820000"/>
              </a:solidFill>
              <a:latin typeface="Arial" panose="020B0604020202020204" pitchFamily="34" charset="0"/>
              <a:cs typeface="Arial" panose="020B0604020202020204" pitchFamily="34" charset="0"/>
            </a:endParaRPr>
          </a:p>
          <a:p>
            <a:pPr marL="457200" indent="-457200" algn="just">
              <a:buFont typeface="Arial" panose="020B0604020202020204" pitchFamily="34" charset="0"/>
              <a:buChar char="•"/>
            </a:pPr>
            <a:endParaRPr lang="en-PH" sz="2800" dirty="0">
              <a:solidFill>
                <a:srgbClr val="820000"/>
              </a:solidFill>
              <a:latin typeface="Arial" panose="020B0604020202020204" pitchFamily="34" charset="0"/>
              <a:cs typeface="Arial" panose="020B0604020202020204" pitchFamily="34" charset="0"/>
            </a:endParaRPr>
          </a:p>
          <a:p>
            <a:pPr marL="457200" indent="-457200" algn="just">
              <a:buFont typeface="Arial" panose="020B0604020202020204" pitchFamily="34" charset="0"/>
              <a:buChar char="•"/>
            </a:pPr>
            <a:endParaRPr lang="en-PH" sz="2800" b="1" baseline="30000" dirty="0">
              <a:solidFill>
                <a:srgbClr val="820000"/>
              </a:solidFill>
              <a:latin typeface="Arial" panose="020B0604020202020204" pitchFamily="34" charset="0"/>
              <a:cs typeface="Arial" panose="020B0604020202020204" pitchFamily="34" charset="0"/>
            </a:endParaRPr>
          </a:p>
          <a:p>
            <a:pPr marL="457200" indent="-457200" algn="just">
              <a:buFont typeface="Arial" panose="020B0604020202020204" pitchFamily="34" charset="0"/>
              <a:buChar char="•"/>
            </a:pPr>
            <a:endParaRPr lang="en-PH" sz="2800" dirty="0">
              <a:solidFill>
                <a:srgbClr val="82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8211188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Box 13"/>
          <p:cNvSpPr txBox="1"/>
          <p:nvPr/>
        </p:nvSpPr>
        <p:spPr>
          <a:xfrm>
            <a:off x="1671387" y="1531257"/>
            <a:ext cx="2203151" cy="2306426"/>
          </a:xfrm>
          <a:prstGeom prst="rect">
            <a:avLst/>
          </a:prstGeom>
        </p:spPr>
        <p:txBody>
          <a:bodyPr lIns="50800" tIns="50800" rIns="50800" bIns="50800" rtlCol="0" anchor="ctr"/>
          <a:lstStyle/>
          <a:p>
            <a:pPr algn="ctr">
              <a:lnSpc>
                <a:spcPts val="2659"/>
              </a:lnSpc>
              <a:spcBef>
                <a:spcPct val="0"/>
              </a:spcBef>
            </a:pPr>
            <a:endParaRPr/>
          </a:p>
        </p:txBody>
      </p:sp>
      <p:pic>
        <p:nvPicPr>
          <p:cNvPr id="19" name="Picture 18"/>
          <p:cNvPicPr>
            <a:picLocks noChangeAspect="1"/>
          </p:cNvPicPr>
          <p:nvPr/>
        </p:nvPicPr>
        <p:blipFill>
          <a:blip r:embed="rId2"/>
          <a:stretch>
            <a:fillRect/>
          </a:stretch>
        </p:blipFill>
        <p:spPr>
          <a:xfrm rot="10800000">
            <a:off x="-30480" y="1370689"/>
            <a:ext cx="18288000" cy="267610"/>
          </a:xfrm>
          <a:prstGeom prst="rect">
            <a:avLst/>
          </a:prstGeom>
        </p:spPr>
      </p:pic>
      <p:pic>
        <p:nvPicPr>
          <p:cNvPr id="20" name="Picture 19"/>
          <p:cNvPicPr>
            <a:picLocks noChangeAspect="1"/>
          </p:cNvPicPr>
          <p:nvPr/>
        </p:nvPicPr>
        <p:blipFill>
          <a:blip r:embed="rId2"/>
          <a:stretch>
            <a:fillRect/>
          </a:stretch>
        </p:blipFill>
        <p:spPr>
          <a:xfrm>
            <a:off x="0" y="0"/>
            <a:ext cx="18288000" cy="267611"/>
          </a:xfrm>
          <a:prstGeom prst="rect">
            <a:avLst/>
          </a:prstGeom>
        </p:spPr>
      </p:pic>
      <p:sp>
        <p:nvSpPr>
          <p:cNvPr id="4" name="Parallelogram 3"/>
          <p:cNvSpPr/>
          <p:nvPr/>
        </p:nvSpPr>
        <p:spPr>
          <a:xfrm>
            <a:off x="152401" y="9936689"/>
            <a:ext cx="11963400" cy="236011"/>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2" name="Parallelogram 21"/>
          <p:cNvSpPr/>
          <p:nvPr/>
        </p:nvSpPr>
        <p:spPr>
          <a:xfrm>
            <a:off x="12192000" y="9944100"/>
            <a:ext cx="1421363" cy="228600"/>
          </a:xfrm>
          <a:prstGeom prst="parallelogram">
            <a:avLst/>
          </a:prstGeom>
          <a:solidFill>
            <a:srgbClr val="FFC000"/>
          </a:solidFill>
          <a:ln>
            <a:solidFill>
              <a:srgbClr val="FFC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3" name="Parallelogram 22"/>
          <p:cNvSpPr/>
          <p:nvPr/>
        </p:nvSpPr>
        <p:spPr>
          <a:xfrm>
            <a:off x="13689563" y="9944100"/>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24" name="Picture 23"/>
          <p:cNvPicPr>
            <a:picLocks noChangeAspect="1"/>
          </p:cNvPicPr>
          <p:nvPr/>
        </p:nvPicPr>
        <p:blipFill>
          <a:blip r:embed="rId2"/>
          <a:stretch>
            <a:fillRect/>
          </a:stretch>
        </p:blipFill>
        <p:spPr>
          <a:xfrm rot="10800000" flipV="1">
            <a:off x="-23701" y="9668509"/>
            <a:ext cx="18326941" cy="268180"/>
          </a:xfrm>
          <a:prstGeom prst="rect">
            <a:avLst/>
          </a:prstGeom>
        </p:spPr>
      </p:pic>
      <p:pic>
        <p:nvPicPr>
          <p:cNvPr id="6" name="Picture 5"/>
          <p:cNvPicPr>
            <a:picLocks noChangeAspect="1"/>
          </p:cNvPicPr>
          <p:nvPr/>
        </p:nvPicPr>
        <p:blipFill>
          <a:blip r:embed="rId3"/>
          <a:stretch>
            <a:fillRect/>
          </a:stretch>
        </p:blipFill>
        <p:spPr>
          <a:xfrm>
            <a:off x="15030450" y="488370"/>
            <a:ext cx="3257550" cy="523875"/>
          </a:xfrm>
          <a:prstGeom prst="rect">
            <a:avLst/>
          </a:prstGeom>
        </p:spPr>
      </p:pic>
      <p:sp>
        <p:nvSpPr>
          <p:cNvPr id="25" name="Parallelogram 24"/>
          <p:cNvSpPr/>
          <p:nvPr/>
        </p:nvSpPr>
        <p:spPr>
          <a:xfrm>
            <a:off x="13030200" y="760176"/>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13" name="Picture 12"/>
          <p:cNvPicPr>
            <a:picLocks noChangeAspect="1"/>
          </p:cNvPicPr>
          <p:nvPr/>
        </p:nvPicPr>
        <p:blipFill>
          <a:blip r:embed="rId3"/>
          <a:stretch>
            <a:fillRect/>
          </a:stretch>
        </p:blipFill>
        <p:spPr>
          <a:xfrm rot="10800000">
            <a:off x="0" y="612538"/>
            <a:ext cx="3257550" cy="523875"/>
          </a:xfrm>
          <a:prstGeom prst="rect">
            <a:avLst/>
          </a:prstGeom>
        </p:spPr>
      </p:pic>
      <p:sp>
        <p:nvSpPr>
          <p:cNvPr id="14" name="Parallelogram 13"/>
          <p:cNvSpPr/>
          <p:nvPr/>
        </p:nvSpPr>
        <p:spPr>
          <a:xfrm>
            <a:off x="659363" y="577015"/>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17" name="Round Single Corner Rectangle 16"/>
          <p:cNvSpPr/>
          <p:nvPr/>
        </p:nvSpPr>
        <p:spPr>
          <a:xfrm>
            <a:off x="5494020" y="160397"/>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5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Review of Literature     </a:t>
            </a:r>
            <a:r>
              <a:rPr lang="en-PH" sz="6000" b="1" u="sng" dirty="0" smtClean="0">
                <a:solidFill>
                  <a:srgbClr val="820000"/>
                </a:solidFill>
                <a:latin typeface="Arial" panose="020B0604020202020204" pitchFamily="34" charset="0"/>
                <a:cs typeface="Arial" panose="020B0604020202020204" pitchFamily="34" charset="0"/>
              </a:rPr>
              <a:t> </a:t>
            </a:r>
          </a:p>
        </p:txBody>
      </p:sp>
      <p:sp>
        <p:nvSpPr>
          <p:cNvPr id="2" name="Left Brace 1"/>
          <p:cNvSpPr/>
          <p:nvPr/>
        </p:nvSpPr>
        <p:spPr>
          <a:xfrm>
            <a:off x="10933625" y="1202819"/>
            <a:ext cx="45719" cy="10490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PH"/>
          </a:p>
        </p:txBody>
      </p:sp>
      <p:sp>
        <p:nvSpPr>
          <p:cNvPr id="3" name="Rectangle 2"/>
          <p:cNvSpPr/>
          <p:nvPr/>
        </p:nvSpPr>
        <p:spPr>
          <a:xfrm>
            <a:off x="152400" y="1846562"/>
            <a:ext cx="11486917" cy="707886"/>
          </a:xfrm>
          <a:prstGeom prst="rect">
            <a:avLst/>
          </a:prstGeom>
        </p:spPr>
        <p:txBody>
          <a:bodyPr wrap="square">
            <a:spAutoFit/>
          </a:bodyPr>
          <a:lstStyle/>
          <a:p>
            <a:pPr algn="just"/>
            <a:r>
              <a:rPr lang="en-PH" sz="4000" dirty="0">
                <a:solidFill>
                  <a:srgbClr val="820000"/>
                </a:solidFill>
                <a:latin typeface="Arial" panose="020B0604020202020204" pitchFamily="34" charset="0"/>
                <a:cs typeface="Arial" panose="020B0604020202020204" pitchFamily="34" charset="0"/>
              </a:rPr>
              <a:t> </a:t>
            </a:r>
            <a:r>
              <a:rPr lang="en-PH" sz="4000" dirty="0" smtClean="0">
                <a:solidFill>
                  <a:srgbClr val="820000"/>
                </a:solidFill>
                <a:latin typeface="Arial" panose="020B0604020202020204" pitchFamily="34" charset="0"/>
                <a:cs typeface="Arial" panose="020B0604020202020204" pitchFamily="34" charset="0"/>
              </a:rPr>
              <a:t>  </a:t>
            </a:r>
            <a:r>
              <a:rPr lang="en-PH" sz="4000" dirty="0">
                <a:solidFill>
                  <a:srgbClr val="820000"/>
                </a:solidFill>
                <a:latin typeface="Arial" panose="020B0604020202020204" pitchFamily="34" charset="0"/>
                <a:cs typeface="Arial" panose="020B0604020202020204" pitchFamily="34" charset="0"/>
              </a:rPr>
              <a:t> 2.5.3 </a:t>
            </a:r>
            <a:r>
              <a:rPr lang="en-PH" sz="4000" dirty="0" smtClean="0">
                <a:solidFill>
                  <a:srgbClr val="820000"/>
                </a:solidFill>
                <a:latin typeface="Arial" panose="020B0604020202020204" pitchFamily="34" charset="0"/>
                <a:cs typeface="Arial" panose="020B0604020202020204" pitchFamily="34" charset="0"/>
              </a:rPr>
              <a:t> </a:t>
            </a:r>
            <a:r>
              <a:rPr lang="en-PH" sz="4000" b="1" dirty="0" smtClean="0">
                <a:solidFill>
                  <a:srgbClr val="820000"/>
                </a:solidFill>
                <a:latin typeface="Arial" panose="020B0604020202020204" pitchFamily="34" charset="0"/>
                <a:cs typeface="Arial" panose="020B0604020202020204" pitchFamily="34" charset="0"/>
              </a:rPr>
              <a:t>Antioxidant Activity</a:t>
            </a:r>
            <a:r>
              <a:rPr lang="en-PH" sz="4000" b="1"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21" name="Rectangle 20"/>
          <p:cNvSpPr/>
          <p:nvPr/>
        </p:nvSpPr>
        <p:spPr>
          <a:xfrm>
            <a:off x="659363" y="2242930"/>
            <a:ext cx="16531357" cy="9366667"/>
          </a:xfrm>
          <a:prstGeom prst="rect">
            <a:avLst/>
          </a:prstGeom>
        </p:spPr>
        <p:txBody>
          <a:bodyPr wrap="square">
            <a:spAutoFit/>
          </a:bodyPr>
          <a:lstStyle/>
          <a:p>
            <a:pPr marL="571500" indent="-571500" algn="just">
              <a:lnSpc>
                <a:spcPct val="150000"/>
              </a:lnSpc>
              <a:buFont typeface="Wingdings" panose="05000000000000000000" pitchFamily="2" charset="2"/>
              <a:buChar char="q"/>
            </a:pPr>
            <a:r>
              <a:rPr lang="en-PH" sz="4000" dirty="0">
                <a:solidFill>
                  <a:srgbClr val="820000"/>
                </a:solidFill>
                <a:latin typeface="Arial" panose="020B0604020202020204" pitchFamily="34" charset="0"/>
                <a:cs typeface="Arial" panose="020B0604020202020204" pitchFamily="34" charset="0"/>
              </a:rPr>
              <a:t> </a:t>
            </a:r>
            <a:r>
              <a:rPr lang="en-PH" sz="4000" b="1" dirty="0" smtClean="0">
                <a:solidFill>
                  <a:srgbClr val="820000"/>
                </a:solidFill>
                <a:latin typeface="Arial" panose="020B0604020202020204" pitchFamily="34" charset="0"/>
                <a:cs typeface="Arial" panose="020B0604020202020204" pitchFamily="34" charset="0"/>
              </a:rPr>
              <a:t>DPPH Assay</a:t>
            </a:r>
          </a:p>
          <a:p>
            <a:pPr marL="457200" indent="-457200" algn="just">
              <a:buFont typeface="Arial" panose="020B0604020202020204" pitchFamily="34" charset="0"/>
              <a:buChar char="•"/>
            </a:pPr>
            <a:r>
              <a:rPr lang="en-PH" sz="3200" b="1" dirty="0">
                <a:solidFill>
                  <a:srgbClr val="820000"/>
                </a:solidFill>
                <a:latin typeface="Arial" panose="020B0604020202020204" pitchFamily="34" charset="0"/>
                <a:cs typeface="Arial" panose="020B0604020202020204" pitchFamily="34" charset="0"/>
              </a:rPr>
              <a:t>Antioxidants</a:t>
            </a:r>
            <a:r>
              <a:rPr lang="en-PH" sz="3200" dirty="0">
                <a:solidFill>
                  <a:srgbClr val="820000"/>
                </a:solidFill>
                <a:latin typeface="Arial" panose="020B0604020202020204" pitchFamily="34" charset="0"/>
                <a:cs typeface="Arial" panose="020B0604020202020204" pitchFamily="34" charset="0"/>
              </a:rPr>
              <a:t> are considered important </a:t>
            </a:r>
            <a:r>
              <a:rPr lang="en-PH" sz="3200" dirty="0" err="1">
                <a:solidFill>
                  <a:srgbClr val="820000"/>
                </a:solidFill>
                <a:latin typeface="Arial" panose="020B0604020202020204" pitchFamily="34" charset="0"/>
                <a:cs typeface="Arial" panose="020B0604020202020204" pitchFamily="34" charset="0"/>
              </a:rPr>
              <a:t>nutraceuticals</a:t>
            </a:r>
            <a:r>
              <a:rPr lang="en-PH" sz="3200" dirty="0">
                <a:solidFill>
                  <a:srgbClr val="820000"/>
                </a:solidFill>
                <a:latin typeface="Arial" panose="020B0604020202020204" pitchFamily="34" charset="0"/>
                <a:cs typeface="Arial" panose="020B0604020202020204" pitchFamily="34" charset="0"/>
              </a:rPr>
              <a:t> on account of many health </a:t>
            </a:r>
            <a:r>
              <a:rPr lang="en-PH" sz="2800" dirty="0" smtClean="0">
                <a:solidFill>
                  <a:srgbClr val="820000"/>
                </a:solidFill>
                <a:latin typeface="Arial" panose="020B0604020202020204" pitchFamily="34" charset="0"/>
                <a:cs typeface="Arial" panose="020B0604020202020204" pitchFamily="34" charset="0"/>
              </a:rPr>
              <a:t>benefits.</a:t>
            </a:r>
            <a:r>
              <a:rPr lang="en-PH" sz="2800" baseline="30000" dirty="0" smtClean="0">
                <a:solidFill>
                  <a:srgbClr val="820000"/>
                </a:solidFill>
                <a:latin typeface="Arial" panose="020B0604020202020204" pitchFamily="34" charset="0"/>
                <a:cs typeface="Arial" panose="020B0604020202020204" pitchFamily="34" charset="0"/>
              </a:rPr>
              <a:t>54,55,56</a:t>
            </a:r>
          </a:p>
          <a:p>
            <a:pPr marL="457200" indent="-457200" algn="just">
              <a:buFont typeface="Arial" panose="020B0604020202020204" pitchFamily="34" charset="0"/>
              <a:buChar char="•"/>
            </a:pPr>
            <a:endParaRPr lang="en-PH" sz="4000" b="1" dirty="0" smtClean="0">
              <a:solidFill>
                <a:srgbClr val="820000"/>
              </a:solidFill>
              <a:latin typeface="Arial" panose="020B0604020202020204" pitchFamily="34" charset="0"/>
              <a:cs typeface="Arial" panose="020B0604020202020204" pitchFamily="34" charset="0"/>
            </a:endParaRPr>
          </a:p>
          <a:p>
            <a:pPr marL="571500" indent="-571500" algn="just">
              <a:buFont typeface="Arial" panose="020B0604020202020204" pitchFamily="34" charset="0"/>
              <a:buChar char="•"/>
            </a:pPr>
            <a:r>
              <a:rPr lang="en-PH" sz="3200" dirty="0" smtClean="0">
                <a:solidFill>
                  <a:srgbClr val="820000"/>
                </a:solidFill>
                <a:latin typeface="Arial" panose="020B0604020202020204" pitchFamily="34" charset="0"/>
                <a:cs typeface="Arial" panose="020B0604020202020204" pitchFamily="34" charset="0"/>
              </a:rPr>
              <a:t>In </a:t>
            </a:r>
            <a:r>
              <a:rPr lang="en-PH" sz="3200" dirty="0">
                <a:solidFill>
                  <a:srgbClr val="820000"/>
                </a:solidFill>
                <a:latin typeface="Arial" panose="020B0604020202020204" pitchFamily="34" charset="0"/>
                <a:cs typeface="Arial" panose="020B0604020202020204" pitchFamily="34" charset="0"/>
              </a:rPr>
              <a:t>2009, Sharma and </a:t>
            </a:r>
            <a:r>
              <a:rPr lang="en-PH" sz="3200" dirty="0" err="1">
                <a:solidFill>
                  <a:srgbClr val="820000"/>
                </a:solidFill>
                <a:latin typeface="Arial" panose="020B0604020202020204" pitchFamily="34" charset="0"/>
                <a:cs typeface="Arial" panose="020B0604020202020204" pitchFamily="34" charset="0"/>
              </a:rPr>
              <a:t>Bhaton</a:t>
            </a:r>
            <a:r>
              <a:rPr lang="en-PH" sz="3200" dirty="0">
                <a:solidFill>
                  <a:srgbClr val="820000"/>
                </a:solidFill>
                <a:latin typeface="Arial" panose="020B0604020202020204" pitchFamily="34" charset="0"/>
                <a:cs typeface="Arial" panose="020B0604020202020204" pitchFamily="34" charset="0"/>
              </a:rPr>
              <a:t> revisited </a:t>
            </a:r>
            <a:r>
              <a:rPr lang="en-PH" sz="3200" b="1" dirty="0">
                <a:solidFill>
                  <a:srgbClr val="820000"/>
                </a:solidFill>
                <a:latin typeface="Arial" panose="020B0604020202020204" pitchFamily="34" charset="0"/>
                <a:cs typeface="Arial" panose="020B0604020202020204" pitchFamily="34" charset="0"/>
              </a:rPr>
              <a:t>DPPH antioxidant assay. </a:t>
            </a:r>
            <a:r>
              <a:rPr lang="en-PH" sz="3200" dirty="0">
                <a:solidFill>
                  <a:srgbClr val="820000"/>
                </a:solidFill>
                <a:latin typeface="Arial" panose="020B0604020202020204" pitchFamily="34" charset="0"/>
                <a:cs typeface="Arial" panose="020B0604020202020204" pitchFamily="34" charset="0"/>
              </a:rPr>
              <a:t>The authors concluded that the antioxidant assay scavenging of DPPH radical at a DPPH concentration of 50 </a:t>
            </a:r>
            <a:r>
              <a:rPr lang="en-PH" sz="3200" dirty="0">
                <a:solidFill>
                  <a:srgbClr val="820000"/>
                </a:solidFill>
                <a:latin typeface="Arial" panose="020B0604020202020204" pitchFamily="34" charset="0"/>
                <a:cs typeface="Arial" panose="020B0604020202020204" pitchFamily="34" charset="0"/>
                <a:sym typeface="Symbol" panose="05050102010706020507" pitchFamily="18" charset="2"/>
              </a:rPr>
              <a:t></a:t>
            </a:r>
            <a:r>
              <a:rPr lang="en-PH" sz="3200" dirty="0">
                <a:solidFill>
                  <a:srgbClr val="820000"/>
                </a:solidFill>
                <a:latin typeface="Arial" panose="020B0604020202020204" pitchFamily="34" charset="0"/>
                <a:cs typeface="Arial" panose="020B0604020202020204" pitchFamily="34" charset="0"/>
              </a:rPr>
              <a:t>M in methanol or buffered methanol, depending upon the solubility of the compound under investigation, is recommended. All operations must be done in dark or dim </a:t>
            </a:r>
            <a:r>
              <a:rPr lang="en-PH" sz="3200" dirty="0" smtClean="0">
                <a:solidFill>
                  <a:srgbClr val="820000"/>
                </a:solidFill>
                <a:latin typeface="Arial" panose="020B0604020202020204" pitchFamily="34" charset="0"/>
                <a:cs typeface="Arial" panose="020B0604020202020204" pitchFamily="34" charset="0"/>
              </a:rPr>
              <a:t>light.</a:t>
            </a:r>
            <a:r>
              <a:rPr lang="en-PH" sz="3200" baseline="30000" dirty="0">
                <a:solidFill>
                  <a:srgbClr val="820000"/>
                </a:solidFill>
                <a:latin typeface="Arial" panose="020B0604020202020204" pitchFamily="34" charset="0"/>
                <a:cs typeface="Arial" panose="020B0604020202020204" pitchFamily="34" charset="0"/>
              </a:rPr>
              <a:t> </a:t>
            </a:r>
            <a:r>
              <a:rPr lang="en-PH" sz="3200" baseline="30000" dirty="0" smtClean="0">
                <a:solidFill>
                  <a:srgbClr val="820000"/>
                </a:solidFill>
                <a:latin typeface="Arial" panose="020B0604020202020204" pitchFamily="34" charset="0"/>
                <a:cs typeface="Arial" panose="020B0604020202020204" pitchFamily="34" charset="0"/>
              </a:rPr>
              <a:t>62</a:t>
            </a:r>
          </a:p>
          <a:p>
            <a:pPr marL="571500" indent="-571500" algn="just">
              <a:buFont typeface="Arial" panose="020B0604020202020204" pitchFamily="34" charset="0"/>
              <a:buChar char="•"/>
            </a:pPr>
            <a:endParaRPr lang="en-PH" sz="3200" baseline="30000" dirty="0">
              <a:solidFill>
                <a:srgbClr val="820000"/>
              </a:solidFill>
              <a:latin typeface="Arial" panose="020B0604020202020204" pitchFamily="34" charset="0"/>
              <a:cs typeface="Arial" panose="020B0604020202020204" pitchFamily="34" charset="0"/>
            </a:endParaRPr>
          </a:p>
          <a:p>
            <a:pPr marL="571500" indent="-571500" algn="just">
              <a:buFont typeface="Arial" panose="020B0604020202020204" pitchFamily="34" charset="0"/>
              <a:buChar char="•"/>
            </a:pPr>
            <a:r>
              <a:rPr lang="en-PH" sz="3200" dirty="0">
                <a:solidFill>
                  <a:srgbClr val="820000"/>
                </a:solidFill>
                <a:latin typeface="Arial" panose="020B0604020202020204" pitchFamily="34" charset="0"/>
                <a:cs typeface="Arial" panose="020B0604020202020204" pitchFamily="34" charset="0"/>
              </a:rPr>
              <a:t>The extent of inhibition is influenced by the solvent. This is evident from the data for DPPH radical scavenging by BHT in </a:t>
            </a:r>
            <a:r>
              <a:rPr lang="en-PH" sz="3200" dirty="0" err="1">
                <a:solidFill>
                  <a:srgbClr val="820000"/>
                </a:solidFill>
                <a:latin typeface="Arial" panose="020B0604020202020204" pitchFamily="34" charset="0"/>
                <a:cs typeface="Arial" panose="020B0604020202020204" pitchFamily="34" charset="0"/>
              </a:rPr>
              <a:t>methanolic</a:t>
            </a:r>
            <a:r>
              <a:rPr lang="en-PH" sz="3200" dirty="0">
                <a:solidFill>
                  <a:srgbClr val="820000"/>
                </a:solidFill>
                <a:latin typeface="Arial" panose="020B0604020202020204" pitchFamily="34" charset="0"/>
                <a:cs typeface="Arial" panose="020B0604020202020204" pitchFamily="34" charset="0"/>
              </a:rPr>
              <a:t> or buffered </a:t>
            </a:r>
            <a:r>
              <a:rPr lang="en-PH" sz="3200" dirty="0" err="1">
                <a:solidFill>
                  <a:srgbClr val="820000"/>
                </a:solidFill>
                <a:latin typeface="Arial" panose="020B0604020202020204" pitchFamily="34" charset="0"/>
                <a:cs typeface="Arial" panose="020B0604020202020204" pitchFamily="34" charset="0"/>
              </a:rPr>
              <a:t>methanolic</a:t>
            </a:r>
            <a:r>
              <a:rPr lang="en-PH" sz="3200" dirty="0">
                <a:solidFill>
                  <a:srgbClr val="820000"/>
                </a:solidFill>
                <a:latin typeface="Arial" panose="020B0604020202020204" pitchFamily="34" charset="0"/>
                <a:cs typeface="Arial" panose="020B0604020202020204" pitchFamily="34" charset="0"/>
              </a:rPr>
              <a:t> solution. The comparative reaction of ascorbic acid, BHT and propyl </a:t>
            </a:r>
            <a:r>
              <a:rPr lang="en-PH" sz="3200" dirty="0" err="1">
                <a:solidFill>
                  <a:srgbClr val="820000"/>
                </a:solidFill>
                <a:latin typeface="Arial" panose="020B0604020202020204" pitchFamily="34" charset="0"/>
                <a:cs typeface="Arial" panose="020B0604020202020204" pitchFamily="34" charset="0"/>
              </a:rPr>
              <a:t>gallate</a:t>
            </a:r>
            <a:r>
              <a:rPr lang="en-PH" sz="3200" dirty="0">
                <a:solidFill>
                  <a:srgbClr val="820000"/>
                </a:solidFill>
                <a:latin typeface="Arial" panose="020B0604020202020204" pitchFamily="34" charset="0"/>
                <a:cs typeface="Arial" panose="020B0604020202020204" pitchFamily="34" charset="0"/>
              </a:rPr>
              <a:t> indicates that the time course of inhibition also has to be </a:t>
            </a:r>
            <a:r>
              <a:rPr lang="en-PH" sz="3200" dirty="0" smtClean="0">
                <a:solidFill>
                  <a:srgbClr val="820000"/>
                </a:solidFill>
                <a:latin typeface="Arial" panose="020B0604020202020204" pitchFamily="34" charset="0"/>
                <a:cs typeface="Arial" panose="020B0604020202020204" pitchFamily="34" charset="0"/>
              </a:rPr>
              <a:t>determined.</a:t>
            </a:r>
            <a:r>
              <a:rPr lang="en-PH" sz="3200" baseline="30000" dirty="0">
                <a:solidFill>
                  <a:srgbClr val="820000"/>
                </a:solidFill>
                <a:latin typeface="Arial" panose="020B0604020202020204" pitchFamily="34" charset="0"/>
                <a:cs typeface="Arial" panose="020B0604020202020204" pitchFamily="34" charset="0"/>
              </a:rPr>
              <a:t> </a:t>
            </a:r>
            <a:r>
              <a:rPr lang="en-PH" sz="3200" baseline="30000" dirty="0" smtClean="0">
                <a:solidFill>
                  <a:srgbClr val="820000"/>
                </a:solidFill>
                <a:latin typeface="Arial" panose="020B0604020202020204" pitchFamily="34" charset="0"/>
                <a:cs typeface="Arial" panose="020B0604020202020204" pitchFamily="34" charset="0"/>
              </a:rPr>
              <a:t>61</a:t>
            </a:r>
            <a:endParaRPr lang="en-PH" sz="3200" baseline="30000" dirty="0">
              <a:solidFill>
                <a:srgbClr val="820000"/>
              </a:solidFill>
              <a:latin typeface="Arial" panose="020B0604020202020204" pitchFamily="34" charset="0"/>
              <a:cs typeface="Arial" panose="020B0604020202020204" pitchFamily="34" charset="0"/>
            </a:endParaRPr>
          </a:p>
          <a:p>
            <a:pPr marL="571500" indent="-571500" algn="just">
              <a:buFont typeface="Arial" panose="020B0604020202020204" pitchFamily="34" charset="0"/>
              <a:buChar char="•"/>
            </a:pPr>
            <a:endParaRPr lang="en-PH" sz="3200" baseline="30000" dirty="0">
              <a:solidFill>
                <a:srgbClr val="820000"/>
              </a:solidFill>
              <a:latin typeface="Arial" panose="020B0604020202020204" pitchFamily="34" charset="0"/>
              <a:cs typeface="Arial" panose="020B0604020202020204" pitchFamily="34" charset="0"/>
            </a:endParaRPr>
          </a:p>
          <a:p>
            <a:pPr marL="571500" indent="-571500" algn="just">
              <a:buFont typeface="Arial" panose="020B0604020202020204" pitchFamily="34" charset="0"/>
              <a:buChar char="•"/>
            </a:pPr>
            <a:endParaRPr lang="en-PH" sz="3200" b="1" dirty="0" smtClean="0">
              <a:solidFill>
                <a:srgbClr val="820000"/>
              </a:solidFill>
              <a:latin typeface="Arial" panose="020B0604020202020204" pitchFamily="34" charset="0"/>
              <a:cs typeface="Arial" panose="020B0604020202020204" pitchFamily="34" charset="0"/>
            </a:endParaRPr>
          </a:p>
          <a:p>
            <a:pPr algn="just"/>
            <a:endParaRPr lang="en-PH" sz="4000" b="1" dirty="0">
              <a:solidFill>
                <a:srgbClr val="820000"/>
              </a:solidFill>
              <a:latin typeface="Arial" panose="020B0604020202020204" pitchFamily="34" charset="0"/>
              <a:ea typeface="Times New Roman" panose="02020603050405020304" pitchFamily="18" charset="0"/>
              <a:cs typeface="Arial" panose="020B0604020202020204" pitchFamily="34" charset="0"/>
            </a:endParaRPr>
          </a:p>
          <a:p>
            <a:pPr algn="just"/>
            <a:r>
              <a:rPr lang="en-PH" sz="4000" b="1"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24733885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Box 13"/>
          <p:cNvSpPr txBox="1"/>
          <p:nvPr/>
        </p:nvSpPr>
        <p:spPr>
          <a:xfrm>
            <a:off x="1671387" y="1531257"/>
            <a:ext cx="2203151" cy="2306426"/>
          </a:xfrm>
          <a:prstGeom prst="rect">
            <a:avLst/>
          </a:prstGeom>
        </p:spPr>
        <p:txBody>
          <a:bodyPr lIns="50800" tIns="50800" rIns="50800" bIns="50800" rtlCol="0" anchor="ctr"/>
          <a:lstStyle/>
          <a:p>
            <a:pPr algn="ctr">
              <a:lnSpc>
                <a:spcPts val="2659"/>
              </a:lnSpc>
              <a:spcBef>
                <a:spcPct val="0"/>
              </a:spcBef>
            </a:pPr>
            <a:endParaRPr/>
          </a:p>
        </p:txBody>
      </p:sp>
      <p:pic>
        <p:nvPicPr>
          <p:cNvPr id="19" name="Picture 18"/>
          <p:cNvPicPr>
            <a:picLocks noChangeAspect="1"/>
          </p:cNvPicPr>
          <p:nvPr/>
        </p:nvPicPr>
        <p:blipFill>
          <a:blip r:embed="rId2"/>
          <a:stretch>
            <a:fillRect/>
          </a:stretch>
        </p:blipFill>
        <p:spPr>
          <a:xfrm rot="10800000">
            <a:off x="-30480" y="1370689"/>
            <a:ext cx="18288000" cy="267610"/>
          </a:xfrm>
          <a:prstGeom prst="rect">
            <a:avLst/>
          </a:prstGeom>
        </p:spPr>
      </p:pic>
      <p:pic>
        <p:nvPicPr>
          <p:cNvPr id="20" name="Picture 19"/>
          <p:cNvPicPr>
            <a:picLocks noChangeAspect="1"/>
          </p:cNvPicPr>
          <p:nvPr/>
        </p:nvPicPr>
        <p:blipFill>
          <a:blip r:embed="rId2"/>
          <a:stretch>
            <a:fillRect/>
          </a:stretch>
        </p:blipFill>
        <p:spPr>
          <a:xfrm>
            <a:off x="0" y="0"/>
            <a:ext cx="18288000" cy="267611"/>
          </a:xfrm>
          <a:prstGeom prst="rect">
            <a:avLst/>
          </a:prstGeom>
        </p:spPr>
      </p:pic>
      <p:sp>
        <p:nvSpPr>
          <p:cNvPr id="4" name="Parallelogram 3"/>
          <p:cNvSpPr/>
          <p:nvPr/>
        </p:nvSpPr>
        <p:spPr>
          <a:xfrm>
            <a:off x="152401" y="9936689"/>
            <a:ext cx="11963400" cy="236011"/>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2" name="Parallelogram 21"/>
          <p:cNvSpPr/>
          <p:nvPr/>
        </p:nvSpPr>
        <p:spPr>
          <a:xfrm>
            <a:off x="12192000" y="9944100"/>
            <a:ext cx="1421363" cy="228600"/>
          </a:xfrm>
          <a:prstGeom prst="parallelogram">
            <a:avLst/>
          </a:prstGeom>
          <a:solidFill>
            <a:srgbClr val="FFC000"/>
          </a:solidFill>
          <a:ln>
            <a:solidFill>
              <a:srgbClr val="FFC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3" name="Parallelogram 22"/>
          <p:cNvSpPr/>
          <p:nvPr/>
        </p:nvSpPr>
        <p:spPr>
          <a:xfrm>
            <a:off x="13689563" y="9944100"/>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24" name="Picture 23"/>
          <p:cNvPicPr>
            <a:picLocks noChangeAspect="1"/>
          </p:cNvPicPr>
          <p:nvPr/>
        </p:nvPicPr>
        <p:blipFill>
          <a:blip r:embed="rId2"/>
          <a:stretch>
            <a:fillRect/>
          </a:stretch>
        </p:blipFill>
        <p:spPr>
          <a:xfrm rot="10800000" flipV="1">
            <a:off x="-23701" y="9668509"/>
            <a:ext cx="18326941" cy="268180"/>
          </a:xfrm>
          <a:prstGeom prst="rect">
            <a:avLst/>
          </a:prstGeom>
        </p:spPr>
      </p:pic>
      <p:pic>
        <p:nvPicPr>
          <p:cNvPr id="6" name="Picture 5"/>
          <p:cNvPicPr>
            <a:picLocks noChangeAspect="1"/>
          </p:cNvPicPr>
          <p:nvPr/>
        </p:nvPicPr>
        <p:blipFill>
          <a:blip r:embed="rId3"/>
          <a:stretch>
            <a:fillRect/>
          </a:stretch>
        </p:blipFill>
        <p:spPr>
          <a:xfrm>
            <a:off x="15030450" y="488370"/>
            <a:ext cx="3257550" cy="523875"/>
          </a:xfrm>
          <a:prstGeom prst="rect">
            <a:avLst/>
          </a:prstGeom>
        </p:spPr>
      </p:pic>
      <p:sp>
        <p:nvSpPr>
          <p:cNvPr id="25" name="Parallelogram 24"/>
          <p:cNvSpPr/>
          <p:nvPr/>
        </p:nvSpPr>
        <p:spPr>
          <a:xfrm>
            <a:off x="13030200" y="760176"/>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13" name="Picture 12"/>
          <p:cNvPicPr>
            <a:picLocks noChangeAspect="1"/>
          </p:cNvPicPr>
          <p:nvPr/>
        </p:nvPicPr>
        <p:blipFill>
          <a:blip r:embed="rId3"/>
          <a:stretch>
            <a:fillRect/>
          </a:stretch>
        </p:blipFill>
        <p:spPr>
          <a:xfrm rot="10800000">
            <a:off x="0" y="612538"/>
            <a:ext cx="3257550" cy="523875"/>
          </a:xfrm>
          <a:prstGeom prst="rect">
            <a:avLst/>
          </a:prstGeom>
        </p:spPr>
      </p:pic>
      <p:sp>
        <p:nvSpPr>
          <p:cNvPr id="14" name="Parallelogram 13"/>
          <p:cNvSpPr/>
          <p:nvPr/>
        </p:nvSpPr>
        <p:spPr>
          <a:xfrm>
            <a:off x="659363" y="577015"/>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17" name="Round Single Corner Rectangle 16"/>
          <p:cNvSpPr/>
          <p:nvPr/>
        </p:nvSpPr>
        <p:spPr>
          <a:xfrm>
            <a:off x="5494020" y="160397"/>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5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Review of Literature     </a:t>
            </a:r>
            <a:r>
              <a:rPr lang="en-PH" sz="6000" b="1" u="sng" dirty="0" smtClean="0">
                <a:solidFill>
                  <a:srgbClr val="820000"/>
                </a:solidFill>
                <a:latin typeface="Arial" panose="020B0604020202020204" pitchFamily="34" charset="0"/>
                <a:cs typeface="Arial" panose="020B0604020202020204" pitchFamily="34" charset="0"/>
              </a:rPr>
              <a:t> </a:t>
            </a:r>
          </a:p>
        </p:txBody>
      </p:sp>
      <p:sp>
        <p:nvSpPr>
          <p:cNvPr id="2" name="Left Brace 1"/>
          <p:cNvSpPr/>
          <p:nvPr/>
        </p:nvSpPr>
        <p:spPr>
          <a:xfrm>
            <a:off x="10933625" y="1202819"/>
            <a:ext cx="45719" cy="10490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PH"/>
          </a:p>
        </p:txBody>
      </p:sp>
      <p:sp>
        <p:nvSpPr>
          <p:cNvPr id="3" name="Rectangle 2"/>
          <p:cNvSpPr/>
          <p:nvPr/>
        </p:nvSpPr>
        <p:spPr>
          <a:xfrm>
            <a:off x="152400" y="1846562"/>
            <a:ext cx="11486917" cy="707886"/>
          </a:xfrm>
          <a:prstGeom prst="rect">
            <a:avLst/>
          </a:prstGeom>
        </p:spPr>
        <p:txBody>
          <a:bodyPr wrap="square">
            <a:spAutoFit/>
          </a:bodyPr>
          <a:lstStyle/>
          <a:p>
            <a:pPr algn="just"/>
            <a:r>
              <a:rPr lang="en-PH" sz="4000" dirty="0">
                <a:solidFill>
                  <a:srgbClr val="820000"/>
                </a:solidFill>
                <a:latin typeface="Arial" panose="020B0604020202020204" pitchFamily="34" charset="0"/>
                <a:cs typeface="Arial" panose="020B0604020202020204" pitchFamily="34" charset="0"/>
              </a:rPr>
              <a:t> </a:t>
            </a:r>
            <a:r>
              <a:rPr lang="en-PH" sz="4000" dirty="0" smtClean="0">
                <a:solidFill>
                  <a:srgbClr val="820000"/>
                </a:solidFill>
                <a:latin typeface="Arial" panose="020B0604020202020204" pitchFamily="34" charset="0"/>
                <a:cs typeface="Arial" panose="020B0604020202020204" pitchFamily="34" charset="0"/>
              </a:rPr>
              <a:t>  </a:t>
            </a:r>
            <a:r>
              <a:rPr lang="en-PH" sz="4000" dirty="0">
                <a:solidFill>
                  <a:srgbClr val="820000"/>
                </a:solidFill>
                <a:latin typeface="Arial" panose="020B0604020202020204" pitchFamily="34" charset="0"/>
                <a:cs typeface="Arial" panose="020B0604020202020204" pitchFamily="34" charset="0"/>
              </a:rPr>
              <a:t> </a:t>
            </a:r>
            <a:r>
              <a:rPr lang="en-PH" sz="4000" dirty="0" smtClean="0">
                <a:solidFill>
                  <a:srgbClr val="820000"/>
                </a:solidFill>
                <a:latin typeface="Arial" panose="020B0604020202020204" pitchFamily="34" charset="0"/>
                <a:cs typeface="Arial" panose="020B0604020202020204" pitchFamily="34" charset="0"/>
              </a:rPr>
              <a:t>2.5.4  </a:t>
            </a:r>
            <a:r>
              <a:rPr lang="en-PH" sz="4000" b="1" dirty="0" smtClean="0">
                <a:solidFill>
                  <a:srgbClr val="820000"/>
                </a:solidFill>
                <a:latin typeface="Arial" panose="020B0604020202020204" pitchFamily="34" charset="0"/>
                <a:cs typeface="Arial" panose="020B0604020202020204" pitchFamily="34" charset="0"/>
              </a:rPr>
              <a:t>Antioxidant Activity: FRAP Assay</a:t>
            </a:r>
            <a:r>
              <a:rPr lang="en-PH" sz="4000" b="1"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21" name="Rectangle 20"/>
          <p:cNvSpPr/>
          <p:nvPr/>
        </p:nvSpPr>
        <p:spPr>
          <a:xfrm>
            <a:off x="569944" y="2733757"/>
            <a:ext cx="17043453" cy="7294305"/>
          </a:xfrm>
          <a:prstGeom prst="rect">
            <a:avLst/>
          </a:prstGeom>
        </p:spPr>
        <p:txBody>
          <a:bodyPr wrap="square">
            <a:spAutoFit/>
          </a:bodyPr>
          <a:lstStyle/>
          <a:p>
            <a:pPr marL="571500" indent="-571500" algn="just">
              <a:lnSpc>
                <a:spcPct val="150000"/>
              </a:lnSpc>
              <a:buFont typeface="Wingdings" panose="05000000000000000000" pitchFamily="2" charset="2"/>
              <a:buChar char="q"/>
            </a:pPr>
            <a:r>
              <a:rPr lang="en-PH" sz="4000" dirty="0">
                <a:solidFill>
                  <a:srgbClr val="820000"/>
                </a:solidFill>
                <a:latin typeface="Arial" panose="020B0604020202020204" pitchFamily="34" charset="0"/>
                <a:cs typeface="Arial" panose="020B0604020202020204" pitchFamily="34" charset="0"/>
              </a:rPr>
              <a:t> </a:t>
            </a:r>
            <a:r>
              <a:rPr lang="en-PH" sz="4000" b="1" dirty="0" smtClean="0">
                <a:solidFill>
                  <a:srgbClr val="820000"/>
                </a:solidFill>
                <a:latin typeface="Arial" panose="020B0604020202020204" pitchFamily="34" charset="0"/>
                <a:cs typeface="Arial" panose="020B0604020202020204" pitchFamily="34" charset="0"/>
              </a:rPr>
              <a:t>FRAP Assay</a:t>
            </a:r>
          </a:p>
          <a:p>
            <a:pPr marL="571500" indent="-571500" algn="just">
              <a:buFont typeface="Arial" panose="020B0604020202020204" pitchFamily="34" charset="0"/>
              <a:buChar char="•"/>
            </a:pPr>
            <a:r>
              <a:rPr lang="en-PH" sz="3200" dirty="0">
                <a:solidFill>
                  <a:srgbClr val="820000"/>
                </a:solidFill>
                <a:latin typeface="Arial" panose="020B0604020202020204" pitchFamily="34" charset="0"/>
                <a:cs typeface="Arial" panose="020B0604020202020204" pitchFamily="34" charset="0"/>
              </a:rPr>
              <a:t>The ferric reducing antioxidant power (FRAP) </a:t>
            </a:r>
            <a:r>
              <a:rPr lang="en-PH" sz="3200" dirty="0" smtClean="0">
                <a:solidFill>
                  <a:srgbClr val="820000"/>
                </a:solidFill>
                <a:latin typeface="Arial" panose="020B0604020202020204" pitchFamily="34" charset="0"/>
                <a:cs typeface="Arial" panose="020B0604020202020204" pitchFamily="34" charset="0"/>
              </a:rPr>
              <a:t>assay</a:t>
            </a:r>
            <a:r>
              <a:rPr lang="en-PH" sz="3200" baseline="30000" dirty="0" smtClean="0">
                <a:solidFill>
                  <a:srgbClr val="820000"/>
                </a:solidFill>
                <a:latin typeface="Arial" panose="020B0604020202020204" pitchFamily="34" charset="0"/>
                <a:cs typeface="Arial" panose="020B0604020202020204" pitchFamily="34" charset="0"/>
              </a:rPr>
              <a:t>63,64 </a:t>
            </a:r>
            <a:r>
              <a:rPr lang="en-PH" sz="3200" dirty="0" smtClean="0">
                <a:solidFill>
                  <a:srgbClr val="820000"/>
                </a:solidFill>
                <a:latin typeface="Arial" panose="020B0604020202020204" pitchFamily="34" charset="0"/>
                <a:cs typeface="Arial" panose="020B0604020202020204" pitchFamily="34" charset="0"/>
              </a:rPr>
              <a:t>monitors </a:t>
            </a:r>
            <a:r>
              <a:rPr lang="en-PH" sz="3200" dirty="0">
                <a:solidFill>
                  <a:srgbClr val="820000"/>
                </a:solidFill>
                <a:latin typeface="Arial" panose="020B0604020202020204" pitchFamily="34" charset="0"/>
                <a:cs typeface="Arial" panose="020B0604020202020204" pitchFamily="34" charset="0"/>
              </a:rPr>
              <a:t>the reaction of Fe</a:t>
            </a:r>
            <a:r>
              <a:rPr lang="en-PH" sz="3200" baseline="30000" dirty="0">
                <a:solidFill>
                  <a:srgbClr val="820000"/>
                </a:solidFill>
                <a:latin typeface="Arial" panose="020B0604020202020204" pitchFamily="34" charset="0"/>
                <a:cs typeface="Arial" panose="020B0604020202020204" pitchFamily="34" charset="0"/>
              </a:rPr>
              <a:t>2+</a:t>
            </a:r>
            <a:r>
              <a:rPr lang="en-PH" sz="3200" dirty="0">
                <a:solidFill>
                  <a:srgbClr val="820000"/>
                </a:solidFill>
                <a:latin typeface="Arial" panose="020B0604020202020204" pitchFamily="34" charset="0"/>
                <a:cs typeface="Arial" panose="020B0604020202020204" pitchFamily="34" charset="0"/>
              </a:rPr>
              <a:t> with 2, 4, 6-Tripyridyl-s-Triazine (TPTZ) to form a violet-blue </a:t>
            </a:r>
            <a:r>
              <a:rPr lang="en-PH" sz="3200" dirty="0" err="1">
                <a:solidFill>
                  <a:srgbClr val="820000"/>
                </a:solidFill>
                <a:latin typeface="Arial" panose="020B0604020202020204" pitchFamily="34" charset="0"/>
                <a:cs typeface="Arial" panose="020B0604020202020204" pitchFamily="34" charset="0"/>
              </a:rPr>
              <a:t>color</a:t>
            </a:r>
            <a:r>
              <a:rPr lang="en-PH" sz="3200" dirty="0">
                <a:solidFill>
                  <a:srgbClr val="820000"/>
                </a:solidFill>
                <a:latin typeface="Arial" panose="020B0604020202020204" pitchFamily="34" charset="0"/>
                <a:cs typeface="Arial" panose="020B0604020202020204" pitchFamily="34" charset="0"/>
              </a:rPr>
              <a:t> with an absorbance maximum at 593 nm</a:t>
            </a:r>
            <a:r>
              <a:rPr lang="en-PH" sz="3200" dirty="0" smtClean="0">
                <a:solidFill>
                  <a:srgbClr val="820000"/>
                </a:solidFill>
                <a:latin typeface="Arial" panose="020B0604020202020204" pitchFamily="34" charset="0"/>
                <a:cs typeface="Arial" panose="020B0604020202020204" pitchFamily="34" charset="0"/>
              </a:rPr>
              <a:t>.</a:t>
            </a:r>
            <a:r>
              <a:rPr lang="en-PH" sz="3200" baseline="30000" dirty="0">
                <a:solidFill>
                  <a:srgbClr val="820000"/>
                </a:solidFill>
                <a:latin typeface="Arial" panose="020B0604020202020204" pitchFamily="34" charset="0"/>
                <a:cs typeface="Arial" panose="020B0604020202020204" pitchFamily="34" charset="0"/>
              </a:rPr>
              <a:t> </a:t>
            </a:r>
            <a:r>
              <a:rPr lang="en-PH" sz="3600" baseline="30000" dirty="0" smtClean="0">
                <a:solidFill>
                  <a:srgbClr val="820000"/>
                </a:solidFill>
                <a:latin typeface="Arial" panose="020B0604020202020204" pitchFamily="34" charset="0"/>
                <a:cs typeface="Arial" panose="020B0604020202020204" pitchFamily="34" charset="0"/>
              </a:rPr>
              <a:t>65</a:t>
            </a:r>
          </a:p>
          <a:p>
            <a:pPr marL="571500" indent="-571500" algn="just">
              <a:buFont typeface="Arial" panose="020B0604020202020204" pitchFamily="34" charset="0"/>
              <a:buChar char="•"/>
            </a:pPr>
            <a:endParaRPr lang="en-PH" sz="3600" baseline="30000" dirty="0">
              <a:solidFill>
                <a:srgbClr val="820000"/>
              </a:solidFill>
              <a:latin typeface="Arial" panose="020B0604020202020204" pitchFamily="34" charset="0"/>
              <a:cs typeface="Arial" panose="020B0604020202020204" pitchFamily="34" charset="0"/>
            </a:endParaRPr>
          </a:p>
          <a:p>
            <a:pPr marL="571500" indent="-571500" algn="just">
              <a:buFont typeface="Arial" panose="020B0604020202020204" pitchFamily="34" charset="0"/>
              <a:buChar char="•"/>
            </a:pPr>
            <a:r>
              <a:rPr lang="en-PH" sz="3200" dirty="0" err="1">
                <a:solidFill>
                  <a:srgbClr val="820000"/>
                </a:solidFill>
                <a:latin typeface="Arial" panose="020B0604020202020204" pitchFamily="34" charset="0"/>
                <a:cs typeface="Arial" panose="020B0604020202020204" pitchFamily="34" charset="0"/>
              </a:rPr>
              <a:t>Microplate</a:t>
            </a:r>
            <a:r>
              <a:rPr lang="en-PH" sz="3200" dirty="0">
                <a:solidFill>
                  <a:srgbClr val="820000"/>
                </a:solidFill>
                <a:latin typeface="Arial" panose="020B0604020202020204" pitchFamily="34" charset="0"/>
                <a:cs typeface="Arial" panose="020B0604020202020204" pitchFamily="34" charset="0"/>
              </a:rPr>
              <a:t>-based FRAP (</a:t>
            </a:r>
            <a:r>
              <a:rPr lang="en-PH" sz="3200" dirty="0" err="1">
                <a:solidFill>
                  <a:srgbClr val="820000"/>
                </a:solidFill>
                <a:latin typeface="Arial" panose="020B0604020202020204" pitchFamily="34" charset="0"/>
                <a:cs typeface="Arial" panose="020B0604020202020204" pitchFamily="34" charset="0"/>
              </a:rPr>
              <a:t>mFRAP</a:t>
            </a:r>
            <a:r>
              <a:rPr lang="en-PH" sz="3200" dirty="0">
                <a:solidFill>
                  <a:srgbClr val="820000"/>
                </a:solidFill>
                <a:latin typeface="Arial" panose="020B0604020202020204" pitchFamily="34" charset="0"/>
                <a:cs typeface="Arial" panose="020B0604020202020204" pitchFamily="34" charset="0"/>
              </a:rPr>
              <a:t>) assays were introduced recently leading to improved sample throughput compared to the manual FRAP assay (Jimenez-Alvarez et al., 2008; </a:t>
            </a:r>
            <a:r>
              <a:rPr lang="en-PH" sz="3200" dirty="0" err="1">
                <a:solidFill>
                  <a:srgbClr val="820000"/>
                </a:solidFill>
                <a:latin typeface="Arial" panose="020B0604020202020204" pitchFamily="34" charset="0"/>
                <a:cs typeface="Arial" panose="020B0604020202020204" pitchFamily="34" charset="0"/>
              </a:rPr>
              <a:t>Firuzi</a:t>
            </a:r>
            <a:r>
              <a:rPr lang="en-PH" sz="3200" dirty="0">
                <a:solidFill>
                  <a:srgbClr val="820000"/>
                </a:solidFill>
                <a:latin typeface="Arial" panose="020B0604020202020204" pitchFamily="34" charset="0"/>
                <a:cs typeface="Arial" panose="020B0604020202020204" pitchFamily="34" charset="0"/>
              </a:rPr>
              <a:t>, </a:t>
            </a:r>
            <a:r>
              <a:rPr lang="en-PH" sz="3200" dirty="0" err="1">
                <a:solidFill>
                  <a:srgbClr val="820000"/>
                </a:solidFill>
                <a:latin typeface="Arial" panose="020B0604020202020204" pitchFamily="34" charset="0"/>
                <a:cs typeface="Arial" panose="020B0604020202020204" pitchFamily="34" charset="0"/>
              </a:rPr>
              <a:t>Lacanna</a:t>
            </a:r>
            <a:r>
              <a:rPr lang="en-PH" sz="3200" dirty="0">
                <a:solidFill>
                  <a:srgbClr val="820000"/>
                </a:solidFill>
                <a:latin typeface="Arial" panose="020B0604020202020204" pitchFamily="34" charset="0"/>
                <a:cs typeface="Arial" panose="020B0604020202020204" pitchFamily="34" charset="0"/>
              </a:rPr>
              <a:t>, </a:t>
            </a:r>
            <a:r>
              <a:rPr lang="en-PH" sz="3200" dirty="0" err="1">
                <a:solidFill>
                  <a:srgbClr val="820000"/>
                </a:solidFill>
                <a:latin typeface="Arial" panose="020B0604020202020204" pitchFamily="34" charset="0"/>
                <a:cs typeface="Arial" panose="020B0604020202020204" pitchFamily="34" charset="0"/>
              </a:rPr>
              <a:t>Petrucci</a:t>
            </a:r>
            <a:r>
              <a:rPr lang="en-PH" sz="3200" dirty="0">
                <a:solidFill>
                  <a:srgbClr val="820000"/>
                </a:solidFill>
                <a:latin typeface="Arial" panose="020B0604020202020204" pitchFamily="34" charset="0"/>
                <a:cs typeface="Arial" panose="020B0604020202020204" pitchFamily="34" charset="0"/>
              </a:rPr>
              <a:t>, </a:t>
            </a:r>
            <a:r>
              <a:rPr lang="en-PH" sz="3200" dirty="0" err="1">
                <a:solidFill>
                  <a:srgbClr val="820000"/>
                </a:solidFill>
                <a:latin typeface="Arial" panose="020B0604020202020204" pitchFamily="34" charset="0"/>
                <a:cs typeface="Arial" panose="020B0604020202020204" pitchFamily="34" charset="0"/>
              </a:rPr>
              <a:t>Marrosu</a:t>
            </a:r>
            <a:r>
              <a:rPr lang="en-PH" sz="3200" dirty="0">
                <a:solidFill>
                  <a:srgbClr val="820000"/>
                </a:solidFill>
                <a:latin typeface="Arial" panose="020B0604020202020204" pitchFamily="34" charset="0"/>
                <a:cs typeface="Arial" panose="020B0604020202020204" pitchFamily="34" charset="0"/>
              </a:rPr>
              <a:t> &amp; </a:t>
            </a:r>
            <a:r>
              <a:rPr lang="en-PH" sz="3200" dirty="0" err="1">
                <a:solidFill>
                  <a:srgbClr val="820000"/>
                </a:solidFill>
                <a:latin typeface="Arial" panose="020B0604020202020204" pitchFamily="34" charset="0"/>
                <a:cs typeface="Arial" panose="020B0604020202020204" pitchFamily="34" charset="0"/>
              </a:rPr>
              <a:t>Saso</a:t>
            </a:r>
            <a:r>
              <a:rPr lang="en-PH" sz="3200" dirty="0">
                <a:solidFill>
                  <a:srgbClr val="820000"/>
                </a:solidFill>
                <a:latin typeface="Arial" panose="020B0604020202020204" pitchFamily="34" charset="0"/>
                <a:cs typeface="Arial" panose="020B0604020202020204" pitchFamily="34" charset="0"/>
              </a:rPr>
              <a:t>, 2005; </a:t>
            </a:r>
            <a:r>
              <a:rPr lang="en-PH" sz="3200" dirty="0" err="1">
                <a:solidFill>
                  <a:srgbClr val="820000"/>
                </a:solidFill>
                <a:latin typeface="Arial" panose="020B0604020202020204" pitchFamily="34" charset="0"/>
                <a:cs typeface="Arial" panose="020B0604020202020204" pitchFamily="34" charset="0"/>
              </a:rPr>
              <a:t>Tsao</a:t>
            </a:r>
            <a:r>
              <a:rPr lang="en-PH" sz="3200" dirty="0">
                <a:solidFill>
                  <a:srgbClr val="820000"/>
                </a:solidFill>
                <a:latin typeface="Arial" panose="020B0604020202020204" pitchFamily="34" charset="0"/>
                <a:cs typeface="Arial" panose="020B0604020202020204" pitchFamily="34" charset="0"/>
              </a:rPr>
              <a:t>, Yang &amp; Young, 2003). </a:t>
            </a:r>
            <a:endParaRPr lang="en-PH" sz="3200" baseline="30000" dirty="0" smtClean="0">
              <a:solidFill>
                <a:srgbClr val="820000"/>
              </a:solidFill>
              <a:latin typeface="Arial" panose="020B0604020202020204" pitchFamily="34" charset="0"/>
              <a:cs typeface="Arial" panose="020B0604020202020204" pitchFamily="34" charset="0"/>
            </a:endParaRPr>
          </a:p>
          <a:p>
            <a:pPr marL="571500" indent="-571500" algn="just">
              <a:buFont typeface="Arial" panose="020B0604020202020204" pitchFamily="34" charset="0"/>
              <a:buChar char="•"/>
            </a:pPr>
            <a:endParaRPr lang="en-PH" sz="3200" b="1" dirty="0" smtClean="0">
              <a:solidFill>
                <a:srgbClr val="820000"/>
              </a:solidFill>
              <a:latin typeface="Arial" panose="020B0604020202020204" pitchFamily="34" charset="0"/>
              <a:cs typeface="Arial" panose="020B0604020202020204" pitchFamily="34" charset="0"/>
            </a:endParaRPr>
          </a:p>
          <a:p>
            <a:pPr marL="571500" indent="-571500" algn="just">
              <a:buFont typeface="Arial" panose="020B0604020202020204" pitchFamily="34" charset="0"/>
              <a:buChar char="•"/>
            </a:pPr>
            <a:r>
              <a:rPr lang="en-PH" sz="3200" dirty="0">
                <a:solidFill>
                  <a:srgbClr val="820000"/>
                </a:solidFill>
                <a:latin typeface="Arial" panose="020B0604020202020204" pitchFamily="34" charset="0"/>
                <a:cs typeface="Arial" panose="020B0604020202020204" pitchFamily="34" charset="0"/>
              </a:rPr>
              <a:t>The methodology detailed in the current could be useful in evaluating antioxidant assays on a variety of different platforms</a:t>
            </a:r>
            <a:r>
              <a:rPr lang="en-PH" sz="4000" dirty="0" smtClean="0">
                <a:solidFill>
                  <a:srgbClr val="820000"/>
                </a:solidFill>
              </a:rPr>
              <a:t>.</a:t>
            </a:r>
            <a:r>
              <a:rPr lang="en-PH" sz="4000" baseline="30000" dirty="0">
                <a:solidFill>
                  <a:srgbClr val="820000"/>
                </a:solidFill>
                <a:latin typeface="Arial" panose="020B0604020202020204" pitchFamily="34" charset="0"/>
                <a:cs typeface="Arial" panose="020B0604020202020204" pitchFamily="34" charset="0"/>
              </a:rPr>
              <a:t> </a:t>
            </a:r>
            <a:r>
              <a:rPr lang="en-PH" sz="4000" baseline="30000" dirty="0" smtClean="0">
                <a:solidFill>
                  <a:srgbClr val="820000"/>
                </a:solidFill>
                <a:latin typeface="Arial" panose="020B0604020202020204" pitchFamily="34" charset="0"/>
                <a:cs typeface="Arial" panose="020B0604020202020204" pitchFamily="34" charset="0"/>
              </a:rPr>
              <a:t>69</a:t>
            </a:r>
            <a:endParaRPr lang="en-PH" sz="4000" baseline="30000" dirty="0">
              <a:solidFill>
                <a:srgbClr val="820000"/>
              </a:solidFill>
              <a:latin typeface="Arial" panose="020B0604020202020204" pitchFamily="34" charset="0"/>
              <a:cs typeface="Arial" panose="020B0604020202020204" pitchFamily="34" charset="0"/>
            </a:endParaRPr>
          </a:p>
          <a:p>
            <a:pPr marL="571500" indent="-571500" algn="just">
              <a:buFont typeface="Arial" panose="020B0604020202020204" pitchFamily="34" charset="0"/>
              <a:buChar char="•"/>
            </a:pPr>
            <a:endParaRPr lang="en-PH" sz="4000" b="1" dirty="0">
              <a:solidFill>
                <a:srgbClr val="820000"/>
              </a:solidFill>
              <a:latin typeface="Arial" panose="020B0604020202020204" pitchFamily="34" charset="0"/>
              <a:ea typeface="Times New Roman" panose="02020603050405020304" pitchFamily="18" charset="0"/>
              <a:cs typeface="Arial" panose="020B0604020202020204" pitchFamily="34" charset="0"/>
            </a:endParaRPr>
          </a:p>
          <a:p>
            <a:pPr algn="just"/>
            <a:r>
              <a:rPr lang="en-PH" sz="4000" b="1"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188561630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Box 13"/>
          <p:cNvSpPr txBox="1"/>
          <p:nvPr/>
        </p:nvSpPr>
        <p:spPr>
          <a:xfrm>
            <a:off x="1671387" y="1531257"/>
            <a:ext cx="2203151" cy="2306426"/>
          </a:xfrm>
          <a:prstGeom prst="rect">
            <a:avLst/>
          </a:prstGeom>
        </p:spPr>
        <p:txBody>
          <a:bodyPr lIns="50800" tIns="50800" rIns="50800" bIns="50800" rtlCol="0" anchor="ctr"/>
          <a:lstStyle/>
          <a:p>
            <a:pPr algn="ctr">
              <a:lnSpc>
                <a:spcPts val="2659"/>
              </a:lnSpc>
              <a:spcBef>
                <a:spcPct val="0"/>
              </a:spcBef>
            </a:pPr>
            <a:endParaRPr/>
          </a:p>
        </p:txBody>
      </p:sp>
      <p:pic>
        <p:nvPicPr>
          <p:cNvPr id="19" name="Picture 18"/>
          <p:cNvPicPr>
            <a:picLocks noChangeAspect="1"/>
          </p:cNvPicPr>
          <p:nvPr/>
        </p:nvPicPr>
        <p:blipFill>
          <a:blip r:embed="rId2"/>
          <a:stretch>
            <a:fillRect/>
          </a:stretch>
        </p:blipFill>
        <p:spPr>
          <a:xfrm rot="10800000">
            <a:off x="-30480" y="1370689"/>
            <a:ext cx="18288000" cy="267610"/>
          </a:xfrm>
          <a:prstGeom prst="rect">
            <a:avLst/>
          </a:prstGeom>
        </p:spPr>
      </p:pic>
      <p:pic>
        <p:nvPicPr>
          <p:cNvPr id="20" name="Picture 19"/>
          <p:cNvPicPr>
            <a:picLocks noChangeAspect="1"/>
          </p:cNvPicPr>
          <p:nvPr/>
        </p:nvPicPr>
        <p:blipFill>
          <a:blip r:embed="rId2"/>
          <a:stretch>
            <a:fillRect/>
          </a:stretch>
        </p:blipFill>
        <p:spPr>
          <a:xfrm>
            <a:off x="0" y="0"/>
            <a:ext cx="18288000" cy="267611"/>
          </a:xfrm>
          <a:prstGeom prst="rect">
            <a:avLst/>
          </a:prstGeom>
        </p:spPr>
      </p:pic>
      <p:sp>
        <p:nvSpPr>
          <p:cNvPr id="4" name="Parallelogram 3"/>
          <p:cNvSpPr/>
          <p:nvPr/>
        </p:nvSpPr>
        <p:spPr>
          <a:xfrm>
            <a:off x="152401" y="9936689"/>
            <a:ext cx="11963400" cy="236011"/>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2" name="Parallelogram 21"/>
          <p:cNvSpPr/>
          <p:nvPr/>
        </p:nvSpPr>
        <p:spPr>
          <a:xfrm>
            <a:off x="12192000" y="9944100"/>
            <a:ext cx="1421363" cy="228600"/>
          </a:xfrm>
          <a:prstGeom prst="parallelogram">
            <a:avLst/>
          </a:prstGeom>
          <a:solidFill>
            <a:srgbClr val="FFC000"/>
          </a:solidFill>
          <a:ln>
            <a:solidFill>
              <a:srgbClr val="FFC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3" name="Parallelogram 22"/>
          <p:cNvSpPr/>
          <p:nvPr/>
        </p:nvSpPr>
        <p:spPr>
          <a:xfrm>
            <a:off x="13689563" y="9944100"/>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24" name="Picture 23"/>
          <p:cNvPicPr>
            <a:picLocks noChangeAspect="1"/>
          </p:cNvPicPr>
          <p:nvPr/>
        </p:nvPicPr>
        <p:blipFill>
          <a:blip r:embed="rId2"/>
          <a:stretch>
            <a:fillRect/>
          </a:stretch>
        </p:blipFill>
        <p:spPr>
          <a:xfrm rot="10800000" flipV="1">
            <a:off x="-23701" y="9668509"/>
            <a:ext cx="18326941" cy="268180"/>
          </a:xfrm>
          <a:prstGeom prst="rect">
            <a:avLst/>
          </a:prstGeom>
        </p:spPr>
      </p:pic>
      <p:pic>
        <p:nvPicPr>
          <p:cNvPr id="6" name="Picture 5"/>
          <p:cNvPicPr>
            <a:picLocks noChangeAspect="1"/>
          </p:cNvPicPr>
          <p:nvPr/>
        </p:nvPicPr>
        <p:blipFill>
          <a:blip r:embed="rId3"/>
          <a:stretch>
            <a:fillRect/>
          </a:stretch>
        </p:blipFill>
        <p:spPr>
          <a:xfrm>
            <a:off x="15030450" y="488370"/>
            <a:ext cx="3257550" cy="523875"/>
          </a:xfrm>
          <a:prstGeom prst="rect">
            <a:avLst/>
          </a:prstGeom>
        </p:spPr>
      </p:pic>
      <p:sp>
        <p:nvSpPr>
          <p:cNvPr id="25" name="Parallelogram 24"/>
          <p:cNvSpPr/>
          <p:nvPr/>
        </p:nvSpPr>
        <p:spPr>
          <a:xfrm>
            <a:off x="13030200" y="760176"/>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13" name="Picture 12"/>
          <p:cNvPicPr>
            <a:picLocks noChangeAspect="1"/>
          </p:cNvPicPr>
          <p:nvPr/>
        </p:nvPicPr>
        <p:blipFill>
          <a:blip r:embed="rId3"/>
          <a:stretch>
            <a:fillRect/>
          </a:stretch>
        </p:blipFill>
        <p:spPr>
          <a:xfrm rot="10800000">
            <a:off x="0" y="612538"/>
            <a:ext cx="3257550" cy="523875"/>
          </a:xfrm>
          <a:prstGeom prst="rect">
            <a:avLst/>
          </a:prstGeom>
        </p:spPr>
      </p:pic>
      <p:sp>
        <p:nvSpPr>
          <p:cNvPr id="14" name="Parallelogram 13"/>
          <p:cNvSpPr/>
          <p:nvPr/>
        </p:nvSpPr>
        <p:spPr>
          <a:xfrm>
            <a:off x="659363" y="577015"/>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17" name="Round Single Corner Rectangle 16"/>
          <p:cNvSpPr/>
          <p:nvPr/>
        </p:nvSpPr>
        <p:spPr>
          <a:xfrm>
            <a:off x="5494020" y="160397"/>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5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Review of Literature     </a:t>
            </a:r>
            <a:r>
              <a:rPr lang="en-PH" sz="6000" b="1" u="sng" dirty="0" smtClean="0">
                <a:solidFill>
                  <a:srgbClr val="820000"/>
                </a:solidFill>
                <a:latin typeface="Arial" panose="020B0604020202020204" pitchFamily="34" charset="0"/>
                <a:cs typeface="Arial" panose="020B0604020202020204" pitchFamily="34" charset="0"/>
              </a:rPr>
              <a:t> </a:t>
            </a:r>
          </a:p>
        </p:txBody>
      </p:sp>
      <p:sp>
        <p:nvSpPr>
          <p:cNvPr id="2" name="Left Brace 1"/>
          <p:cNvSpPr/>
          <p:nvPr/>
        </p:nvSpPr>
        <p:spPr>
          <a:xfrm>
            <a:off x="10933625" y="1202819"/>
            <a:ext cx="45719" cy="10490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PH"/>
          </a:p>
        </p:txBody>
      </p:sp>
      <p:sp>
        <p:nvSpPr>
          <p:cNvPr id="3" name="Rectangle 2"/>
          <p:cNvSpPr/>
          <p:nvPr/>
        </p:nvSpPr>
        <p:spPr>
          <a:xfrm>
            <a:off x="152400" y="1846562"/>
            <a:ext cx="11486917" cy="1323439"/>
          </a:xfrm>
          <a:prstGeom prst="rect">
            <a:avLst/>
          </a:prstGeom>
        </p:spPr>
        <p:txBody>
          <a:bodyPr wrap="square">
            <a:spAutoFit/>
          </a:bodyPr>
          <a:lstStyle/>
          <a:p>
            <a:pPr algn="just"/>
            <a:r>
              <a:rPr lang="en-PH" sz="4000" dirty="0">
                <a:solidFill>
                  <a:srgbClr val="820000"/>
                </a:solidFill>
                <a:latin typeface="Arial" panose="020B0604020202020204" pitchFamily="34" charset="0"/>
                <a:cs typeface="Arial" panose="020B0604020202020204" pitchFamily="34" charset="0"/>
              </a:rPr>
              <a:t> </a:t>
            </a:r>
            <a:r>
              <a:rPr lang="en-PH" sz="4000" dirty="0" smtClean="0">
                <a:solidFill>
                  <a:srgbClr val="820000"/>
                </a:solidFill>
                <a:latin typeface="Arial" panose="020B0604020202020204" pitchFamily="34" charset="0"/>
                <a:cs typeface="Arial" panose="020B0604020202020204" pitchFamily="34" charset="0"/>
              </a:rPr>
              <a:t>  </a:t>
            </a:r>
            <a:r>
              <a:rPr lang="en-PH" sz="4000" dirty="0">
                <a:solidFill>
                  <a:srgbClr val="820000"/>
                </a:solidFill>
                <a:latin typeface="Arial" panose="020B0604020202020204" pitchFamily="34" charset="0"/>
                <a:cs typeface="Arial" panose="020B0604020202020204" pitchFamily="34" charset="0"/>
              </a:rPr>
              <a:t> </a:t>
            </a:r>
            <a:r>
              <a:rPr lang="en-PH" sz="4000" dirty="0" smtClean="0">
                <a:solidFill>
                  <a:srgbClr val="820000"/>
                </a:solidFill>
                <a:latin typeface="Arial" panose="020B0604020202020204" pitchFamily="34" charset="0"/>
                <a:cs typeface="Arial" panose="020B0604020202020204" pitchFamily="34" charset="0"/>
              </a:rPr>
              <a:t>2.6  </a:t>
            </a:r>
            <a:r>
              <a:rPr lang="en-PH" sz="4000" b="1" dirty="0" err="1" smtClean="0">
                <a:solidFill>
                  <a:srgbClr val="820000"/>
                </a:solidFill>
                <a:latin typeface="Arial" panose="020B0604020202020204" pitchFamily="34" charset="0"/>
                <a:cs typeface="Arial" panose="020B0604020202020204" pitchFamily="34" charset="0"/>
              </a:rPr>
              <a:t>Microplate</a:t>
            </a:r>
            <a:r>
              <a:rPr lang="en-PH" sz="4000" b="1" dirty="0" smtClean="0">
                <a:solidFill>
                  <a:srgbClr val="820000"/>
                </a:solidFill>
                <a:latin typeface="Arial" panose="020B0604020202020204" pitchFamily="34" charset="0"/>
                <a:cs typeface="Arial" panose="020B0604020202020204" pitchFamily="34" charset="0"/>
              </a:rPr>
              <a:t> Reader</a:t>
            </a:r>
          </a:p>
          <a:p>
            <a:pPr algn="just"/>
            <a:r>
              <a:rPr lang="en-PH" sz="4000" b="1"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21" name="Rectangle 20"/>
          <p:cNvSpPr/>
          <p:nvPr/>
        </p:nvSpPr>
        <p:spPr>
          <a:xfrm>
            <a:off x="569944" y="2733757"/>
            <a:ext cx="17043453" cy="6001643"/>
          </a:xfrm>
          <a:prstGeom prst="rect">
            <a:avLst/>
          </a:prstGeom>
        </p:spPr>
        <p:txBody>
          <a:bodyPr wrap="square">
            <a:spAutoFit/>
          </a:bodyPr>
          <a:lstStyle/>
          <a:p>
            <a:pPr marL="571500" indent="-571500" algn="just">
              <a:buFont typeface="Arial" panose="020B0604020202020204" pitchFamily="34" charset="0"/>
              <a:buChar char="•"/>
            </a:pPr>
            <a:r>
              <a:rPr lang="en-PH" sz="3200" dirty="0" smtClean="0">
                <a:solidFill>
                  <a:srgbClr val="820000"/>
                </a:solidFill>
                <a:latin typeface="Arial" panose="020B0604020202020204" pitchFamily="34" charset="0"/>
                <a:cs typeface="Arial" panose="020B0604020202020204" pitchFamily="34" charset="0"/>
              </a:rPr>
              <a:t>The </a:t>
            </a:r>
            <a:r>
              <a:rPr lang="en-PH" sz="3200" b="1" dirty="0" err="1">
                <a:latin typeface="Arial" panose="020B0604020202020204" pitchFamily="34" charset="0"/>
                <a:cs typeface="Arial" panose="020B0604020202020204" pitchFamily="34" charset="0"/>
              </a:rPr>
              <a:t>microplate</a:t>
            </a:r>
            <a:r>
              <a:rPr lang="en-PH" sz="3200" b="1" dirty="0">
                <a:latin typeface="Arial" panose="020B0604020202020204" pitchFamily="34" charset="0"/>
                <a:cs typeface="Arial" panose="020B0604020202020204" pitchFamily="34" charset="0"/>
              </a:rPr>
              <a:t> reader, </a:t>
            </a:r>
            <a:r>
              <a:rPr lang="en-PH" sz="3200" dirty="0">
                <a:solidFill>
                  <a:srgbClr val="820000"/>
                </a:solidFill>
                <a:latin typeface="Arial" panose="020B0604020202020204" pitchFamily="34" charset="0"/>
                <a:cs typeface="Arial" panose="020B0604020202020204" pitchFamily="34" charset="0"/>
              </a:rPr>
              <a:t>also known as “Photometric </a:t>
            </a:r>
            <a:r>
              <a:rPr lang="en-PH" sz="3200" dirty="0" err="1">
                <a:solidFill>
                  <a:srgbClr val="820000"/>
                </a:solidFill>
                <a:latin typeface="Arial" panose="020B0604020202020204" pitchFamily="34" charset="0"/>
                <a:cs typeface="Arial" panose="020B0604020202020204" pitchFamily="34" charset="0"/>
              </a:rPr>
              <a:t>microplate</a:t>
            </a:r>
            <a:r>
              <a:rPr lang="en-PH" sz="3200" dirty="0">
                <a:solidFill>
                  <a:srgbClr val="820000"/>
                </a:solidFill>
                <a:latin typeface="Arial" panose="020B0604020202020204" pitchFamily="34" charset="0"/>
                <a:cs typeface="Arial" panose="020B0604020202020204" pitchFamily="34" charset="0"/>
              </a:rPr>
              <a:t> reader or ELISA reader,” is a specialized spectrophotometer designed to read the results of the ELISA test, a technique used to determine the presence of antibodies or specific antigens in samples. The technique is based on the detection of an antigen or antibodies captured on a solid surface using direct or secondary</a:t>
            </a:r>
            <a:r>
              <a:rPr lang="en-PH" sz="3200" dirty="0" smtClean="0">
                <a:solidFill>
                  <a:srgbClr val="820000"/>
                </a:solidFill>
                <a:latin typeface="Arial" panose="020B0604020202020204" pitchFamily="34" charset="0"/>
                <a:cs typeface="Arial" panose="020B0604020202020204" pitchFamily="34" charset="0"/>
              </a:rPr>
              <a:t>, </a:t>
            </a:r>
            <a:r>
              <a:rPr lang="en-PH" sz="3200" dirty="0" err="1" smtClean="0">
                <a:solidFill>
                  <a:srgbClr val="820000"/>
                </a:solidFill>
                <a:latin typeface="Arial" panose="020B0604020202020204" pitchFamily="34" charset="0"/>
                <a:cs typeface="Arial" panose="020B0604020202020204" pitchFamily="34" charset="0"/>
              </a:rPr>
              <a:t>Labeled</a:t>
            </a:r>
            <a:r>
              <a:rPr lang="en-PH" sz="3200" dirty="0" smtClean="0">
                <a:solidFill>
                  <a:srgbClr val="820000"/>
                </a:solidFill>
                <a:latin typeface="Arial" panose="020B0604020202020204" pitchFamily="34" charset="0"/>
                <a:cs typeface="Arial" panose="020B0604020202020204" pitchFamily="34" charset="0"/>
              </a:rPr>
              <a:t> </a:t>
            </a:r>
            <a:r>
              <a:rPr lang="en-PH" sz="3200" dirty="0">
                <a:solidFill>
                  <a:srgbClr val="820000"/>
                </a:solidFill>
                <a:latin typeface="Arial" panose="020B0604020202020204" pitchFamily="34" charset="0"/>
                <a:cs typeface="Arial" panose="020B0604020202020204" pitchFamily="34" charset="0"/>
              </a:rPr>
              <a:t>antibodies produce a reaction whose product can be read by the spectrophotometer. The word ELISA is the acronym for “Enzyme-Linked </a:t>
            </a:r>
            <a:r>
              <a:rPr lang="en-PH" sz="3200" dirty="0" err="1">
                <a:solidFill>
                  <a:srgbClr val="820000"/>
                </a:solidFill>
                <a:latin typeface="Arial" panose="020B0604020202020204" pitchFamily="34" charset="0"/>
                <a:cs typeface="Arial" panose="020B0604020202020204" pitchFamily="34" charset="0"/>
              </a:rPr>
              <a:t>Immunosorbent</a:t>
            </a:r>
            <a:r>
              <a:rPr lang="en-PH" sz="3200" dirty="0">
                <a:solidFill>
                  <a:srgbClr val="820000"/>
                </a:solidFill>
                <a:latin typeface="Arial" panose="020B0604020202020204" pitchFamily="34" charset="0"/>
                <a:cs typeface="Arial" panose="020B0604020202020204" pitchFamily="34" charset="0"/>
              </a:rPr>
              <a:t> </a:t>
            </a:r>
            <a:r>
              <a:rPr lang="en-PH" sz="3200" dirty="0" smtClean="0">
                <a:solidFill>
                  <a:srgbClr val="820000"/>
                </a:solidFill>
                <a:latin typeface="Arial" panose="020B0604020202020204" pitchFamily="34" charset="0"/>
                <a:cs typeface="Arial" panose="020B0604020202020204" pitchFamily="34" charset="0"/>
              </a:rPr>
              <a:t>Assay.</a:t>
            </a:r>
            <a:r>
              <a:rPr lang="en-PH" sz="3200" baseline="30000" dirty="0">
                <a:solidFill>
                  <a:srgbClr val="820000"/>
                </a:solidFill>
                <a:latin typeface="Arial" panose="020B0604020202020204" pitchFamily="34" charset="0"/>
                <a:cs typeface="Arial" panose="020B0604020202020204" pitchFamily="34" charset="0"/>
              </a:rPr>
              <a:t> </a:t>
            </a:r>
            <a:r>
              <a:rPr lang="en-PH" sz="3200" baseline="30000" dirty="0" smtClean="0">
                <a:solidFill>
                  <a:srgbClr val="820000"/>
                </a:solidFill>
                <a:latin typeface="Arial" panose="020B0604020202020204" pitchFamily="34" charset="0"/>
                <a:cs typeface="Arial" panose="020B0604020202020204" pitchFamily="34" charset="0"/>
              </a:rPr>
              <a:t>70</a:t>
            </a:r>
            <a:endParaRPr lang="en-PH" sz="3200" baseline="30000" dirty="0">
              <a:solidFill>
                <a:srgbClr val="820000"/>
              </a:solidFill>
              <a:latin typeface="Arial" panose="020B0604020202020204" pitchFamily="34" charset="0"/>
              <a:cs typeface="Arial" panose="020B0604020202020204" pitchFamily="34" charset="0"/>
            </a:endParaRPr>
          </a:p>
          <a:p>
            <a:pPr marL="571500" indent="-571500" algn="just">
              <a:buFont typeface="Arial" panose="020B0604020202020204" pitchFamily="34" charset="0"/>
              <a:buChar char="•"/>
            </a:pPr>
            <a:endParaRPr lang="en-PH" sz="3200" b="1" dirty="0">
              <a:solidFill>
                <a:srgbClr val="820000"/>
              </a:solidFill>
              <a:latin typeface="Arial" panose="020B0604020202020204" pitchFamily="34" charset="0"/>
              <a:ea typeface="Times New Roman" panose="02020603050405020304" pitchFamily="18" charset="0"/>
              <a:cs typeface="Arial" panose="020B0604020202020204" pitchFamily="34" charset="0"/>
            </a:endParaRPr>
          </a:p>
          <a:p>
            <a:pPr marL="571500" indent="-571500" algn="just">
              <a:buFont typeface="Arial" panose="020B0604020202020204" pitchFamily="34" charset="0"/>
              <a:buChar char="•"/>
            </a:pPr>
            <a:r>
              <a:rPr lang="en-PH" sz="3200" dirty="0" smtClean="0">
                <a:solidFill>
                  <a:srgbClr val="820000"/>
                </a:solidFill>
                <a:latin typeface="Arial" panose="020B0604020202020204" pitchFamily="34" charset="0"/>
                <a:cs typeface="Arial" panose="020B0604020202020204" pitchFamily="34" charset="0"/>
              </a:rPr>
              <a:t>A </a:t>
            </a:r>
            <a:r>
              <a:rPr lang="en-PH" sz="3200" b="1" dirty="0" err="1">
                <a:latin typeface="Arial" panose="020B0604020202020204" pitchFamily="34" charset="0"/>
                <a:cs typeface="Arial" panose="020B0604020202020204" pitchFamily="34" charset="0"/>
              </a:rPr>
              <a:t>microplate</a:t>
            </a:r>
            <a:r>
              <a:rPr lang="en-PH" sz="3200" b="1" dirty="0">
                <a:latin typeface="Arial" panose="020B0604020202020204" pitchFamily="34" charset="0"/>
                <a:cs typeface="Arial" panose="020B0604020202020204" pitchFamily="34" charset="0"/>
              </a:rPr>
              <a:t> reader </a:t>
            </a:r>
            <a:r>
              <a:rPr lang="en-PH" sz="3200" dirty="0">
                <a:solidFill>
                  <a:srgbClr val="820000"/>
                </a:solidFill>
                <a:latin typeface="Arial" panose="020B0604020202020204" pitchFamily="34" charset="0"/>
                <a:cs typeface="Arial" panose="020B0604020202020204" pitchFamily="34" charset="0"/>
              </a:rPr>
              <a:t>is useful for high-throughput measurements due to its non-contracted optical measurement without containment towards a photoelectric detector or biochemical </a:t>
            </a:r>
            <a:r>
              <a:rPr lang="en-PH" sz="3200" dirty="0" smtClean="0">
                <a:solidFill>
                  <a:srgbClr val="820000"/>
                </a:solidFill>
                <a:latin typeface="Arial" panose="020B0604020202020204" pitchFamily="34" charset="0"/>
                <a:cs typeface="Arial" panose="020B0604020202020204" pitchFamily="34" charset="0"/>
              </a:rPr>
              <a:t>samples.</a:t>
            </a:r>
            <a:r>
              <a:rPr lang="en-PH" sz="3200" baseline="30000" dirty="0">
                <a:solidFill>
                  <a:srgbClr val="820000"/>
                </a:solidFill>
                <a:latin typeface="Arial" panose="020B0604020202020204" pitchFamily="34" charset="0"/>
                <a:cs typeface="Arial" panose="020B0604020202020204" pitchFamily="34" charset="0"/>
              </a:rPr>
              <a:t> </a:t>
            </a:r>
            <a:r>
              <a:rPr lang="en-PH" sz="3200" baseline="30000" dirty="0" smtClean="0">
                <a:solidFill>
                  <a:srgbClr val="820000"/>
                </a:solidFill>
                <a:latin typeface="Arial" panose="020B0604020202020204" pitchFamily="34" charset="0"/>
                <a:cs typeface="Arial" panose="020B0604020202020204" pitchFamily="34" charset="0"/>
              </a:rPr>
              <a:t>71,72</a:t>
            </a:r>
            <a:endParaRPr lang="en-PH" sz="3200" baseline="30000" dirty="0">
              <a:solidFill>
                <a:srgbClr val="820000"/>
              </a:solidFill>
              <a:latin typeface="Arial" panose="020B0604020202020204" pitchFamily="34" charset="0"/>
              <a:cs typeface="Arial" panose="020B0604020202020204" pitchFamily="34" charset="0"/>
            </a:endParaRPr>
          </a:p>
          <a:p>
            <a:pPr marL="571500" indent="-571500" algn="just">
              <a:buFont typeface="Arial" panose="020B0604020202020204" pitchFamily="34" charset="0"/>
              <a:buChar char="•"/>
            </a:pPr>
            <a:endParaRPr lang="en-PH" sz="32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193477761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Box 13"/>
          <p:cNvSpPr txBox="1"/>
          <p:nvPr/>
        </p:nvSpPr>
        <p:spPr>
          <a:xfrm>
            <a:off x="1671387" y="1531257"/>
            <a:ext cx="2203151" cy="2306426"/>
          </a:xfrm>
          <a:prstGeom prst="rect">
            <a:avLst/>
          </a:prstGeom>
        </p:spPr>
        <p:txBody>
          <a:bodyPr lIns="50800" tIns="50800" rIns="50800" bIns="50800" rtlCol="0" anchor="ctr"/>
          <a:lstStyle/>
          <a:p>
            <a:pPr algn="ctr">
              <a:lnSpc>
                <a:spcPts val="2659"/>
              </a:lnSpc>
              <a:spcBef>
                <a:spcPct val="0"/>
              </a:spcBef>
            </a:pPr>
            <a:endParaRPr/>
          </a:p>
        </p:txBody>
      </p:sp>
      <p:pic>
        <p:nvPicPr>
          <p:cNvPr id="19" name="Picture 18"/>
          <p:cNvPicPr>
            <a:picLocks noChangeAspect="1"/>
          </p:cNvPicPr>
          <p:nvPr/>
        </p:nvPicPr>
        <p:blipFill>
          <a:blip r:embed="rId2"/>
          <a:stretch>
            <a:fillRect/>
          </a:stretch>
        </p:blipFill>
        <p:spPr>
          <a:xfrm rot="10800000">
            <a:off x="-30480" y="1370689"/>
            <a:ext cx="18288000" cy="267610"/>
          </a:xfrm>
          <a:prstGeom prst="rect">
            <a:avLst/>
          </a:prstGeom>
        </p:spPr>
      </p:pic>
      <p:pic>
        <p:nvPicPr>
          <p:cNvPr id="20" name="Picture 19"/>
          <p:cNvPicPr>
            <a:picLocks noChangeAspect="1"/>
          </p:cNvPicPr>
          <p:nvPr/>
        </p:nvPicPr>
        <p:blipFill>
          <a:blip r:embed="rId2"/>
          <a:stretch>
            <a:fillRect/>
          </a:stretch>
        </p:blipFill>
        <p:spPr>
          <a:xfrm>
            <a:off x="0" y="0"/>
            <a:ext cx="18288000" cy="267611"/>
          </a:xfrm>
          <a:prstGeom prst="rect">
            <a:avLst/>
          </a:prstGeom>
        </p:spPr>
      </p:pic>
      <p:sp>
        <p:nvSpPr>
          <p:cNvPr id="4" name="Parallelogram 3"/>
          <p:cNvSpPr/>
          <p:nvPr/>
        </p:nvSpPr>
        <p:spPr>
          <a:xfrm>
            <a:off x="152401" y="9936689"/>
            <a:ext cx="11963400" cy="236011"/>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2" name="Parallelogram 21"/>
          <p:cNvSpPr/>
          <p:nvPr/>
        </p:nvSpPr>
        <p:spPr>
          <a:xfrm>
            <a:off x="12192000" y="9944100"/>
            <a:ext cx="1421363" cy="228600"/>
          </a:xfrm>
          <a:prstGeom prst="parallelogram">
            <a:avLst/>
          </a:prstGeom>
          <a:solidFill>
            <a:srgbClr val="FFC000"/>
          </a:solidFill>
          <a:ln>
            <a:solidFill>
              <a:srgbClr val="FFC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3" name="Parallelogram 22"/>
          <p:cNvSpPr/>
          <p:nvPr/>
        </p:nvSpPr>
        <p:spPr>
          <a:xfrm>
            <a:off x="13689563" y="9944100"/>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24" name="Picture 23"/>
          <p:cNvPicPr>
            <a:picLocks noChangeAspect="1"/>
          </p:cNvPicPr>
          <p:nvPr/>
        </p:nvPicPr>
        <p:blipFill>
          <a:blip r:embed="rId2"/>
          <a:stretch>
            <a:fillRect/>
          </a:stretch>
        </p:blipFill>
        <p:spPr>
          <a:xfrm rot="10800000" flipV="1">
            <a:off x="-23701" y="9668509"/>
            <a:ext cx="18326941" cy="268180"/>
          </a:xfrm>
          <a:prstGeom prst="rect">
            <a:avLst/>
          </a:prstGeom>
        </p:spPr>
      </p:pic>
      <p:pic>
        <p:nvPicPr>
          <p:cNvPr id="6" name="Picture 5"/>
          <p:cNvPicPr>
            <a:picLocks noChangeAspect="1"/>
          </p:cNvPicPr>
          <p:nvPr/>
        </p:nvPicPr>
        <p:blipFill>
          <a:blip r:embed="rId3"/>
          <a:stretch>
            <a:fillRect/>
          </a:stretch>
        </p:blipFill>
        <p:spPr>
          <a:xfrm>
            <a:off x="15030450" y="488370"/>
            <a:ext cx="3257550" cy="523875"/>
          </a:xfrm>
          <a:prstGeom prst="rect">
            <a:avLst/>
          </a:prstGeom>
        </p:spPr>
      </p:pic>
      <p:sp>
        <p:nvSpPr>
          <p:cNvPr id="25" name="Parallelogram 24"/>
          <p:cNvSpPr/>
          <p:nvPr/>
        </p:nvSpPr>
        <p:spPr>
          <a:xfrm>
            <a:off x="13030200" y="760176"/>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13" name="Picture 12"/>
          <p:cNvPicPr>
            <a:picLocks noChangeAspect="1"/>
          </p:cNvPicPr>
          <p:nvPr/>
        </p:nvPicPr>
        <p:blipFill>
          <a:blip r:embed="rId3"/>
          <a:stretch>
            <a:fillRect/>
          </a:stretch>
        </p:blipFill>
        <p:spPr>
          <a:xfrm rot="10800000">
            <a:off x="0" y="612538"/>
            <a:ext cx="3257550" cy="523875"/>
          </a:xfrm>
          <a:prstGeom prst="rect">
            <a:avLst/>
          </a:prstGeom>
        </p:spPr>
      </p:pic>
      <p:sp>
        <p:nvSpPr>
          <p:cNvPr id="14" name="Parallelogram 13"/>
          <p:cNvSpPr/>
          <p:nvPr/>
        </p:nvSpPr>
        <p:spPr>
          <a:xfrm>
            <a:off x="659363" y="577015"/>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17" name="Round Single Corner Rectangle 16"/>
          <p:cNvSpPr/>
          <p:nvPr/>
        </p:nvSpPr>
        <p:spPr>
          <a:xfrm>
            <a:off x="5494020" y="160397"/>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5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Review of Literature     </a:t>
            </a:r>
            <a:r>
              <a:rPr lang="en-PH" sz="6000" b="1" u="sng" dirty="0" smtClean="0">
                <a:solidFill>
                  <a:srgbClr val="820000"/>
                </a:solidFill>
                <a:latin typeface="Arial" panose="020B0604020202020204" pitchFamily="34" charset="0"/>
                <a:cs typeface="Arial" panose="020B0604020202020204" pitchFamily="34" charset="0"/>
              </a:rPr>
              <a:t> </a:t>
            </a:r>
          </a:p>
        </p:txBody>
      </p:sp>
      <p:sp>
        <p:nvSpPr>
          <p:cNvPr id="2" name="Left Brace 1"/>
          <p:cNvSpPr/>
          <p:nvPr/>
        </p:nvSpPr>
        <p:spPr>
          <a:xfrm>
            <a:off x="10933625" y="1202819"/>
            <a:ext cx="45719" cy="10490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PH"/>
          </a:p>
        </p:txBody>
      </p:sp>
      <p:sp>
        <p:nvSpPr>
          <p:cNvPr id="3" name="Rectangle 2"/>
          <p:cNvSpPr/>
          <p:nvPr/>
        </p:nvSpPr>
        <p:spPr>
          <a:xfrm>
            <a:off x="152401" y="1921774"/>
            <a:ext cx="11486917" cy="2554545"/>
          </a:xfrm>
          <a:prstGeom prst="rect">
            <a:avLst/>
          </a:prstGeom>
        </p:spPr>
        <p:txBody>
          <a:bodyPr wrap="square">
            <a:spAutoFit/>
          </a:bodyPr>
          <a:lstStyle/>
          <a:p>
            <a:pPr algn="just"/>
            <a:r>
              <a:rPr lang="en-PH" sz="4000" dirty="0">
                <a:solidFill>
                  <a:srgbClr val="820000"/>
                </a:solidFill>
                <a:latin typeface="Arial" panose="020B0604020202020204" pitchFamily="34" charset="0"/>
                <a:cs typeface="Arial" panose="020B0604020202020204" pitchFamily="34" charset="0"/>
              </a:rPr>
              <a:t> </a:t>
            </a:r>
            <a:r>
              <a:rPr lang="en-PH" sz="4000" dirty="0" smtClean="0">
                <a:solidFill>
                  <a:srgbClr val="820000"/>
                </a:solidFill>
                <a:latin typeface="Arial" panose="020B0604020202020204" pitchFamily="34" charset="0"/>
                <a:cs typeface="Arial" panose="020B0604020202020204" pitchFamily="34" charset="0"/>
              </a:rPr>
              <a:t>  </a:t>
            </a:r>
            <a:r>
              <a:rPr lang="en-PH" sz="4000" dirty="0">
                <a:solidFill>
                  <a:srgbClr val="820000"/>
                </a:solidFill>
                <a:latin typeface="Arial" panose="020B0604020202020204" pitchFamily="34" charset="0"/>
                <a:cs typeface="Arial" panose="020B0604020202020204" pitchFamily="34" charset="0"/>
              </a:rPr>
              <a:t> </a:t>
            </a:r>
            <a:r>
              <a:rPr lang="en-PH" sz="4000" dirty="0" smtClean="0">
                <a:solidFill>
                  <a:srgbClr val="820000"/>
                </a:solidFill>
                <a:latin typeface="Arial" panose="020B0604020202020204" pitchFamily="34" charset="0"/>
                <a:cs typeface="Arial" panose="020B0604020202020204" pitchFamily="34" charset="0"/>
              </a:rPr>
              <a:t>2.6.1  </a:t>
            </a:r>
            <a:r>
              <a:rPr lang="en-PH" sz="4000" b="1" dirty="0" smtClean="0">
                <a:solidFill>
                  <a:srgbClr val="820000"/>
                </a:solidFill>
                <a:latin typeface="Arial" panose="020B0604020202020204" pitchFamily="34" charset="0"/>
                <a:cs typeface="Arial" panose="020B0604020202020204" pitchFamily="34" charset="0"/>
              </a:rPr>
              <a:t>The Induced-Fit Theory</a:t>
            </a:r>
          </a:p>
          <a:p>
            <a:pPr algn="just"/>
            <a:r>
              <a:rPr lang="en-PH" sz="4000" dirty="0"/>
              <a:t> </a:t>
            </a:r>
            <a:endParaRPr lang="en-PH" sz="4000" b="1" dirty="0">
              <a:solidFill>
                <a:srgbClr val="820000"/>
              </a:solidFill>
              <a:latin typeface="Arial" panose="020B0604020202020204" pitchFamily="34" charset="0"/>
              <a:cs typeface="Arial" panose="020B0604020202020204" pitchFamily="34" charset="0"/>
            </a:endParaRPr>
          </a:p>
          <a:p>
            <a:pPr algn="just"/>
            <a:endParaRPr lang="en-PH" sz="4000" b="1" dirty="0" smtClean="0">
              <a:solidFill>
                <a:srgbClr val="820000"/>
              </a:solidFill>
              <a:latin typeface="Arial" panose="020B0604020202020204" pitchFamily="34" charset="0"/>
              <a:cs typeface="Arial" panose="020B0604020202020204" pitchFamily="34" charset="0"/>
            </a:endParaRPr>
          </a:p>
          <a:p>
            <a:pPr algn="just"/>
            <a:r>
              <a:rPr lang="en-PH" sz="4000" b="1"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21" name="Rectangle 20"/>
          <p:cNvSpPr/>
          <p:nvPr/>
        </p:nvSpPr>
        <p:spPr>
          <a:xfrm>
            <a:off x="383021" y="2410799"/>
            <a:ext cx="17460997" cy="2554545"/>
          </a:xfrm>
          <a:prstGeom prst="rect">
            <a:avLst/>
          </a:prstGeom>
        </p:spPr>
        <p:txBody>
          <a:bodyPr wrap="square">
            <a:spAutoFit/>
          </a:bodyPr>
          <a:lstStyle/>
          <a:p>
            <a:pPr algn="just"/>
            <a:endParaRPr lang="en-PH" sz="3200" b="1" dirty="0" smtClean="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a:p>
            <a:pPr marL="571500" indent="-571500" algn="just">
              <a:buFont typeface="Arial" panose="020B0604020202020204" pitchFamily="34" charset="0"/>
              <a:buChar char="•"/>
            </a:pPr>
            <a:r>
              <a:rPr lang="en-PH" sz="3200" dirty="0">
                <a:solidFill>
                  <a:srgbClr val="820000"/>
                </a:solidFill>
                <a:latin typeface="Arial" panose="020B0604020202020204" pitchFamily="34" charset="0"/>
                <a:cs typeface="Arial" panose="020B0604020202020204" pitchFamily="34" charset="0"/>
              </a:rPr>
              <a:t>Daniel </a:t>
            </a:r>
            <a:r>
              <a:rPr lang="en-PH" sz="3200" dirty="0" err="1">
                <a:solidFill>
                  <a:srgbClr val="820000"/>
                </a:solidFill>
                <a:latin typeface="Arial" panose="020B0604020202020204" pitchFamily="34" charset="0"/>
                <a:cs typeface="Arial" panose="020B0604020202020204" pitchFamily="34" charset="0"/>
              </a:rPr>
              <a:t>Koshland</a:t>
            </a:r>
            <a:r>
              <a:rPr lang="en-PH" sz="3200" dirty="0">
                <a:solidFill>
                  <a:srgbClr val="820000"/>
                </a:solidFill>
                <a:latin typeface="Arial" panose="020B0604020202020204" pitchFamily="34" charset="0"/>
                <a:cs typeface="Arial" panose="020B0604020202020204" pitchFamily="34" charset="0"/>
              </a:rPr>
              <a:t> proposed the "induced fit theory" in 1958. The fundamental concept is that throughout the character recognition, both the ligand and target, as seen in </a:t>
            </a:r>
            <a:r>
              <a:rPr lang="en-PH" sz="3200" b="1" dirty="0">
                <a:solidFill>
                  <a:srgbClr val="820000"/>
                </a:solidFill>
                <a:latin typeface="Arial" panose="020B0604020202020204" pitchFamily="34" charset="0"/>
                <a:cs typeface="Arial" panose="020B0604020202020204" pitchFamily="34" charset="0"/>
              </a:rPr>
              <a:t>Figure 10</a:t>
            </a:r>
            <a:r>
              <a:rPr lang="en-PH" sz="3200" dirty="0">
                <a:solidFill>
                  <a:srgbClr val="820000"/>
                </a:solidFill>
                <a:latin typeface="Arial" panose="020B0604020202020204" pitchFamily="34" charset="0"/>
                <a:cs typeface="Arial" panose="020B0604020202020204" pitchFamily="34" charset="0"/>
              </a:rPr>
              <a:t>, adapt to one another by modest conformational changes until an ideal match is </a:t>
            </a:r>
            <a:r>
              <a:rPr lang="en-PH" sz="3200" dirty="0" smtClean="0">
                <a:solidFill>
                  <a:srgbClr val="820000"/>
                </a:solidFill>
                <a:latin typeface="Arial" panose="020B0604020202020204" pitchFamily="34" charset="0"/>
                <a:cs typeface="Arial" panose="020B0604020202020204" pitchFamily="34" charset="0"/>
              </a:rPr>
              <a:t>reached.</a:t>
            </a:r>
            <a:r>
              <a:rPr lang="en-PH" sz="3200" baseline="30000" dirty="0">
                <a:solidFill>
                  <a:srgbClr val="820000"/>
                </a:solidFill>
                <a:latin typeface="Arial" panose="020B0604020202020204" pitchFamily="34" charset="0"/>
                <a:cs typeface="Arial" panose="020B0604020202020204" pitchFamily="34" charset="0"/>
              </a:rPr>
              <a:t> </a:t>
            </a:r>
            <a:r>
              <a:rPr lang="en-PH" sz="3200" baseline="30000" dirty="0" smtClean="0">
                <a:solidFill>
                  <a:srgbClr val="820000"/>
                </a:solidFill>
                <a:latin typeface="Arial" panose="020B0604020202020204" pitchFamily="34" charset="0"/>
                <a:cs typeface="Arial" panose="020B0604020202020204" pitchFamily="34" charset="0"/>
              </a:rPr>
              <a:t>74</a:t>
            </a:r>
            <a:endParaRPr lang="en-PH" sz="3200" baseline="30000" dirty="0">
              <a:solidFill>
                <a:srgbClr val="820000"/>
              </a:solidFill>
              <a:latin typeface="Arial" panose="020B0604020202020204" pitchFamily="34" charset="0"/>
              <a:cs typeface="Arial" panose="020B0604020202020204" pitchFamily="34" charset="0"/>
            </a:endParaRPr>
          </a:p>
          <a:p>
            <a:pPr marL="571500" indent="-571500" algn="just">
              <a:buFont typeface="Arial" panose="020B0604020202020204" pitchFamily="34" charset="0"/>
              <a:buChar char="•"/>
            </a:pPr>
            <a:endParaRPr lang="en-PH" sz="32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5" name="Rectangle 2"/>
          <p:cNvSpPr>
            <a:spLocks noChangeArrowheads="1"/>
          </p:cNvSpPr>
          <p:nvPr/>
        </p:nvSpPr>
        <p:spPr bwMode="auto">
          <a:xfrm>
            <a:off x="5943600" y="5234741"/>
            <a:ext cx="18288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PH"/>
          </a:p>
        </p:txBody>
      </p:sp>
      <p:pic>
        <p:nvPicPr>
          <p:cNvPr id="7169" name="Picture 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4800" y="4890798"/>
            <a:ext cx="10272964" cy="3218228"/>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4"/>
          <p:cNvSpPr>
            <a:spLocks noChangeArrowheads="1"/>
          </p:cNvSpPr>
          <p:nvPr/>
        </p:nvSpPr>
        <p:spPr bwMode="auto">
          <a:xfrm>
            <a:off x="6148605" y="8596381"/>
            <a:ext cx="592982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PH" sz="3200" b="1"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Figure 10. </a:t>
            </a:r>
            <a:r>
              <a:rPr kumimoji="0" lang="en-PH" sz="32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Induced-Fit Model</a:t>
            </a:r>
            <a:r>
              <a:rPr kumimoji="0" lang="en-PH" sz="3200" b="0" i="0" u="none" strike="noStrike" cap="none" normalizeH="0" baseline="3000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74</a:t>
            </a:r>
            <a:endParaRPr kumimoji="0" lang="en-PH" sz="44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8668810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Box 13"/>
          <p:cNvSpPr txBox="1"/>
          <p:nvPr/>
        </p:nvSpPr>
        <p:spPr>
          <a:xfrm>
            <a:off x="1671387" y="1531257"/>
            <a:ext cx="2203151" cy="2306426"/>
          </a:xfrm>
          <a:prstGeom prst="rect">
            <a:avLst/>
          </a:prstGeom>
        </p:spPr>
        <p:txBody>
          <a:bodyPr lIns="50800" tIns="50800" rIns="50800" bIns="50800" rtlCol="0" anchor="ctr"/>
          <a:lstStyle/>
          <a:p>
            <a:pPr algn="ctr">
              <a:lnSpc>
                <a:spcPts val="2659"/>
              </a:lnSpc>
              <a:spcBef>
                <a:spcPct val="0"/>
              </a:spcBef>
            </a:pPr>
            <a:endParaRPr/>
          </a:p>
        </p:txBody>
      </p:sp>
      <p:pic>
        <p:nvPicPr>
          <p:cNvPr id="19" name="Picture 18"/>
          <p:cNvPicPr>
            <a:picLocks noChangeAspect="1"/>
          </p:cNvPicPr>
          <p:nvPr/>
        </p:nvPicPr>
        <p:blipFill>
          <a:blip r:embed="rId2"/>
          <a:stretch>
            <a:fillRect/>
          </a:stretch>
        </p:blipFill>
        <p:spPr>
          <a:xfrm rot="10800000">
            <a:off x="-30481" y="1188552"/>
            <a:ext cx="18288000" cy="267610"/>
          </a:xfrm>
          <a:prstGeom prst="rect">
            <a:avLst/>
          </a:prstGeom>
        </p:spPr>
      </p:pic>
      <p:pic>
        <p:nvPicPr>
          <p:cNvPr id="20" name="Picture 19"/>
          <p:cNvPicPr>
            <a:picLocks noChangeAspect="1"/>
          </p:cNvPicPr>
          <p:nvPr/>
        </p:nvPicPr>
        <p:blipFill>
          <a:blip r:embed="rId2"/>
          <a:stretch>
            <a:fillRect/>
          </a:stretch>
        </p:blipFill>
        <p:spPr>
          <a:xfrm>
            <a:off x="0" y="0"/>
            <a:ext cx="18288000" cy="267611"/>
          </a:xfrm>
          <a:prstGeom prst="rect">
            <a:avLst/>
          </a:prstGeom>
        </p:spPr>
      </p:pic>
      <p:sp>
        <p:nvSpPr>
          <p:cNvPr id="4" name="Parallelogram 3"/>
          <p:cNvSpPr/>
          <p:nvPr/>
        </p:nvSpPr>
        <p:spPr>
          <a:xfrm>
            <a:off x="152401" y="9936689"/>
            <a:ext cx="11963400" cy="236011"/>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2" name="Parallelogram 21"/>
          <p:cNvSpPr/>
          <p:nvPr/>
        </p:nvSpPr>
        <p:spPr>
          <a:xfrm>
            <a:off x="12192000" y="9944100"/>
            <a:ext cx="1421363" cy="228600"/>
          </a:xfrm>
          <a:prstGeom prst="parallelogram">
            <a:avLst/>
          </a:prstGeom>
          <a:solidFill>
            <a:srgbClr val="FFC000"/>
          </a:solidFill>
          <a:ln>
            <a:solidFill>
              <a:srgbClr val="FFC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3" name="Parallelogram 22"/>
          <p:cNvSpPr/>
          <p:nvPr/>
        </p:nvSpPr>
        <p:spPr>
          <a:xfrm>
            <a:off x="13689563" y="9944100"/>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24" name="Picture 23"/>
          <p:cNvPicPr>
            <a:picLocks noChangeAspect="1"/>
          </p:cNvPicPr>
          <p:nvPr/>
        </p:nvPicPr>
        <p:blipFill>
          <a:blip r:embed="rId2"/>
          <a:stretch>
            <a:fillRect/>
          </a:stretch>
        </p:blipFill>
        <p:spPr>
          <a:xfrm rot="10800000" flipV="1">
            <a:off x="-23701" y="9668509"/>
            <a:ext cx="18326941" cy="268180"/>
          </a:xfrm>
          <a:prstGeom prst="rect">
            <a:avLst/>
          </a:prstGeom>
        </p:spPr>
      </p:pic>
      <p:pic>
        <p:nvPicPr>
          <p:cNvPr id="6" name="Picture 5"/>
          <p:cNvPicPr>
            <a:picLocks noChangeAspect="1"/>
          </p:cNvPicPr>
          <p:nvPr/>
        </p:nvPicPr>
        <p:blipFill>
          <a:blip r:embed="rId3"/>
          <a:stretch>
            <a:fillRect/>
          </a:stretch>
        </p:blipFill>
        <p:spPr>
          <a:xfrm>
            <a:off x="15030450" y="488370"/>
            <a:ext cx="3257550" cy="523875"/>
          </a:xfrm>
          <a:prstGeom prst="rect">
            <a:avLst/>
          </a:prstGeom>
        </p:spPr>
      </p:pic>
      <p:sp>
        <p:nvSpPr>
          <p:cNvPr id="25" name="Parallelogram 24"/>
          <p:cNvSpPr/>
          <p:nvPr/>
        </p:nvSpPr>
        <p:spPr>
          <a:xfrm>
            <a:off x="13030200" y="760176"/>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13" name="Picture 12"/>
          <p:cNvPicPr>
            <a:picLocks noChangeAspect="1"/>
          </p:cNvPicPr>
          <p:nvPr/>
        </p:nvPicPr>
        <p:blipFill>
          <a:blip r:embed="rId3"/>
          <a:stretch>
            <a:fillRect/>
          </a:stretch>
        </p:blipFill>
        <p:spPr>
          <a:xfrm rot="10800000">
            <a:off x="0" y="612538"/>
            <a:ext cx="3257550" cy="523875"/>
          </a:xfrm>
          <a:prstGeom prst="rect">
            <a:avLst/>
          </a:prstGeom>
        </p:spPr>
      </p:pic>
      <p:sp>
        <p:nvSpPr>
          <p:cNvPr id="14" name="Parallelogram 13"/>
          <p:cNvSpPr/>
          <p:nvPr/>
        </p:nvSpPr>
        <p:spPr>
          <a:xfrm>
            <a:off x="659363" y="577015"/>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17" name="Round Single Corner Rectangle 16"/>
          <p:cNvSpPr/>
          <p:nvPr/>
        </p:nvSpPr>
        <p:spPr>
          <a:xfrm>
            <a:off x="5494020" y="160397"/>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5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Review of Literature     </a:t>
            </a:r>
            <a:r>
              <a:rPr lang="en-PH" sz="6000" b="1" u="sng" dirty="0" smtClean="0">
                <a:solidFill>
                  <a:srgbClr val="820000"/>
                </a:solidFill>
                <a:latin typeface="Arial" panose="020B0604020202020204" pitchFamily="34" charset="0"/>
                <a:cs typeface="Arial" panose="020B0604020202020204" pitchFamily="34" charset="0"/>
              </a:rPr>
              <a:t> </a:t>
            </a:r>
          </a:p>
        </p:txBody>
      </p:sp>
      <p:sp>
        <p:nvSpPr>
          <p:cNvPr id="2" name="Left Brace 1"/>
          <p:cNvSpPr/>
          <p:nvPr/>
        </p:nvSpPr>
        <p:spPr>
          <a:xfrm>
            <a:off x="10933625" y="1202819"/>
            <a:ext cx="45719" cy="10490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PH"/>
          </a:p>
        </p:txBody>
      </p:sp>
      <p:sp>
        <p:nvSpPr>
          <p:cNvPr id="3" name="Rectangle 2"/>
          <p:cNvSpPr/>
          <p:nvPr/>
        </p:nvSpPr>
        <p:spPr>
          <a:xfrm>
            <a:off x="-249439" y="1594740"/>
            <a:ext cx="11486917" cy="2831544"/>
          </a:xfrm>
          <a:prstGeom prst="rect">
            <a:avLst/>
          </a:prstGeom>
        </p:spPr>
        <p:txBody>
          <a:bodyPr wrap="square">
            <a:spAutoFit/>
          </a:bodyPr>
          <a:lstStyle/>
          <a:p>
            <a:pPr algn="just"/>
            <a:r>
              <a:rPr lang="en-PH" sz="4000" dirty="0">
                <a:solidFill>
                  <a:srgbClr val="820000"/>
                </a:solidFill>
                <a:latin typeface="Arial" panose="020B0604020202020204" pitchFamily="34" charset="0"/>
                <a:cs typeface="Arial" panose="020B0604020202020204" pitchFamily="34" charset="0"/>
              </a:rPr>
              <a:t> </a:t>
            </a:r>
            <a:r>
              <a:rPr lang="en-PH" sz="4000" dirty="0" smtClean="0">
                <a:solidFill>
                  <a:srgbClr val="820000"/>
                </a:solidFill>
                <a:latin typeface="Arial" panose="020B0604020202020204" pitchFamily="34" charset="0"/>
                <a:cs typeface="Arial" panose="020B0604020202020204" pitchFamily="34" charset="0"/>
              </a:rPr>
              <a:t>  </a:t>
            </a:r>
            <a:r>
              <a:rPr lang="en-PH" sz="4000" dirty="0">
                <a:solidFill>
                  <a:srgbClr val="820000"/>
                </a:solidFill>
                <a:latin typeface="Arial" panose="020B0604020202020204" pitchFamily="34" charset="0"/>
                <a:cs typeface="Arial" panose="020B0604020202020204" pitchFamily="34" charset="0"/>
              </a:rPr>
              <a:t> </a:t>
            </a:r>
            <a:r>
              <a:rPr lang="en-PH" sz="4000" dirty="0" smtClean="0">
                <a:solidFill>
                  <a:srgbClr val="820000"/>
                </a:solidFill>
                <a:latin typeface="Arial" panose="020B0604020202020204" pitchFamily="34" charset="0"/>
                <a:cs typeface="Arial" panose="020B0604020202020204" pitchFamily="34" charset="0"/>
              </a:rPr>
              <a:t>2.6.2  </a:t>
            </a:r>
            <a:r>
              <a:rPr lang="en-PH" sz="4000" b="1" dirty="0" smtClean="0">
                <a:solidFill>
                  <a:srgbClr val="820000"/>
                </a:solidFill>
                <a:latin typeface="Arial" panose="020B0604020202020204" pitchFamily="34" charset="0"/>
                <a:cs typeface="Arial" panose="020B0604020202020204" pitchFamily="34" charset="0"/>
              </a:rPr>
              <a:t>The conformation ensemble model</a:t>
            </a:r>
          </a:p>
          <a:p>
            <a:pPr marL="0" lvl="2" algn="just"/>
            <a:endParaRPr lang="en-PH" b="1" dirty="0"/>
          </a:p>
          <a:p>
            <a:pPr algn="just"/>
            <a:r>
              <a:rPr lang="en-PH" sz="4000" dirty="0" smtClean="0"/>
              <a:t> </a:t>
            </a:r>
            <a:endParaRPr lang="en-PH" sz="4000" b="1" dirty="0">
              <a:solidFill>
                <a:srgbClr val="820000"/>
              </a:solidFill>
              <a:latin typeface="Arial" panose="020B0604020202020204" pitchFamily="34" charset="0"/>
              <a:cs typeface="Arial" panose="020B0604020202020204" pitchFamily="34" charset="0"/>
            </a:endParaRPr>
          </a:p>
          <a:p>
            <a:pPr algn="just"/>
            <a:endParaRPr lang="en-PH" sz="4000" b="1" dirty="0" smtClean="0">
              <a:solidFill>
                <a:srgbClr val="820000"/>
              </a:solidFill>
              <a:latin typeface="Arial" panose="020B0604020202020204" pitchFamily="34" charset="0"/>
              <a:cs typeface="Arial" panose="020B0604020202020204" pitchFamily="34" charset="0"/>
            </a:endParaRPr>
          </a:p>
          <a:p>
            <a:pPr algn="just"/>
            <a:r>
              <a:rPr lang="en-PH" sz="4000" b="1"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21" name="Rectangle 20"/>
          <p:cNvSpPr/>
          <p:nvPr/>
        </p:nvSpPr>
        <p:spPr>
          <a:xfrm>
            <a:off x="818307" y="4827647"/>
            <a:ext cx="16487659" cy="5345053"/>
          </a:xfrm>
          <a:prstGeom prst="rect">
            <a:avLst/>
          </a:prstGeom>
        </p:spPr>
        <p:txBody>
          <a:bodyPr wrap="square">
            <a:spAutoFit/>
          </a:bodyPr>
          <a:lstStyle/>
          <a:p>
            <a:pPr algn="just"/>
            <a:endParaRPr lang="en-PH" sz="3200" b="1" dirty="0" smtClean="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a:p>
            <a:pPr algn="just"/>
            <a:endParaRPr lang="en-PH" sz="3200" baseline="30000" dirty="0">
              <a:solidFill>
                <a:srgbClr val="820000"/>
              </a:solidFill>
              <a:latin typeface="Arial" panose="020B0604020202020204" pitchFamily="34" charset="0"/>
              <a:cs typeface="Arial" panose="020B0604020202020204" pitchFamily="34" charset="0"/>
            </a:endParaRPr>
          </a:p>
          <a:p>
            <a:pPr algn="just"/>
            <a:endParaRPr lang="en-PH" sz="3200" baseline="30000" dirty="0">
              <a:solidFill>
                <a:srgbClr val="820000"/>
              </a:solidFill>
              <a:latin typeface="Arial" panose="020B0604020202020204" pitchFamily="34" charset="0"/>
              <a:cs typeface="Arial" panose="020B0604020202020204" pitchFamily="34" charset="0"/>
            </a:endParaRPr>
          </a:p>
          <a:p>
            <a:pPr marL="571500" indent="-571500" algn="just">
              <a:buFont typeface="Arial" panose="020B0604020202020204" pitchFamily="34" charset="0"/>
              <a:buChar char="•"/>
            </a:pPr>
            <a:r>
              <a:rPr lang="en-PH" sz="3200" dirty="0">
                <a:solidFill>
                  <a:srgbClr val="820000"/>
                </a:solidFill>
                <a:latin typeface="Arial" panose="020B0604020202020204" pitchFamily="34" charset="0"/>
                <a:cs typeface="Arial" panose="020B0604020202020204" pitchFamily="34" charset="0"/>
              </a:rPr>
              <a:t>An untargeted bioassay strategy using natural product databases provides an efficient way of profiling and </a:t>
            </a:r>
            <a:r>
              <a:rPr lang="en-PH" sz="3200" dirty="0" err="1">
                <a:solidFill>
                  <a:srgbClr val="820000"/>
                </a:solidFill>
                <a:latin typeface="Arial" panose="020B0604020202020204" pitchFamily="34" charset="0"/>
                <a:cs typeface="Arial" panose="020B0604020202020204" pitchFamily="34" charset="0"/>
              </a:rPr>
              <a:t>dereplicating</a:t>
            </a:r>
            <a:r>
              <a:rPr lang="en-PH" sz="3200" dirty="0">
                <a:solidFill>
                  <a:srgbClr val="820000"/>
                </a:solidFill>
                <a:latin typeface="Arial" panose="020B0604020202020204" pitchFamily="34" charset="0"/>
                <a:cs typeface="Arial" panose="020B0604020202020204" pitchFamily="34" charset="0"/>
              </a:rPr>
              <a:t> medicinal plants before proceeding to bioassay-guided fractionation to look for novel compounds. In this work, we illustrate the strategy of untargeted bioassay for the study of medicinal plants. Briefly, the untargeted bioassay strategy that is used in this work involves the preparation of several non-identical extracts and fractions which are bio </a:t>
            </a:r>
            <a:r>
              <a:rPr lang="en-PH" sz="3200" dirty="0" smtClean="0">
                <a:solidFill>
                  <a:srgbClr val="820000"/>
                </a:solidFill>
                <a:latin typeface="Arial" panose="020B0604020202020204" pitchFamily="34" charset="0"/>
                <a:cs typeface="Arial" panose="020B0604020202020204" pitchFamily="34" charset="0"/>
              </a:rPr>
              <a:t>assayed.</a:t>
            </a:r>
            <a:r>
              <a:rPr lang="en-PH" sz="3200" baseline="30000" dirty="0">
                <a:solidFill>
                  <a:srgbClr val="820000"/>
                </a:solidFill>
                <a:latin typeface="Arial" panose="020B0604020202020204" pitchFamily="34" charset="0"/>
                <a:cs typeface="Arial" panose="020B0604020202020204" pitchFamily="34" charset="0"/>
              </a:rPr>
              <a:t> </a:t>
            </a:r>
            <a:r>
              <a:rPr lang="en-PH" sz="3200" baseline="30000" dirty="0" smtClean="0">
                <a:solidFill>
                  <a:srgbClr val="820000"/>
                </a:solidFill>
                <a:latin typeface="Arial" panose="020B0604020202020204" pitchFamily="34" charset="0"/>
                <a:cs typeface="Arial" panose="020B0604020202020204" pitchFamily="34" charset="0"/>
              </a:rPr>
              <a:t>75</a:t>
            </a:r>
            <a:endParaRPr lang="en-PH" sz="3200" baseline="30000" dirty="0">
              <a:solidFill>
                <a:srgbClr val="820000"/>
              </a:solidFill>
              <a:latin typeface="Arial" panose="020B0604020202020204" pitchFamily="34" charset="0"/>
              <a:cs typeface="Arial" panose="020B0604020202020204" pitchFamily="34" charset="0"/>
            </a:endParaRPr>
          </a:p>
          <a:p>
            <a:pPr marL="571500" indent="-571500" algn="just">
              <a:buFont typeface="Arial" panose="020B0604020202020204" pitchFamily="34" charset="0"/>
              <a:buChar char="•"/>
            </a:pPr>
            <a:endParaRPr lang="en-PH" sz="3200" baseline="30000" dirty="0">
              <a:solidFill>
                <a:srgbClr val="820000"/>
              </a:solidFill>
              <a:latin typeface="Arial" panose="020B0604020202020204" pitchFamily="34" charset="0"/>
              <a:cs typeface="Arial" panose="020B0604020202020204" pitchFamily="34" charset="0"/>
            </a:endParaRPr>
          </a:p>
          <a:p>
            <a:pPr marL="571500" indent="-571500" algn="just">
              <a:buFont typeface="Arial" panose="020B0604020202020204" pitchFamily="34" charset="0"/>
              <a:buChar char="•"/>
            </a:pPr>
            <a:endParaRPr lang="en-PH" sz="3200" baseline="30000" dirty="0">
              <a:solidFill>
                <a:srgbClr val="820000"/>
              </a:solidFill>
              <a:latin typeface="Arial" panose="020B0604020202020204" pitchFamily="34" charset="0"/>
              <a:cs typeface="Arial" panose="020B0604020202020204" pitchFamily="34" charset="0"/>
            </a:endParaRPr>
          </a:p>
          <a:p>
            <a:pPr algn="just"/>
            <a:endParaRPr lang="en-PH" sz="32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5" name="Rectangle 2"/>
          <p:cNvSpPr>
            <a:spLocks noChangeArrowheads="1"/>
          </p:cNvSpPr>
          <p:nvPr/>
        </p:nvSpPr>
        <p:spPr bwMode="auto">
          <a:xfrm>
            <a:off x="3886200" y="5186475"/>
            <a:ext cx="18288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PH"/>
          </a:p>
        </p:txBody>
      </p:sp>
      <p:sp>
        <p:nvSpPr>
          <p:cNvPr id="26" name="Rectangle 25"/>
          <p:cNvSpPr/>
          <p:nvPr/>
        </p:nvSpPr>
        <p:spPr>
          <a:xfrm>
            <a:off x="-249440" y="5009211"/>
            <a:ext cx="11486917" cy="3785652"/>
          </a:xfrm>
          <a:prstGeom prst="rect">
            <a:avLst/>
          </a:prstGeom>
        </p:spPr>
        <p:txBody>
          <a:bodyPr wrap="square">
            <a:spAutoFit/>
          </a:bodyPr>
          <a:lstStyle/>
          <a:p>
            <a:pPr algn="just"/>
            <a:r>
              <a:rPr lang="en-PH" sz="4000" dirty="0">
                <a:solidFill>
                  <a:srgbClr val="820000"/>
                </a:solidFill>
                <a:latin typeface="Arial" panose="020B0604020202020204" pitchFamily="34" charset="0"/>
                <a:cs typeface="Arial" panose="020B0604020202020204" pitchFamily="34" charset="0"/>
              </a:rPr>
              <a:t> </a:t>
            </a:r>
            <a:r>
              <a:rPr lang="en-PH" sz="4000" dirty="0" smtClean="0">
                <a:solidFill>
                  <a:srgbClr val="820000"/>
                </a:solidFill>
                <a:latin typeface="Arial" panose="020B0604020202020204" pitchFamily="34" charset="0"/>
                <a:cs typeface="Arial" panose="020B0604020202020204" pitchFamily="34" charset="0"/>
              </a:rPr>
              <a:t>  </a:t>
            </a:r>
            <a:r>
              <a:rPr lang="en-PH" sz="4000" dirty="0">
                <a:solidFill>
                  <a:srgbClr val="820000"/>
                </a:solidFill>
                <a:latin typeface="Arial" panose="020B0604020202020204" pitchFamily="34" charset="0"/>
                <a:cs typeface="Arial" panose="020B0604020202020204" pitchFamily="34" charset="0"/>
              </a:rPr>
              <a:t> </a:t>
            </a:r>
            <a:r>
              <a:rPr lang="en-PH" sz="4000" dirty="0" smtClean="0">
                <a:solidFill>
                  <a:srgbClr val="820000"/>
                </a:solidFill>
                <a:latin typeface="Arial" panose="020B0604020202020204" pitchFamily="34" charset="0"/>
                <a:cs typeface="Arial" panose="020B0604020202020204" pitchFamily="34" charset="0"/>
              </a:rPr>
              <a:t>2.7   </a:t>
            </a:r>
            <a:r>
              <a:rPr lang="en-PH" sz="4000" b="1" dirty="0">
                <a:solidFill>
                  <a:srgbClr val="820000"/>
                </a:solidFill>
                <a:latin typeface="Arial" panose="020B0604020202020204" pitchFamily="34" charset="0"/>
                <a:cs typeface="Arial" panose="020B0604020202020204" pitchFamily="34" charset="0"/>
              </a:rPr>
              <a:t>U</a:t>
            </a:r>
            <a:r>
              <a:rPr lang="en-PH" sz="4000" b="1" dirty="0" smtClean="0">
                <a:solidFill>
                  <a:srgbClr val="820000"/>
                </a:solidFill>
                <a:latin typeface="Arial" panose="020B0604020202020204" pitchFamily="34" charset="0"/>
                <a:cs typeface="Arial" panose="020B0604020202020204" pitchFamily="34" charset="0"/>
              </a:rPr>
              <a:t>ntargeted </a:t>
            </a:r>
            <a:r>
              <a:rPr lang="en-PH" sz="4000" b="1" dirty="0" err="1" smtClean="0">
                <a:solidFill>
                  <a:srgbClr val="820000"/>
                </a:solidFill>
                <a:latin typeface="Arial" panose="020B0604020202020204" pitchFamily="34" charset="0"/>
                <a:cs typeface="Arial" panose="020B0604020202020204" pitchFamily="34" charset="0"/>
              </a:rPr>
              <a:t>BioAssay</a:t>
            </a:r>
            <a:endParaRPr lang="en-PH" sz="4000" b="1" dirty="0" smtClean="0">
              <a:solidFill>
                <a:srgbClr val="820000"/>
              </a:solidFill>
              <a:latin typeface="Arial" panose="020B0604020202020204" pitchFamily="34" charset="0"/>
              <a:cs typeface="Arial" panose="020B0604020202020204" pitchFamily="34" charset="0"/>
            </a:endParaRPr>
          </a:p>
          <a:p>
            <a:pPr algn="just"/>
            <a:endParaRPr lang="en-PH" sz="4000" b="1" dirty="0" smtClean="0">
              <a:solidFill>
                <a:srgbClr val="820000"/>
              </a:solidFill>
              <a:latin typeface="Arial" panose="020B0604020202020204" pitchFamily="34" charset="0"/>
              <a:cs typeface="Arial" panose="020B0604020202020204" pitchFamily="34" charset="0"/>
            </a:endParaRPr>
          </a:p>
          <a:p>
            <a:pPr algn="just"/>
            <a:r>
              <a:rPr lang="en-PH" sz="4000" b="1" dirty="0" smtClean="0">
                <a:solidFill>
                  <a:srgbClr val="820000"/>
                </a:solidFill>
                <a:latin typeface="Arial" panose="020B0604020202020204" pitchFamily="34" charset="0"/>
                <a:cs typeface="Arial" panose="020B0604020202020204" pitchFamily="34" charset="0"/>
              </a:rPr>
              <a:t>        </a:t>
            </a:r>
            <a:endParaRPr lang="en-PH" b="1" dirty="0"/>
          </a:p>
          <a:p>
            <a:pPr algn="just"/>
            <a:r>
              <a:rPr lang="en-PH" sz="4000" dirty="0" smtClean="0"/>
              <a:t> </a:t>
            </a:r>
            <a:endParaRPr lang="en-PH" sz="4000" b="1" dirty="0">
              <a:solidFill>
                <a:srgbClr val="820000"/>
              </a:solidFill>
              <a:latin typeface="Arial" panose="020B0604020202020204" pitchFamily="34" charset="0"/>
              <a:cs typeface="Arial" panose="020B0604020202020204" pitchFamily="34" charset="0"/>
            </a:endParaRPr>
          </a:p>
          <a:p>
            <a:pPr algn="just"/>
            <a:endParaRPr lang="en-PH" sz="4000" b="1" dirty="0" smtClean="0">
              <a:solidFill>
                <a:srgbClr val="820000"/>
              </a:solidFill>
              <a:latin typeface="Arial" panose="020B0604020202020204" pitchFamily="34" charset="0"/>
              <a:cs typeface="Arial" panose="020B0604020202020204" pitchFamily="34" charset="0"/>
            </a:endParaRPr>
          </a:p>
          <a:p>
            <a:pPr algn="just"/>
            <a:r>
              <a:rPr lang="en-PH" sz="4000" b="1"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28" name="Rectangle 27"/>
          <p:cNvSpPr/>
          <p:nvPr/>
        </p:nvSpPr>
        <p:spPr>
          <a:xfrm>
            <a:off x="742107" y="1936722"/>
            <a:ext cx="16487659" cy="3703578"/>
          </a:xfrm>
          <a:prstGeom prst="rect">
            <a:avLst/>
          </a:prstGeom>
        </p:spPr>
        <p:txBody>
          <a:bodyPr wrap="square">
            <a:spAutoFit/>
          </a:bodyPr>
          <a:lstStyle/>
          <a:p>
            <a:pPr algn="just"/>
            <a:endParaRPr lang="en-PH" sz="3200" b="1" dirty="0" smtClean="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a:p>
            <a:pPr algn="just"/>
            <a:endParaRPr lang="en-PH" sz="3200" baseline="30000" dirty="0">
              <a:solidFill>
                <a:srgbClr val="820000"/>
              </a:solidFill>
              <a:latin typeface="Arial" panose="020B0604020202020204" pitchFamily="34" charset="0"/>
              <a:cs typeface="Arial" panose="020B0604020202020204" pitchFamily="34" charset="0"/>
            </a:endParaRPr>
          </a:p>
          <a:p>
            <a:pPr marL="571500" indent="-571500" algn="just">
              <a:buFont typeface="Arial" panose="020B0604020202020204" pitchFamily="34" charset="0"/>
              <a:buChar char="•"/>
            </a:pPr>
            <a:r>
              <a:rPr lang="en-PH" sz="3200" dirty="0">
                <a:solidFill>
                  <a:srgbClr val="820000"/>
                </a:solidFill>
                <a:latin typeface="Arial" panose="020B0604020202020204" pitchFamily="34" charset="0"/>
                <a:cs typeface="Arial" panose="020B0604020202020204" pitchFamily="34" charset="0"/>
              </a:rPr>
              <a:t>Apart from minor induced-fit modifications, proteins have been discovered to undergo significantly greater conformational changes. According to a new concept, proteins are composed of a pre-existing ensemble of conformational states. The protein’s flexibility enables it to transition between states</a:t>
            </a:r>
            <a:r>
              <a:rPr lang="en-PH" sz="3200" dirty="0" smtClean="0"/>
              <a:t>.</a:t>
            </a:r>
            <a:r>
              <a:rPr lang="en-PH" sz="3200" baseline="30000" dirty="0">
                <a:solidFill>
                  <a:srgbClr val="820000"/>
                </a:solidFill>
                <a:latin typeface="Arial" panose="020B0604020202020204" pitchFamily="34" charset="0"/>
                <a:cs typeface="Arial" panose="020B0604020202020204" pitchFamily="34" charset="0"/>
              </a:rPr>
              <a:t> 74</a:t>
            </a:r>
          </a:p>
          <a:p>
            <a:pPr marL="571500" indent="-571500" algn="just">
              <a:buFont typeface="Arial" panose="020B0604020202020204" pitchFamily="34" charset="0"/>
              <a:buChar char="•"/>
            </a:pPr>
            <a:endParaRPr lang="en-PH" sz="3200" baseline="30000" dirty="0">
              <a:solidFill>
                <a:srgbClr val="820000"/>
              </a:solidFill>
              <a:latin typeface="Arial" panose="020B0604020202020204" pitchFamily="34" charset="0"/>
              <a:cs typeface="Arial" panose="020B0604020202020204" pitchFamily="34" charset="0"/>
            </a:endParaRPr>
          </a:p>
          <a:p>
            <a:pPr algn="just"/>
            <a:endParaRPr lang="en-PH" sz="32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214609706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Box 13"/>
          <p:cNvSpPr txBox="1"/>
          <p:nvPr/>
        </p:nvSpPr>
        <p:spPr>
          <a:xfrm>
            <a:off x="1671387" y="1531257"/>
            <a:ext cx="2203151" cy="2306426"/>
          </a:xfrm>
          <a:prstGeom prst="rect">
            <a:avLst/>
          </a:prstGeom>
        </p:spPr>
        <p:txBody>
          <a:bodyPr lIns="50800" tIns="50800" rIns="50800" bIns="50800" rtlCol="0" anchor="ctr"/>
          <a:lstStyle/>
          <a:p>
            <a:pPr algn="ctr">
              <a:lnSpc>
                <a:spcPts val="2659"/>
              </a:lnSpc>
              <a:spcBef>
                <a:spcPct val="0"/>
              </a:spcBef>
            </a:pPr>
            <a:endParaRPr/>
          </a:p>
        </p:txBody>
      </p:sp>
      <p:pic>
        <p:nvPicPr>
          <p:cNvPr id="19" name="Picture 18"/>
          <p:cNvPicPr>
            <a:picLocks noChangeAspect="1"/>
          </p:cNvPicPr>
          <p:nvPr/>
        </p:nvPicPr>
        <p:blipFill>
          <a:blip r:embed="rId2"/>
          <a:stretch>
            <a:fillRect/>
          </a:stretch>
        </p:blipFill>
        <p:spPr>
          <a:xfrm rot="10800000">
            <a:off x="-30481" y="1188552"/>
            <a:ext cx="18288000" cy="267610"/>
          </a:xfrm>
          <a:prstGeom prst="rect">
            <a:avLst/>
          </a:prstGeom>
        </p:spPr>
      </p:pic>
      <p:pic>
        <p:nvPicPr>
          <p:cNvPr id="20" name="Picture 19"/>
          <p:cNvPicPr>
            <a:picLocks noChangeAspect="1"/>
          </p:cNvPicPr>
          <p:nvPr/>
        </p:nvPicPr>
        <p:blipFill>
          <a:blip r:embed="rId2"/>
          <a:stretch>
            <a:fillRect/>
          </a:stretch>
        </p:blipFill>
        <p:spPr>
          <a:xfrm>
            <a:off x="0" y="0"/>
            <a:ext cx="18288000" cy="267611"/>
          </a:xfrm>
          <a:prstGeom prst="rect">
            <a:avLst/>
          </a:prstGeom>
        </p:spPr>
      </p:pic>
      <p:sp>
        <p:nvSpPr>
          <p:cNvPr id="4" name="Parallelogram 3"/>
          <p:cNvSpPr/>
          <p:nvPr/>
        </p:nvSpPr>
        <p:spPr>
          <a:xfrm>
            <a:off x="152401" y="9936689"/>
            <a:ext cx="11963400" cy="236011"/>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2" name="Parallelogram 21"/>
          <p:cNvSpPr/>
          <p:nvPr/>
        </p:nvSpPr>
        <p:spPr>
          <a:xfrm>
            <a:off x="12192000" y="9944100"/>
            <a:ext cx="1421363" cy="228600"/>
          </a:xfrm>
          <a:prstGeom prst="parallelogram">
            <a:avLst/>
          </a:prstGeom>
          <a:solidFill>
            <a:srgbClr val="FFC000"/>
          </a:solidFill>
          <a:ln>
            <a:solidFill>
              <a:srgbClr val="FFC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3" name="Parallelogram 22"/>
          <p:cNvSpPr/>
          <p:nvPr/>
        </p:nvSpPr>
        <p:spPr>
          <a:xfrm>
            <a:off x="13689563" y="9944100"/>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24" name="Picture 23"/>
          <p:cNvPicPr>
            <a:picLocks noChangeAspect="1"/>
          </p:cNvPicPr>
          <p:nvPr/>
        </p:nvPicPr>
        <p:blipFill>
          <a:blip r:embed="rId2"/>
          <a:stretch>
            <a:fillRect/>
          </a:stretch>
        </p:blipFill>
        <p:spPr>
          <a:xfrm rot="10800000" flipV="1">
            <a:off x="-23701" y="9668509"/>
            <a:ext cx="18326941" cy="268180"/>
          </a:xfrm>
          <a:prstGeom prst="rect">
            <a:avLst/>
          </a:prstGeom>
        </p:spPr>
      </p:pic>
      <p:pic>
        <p:nvPicPr>
          <p:cNvPr id="6" name="Picture 5"/>
          <p:cNvPicPr>
            <a:picLocks noChangeAspect="1"/>
          </p:cNvPicPr>
          <p:nvPr/>
        </p:nvPicPr>
        <p:blipFill>
          <a:blip r:embed="rId3"/>
          <a:stretch>
            <a:fillRect/>
          </a:stretch>
        </p:blipFill>
        <p:spPr>
          <a:xfrm>
            <a:off x="15030450" y="488370"/>
            <a:ext cx="3257550" cy="523875"/>
          </a:xfrm>
          <a:prstGeom prst="rect">
            <a:avLst/>
          </a:prstGeom>
        </p:spPr>
      </p:pic>
      <p:sp>
        <p:nvSpPr>
          <p:cNvPr id="25" name="Parallelogram 24"/>
          <p:cNvSpPr/>
          <p:nvPr/>
        </p:nvSpPr>
        <p:spPr>
          <a:xfrm>
            <a:off x="13030200" y="760176"/>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13" name="Picture 12"/>
          <p:cNvPicPr>
            <a:picLocks noChangeAspect="1"/>
          </p:cNvPicPr>
          <p:nvPr/>
        </p:nvPicPr>
        <p:blipFill>
          <a:blip r:embed="rId3"/>
          <a:stretch>
            <a:fillRect/>
          </a:stretch>
        </p:blipFill>
        <p:spPr>
          <a:xfrm rot="10800000">
            <a:off x="0" y="612538"/>
            <a:ext cx="3257550" cy="523875"/>
          </a:xfrm>
          <a:prstGeom prst="rect">
            <a:avLst/>
          </a:prstGeom>
        </p:spPr>
      </p:pic>
      <p:sp>
        <p:nvSpPr>
          <p:cNvPr id="14" name="Parallelogram 13"/>
          <p:cNvSpPr/>
          <p:nvPr/>
        </p:nvSpPr>
        <p:spPr>
          <a:xfrm>
            <a:off x="659363" y="577015"/>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17" name="Round Single Corner Rectangle 16"/>
          <p:cNvSpPr/>
          <p:nvPr/>
        </p:nvSpPr>
        <p:spPr>
          <a:xfrm>
            <a:off x="5494020" y="160397"/>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5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Review of Literature     </a:t>
            </a:r>
            <a:r>
              <a:rPr lang="en-PH" sz="6000" b="1" u="sng" dirty="0" smtClean="0">
                <a:solidFill>
                  <a:srgbClr val="820000"/>
                </a:solidFill>
                <a:latin typeface="Arial" panose="020B0604020202020204" pitchFamily="34" charset="0"/>
                <a:cs typeface="Arial" panose="020B0604020202020204" pitchFamily="34" charset="0"/>
              </a:rPr>
              <a:t> </a:t>
            </a:r>
          </a:p>
        </p:txBody>
      </p:sp>
      <p:sp>
        <p:nvSpPr>
          <p:cNvPr id="2" name="Left Brace 1"/>
          <p:cNvSpPr/>
          <p:nvPr/>
        </p:nvSpPr>
        <p:spPr>
          <a:xfrm>
            <a:off x="10933625" y="1202819"/>
            <a:ext cx="45719" cy="10490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PH"/>
          </a:p>
        </p:txBody>
      </p:sp>
      <p:sp>
        <p:nvSpPr>
          <p:cNvPr id="3" name="Rectangle 2"/>
          <p:cNvSpPr/>
          <p:nvPr/>
        </p:nvSpPr>
        <p:spPr>
          <a:xfrm>
            <a:off x="-249439" y="1594740"/>
            <a:ext cx="11486917" cy="2831544"/>
          </a:xfrm>
          <a:prstGeom prst="rect">
            <a:avLst/>
          </a:prstGeom>
        </p:spPr>
        <p:txBody>
          <a:bodyPr wrap="square">
            <a:spAutoFit/>
          </a:bodyPr>
          <a:lstStyle/>
          <a:p>
            <a:pPr algn="just"/>
            <a:r>
              <a:rPr lang="en-PH" sz="4000" dirty="0">
                <a:solidFill>
                  <a:srgbClr val="820000"/>
                </a:solidFill>
                <a:latin typeface="Arial" panose="020B0604020202020204" pitchFamily="34" charset="0"/>
                <a:cs typeface="Arial" panose="020B0604020202020204" pitchFamily="34" charset="0"/>
              </a:rPr>
              <a:t> </a:t>
            </a:r>
            <a:r>
              <a:rPr lang="en-PH" sz="4000" dirty="0" smtClean="0">
                <a:solidFill>
                  <a:srgbClr val="820000"/>
                </a:solidFill>
                <a:latin typeface="Arial" panose="020B0604020202020204" pitchFamily="34" charset="0"/>
                <a:cs typeface="Arial" panose="020B0604020202020204" pitchFamily="34" charset="0"/>
              </a:rPr>
              <a:t>  </a:t>
            </a:r>
            <a:r>
              <a:rPr lang="en-PH" sz="4000" dirty="0">
                <a:solidFill>
                  <a:srgbClr val="820000"/>
                </a:solidFill>
                <a:latin typeface="Arial" panose="020B0604020202020204" pitchFamily="34" charset="0"/>
                <a:cs typeface="Arial" panose="020B0604020202020204" pitchFamily="34" charset="0"/>
              </a:rPr>
              <a:t> </a:t>
            </a:r>
            <a:r>
              <a:rPr lang="en-PH" sz="4000" dirty="0" smtClean="0">
                <a:solidFill>
                  <a:srgbClr val="820000"/>
                </a:solidFill>
                <a:latin typeface="Arial" panose="020B0604020202020204" pitchFamily="34" charset="0"/>
                <a:cs typeface="Arial" panose="020B0604020202020204" pitchFamily="34" charset="0"/>
              </a:rPr>
              <a:t>2.6.2  </a:t>
            </a:r>
            <a:r>
              <a:rPr lang="en-PH" sz="4000" b="1" dirty="0" err="1" smtClean="0">
                <a:solidFill>
                  <a:srgbClr val="820000"/>
                </a:solidFill>
                <a:latin typeface="Arial" panose="020B0604020202020204" pitchFamily="34" charset="0"/>
                <a:cs typeface="Arial" panose="020B0604020202020204" pitchFamily="34" charset="0"/>
              </a:rPr>
              <a:t>Chemometrics</a:t>
            </a:r>
            <a:endParaRPr lang="en-PH" sz="4000" b="1" dirty="0" smtClean="0">
              <a:solidFill>
                <a:srgbClr val="820000"/>
              </a:solidFill>
              <a:latin typeface="Arial" panose="020B0604020202020204" pitchFamily="34" charset="0"/>
              <a:cs typeface="Arial" panose="020B0604020202020204" pitchFamily="34" charset="0"/>
            </a:endParaRPr>
          </a:p>
          <a:p>
            <a:pPr marL="0" lvl="2" algn="just"/>
            <a:endParaRPr lang="en-PH" b="1" dirty="0"/>
          </a:p>
          <a:p>
            <a:pPr algn="just"/>
            <a:r>
              <a:rPr lang="en-PH" sz="4000" dirty="0" smtClean="0"/>
              <a:t> </a:t>
            </a:r>
            <a:endParaRPr lang="en-PH" sz="4000" b="1" dirty="0">
              <a:solidFill>
                <a:srgbClr val="820000"/>
              </a:solidFill>
              <a:latin typeface="Arial" panose="020B0604020202020204" pitchFamily="34" charset="0"/>
              <a:cs typeface="Arial" panose="020B0604020202020204" pitchFamily="34" charset="0"/>
            </a:endParaRPr>
          </a:p>
          <a:p>
            <a:pPr algn="just"/>
            <a:endParaRPr lang="en-PH" sz="4000" b="1" dirty="0" smtClean="0">
              <a:solidFill>
                <a:srgbClr val="820000"/>
              </a:solidFill>
              <a:latin typeface="Arial" panose="020B0604020202020204" pitchFamily="34" charset="0"/>
              <a:cs typeface="Arial" panose="020B0604020202020204" pitchFamily="34" charset="0"/>
            </a:endParaRPr>
          </a:p>
          <a:p>
            <a:pPr algn="just"/>
            <a:r>
              <a:rPr lang="en-PH" sz="4000" b="1"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5" name="Rectangle 2"/>
          <p:cNvSpPr>
            <a:spLocks noChangeArrowheads="1"/>
          </p:cNvSpPr>
          <p:nvPr/>
        </p:nvSpPr>
        <p:spPr bwMode="auto">
          <a:xfrm>
            <a:off x="659362" y="7594720"/>
            <a:ext cx="17119523"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a:buFont typeface="Arial" panose="020B0604020202020204" pitchFamily="34" charset="0"/>
              <a:buChar char="•"/>
            </a:pPr>
            <a:r>
              <a:rPr lang="en-PH" sz="3200" dirty="0">
                <a:solidFill>
                  <a:srgbClr val="820000"/>
                </a:solidFill>
                <a:latin typeface="Arial" panose="020B0604020202020204" pitchFamily="34" charset="0"/>
                <a:cs typeface="Arial" panose="020B0604020202020204" pitchFamily="34" charset="0"/>
              </a:rPr>
              <a:t>The Principal Component Analysis (PCA) is a widely used statistical technique for unsupervised dimension </a:t>
            </a:r>
            <a:r>
              <a:rPr lang="en-PH" sz="3200" dirty="0" smtClean="0">
                <a:solidFill>
                  <a:srgbClr val="820000"/>
                </a:solidFill>
                <a:latin typeface="Arial" panose="020B0604020202020204" pitchFamily="34" charset="0"/>
                <a:cs typeface="Arial" panose="020B0604020202020204" pitchFamily="34" charset="0"/>
              </a:rPr>
              <a:t>reduction.</a:t>
            </a:r>
            <a:r>
              <a:rPr lang="en-PH" sz="3200" baseline="30000" dirty="0">
                <a:solidFill>
                  <a:srgbClr val="820000"/>
                </a:solidFill>
                <a:latin typeface="Arial" panose="020B0604020202020204" pitchFamily="34" charset="0"/>
                <a:cs typeface="Arial" panose="020B0604020202020204" pitchFamily="34" charset="0"/>
              </a:rPr>
              <a:t> </a:t>
            </a:r>
            <a:r>
              <a:rPr lang="en-PH" sz="3200" baseline="30000" dirty="0" smtClean="0">
                <a:solidFill>
                  <a:srgbClr val="820000"/>
                </a:solidFill>
                <a:latin typeface="Arial" panose="020B0604020202020204" pitchFamily="34" charset="0"/>
                <a:cs typeface="Arial" panose="020B0604020202020204" pitchFamily="34" charset="0"/>
              </a:rPr>
              <a:t>79</a:t>
            </a:r>
            <a:endParaRPr lang="en-PH" sz="3200" baseline="30000" dirty="0">
              <a:solidFill>
                <a:srgbClr val="820000"/>
              </a:solidFill>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PH" sz="3200" dirty="0">
              <a:solidFill>
                <a:srgbClr val="820000"/>
              </a:solidFill>
              <a:latin typeface="Arial" panose="020B0604020202020204" pitchFamily="34" charset="0"/>
              <a:cs typeface="Arial" panose="020B0604020202020204" pitchFamily="34" charset="0"/>
            </a:endParaRPr>
          </a:p>
        </p:txBody>
      </p:sp>
      <p:sp>
        <p:nvSpPr>
          <p:cNvPr id="28" name="Rectangle 27"/>
          <p:cNvSpPr/>
          <p:nvPr/>
        </p:nvSpPr>
        <p:spPr>
          <a:xfrm>
            <a:off x="380883" y="1602603"/>
            <a:ext cx="17278234" cy="5673348"/>
          </a:xfrm>
          <a:prstGeom prst="rect">
            <a:avLst/>
          </a:prstGeom>
        </p:spPr>
        <p:txBody>
          <a:bodyPr wrap="square">
            <a:spAutoFit/>
          </a:bodyPr>
          <a:lstStyle/>
          <a:p>
            <a:pPr algn="just"/>
            <a:endParaRPr lang="en-PH" sz="3200" b="1" dirty="0" smtClean="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a:p>
            <a:pPr algn="just"/>
            <a:endParaRPr lang="en-PH" sz="3200" baseline="30000" dirty="0">
              <a:solidFill>
                <a:srgbClr val="820000"/>
              </a:solidFill>
              <a:latin typeface="Arial" panose="020B0604020202020204" pitchFamily="34" charset="0"/>
              <a:cs typeface="Arial" panose="020B0604020202020204" pitchFamily="34" charset="0"/>
            </a:endParaRPr>
          </a:p>
          <a:p>
            <a:pPr marL="571500" indent="-571500" algn="just">
              <a:buFont typeface="Arial" panose="020B0604020202020204" pitchFamily="34" charset="0"/>
              <a:buChar char="•"/>
            </a:pPr>
            <a:r>
              <a:rPr lang="en-PH" sz="3200" b="1" dirty="0" err="1">
                <a:solidFill>
                  <a:srgbClr val="820000"/>
                </a:solidFill>
                <a:latin typeface="Arial" panose="020B0604020202020204" pitchFamily="34" charset="0"/>
                <a:cs typeface="Arial" panose="020B0604020202020204" pitchFamily="34" charset="0"/>
              </a:rPr>
              <a:t>Chemometrics</a:t>
            </a:r>
            <a:r>
              <a:rPr lang="en-PH" sz="3200" dirty="0">
                <a:solidFill>
                  <a:srgbClr val="820000"/>
                </a:solidFill>
                <a:latin typeface="Arial" panose="020B0604020202020204" pitchFamily="34" charset="0"/>
                <a:cs typeface="Arial" panose="020B0604020202020204" pitchFamily="34" charset="0"/>
              </a:rPr>
              <a:t> is a family of techniques that applies statistics to voluminous chemical data, such as spectroscopic signals from a collection of samples, with the objective of gaining insights into the characteristics of the sample through graphical representation or pattern recognition (World, 1995). </a:t>
            </a:r>
            <a:r>
              <a:rPr lang="en-PH" sz="3200" baseline="30000" dirty="0" smtClean="0">
                <a:solidFill>
                  <a:srgbClr val="820000"/>
                </a:solidFill>
                <a:latin typeface="Arial" panose="020B0604020202020204" pitchFamily="34" charset="0"/>
                <a:cs typeface="Arial" panose="020B0604020202020204" pitchFamily="34" charset="0"/>
              </a:rPr>
              <a:t>75</a:t>
            </a:r>
            <a:endParaRPr lang="en-PH" sz="3200" dirty="0" smtClean="0">
              <a:solidFill>
                <a:srgbClr val="820000"/>
              </a:solidFill>
              <a:latin typeface="Arial" panose="020B0604020202020204" pitchFamily="34" charset="0"/>
              <a:cs typeface="Arial" panose="020B0604020202020204" pitchFamily="34" charset="0"/>
            </a:endParaRPr>
          </a:p>
          <a:p>
            <a:pPr marL="571500" indent="-571500" algn="just">
              <a:buFont typeface="Arial" panose="020B0604020202020204" pitchFamily="34" charset="0"/>
              <a:buChar char="•"/>
            </a:pPr>
            <a:endParaRPr lang="en-PH" sz="3200" dirty="0">
              <a:solidFill>
                <a:srgbClr val="820000"/>
              </a:solidFill>
              <a:latin typeface="Arial" panose="020B0604020202020204" pitchFamily="34" charset="0"/>
              <a:cs typeface="Arial" panose="020B0604020202020204" pitchFamily="34" charset="0"/>
            </a:endParaRPr>
          </a:p>
          <a:p>
            <a:pPr marL="571500" indent="-571500" algn="just">
              <a:buFont typeface="Arial" panose="020B0604020202020204" pitchFamily="34" charset="0"/>
              <a:buChar char="•"/>
            </a:pPr>
            <a:r>
              <a:rPr lang="en-PH" sz="3200" dirty="0" err="1" smtClean="0">
                <a:solidFill>
                  <a:srgbClr val="820000"/>
                </a:solidFill>
                <a:latin typeface="Arial" panose="020B0604020202020204" pitchFamily="34" charset="0"/>
                <a:cs typeface="Arial" panose="020B0604020202020204" pitchFamily="34" charset="0"/>
              </a:rPr>
              <a:t>Chemometrics</a:t>
            </a:r>
            <a:r>
              <a:rPr lang="en-PH" sz="3200" dirty="0" smtClean="0">
                <a:solidFill>
                  <a:srgbClr val="820000"/>
                </a:solidFill>
                <a:latin typeface="Arial" panose="020B0604020202020204" pitchFamily="34" charset="0"/>
                <a:cs typeface="Arial" panose="020B0604020202020204" pitchFamily="34" charset="0"/>
              </a:rPr>
              <a:t> </a:t>
            </a:r>
            <a:r>
              <a:rPr lang="en-PH" sz="3200" dirty="0">
                <a:solidFill>
                  <a:srgbClr val="820000"/>
                </a:solidFill>
                <a:latin typeface="Arial" panose="020B0604020202020204" pitchFamily="34" charset="0"/>
                <a:cs typeface="Arial" panose="020B0604020202020204" pitchFamily="34" charset="0"/>
              </a:rPr>
              <a:t>analysis is an ideal tool for the classification of spectroscopic data from whole plant extracts to differentiate plants according to species, </a:t>
            </a:r>
            <a:r>
              <a:rPr lang="en-PH" sz="3200" dirty="0" err="1">
                <a:solidFill>
                  <a:srgbClr val="820000"/>
                </a:solidFill>
                <a:latin typeface="Arial" panose="020B0604020202020204" pitchFamily="34" charset="0"/>
                <a:cs typeface="Arial" panose="020B0604020202020204" pitchFamily="34" charset="0"/>
              </a:rPr>
              <a:t>orgins</a:t>
            </a:r>
            <a:r>
              <a:rPr lang="en-PH" sz="3200" dirty="0">
                <a:solidFill>
                  <a:srgbClr val="820000"/>
                </a:solidFill>
                <a:latin typeface="Arial" panose="020B0604020202020204" pitchFamily="34" charset="0"/>
                <a:cs typeface="Arial" panose="020B0604020202020204" pitchFamily="34" charset="0"/>
              </a:rPr>
              <a:t>, processing treatment, age, and other quality parameters (Kim et al.,2010</a:t>
            </a:r>
            <a:r>
              <a:rPr lang="en-PH" sz="3200" dirty="0" smtClean="0">
                <a:solidFill>
                  <a:srgbClr val="820000"/>
                </a:solidFill>
                <a:latin typeface="Arial" panose="020B0604020202020204" pitchFamily="34" charset="0"/>
                <a:cs typeface="Arial" panose="020B0604020202020204" pitchFamily="34" charset="0"/>
              </a:rPr>
              <a:t>)</a:t>
            </a:r>
            <a:r>
              <a:rPr lang="en-PH" sz="3200" baseline="30000" dirty="0">
                <a:solidFill>
                  <a:srgbClr val="820000"/>
                </a:solidFill>
                <a:latin typeface="Arial" panose="020B0604020202020204" pitchFamily="34" charset="0"/>
                <a:cs typeface="Arial" panose="020B0604020202020204" pitchFamily="34" charset="0"/>
              </a:rPr>
              <a:t> 75</a:t>
            </a:r>
          </a:p>
          <a:p>
            <a:pPr marL="571500" indent="-571500" algn="just">
              <a:buFont typeface="Arial" panose="020B0604020202020204" pitchFamily="34" charset="0"/>
              <a:buChar char="•"/>
            </a:pPr>
            <a:endParaRPr lang="en-PH" sz="3200" baseline="30000" dirty="0">
              <a:solidFill>
                <a:srgbClr val="820000"/>
              </a:solidFill>
              <a:latin typeface="Arial" panose="020B0604020202020204" pitchFamily="34" charset="0"/>
              <a:cs typeface="Arial" panose="020B0604020202020204" pitchFamily="34" charset="0"/>
            </a:endParaRPr>
          </a:p>
          <a:p>
            <a:pPr algn="just"/>
            <a:endParaRPr lang="en-PH" sz="32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27" name="Rectangle 26"/>
          <p:cNvSpPr/>
          <p:nvPr/>
        </p:nvSpPr>
        <p:spPr>
          <a:xfrm>
            <a:off x="-30481" y="6507522"/>
            <a:ext cx="11486917" cy="2831544"/>
          </a:xfrm>
          <a:prstGeom prst="rect">
            <a:avLst/>
          </a:prstGeom>
        </p:spPr>
        <p:txBody>
          <a:bodyPr wrap="square">
            <a:spAutoFit/>
          </a:bodyPr>
          <a:lstStyle/>
          <a:p>
            <a:pPr algn="just"/>
            <a:r>
              <a:rPr lang="en-PH" sz="4000" dirty="0">
                <a:solidFill>
                  <a:srgbClr val="820000"/>
                </a:solidFill>
                <a:latin typeface="Arial" panose="020B0604020202020204" pitchFamily="34" charset="0"/>
                <a:cs typeface="Arial" panose="020B0604020202020204" pitchFamily="34" charset="0"/>
              </a:rPr>
              <a:t> </a:t>
            </a:r>
            <a:r>
              <a:rPr lang="en-PH" sz="4000" dirty="0" smtClean="0">
                <a:solidFill>
                  <a:srgbClr val="820000"/>
                </a:solidFill>
                <a:latin typeface="Arial" panose="020B0604020202020204" pitchFamily="34" charset="0"/>
                <a:cs typeface="Arial" panose="020B0604020202020204" pitchFamily="34" charset="0"/>
              </a:rPr>
              <a:t>  </a:t>
            </a:r>
            <a:r>
              <a:rPr lang="en-PH" sz="4000" dirty="0">
                <a:solidFill>
                  <a:srgbClr val="820000"/>
                </a:solidFill>
                <a:latin typeface="Arial" panose="020B0604020202020204" pitchFamily="34" charset="0"/>
                <a:cs typeface="Arial" panose="020B0604020202020204" pitchFamily="34" charset="0"/>
              </a:rPr>
              <a:t> </a:t>
            </a:r>
            <a:r>
              <a:rPr lang="en-PH" sz="4000" dirty="0" smtClean="0">
                <a:solidFill>
                  <a:srgbClr val="820000"/>
                </a:solidFill>
                <a:latin typeface="Arial" panose="020B0604020202020204" pitchFamily="34" charset="0"/>
                <a:cs typeface="Arial" panose="020B0604020202020204" pitchFamily="34" charset="0"/>
              </a:rPr>
              <a:t>2.10  </a:t>
            </a:r>
            <a:r>
              <a:rPr lang="en-PH" sz="4000" b="1" dirty="0" smtClean="0">
                <a:solidFill>
                  <a:srgbClr val="820000"/>
                </a:solidFill>
                <a:latin typeface="Arial" panose="020B0604020202020204" pitchFamily="34" charset="0"/>
                <a:cs typeface="Arial" panose="020B0604020202020204" pitchFamily="34" charset="0"/>
              </a:rPr>
              <a:t> Principal Component Analysis</a:t>
            </a:r>
          </a:p>
          <a:p>
            <a:pPr marL="0" lvl="2" algn="just"/>
            <a:endParaRPr lang="en-PH" b="1" dirty="0"/>
          </a:p>
          <a:p>
            <a:pPr algn="just"/>
            <a:r>
              <a:rPr lang="en-PH" sz="4000" dirty="0" smtClean="0"/>
              <a:t> </a:t>
            </a:r>
            <a:endParaRPr lang="en-PH" sz="4000" b="1" dirty="0">
              <a:solidFill>
                <a:srgbClr val="820000"/>
              </a:solidFill>
              <a:latin typeface="Arial" panose="020B0604020202020204" pitchFamily="34" charset="0"/>
              <a:cs typeface="Arial" panose="020B0604020202020204" pitchFamily="34" charset="0"/>
            </a:endParaRPr>
          </a:p>
          <a:p>
            <a:pPr algn="just"/>
            <a:endParaRPr lang="en-PH" sz="4000" b="1" dirty="0" smtClean="0">
              <a:solidFill>
                <a:srgbClr val="820000"/>
              </a:solidFill>
              <a:latin typeface="Arial" panose="020B0604020202020204" pitchFamily="34" charset="0"/>
              <a:cs typeface="Arial" panose="020B0604020202020204" pitchFamily="34" charset="0"/>
            </a:endParaRPr>
          </a:p>
          <a:p>
            <a:pPr algn="just"/>
            <a:r>
              <a:rPr lang="en-PH" sz="4000" b="1"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376309986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 name="Picture 102"/>
          <p:cNvPicPr>
            <a:picLocks noChangeAspect="1"/>
          </p:cNvPicPr>
          <p:nvPr/>
        </p:nvPicPr>
        <p:blipFill>
          <a:blip r:embed="rId2"/>
          <a:stretch>
            <a:fillRect/>
          </a:stretch>
        </p:blipFill>
        <p:spPr>
          <a:xfrm>
            <a:off x="10504353" y="7201844"/>
            <a:ext cx="7148686" cy="2270450"/>
          </a:xfrm>
          <a:prstGeom prst="rect">
            <a:avLst/>
          </a:prstGeom>
          <a:ln w="38100">
            <a:solidFill>
              <a:srgbClr val="005C2A"/>
            </a:solidFill>
          </a:ln>
        </p:spPr>
      </p:pic>
      <p:pic>
        <p:nvPicPr>
          <p:cNvPr id="99" name="Picture 98"/>
          <p:cNvPicPr>
            <a:picLocks noChangeAspect="1"/>
          </p:cNvPicPr>
          <p:nvPr/>
        </p:nvPicPr>
        <p:blipFill>
          <a:blip r:embed="rId3"/>
          <a:stretch>
            <a:fillRect/>
          </a:stretch>
        </p:blipFill>
        <p:spPr>
          <a:xfrm>
            <a:off x="10353591" y="1425694"/>
            <a:ext cx="7324809" cy="2179738"/>
          </a:xfrm>
          <a:prstGeom prst="rect">
            <a:avLst/>
          </a:prstGeom>
          <a:ln w="38100">
            <a:solidFill>
              <a:srgbClr val="005C2A"/>
            </a:solidFill>
          </a:ln>
        </p:spPr>
      </p:pic>
      <p:pic>
        <p:nvPicPr>
          <p:cNvPr id="97" name="Picture 96"/>
          <p:cNvPicPr>
            <a:picLocks noChangeAspect="1"/>
          </p:cNvPicPr>
          <p:nvPr/>
        </p:nvPicPr>
        <p:blipFill>
          <a:blip r:embed="rId4"/>
          <a:stretch>
            <a:fillRect/>
          </a:stretch>
        </p:blipFill>
        <p:spPr>
          <a:xfrm>
            <a:off x="175581" y="1397440"/>
            <a:ext cx="6717167" cy="2560573"/>
          </a:xfrm>
          <a:prstGeom prst="rect">
            <a:avLst/>
          </a:prstGeom>
          <a:ln w="38100">
            <a:solidFill>
              <a:srgbClr val="005C2A"/>
            </a:solidFill>
          </a:ln>
        </p:spPr>
      </p:pic>
      <p:pic>
        <p:nvPicPr>
          <p:cNvPr id="95" name="Picture 94"/>
          <p:cNvPicPr>
            <a:picLocks noChangeAspect="1"/>
          </p:cNvPicPr>
          <p:nvPr/>
        </p:nvPicPr>
        <p:blipFill>
          <a:blip r:embed="rId5"/>
          <a:stretch>
            <a:fillRect/>
          </a:stretch>
        </p:blipFill>
        <p:spPr>
          <a:xfrm>
            <a:off x="228601" y="4151655"/>
            <a:ext cx="6734755" cy="2557413"/>
          </a:xfrm>
          <a:prstGeom prst="rect">
            <a:avLst/>
          </a:prstGeom>
          <a:ln w="38100">
            <a:solidFill>
              <a:srgbClr val="005C2A"/>
            </a:solidFill>
          </a:ln>
        </p:spPr>
      </p:pic>
      <p:sp>
        <p:nvSpPr>
          <p:cNvPr id="53" name="TextBox 13"/>
          <p:cNvSpPr txBox="1"/>
          <p:nvPr/>
        </p:nvSpPr>
        <p:spPr>
          <a:xfrm>
            <a:off x="1671387" y="1531257"/>
            <a:ext cx="2203151" cy="2306426"/>
          </a:xfrm>
          <a:prstGeom prst="rect">
            <a:avLst/>
          </a:prstGeom>
        </p:spPr>
        <p:txBody>
          <a:bodyPr lIns="50800" tIns="50800" rIns="50800" bIns="50800" rtlCol="0" anchor="ctr"/>
          <a:lstStyle/>
          <a:p>
            <a:pPr algn="ctr">
              <a:lnSpc>
                <a:spcPts val="2659"/>
              </a:lnSpc>
              <a:spcBef>
                <a:spcPct val="0"/>
              </a:spcBef>
            </a:pPr>
            <a:endParaRPr/>
          </a:p>
        </p:txBody>
      </p:sp>
      <p:sp>
        <p:nvSpPr>
          <p:cNvPr id="21" name="Round Single Corner Rectangle 20"/>
          <p:cNvSpPr/>
          <p:nvPr/>
        </p:nvSpPr>
        <p:spPr>
          <a:xfrm>
            <a:off x="5494020" y="160397"/>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5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Review of Literature     </a:t>
            </a:r>
            <a:r>
              <a:rPr lang="en-PH" sz="6000" b="1" u="sng" dirty="0" smtClean="0">
                <a:solidFill>
                  <a:srgbClr val="820000"/>
                </a:solidFill>
                <a:latin typeface="Arial" panose="020B0604020202020204" pitchFamily="34" charset="0"/>
                <a:cs typeface="Arial" panose="020B0604020202020204" pitchFamily="34" charset="0"/>
              </a:rPr>
              <a:t> </a:t>
            </a:r>
          </a:p>
        </p:txBody>
      </p:sp>
      <p:pic>
        <p:nvPicPr>
          <p:cNvPr id="20" name="Picture 19"/>
          <p:cNvPicPr>
            <a:picLocks noChangeAspect="1"/>
          </p:cNvPicPr>
          <p:nvPr/>
        </p:nvPicPr>
        <p:blipFill>
          <a:blip r:embed="rId6"/>
          <a:stretch>
            <a:fillRect/>
          </a:stretch>
        </p:blipFill>
        <p:spPr>
          <a:xfrm>
            <a:off x="0" y="0"/>
            <a:ext cx="18288000" cy="267611"/>
          </a:xfrm>
          <a:prstGeom prst="rect">
            <a:avLst/>
          </a:prstGeom>
        </p:spPr>
      </p:pic>
      <p:pic>
        <p:nvPicPr>
          <p:cNvPr id="6" name="Picture 5"/>
          <p:cNvPicPr>
            <a:picLocks noChangeAspect="1"/>
          </p:cNvPicPr>
          <p:nvPr/>
        </p:nvPicPr>
        <p:blipFill>
          <a:blip r:embed="rId7"/>
          <a:stretch>
            <a:fillRect/>
          </a:stretch>
        </p:blipFill>
        <p:spPr>
          <a:xfrm>
            <a:off x="15030450" y="488370"/>
            <a:ext cx="3257550" cy="523875"/>
          </a:xfrm>
          <a:prstGeom prst="rect">
            <a:avLst/>
          </a:prstGeom>
        </p:spPr>
      </p:pic>
      <p:sp>
        <p:nvSpPr>
          <p:cNvPr id="25" name="Parallelogram 24"/>
          <p:cNvSpPr/>
          <p:nvPr/>
        </p:nvSpPr>
        <p:spPr>
          <a:xfrm>
            <a:off x="13030200" y="760176"/>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13" name="Picture 12"/>
          <p:cNvPicPr>
            <a:picLocks noChangeAspect="1"/>
          </p:cNvPicPr>
          <p:nvPr/>
        </p:nvPicPr>
        <p:blipFill>
          <a:blip r:embed="rId7"/>
          <a:stretch>
            <a:fillRect/>
          </a:stretch>
        </p:blipFill>
        <p:spPr>
          <a:xfrm rot="10800000">
            <a:off x="0" y="612538"/>
            <a:ext cx="3257550" cy="523875"/>
          </a:xfrm>
          <a:prstGeom prst="rect">
            <a:avLst/>
          </a:prstGeom>
        </p:spPr>
      </p:pic>
      <p:sp>
        <p:nvSpPr>
          <p:cNvPr id="14" name="Parallelogram 13"/>
          <p:cNvSpPr/>
          <p:nvPr/>
        </p:nvSpPr>
        <p:spPr>
          <a:xfrm>
            <a:off x="659363" y="577015"/>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5" name="Picture 4"/>
          <p:cNvPicPr>
            <a:picLocks noChangeAspect="1"/>
          </p:cNvPicPr>
          <p:nvPr/>
        </p:nvPicPr>
        <p:blipFill rotWithShape="1">
          <a:blip r:embed="rId8"/>
          <a:srcRect l="41666" t="34815" r="8335" b="34074"/>
          <a:stretch/>
        </p:blipFill>
        <p:spPr>
          <a:xfrm>
            <a:off x="10470137" y="3987264"/>
            <a:ext cx="7193786" cy="2721804"/>
          </a:xfrm>
          <a:prstGeom prst="rect">
            <a:avLst/>
          </a:prstGeom>
          <a:ln w="38100">
            <a:solidFill>
              <a:srgbClr val="005C2A"/>
            </a:solidFill>
          </a:ln>
        </p:spPr>
      </p:pic>
      <p:pic>
        <p:nvPicPr>
          <p:cNvPr id="33" name="Picture 32"/>
          <p:cNvPicPr>
            <a:picLocks noChangeAspect="1"/>
          </p:cNvPicPr>
          <p:nvPr/>
        </p:nvPicPr>
        <p:blipFill>
          <a:blip r:embed="rId9"/>
          <a:stretch>
            <a:fillRect/>
          </a:stretch>
        </p:blipFill>
        <p:spPr>
          <a:xfrm>
            <a:off x="228601" y="7201844"/>
            <a:ext cx="6745338" cy="2589856"/>
          </a:xfrm>
          <a:prstGeom prst="rect">
            <a:avLst/>
          </a:prstGeom>
          <a:ln w="38100">
            <a:solidFill>
              <a:srgbClr val="005C2A"/>
            </a:solidFill>
          </a:ln>
        </p:spPr>
      </p:pic>
      <p:sp>
        <p:nvSpPr>
          <p:cNvPr id="39" name="AutoShape 30"/>
          <p:cNvSpPr/>
          <p:nvPr/>
        </p:nvSpPr>
        <p:spPr>
          <a:xfrm rot="5372477">
            <a:off x="7351238" y="3492817"/>
            <a:ext cx="2209673" cy="24765"/>
          </a:xfrm>
          <a:prstGeom prst="line">
            <a:avLst/>
          </a:prstGeom>
          <a:ln w="38100" cap="flat">
            <a:solidFill>
              <a:srgbClr val="005C2A"/>
            </a:solidFill>
            <a:prstDash val="solid"/>
            <a:headEnd type="none" w="sm" len="sm"/>
            <a:tailEnd type="none" w="sm" len="sm"/>
          </a:ln>
        </p:spPr>
      </p:sp>
      <p:sp>
        <p:nvSpPr>
          <p:cNvPr id="44" name="AutoShape 30"/>
          <p:cNvSpPr/>
          <p:nvPr/>
        </p:nvSpPr>
        <p:spPr>
          <a:xfrm rot="5372477" flipH="1" flipV="1">
            <a:off x="7578965" y="4771898"/>
            <a:ext cx="8477" cy="1218638"/>
          </a:xfrm>
          <a:prstGeom prst="line">
            <a:avLst/>
          </a:prstGeom>
          <a:ln w="38100" cap="flat">
            <a:solidFill>
              <a:srgbClr val="005C2A"/>
            </a:solidFill>
            <a:prstDash val="solid"/>
            <a:headEnd type="none" w="sm" len="sm"/>
            <a:tailEnd type="none" w="sm" len="sm"/>
          </a:ln>
        </p:spPr>
      </p:sp>
      <p:grpSp>
        <p:nvGrpSpPr>
          <p:cNvPr id="45" name="Group 52"/>
          <p:cNvGrpSpPr/>
          <p:nvPr/>
        </p:nvGrpSpPr>
        <p:grpSpPr>
          <a:xfrm>
            <a:off x="7502017" y="7581900"/>
            <a:ext cx="162371" cy="162371"/>
            <a:chOff x="0" y="0"/>
            <a:chExt cx="6350000" cy="6350000"/>
          </a:xfrm>
        </p:grpSpPr>
        <p:sp>
          <p:nvSpPr>
            <p:cNvPr id="46" name="Freeform 53"/>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93D00"/>
            </a:solidFill>
            <a:ln>
              <a:solidFill>
                <a:srgbClr val="005C2A"/>
              </a:solidFill>
            </a:ln>
          </p:spPr>
        </p:sp>
      </p:grpSp>
      <p:sp>
        <p:nvSpPr>
          <p:cNvPr id="38" name="Hexagon 37"/>
          <p:cNvSpPr/>
          <p:nvPr/>
        </p:nvSpPr>
        <p:spPr>
          <a:xfrm>
            <a:off x="7914352" y="4584244"/>
            <a:ext cx="1763048" cy="1541237"/>
          </a:xfrm>
          <a:prstGeom prst="hexagon">
            <a:avLst>
              <a:gd name="adj" fmla="val 28767"/>
              <a:gd name="vf" fmla="val 115470"/>
            </a:avLst>
          </a:prstGeom>
          <a:blipFill>
            <a:blip r:embed="rId10"/>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0" name="AutoShape 30"/>
          <p:cNvSpPr/>
          <p:nvPr/>
        </p:nvSpPr>
        <p:spPr>
          <a:xfrm rot="5372477">
            <a:off x="7227998" y="7350638"/>
            <a:ext cx="2435014" cy="8718"/>
          </a:xfrm>
          <a:prstGeom prst="line">
            <a:avLst/>
          </a:prstGeom>
          <a:ln w="38100" cap="flat">
            <a:solidFill>
              <a:srgbClr val="005C2A"/>
            </a:solidFill>
            <a:prstDash val="solid"/>
            <a:headEnd type="none" w="sm" len="sm"/>
            <a:tailEnd type="none" w="sm" len="sm"/>
          </a:ln>
        </p:spPr>
      </p:sp>
      <p:grpSp>
        <p:nvGrpSpPr>
          <p:cNvPr id="51" name="Group 52"/>
          <p:cNvGrpSpPr/>
          <p:nvPr/>
        </p:nvGrpSpPr>
        <p:grpSpPr>
          <a:xfrm>
            <a:off x="6885352" y="5285929"/>
            <a:ext cx="162371" cy="162371"/>
            <a:chOff x="0" y="0"/>
            <a:chExt cx="6350000" cy="6350000"/>
          </a:xfrm>
        </p:grpSpPr>
        <p:sp>
          <p:nvSpPr>
            <p:cNvPr id="52" name="Freeform 53"/>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93D00"/>
            </a:solidFill>
            <a:ln>
              <a:solidFill>
                <a:srgbClr val="005C2A"/>
              </a:solidFill>
            </a:ln>
          </p:spPr>
        </p:sp>
      </p:grpSp>
      <p:grpSp>
        <p:nvGrpSpPr>
          <p:cNvPr id="54" name="Group 52"/>
          <p:cNvGrpSpPr/>
          <p:nvPr/>
        </p:nvGrpSpPr>
        <p:grpSpPr>
          <a:xfrm>
            <a:off x="7699606" y="5285929"/>
            <a:ext cx="162371" cy="162371"/>
            <a:chOff x="0" y="0"/>
            <a:chExt cx="6350000" cy="6350000"/>
          </a:xfrm>
        </p:grpSpPr>
        <p:sp>
          <p:nvSpPr>
            <p:cNvPr id="55" name="Freeform 53"/>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93D00"/>
            </a:solidFill>
            <a:ln>
              <a:solidFill>
                <a:srgbClr val="005C2A"/>
              </a:solidFill>
            </a:ln>
          </p:spPr>
        </p:sp>
      </p:grpSp>
      <p:sp>
        <p:nvSpPr>
          <p:cNvPr id="56" name="AutoShape 30"/>
          <p:cNvSpPr/>
          <p:nvPr/>
        </p:nvSpPr>
        <p:spPr>
          <a:xfrm rot="5372477" flipH="1" flipV="1">
            <a:off x="10000243" y="4978806"/>
            <a:ext cx="338" cy="793276"/>
          </a:xfrm>
          <a:prstGeom prst="line">
            <a:avLst/>
          </a:prstGeom>
          <a:ln w="38100" cap="flat">
            <a:solidFill>
              <a:srgbClr val="005C2A"/>
            </a:solidFill>
            <a:prstDash val="solid"/>
            <a:headEnd type="none" w="sm" len="sm"/>
            <a:tailEnd type="none" w="sm" len="sm"/>
          </a:ln>
        </p:spPr>
      </p:sp>
      <p:grpSp>
        <p:nvGrpSpPr>
          <p:cNvPr id="57" name="Group 52"/>
          <p:cNvGrpSpPr/>
          <p:nvPr/>
        </p:nvGrpSpPr>
        <p:grpSpPr>
          <a:xfrm>
            <a:off x="9507234" y="5297603"/>
            <a:ext cx="162371" cy="162371"/>
            <a:chOff x="0" y="0"/>
            <a:chExt cx="6350000" cy="6350000"/>
          </a:xfrm>
        </p:grpSpPr>
        <p:sp>
          <p:nvSpPr>
            <p:cNvPr id="58" name="Freeform 53"/>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93D00"/>
            </a:solidFill>
            <a:ln>
              <a:solidFill>
                <a:srgbClr val="005C2A"/>
              </a:solidFill>
            </a:ln>
          </p:spPr>
        </p:sp>
      </p:grpSp>
      <p:grpSp>
        <p:nvGrpSpPr>
          <p:cNvPr id="59" name="Group 52"/>
          <p:cNvGrpSpPr/>
          <p:nvPr/>
        </p:nvGrpSpPr>
        <p:grpSpPr>
          <a:xfrm>
            <a:off x="10353229" y="5283471"/>
            <a:ext cx="162371" cy="162371"/>
            <a:chOff x="0" y="0"/>
            <a:chExt cx="6350000" cy="6350000"/>
          </a:xfrm>
        </p:grpSpPr>
        <p:sp>
          <p:nvSpPr>
            <p:cNvPr id="60" name="Freeform 53"/>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93D00"/>
            </a:solidFill>
            <a:ln>
              <a:solidFill>
                <a:srgbClr val="005C2A"/>
              </a:solidFill>
            </a:ln>
          </p:spPr>
        </p:sp>
      </p:grpSp>
      <p:grpSp>
        <p:nvGrpSpPr>
          <p:cNvPr id="61" name="Group 52"/>
          <p:cNvGrpSpPr/>
          <p:nvPr/>
        </p:nvGrpSpPr>
        <p:grpSpPr>
          <a:xfrm>
            <a:off x="8354399" y="6050302"/>
            <a:ext cx="162371" cy="162371"/>
            <a:chOff x="0" y="0"/>
            <a:chExt cx="6350000" cy="6350000"/>
          </a:xfrm>
        </p:grpSpPr>
        <p:sp>
          <p:nvSpPr>
            <p:cNvPr id="62" name="Freeform 53"/>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93D00"/>
            </a:solidFill>
            <a:ln>
              <a:solidFill>
                <a:srgbClr val="005C2A"/>
              </a:solidFill>
            </a:ln>
          </p:spPr>
        </p:sp>
      </p:grpSp>
      <p:sp>
        <p:nvSpPr>
          <p:cNvPr id="63" name="AutoShape 30"/>
          <p:cNvSpPr/>
          <p:nvPr/>
        </p:nvSpPr>
        <p:spPr>
          <a:xfrm rot="5372477" flipV="1">
            <a:off x="7717153" y="7847974"/>
            <a:ext cx="34582" cy="1450108"/>
          </a:xfrm>
          <a:prstGeom prst="line">
            <a:avLst/>
          </a:prstGeom>
          <a:ln w="38100" cap="flat">
            <a:solidFill>
              <a:srgbClr val="005C2A"/>
            </a:solidFill>
            <a:prstDash val="solid"/>
            <a:headEnd type="none" w="sm" len="sm"/>
            <a:tailEnd type="none" w="sm" len="sm"/>
          </a:ln>
        </p:spPr>
      </p:sp>
      <p:grpSp>
        <p:nvGrpSpPr>
          <p:cNvPr id="66" name="Group 52"/>
          <p:cNvGrpSpPr/>
          <p:nvPr/>
        </p:nvGrpSpPr>
        <p:grpSpPr>
          <a:xfrm>
            <a:off x="8350212" y="8468746"/>
            <a:ext cx="162371" cy="162371"/>
            <a:chOff x="0" y="0"/>
            <a:chExt cx="6350000" cy="6350000"/>
          </a:xfrm>
        </p:grpSpPr>
        <p:sp>
          <p:nvSpPr>
            <p:cNvPr id="67" name="Freeform 53"/>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93D00"/>
            </a:solidFill>
            <a:ln>
              <a:solidFill>
                <a:srgbClr val="005C2A"/>
              </a:solidFill>
            </a:ln>
          </p:spPr>
        </p:sp>
      </p:grpSp>
      <p:grpSp>
        <p:nvGrpSpPr>
          <p:cNvPr id="68" name="Group 52"/>
          <p:cNvGrpSpPr/>
          <p:nvPr/>
        </p:nvGrpSpPr>
        <p:grpSpPr>
          <a:xfrm>
            <a:off x="6913494" y="8468746"/>
            <a:ext cx="162371" cy="162371"/>
            <a:chOff x="0" y="0"/>
            <a:chExt cx="6350000" cy="6350000"/>
          </a:xfrm>
        </p:grpSpPr>
        <p:sp>
          <p:nvSpPr>
            <p:cNvPr id="69" name="Freeform 53"/>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93D00"/>
            </a:solidFill>
            <a:ln>
              <a:solidFill>
                <a:srgbClr val="005C2A"/>
              </a:solidFill>
            </a:ln>
          </p:spPr>
        </p:sp>
      </p:grpSp>
      <p:sp>
        <p:nvSpPr>
          <p:cNvPr id="70" name="AutoShape 30"/>
          <p:cNvSpPr/>
          <p:nvPr/>
        </p:nvSpPr>
        <p:spPr>
          <a:xfrm rot="5372477">
            <a:off x="7940600" y="7328069"/>
            <a:ext cx="2435014" cy="8718"/>
          </a:xfrm>
          <a:prstGeom prst="line">
            <a:avLst/>
          </a:prstGeom>
          <a:ln w="38100" cap="flat">
            <a:solidFill>
              <a:srgbClr val="005C2A"/>
            </a:solidFill>
            <a:prstDash val="solid"/>
            <a:headEnd type="none" w="sm" len="sm"/>
            <a:tailEnd type="none" w="sm" len="sm"/>
          </a:ln>
        </p:spPr>
      </p:sp>
      <p:grpSp>
        <p:nvGrpSpPr>
          <p:cNvPr id="71" name="Group 52"/>
          <p:cNvGrpSpPr/>
          <p:nvPr/>
        </p:nvGrpSpPr>
        <p:grpSpPr>
          <a:xfrm>
            <a:off x="9064614" y="6033973"/>
            <a:ext cx="162371" cy="162371"/>
            <a:chOff x="0" y="0"/>
            <a:chExt cx="6350000" cy="6350000"/>
          </a:xfrm>
        </p:grpSpPr>
        <p:sp>
          <p:nvSpPr>
            <p:cNvPr id="72" name="Freeform 53"/>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93D00"/>
            </a:solidFill>
            <a:ln>
              <a:solidFill>
                <a:srgbClr val="005C2A"/>
              </a:solidFill>
            </a:ln>
          </p:spPr>
        </p:sp>
      </p:grpSp>
      <p:grpSp>
        <p:nvGrpSpPr>
          <p:cNvPr id="73" name="Group 52"/>
          <p:cNvGrpSpPr/>
          <p:nvPr/>
        </p:nvGrpSpPr>
        <p:grpSpPr>
          <a:xfrm>
            <a:off x="9080724" y="8433753"/>
            <a:ext cx="162371" cy="162371"/>
            <a:chOff x="0" y="0"/>
            <a:chExt cx="6350000" cy="6350000"/>
          </a:xfrm>
        </p:grpSpPr>
        <p:sp>
          <p:nvSpPr>
            <p:cNvPr id="74" name="Freeform 53"/>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93D00"/>
            </a:solidFill>
            <a:ln>
              <a:solidFill>
                <a:srgbClr val="005C2A"/>
              </a:solidFill>
            </a:ln>
          </p:spPr>
        </p:sp>
      </p:grpSp>
      <p:sp>
        <p:nvSpPr>
          <p:cNvPr id="75" name="AutoShape 30"/>
          <p:cNvSpPr/>
          <p:nvPr/>
        </p:nvSpPr>
        <p:spPr>
          <a:xfrm rot="5372477" flipV="1">
            <a:off x="9792420" y="7804416"/>
            <a:ext cx="11481" cy="1434106"/>
          </a:xfrm>
          <a:prstGeom prst="line">
            <a:avLst/>
          </a:prstGeom>
          <a:ln w="38100" cap="flat">
            <a:solidFill>
              <a:srgbClr val="005C2A"/>
            </a:solidFill>
            <a:prstDash val="solid"/>
            <a:headEnd type="none" w="sm" len="sm"/>
            <a:tailEnd type="none" w="sm" len="sm"/>
          </a:ln>
        </p:spPr>
      </p:sp>
      <p:grpSp>
        <p:nvGrpSpPr>
          <p:cNvPr id="76" name="Group 52"/>
          <p:cNvGrpSpPr/>
          <p:nvPr/>
        </p:nvGrpSpPr>
        <p:grpSpPr>
          <a:xfrm>
            <a:off x="10380070" y="8428801"/>
            <a:ext cx="162371" cy="162371"/>
            <a:chOff x="0" y="0"/>
            <a:chExt cx="6350000" cy="6350000"/>
          </a:xfrm>
        </p:grpSpPr>
        <p:sp>
          <p:nvSpPr>
            <p:cNvPr id="77" name="Freeform 53"/>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93D00"/>
            </a:solidFill>
            <a:ln>
              <a:solidFill>
                <a:srgbClr val="005C2A"/>
              </a:solidFill>
            </a:ln>
          </p:spPr>
        </p:sp>
      </p:grpSp>
      <p:sp>
        <p:nvSpPr>
          <p:cNvPr id="78" name="AutoShape 30"/>
          <p:cNvSpPr/>
          <p:nvPr/>
        </p:nvSpPr>
        <p:spPr>
          <a:xfrm rot="5372477">
            <a:off x="8061775" y="3477808"/>
            <a:ext cx="2196609" cy="41855"/>
          </a:xfrm>
          <a:prstGeom prst="line">
            <a:avLst/>
          </a:prstGeom>
          <a:ln w="38100" cap="flat">
            <a:solidFill>
              <a:srgbClr val="005C2A"/>
            </a:solidFill>
            <a:prstDash val="solid"/>
            <a:headEnd type="none" w="sm" len="sm"/>
            <a:tailEnd type="none" w="sm" len="sm"/>
          </a:ln>
        </p:spPr>
      </p:sp>
      <p:grpSp>
        <p:nvGrpSpPr>
          <p:cNvPr id="79" name="Group 52"/>
          <p:cNvGrpSpPr/>
          <p:nvPr/>
        </p:nvGrpSpPr>
        <p:grpSpPr>
          <a:xfrm>
            <a:off x="8364319" y="4465185"/>
            <a:ext cx="162371" cy="162371"/>
            <a:chOff x="0" y="0"/>
            <a:chExt cx="6350000" cy="6350000"/>
          </a:xfrm>
        </p:grpSpPr>
        <p:sp>
          <p:nvSpPr>
            <p:cNvPr id="80" name="Freeform 53"/>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93D00"/>
            </a:solidFill>
            <a:ln>
              <a:solidFill>
                <a:srgbClr val="005C2A"/>
              </a:solidFill>
            </a:ln>
          </p:spPr>
        </p:sp>
      </p:grpSp>
      <p:grpSp>
        <p:nvGrpSpPr>
          <p:cNvPr id="81" name="Group 52"/>
          <p:cNvGrpSpPr/>
          <p:nvPr/>
        </p:nvGrpSpPr>
        <p:grpSpPr>
          <a:xfrm>
            <a:off x="9081084" y="4447729"/>
            <a:ext cx="162371" cy="162371"/>
            <a:chOff x="0" y="0"/>
            <a:chExt cx="6350000" cy="6350000"/>
          </a:xfrm>
        </p:grpSpPr>
        <p:sp>
          <p:nvSpPr>
            <p:cNvPr id="82" name="Freeform 53"/>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93D00"/>
            </a:solidFill>
            <a:ln>
              <a:solidFill>
                <a:srgbClr val="005C2A"/>
              </a:solidFill>
            </a:ln>
          </p:spPr>
        </p:sp>
      </p:grpSp>
      <p:sp>
        <p:nvSpPr>
          <p:cNvPr id="83" name="AutoShape 30"/>
          <p:cNvSpPr/>
          <p:nvPr/>
        </p:nvSpPr>
        <p:spPr>
          <a:xfrm rot="5372477" flipH="1" flipV="1">
            <a:off x="9802256" y="1774847"/>
            <a:ext cx="6665" cy="1267715"/>
          </a:xfrm>
          <a:prstGeom prst="line">
            <a:avLst/>
          </a:prstGeom>
          <a:ln w="38100" cap="flat">
            <a:solidFill>
              <a:srgbClr val="005C2A"/>
            </a:solidFill>
            <a:prstDash val="solid"/>
            <a:headEnd type="none" w="sm" len="sm"/>
            <a:tailEnd type="none" w="sm" len="sm"/>
          </a:ln>
        </p:spPr>
      </p:sp>
      <p:sp>
        <p:nvSpPr>
          <p:cNvPr id="84" name="AutoShape 30"/>
          <p:cNvSpPr/>
          <p:nvPr/>
        </p:nvSpPr>
        <p:spPr>
          <a:xfrm rot="5372477" flipH="1" flipV="1">
            <a:off x="7676528" y="1600354"/>
            <a:ext cx="2081" cy="1599534"/>
          </a:xfrm>
          <a:prstGeom prst="line">
            <a:avLst/>
          </a:prstGeom>
          <a:ln w="38100" cap="flat">
            <a:solidFill>
              <a:srgbClr val="005C2A"/>
            </a:solidFill>
            <a:prstDash val="solid"/>
            <a:headEnd type="none" w="sm" len="sm"/>
            <a:tailEnd type="none" w="sm" len="sm"/>
          </a:ln>
        </p:spPr>
      </p:sp>
      <p:grpSp>
        <p:nvGrpSpPr>
          <p:cNvPr id="85" name="Group 52"/>
          <p:cNvGrpSpPr/>
          <p:nvPr/>
        </p:nvGrpSpPr>
        <p:grpSpPr>
          <a:xfrm>
            <a:off x="9100558" y="2346835"/>
            <a:ext cx="162371" cy="162371"/>
            <a:chOff x="0" y="0"/>
            <a:chExt cx="6350000" cy="6350000"/>
          </a:xfrm>
        </p:grpSpPr>
        <p:sp>
          <p:nvSpPr>
            <p:cNvPr id="86" name="Freeform 53"/>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93D00"/>
            </a:solidFill>
            <a:ln>
              <a:solidFill>
                <a:srgbClr val="005C2A"/>
              </a:solidFill>
            </a:ln>
          </p:spPr>
        </p:sp>
      </p:grpSp>
      <p:grpSp>
        <p:nvGrpSpPr>
          <p:cNvPr id="87" name="Group 52"/>
          <p:cNvGrpSpPr/>
          <p:nvPr/>
        </p:nvGrpSpPr>
        <p:grpSpPr>
          <a:xfrm>
            <a:off x="8349849" y="2312148"/>
            <a:ext cx="162371" cy="162371"/>
            <a:chOff x="0" y="0"/>
            <a:chExt cx="6350000" cy="6350000"/>
          </a:xfrm>
        </p:grpSpPr>
        <p:sp>
          <p:nvSpPr>
            <p:cNvPr id="88" name="Freeform 53"/>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93D00"/>
            </a:solidFill>
            <a:ln>
              <a:solidFill>
                <a:srgbClr val="005C2A"/>
              </a:solidFill>
            </a:ln>
          </p:spPr>
        </p:sp>
      </p:grpSp>
      <p:grpSp>
        <p:nvGrpSpPr>
          <p:cNvPr id="89" name="Group 52"/>
          <p:cNvGrpSpPr/>
          <p:nvPr/>
        </p:nvGrpSpPr>
        <p:grpSpPr>
          <a:xfrm>
            <a:off x="6811563" y="2312148"/>
            <a:ext cx="162371" cy="162371"/>
            <a:chOff x="0" y="0"/>
            <a:chExt cx="6350000" cy="6350000"/>
          </a:xfrm>
        </p:grpSpPr>
        <p:sp>
          <p:nvSpPr>
            <p:cNvPr id="90" name="Freeform 53"/>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93D00"/>
            </a:solidFill>
            <a:ln>
              <a:solidFill>
                <a:srgbClr val="005C2A"/>
              </a:solidFill>
            </a:ln>
          </p:spPr>
        </p:sp>
      </p:grpSp>
      <p:grpSp>
        <p:nvGrpSpPr>
          <p:cNvPr id="91" name="Group 52"/>
          <p:cNvGrpSpPr/>
          <p:nvPr/>
        </p:nvGrpSpPr>
        <p:grpSpPr>
          <a:xfrm>
            <a:off x="10287000" y="2333413"/>
            <a:ext cx="162371" cy="162371"/>
            <a:chOff x="0" y="0"/>
            <a:chExt cx="6350000" cy="6350000"/>
          </a:xfrm>
        </p:grpSpPr>
        <p:sp>
          <p:nvSpPr>
            <p:cNvPr id="92" name="Freeform 53"/>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93D00"/>
            </a:solidFill>
            <a:ln>
              <a:solidFill>
                <a:srgbClr val="005C2A"/>
              </a:solidFill>
            </a:ln>
          </p:spPr>
        </p:sp>
      </p:grpSp>
      <p:sp>
        <p:nvSpPr>
          <p:cNvPr id="93" name="Flowchart: Connector 92"/>
          <p:cNvSpPr/>
          <p:nvPr/>
        </p:nvSpPr>
        <p:spPr>
          <a:xfrm>
            <a:off x="9977002" y="4818659"/>
            <a:ext cx="1309620" cy="1306822"/>
          </a:xfrm>
          <a:prstGeom prst="flowChartConnector">
            <a:avLst/>
          </a:prstGeom>
          <a:blipFill>
            <a:blip r:embed="rId11"/>
            <a:stretch>
              <a:fillRect/>
            </a:stretch>
          </a:blipFill>
          <a:ln w="28575">
            <a:solidFill>
              <a:srgbClr val="005C2A"/>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94" name="Flowchart: Connector 93"/>
          <p:cNvSpPr/>
          <p:nvPr/>
        </p:nvSpPr>
        <p:spPr>
          <a:xfrm>
            <a:off x="6283946" y="8082888"/>
            <a:ext cx="1309620" cy="1306822"/>
          </a:xfrm>
          <a:prstGeom prst="flowChartConnector">
            <a:avLst/>
          </a:prstGeom>
          <a:blipFill>
            <a:blip r:embed="rId12"/>
            <a:stretch>
              <a:fillRect/>
            </a:stretch>
          </a:blipFill>
          <a:ln w="28575">
            <a:solidFill>
              <a:srgbClr val="005C2A"/>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96" name="Flowchart: Connector 95"/>
          <p:cNvSpPr/>
          <p:nvPr/>
        </p:nvSpPr>
        <p:spPr>
          <a:xfrm>
            <a:off x="6128572" y="4743480"/>
            <a:ext cx="1309620" cy="1306822"/>
          </a:xfrm>
          <a:prstGeom prst="flowChartConnector">
            <a:avLst/>
          </a:prstGeom>
          <a:blipFill>
            <a:blip r:embed="rId13"/>
            <a:stretch>
              <a:fillRect/>
            </a:stretch>
          </a:blipFill>
          <a:ln w="28575">
            <a:solidFill>
              <a:srgbClr val="005C2A"/>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98" name="Flowchart: Connector 97"/>
          <p:cNvSpPr/>
          <p:nvPr/>
        </p:nvSpPr>
        <p:spPr>
          <a:xfrm>
            <a:off x="6198552" y="1776573"/>
            <a:ext cx="1309620" cy="1306822"/>
          </a:xfrm>
          <a:prstGeom prst="flowChartConnector">
            <a:avLst/>
          </a:prstGeom>
          <a:blipFill>
            <a:blip r:embed="rId14"/>
            <a:stretch>
              <a:fillRect/>
            </a:stretch>
          </a:blipFill>
          <a:ln w="28575">
            <a:solidFill>
              <a:srgbClr val="005C2A"/>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100" name="Flowchart: Connector 99"/>
          <p:cNvSpPr/>
          <p:nvPr/>
        </p:nvSpPr>
        <p:spPr>
          <a:xfrm>
            <a:off x="9403977" y="1937075"/>
            <a:ext cx="1309620" cy="1306822"/>
          </a:xfrm>
          <a:prstGeom prst="flowChartConnector">
            <a:avLst/>
          </a:prstGeom>
          <a:blipFill>
            <a:blip r:embed="rId15"/>
            <a:stretch>
              <a:fillRect/>
            </a:stretch>
          </a:blipFill>
          <a:ln w="28575">
            <a:solidFill>
              <a:srgbClr val="005C2A"/>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104" name="Flowchart: Connector 103"/>
          <p:cNvSpPr/>
          <p:nvPr/>
        </p:nvSpPr>
        <p:spPr>
          <a:xfrm>
            <a:off x="9857255" y="7815335"/>
            <a:ext cx="1309620" cy="1306822"/>
          </a:xfrm>
          <a:prstGeom prst="flowChartConnector">
            <a:avLst/>
          </a:prstGeom>
          <a:blipFill>
            <a:blip r:embed="rId16"/>
            <a:stretch>
              <a:fillRect/>
            </a:stretch>
          </a:blipFill>
          <a:ln w="28575">
            <a:solidFill>
              <a:srgbClr val="005C2A"/>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Tree>
    <p:extLst>
      <p:ext uri="{BB962C8B-B14F-4D97-AF65-F5344CB8AC3E}">
        <p14:creationId xmlns:p14="http://schemas.microsoft.com/office/powerpoint/2010/main" val="284950533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ound Single Corner Rectangle 20"/>
          <p:cNvSpPr/>
          <p:nvPr/>
        </p:nvSpPr>
        <p:spPr>
          <a:xfrm rot="16200000">
            <a:off x="-3050377" y="4171950"/>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5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Review of Literature     </a:t>
            </a:r>
            <a:r>
              <a:rPr lang="en-PH" sz="6000" b="1" u="sng" dirty="0" smtClean="0">
                <a:solidFill>
                  <a:srgbClr val="820000"/>
                </a:solidFill>
                <a:latin typeface="Arial" panose="020B0604020202020204" pitchFamily="34" charset="0"/>
                <a:cs typeface="Arial" panose="020B0604020202020204" pitchFamily="34" charset="0"/>
              </a:rPr>
              <a:t> </a:t>
            </a:r>
          </a:p>
        </p:txBody>
      </p:sp>
      <p:pic>
        <p:nvPicPr>
          <p:cNvPr id="20" name="Picture 19"/>
          <p:cNvPicPr>
            <a:picLocks noChangeAspect="1"/>
          </p:cNvPicPr>
          <p:nvPr/>
        </p:nvPicPr>
        <p:blipFill>
          <a:blip r:embed="rId2"/>
          <a:stretch>
            <a:fillRect/>
          </a:stretch>
        </p:blipFill>
        <p:spPr>
          <a:xfrm>
            <a:off x="0" y="0"/>
            <a:ext cx="18288000" cy="267611"/>
          </a:xfrm>
          <a:prstGeom prst="rect">
            <a:avLst/>
          </a:prstGeom>
        </p:spPr>
      </p:pic>
      <p:grpSp>
        <p:nvGrpSpPr>
          <p:cNvPr id="34" name="Group 52"/>
          <p:cNvGrpSpPr/>
          <p:nvPr/>
        </p:nvGrpSpPr>
        <p:grpSpPr>
          <a:xfrm>
            <a:off x="4739583" y="-428148"/>
            <a:ext cx="162371" cy="162371"/>
            <a:chOff x="0" y="0"/>
            <a:chExt cx="6350000" cy="6350000"/>
          </a:xfrm>
        </p:grpSpPr>
        <p:sp>
          <p:nvSpPr>
            <p:cNvPr id="35" name="Freeform 53"/>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93D00"/>
            </a:solidFill>
          </p:spPr>
        </p:sp>
      </p:grpSp>
      <p:grpSp>
        <p:nvGrpSpPr>
          <p:cNvPr id="3" name="Group 2"/>
          <p:cNvGrpSpPr/>
          <p:nvPr/>
        </p:nvGrpSpPr>
        <p:grpSpPr>
          <a:xfrm>
            <a:off x="1371600" y="533388"/>
            <a:ext cx="16220830" cy="9487293"/>
            <a:chOff x="1434370" y="377357"/>
            <a:chExt cx="16220830" cy="9487293"/>
          </a:xfrm>
        </p:grpSpPr>
        <p:sp>
          <p:nvSpPr>
            <p:cNvPr id="53" name="TextBox 13"/>
            <p:cNvSpPr txBox="1"/>
            <p:nvPr/>
          </p:nvSpPr>
          <p:spPr>
            <a:xfrm>
              <a:off x="1671387" y="1531257"/>
              <a:ext cx="2203151" cy="2306426"/>
            </a:xfrm>
            <a:prstGeom prst="rect">
              <a:avLst/>
            </a:prstGeom>
          </p:spPr>
          <p:txBody>
            <a:bodyPr lIns="50800" tIns="50800" rIns="50800" bIns="50800" rtlCol="0" anchor="ctr"/>
            <a:lstStyle/>
            <a:p>
              <a:pPr algn="ctr">
                <a:lnSpc>
                  <a:spcPts val="2659"/>
                </a:lnSpc>
                <a:spcBef>
                  <a:spcPct val="0"/>
                </a:spcBef>
              </a:pPr>
              <a:endParaRPr/>
            </a:p>
          </p:txBody>
        </p:sp>
        <p:sp>
          <p:nvSpPr>
            <p:cNvPr id="17" name="Flowchart: Connector 16"/>
            <p:cNvSpPr/>
            <p:nvPr/>
          </p:nvSpPr>
          <p:spPr>
            <a:xfrm>
              <a:off x="8054538" y="3396650"/>
              <a:ext cx="3621973" cy="3617346"/>
            </a:xfrm>
            <a:prstGeom prst="flowChartConnector">
              <a:avLst/>
            </a:prstGeom>
            <a:blipFill>
              <a:blip r:embed="rId3"/>
              <a:stretch>
                <a:fillRect/>
              </a:stretch>
            </a:blipFill>
            <a:ln w="28575">
              <a:solidFill>
                <a:srgbClr val="005C2A"/>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9" name="Picture 8"/>
            <p:cNvPicPr>
              <a:picLocks noChangeAspect="1"/>
            </p:cNvPicPr>
            <p:nvPr/>
          </p:nvPicPr>
          <p:blipFill>
            <a:blip r:embed="rId4"/>
            <a:stretch>
              <a:fillRect/>
            </a:stretch>
          </p:blipFill>
          <p:spPr>
            <a:xfrm>
              <a:off x="2258499" y="4935556"/>
              <a:ext cx="2667000" cy="2057400"/>
            </a:xfrm>
            <a:prstGeom prst="rect">
              <a:avLst/>
            </a:prstGeom>
            <a:ln w="38100">
              <a:solidFill>
                <a:srgbClr val="005C2A"/>
              </a:solidFill>
            </a:ln>
          </p:spPr>
        </p:pic>
        <p:pic>
          <p:nvPicPr>
            <p:cNvPr id="10" name="Picture 9"/>
            <p:cNvPicPr>
              <a:picLocks noChangeAspect="1"/>
            </p:cNvPicPr>
            <p:nvPr/>
          </p:nvPicPr>
          <p:blipFill>
            <a:blip r:embed="rId5"/>
            <a:stretch>
              <a:fillRect/>
            </a:stretch>
          </p:blipFill>
          <p:spPr>
            <a:xfrm>
              <a:off x="1475131" y="7410043"/>
              <a:ext cx="3426460" cy="1714500"/>
            </a:xfrm>
            <a:prstGeom prst="rect">
              <a:avLst/>
            </a:prstGeom>
            <a:ln w="38100">
              <a:solidFill>
                <a:srgbClr val="005C2A"/>
              </a:solidFill>
            </a:ln>
          </p:spPr>
        </p:pic>
        <p:pic>
          <p:nvPicPr>
            <p:cNvPr id="11" name="Picture 10"/>
            <p:cNvPicPr>
              <a:picLocks noChangeAspect="1"/>
            </p:cNvPicPr>
            <p:nvPr/>
          </p:nvPicPr>
          <p:blipFill>
            <a:blip r:embed="rId6"/>
            <a:stretch>
              <a:fillRect/>
            </a:stretch>
          </p:blipFill>
          <p:spPr>
            <a:xfrm>
              <a:off x="1434370" y="2612008"/>
              <a:ext cx="3502660" cy="1895475"/>
            </a:xfrm>
            <a:prstGeom prst="rect">
              <a:avLst/>
            </a:prstGeom>
            <a:ln w="38100">
              <a:solidFill>
                <a:srgbClr val="005C2A"/>
              </a:solidFill>
            </a:ln>
          </p:spPr>
        </p:pic>
        <p:pic>
          <p:nvPicPr>
            <p:cNvPr id="12" name="Picture 11"/>
            <p:cNvPicPr>
              <a:picLocks noChangeAspect="1"/>
            </p:cNvPicPr>
            <p:nvPr/>
          </p:nvPicPr>
          <p:blipFill>
            <a:blip r:embed="rId7"/>
            <a:stretch>
              <a:fillRect/>
            </a:stretch>
          </p:blipFill>
          <p:spPr>
            <a:xfrm>
              <a:off x="14020800" y="7485784"/>
              <a:ext cx="3634400" cy="1716231"/>
            </a:xfrm>
            <a:prstGeom prst="rect">
              <a:avLst/>
            </a:prstGeom>
            <a:ln w="38100">
              <a:solidFill>
                <a:srgbClr val="005C2A"/>
              </a:solidFill>
            </a:ln>
          </p:spPr>
        </p:pic>
        <p:pic>
          <p:nvPicPr>
            <p:cNvPr id="15" name="Picture 14"/>
            <p:cNvPicPr>
              <a:picLocks noChangeAspect="1"/>
            </p:cNvPicPr>
            <p:nvPr/>
          </p:nvPicPr>
          <p:blipFill>
            <a:blip r:embed="rId8"/>
            <a:stretch>
              <a:fillRect/>
            </a:stretch>
          </p:blipFill>
          <p:spPr>
            <a:xfrm>
              <a:off x="2046207" y="597396"/>
              <a:ext cx="2882680" cy="1562988"/>
            </a:xfrm>
            <a:prstGeom prst="rect">
              <a:avLst/>
            </a:prstGeom>
            <a:ln w="38100">
              <a:solidFill>
                <a:srgbClr val="005C2A"/>
              </a:solidFill>
            </a:ln>
          </p:spPr>
        </p:pic>
        <p:pic>
          <p:nvPicPr>
            <p:cNvPr id="16" name="Picture 15"/>
            <p:cNvPicPr>
              <a:picLocks noChangeAspect="1"/>
            </p:cNvPicPr>
            <p:nvPr/>
          </p:nvPicPr>
          <p:blipFill>
            <a:blip r:embed="rId9"/>
            <a:stretch>
              <a:fillRect/>
            </a:stretch>
          </p:blipFill>
          <p:spPr>
            <a:xfrm>
              <a:off x="14042409" y="410184"/>
              <a:ext cx="3129391" cy="1545844"/>
            </a:xfrm>
            <a:prstGeom prst="rect">
              <a:avLst/>
            </a:prstGeom>
            <a:ln w="38100">
              <a:solidFill>
                <a:srgbClr val="005C2A"/>
              </a:solidFill>
            </a:ln>
          </p:spPr>
        </p:pic>
        <p:pic>
          <p:nvPicPr>
            <p:cNvPr id="28" name="Picture 27"/>
            <p:cNvPicPr>
              <a:picLocks noChangeAspect="1"/>
            </p:cNvPicPr>
            <p:nvPr/>
          </p:nvPicPr>
          <p:blipFill>
            <a:blip r:embed="rId10"/>
            <a:stretch>
              <a:fillRect/>
            </a:stretch>
          </p:blipFill>
          <p:spPr>
            <a:xfrm>
              <a:off x="14020800" y="4792192"/>
              <a:ext cx="3129391" cy="2344128"/>
            </a:xfrm>
            <a:prstGeom prst="rect">
              <a:avLst/>
            </a:prstGeom>
            <a:ln w="38100">
              <a:solidFill>
                <a:srgbClr val="005C2A"/>
              </a:solidFill>
            </a:ln>
          </p:spPr>
        </p:pic>
        <p:pic>
          <p:nvPicPr>
            <p:cNvPr id="29" name="Picture 28"/>
            <p:cNvPicPr>
              <a:picLocks noChangeAspect="1"/>
            </p:cNvPicPr>
            <p:nvPr/>
          </p:nvPicPr>
          <p:blipFill>
            <a:blip r:embed="rId11"/>
            <a:stretch>
              <a:fillRect/>
            </a:stretch>
          </p:blipFill>
          <p:spPr>
            <a:xfrm>
              <a:off x="8288292" y="7683469"/>
              <a:ext cx="3154467" cy="2181181"/>
            </a:xfrm>
            <a:prstGeom prst="rect">
              <a:avLst/>
            </a:prstGeom>
            <a:ln w="38100">
              <a:solidFill>
                <a:srgbClr val="005C2A"/>
              </a:solidFill>
            </a:ln>
          </p:spPr>
        </p:pic>
        <p:pic>
          <p:nvPicPr>
            <p:cNvPr id="30" name="Picture 29"/>
            <p:cNvPicPr>
              <a:picLocks noChangeAspect="1"/>
            </p:cNvPicPr>
            <p:nvPr/>
          </p:nvPicPr>
          <p:blipFill>
            <a:blip r:embed="rId12"/>
            <a:stretch>
              <a:fillRect/>
            </a:stretch>
          </p:blipFill>
          <p:spPr>
            <a:xfrm>
              <a:off x="8152011" y="377357"/>
              <a:ext cx="3204931" cy="2228490"/>
            </a:xfrm>
            <a:prstGeom prst="rect">
              <a:avLst/>
            </a:prstGeom>
            <a:ln w="38100">
              <a:solidFill>
                <a:srgbClr val="005C2A"/>
              </a:solidFill>
            </a:ln>
          </p:spPr>
        </p:pic>
        <p:pic>
          <p:nvPicPr>
            <p:cNvPr id="31" name="Picture 30"/>
            <p:cNvPicPr>
              <a:picLocks noChangeAspect="1"/>
            </p:cNvPicPr>
            <p:nvPr/>
          </p:nvPicPr>
          <p:blipFill>
            <a:blip r:embed="rId13"/>
            <a:stretch>
              <a:fillRect/>
            </a:stretch>
          </p:blipFill>
          <p:spPr>
            <a:xfrm>
              <a:off x="14020800" y="2399280"/>
              <a:ext cx="3043358" cy="1805119"/>
            </a:xfrm>
            <a:prstGeom prst="rect">
              <a:avLst/>
            </a:prstGeom>
            <a:ln w="38100">
              <a:solidFill>
                <a:srgbClr val="005C2A"/>
              </a:solidFill>
            </a:ln>
          </p:spPr>
        </p:pic>
        <p:grpSp>
          <p:nvGrpSpPr>
            <p:cNvPr id="60" name="Group 52"/>
            <p:cNvGrpSpPr/>
            <p:nvPr/>
          </p:nvGrpSpPr>
          <p:grpSpPr>
            <a:xfrm>
              <a:off x="8391416" y="5625964"/>
              <a:ext cx="162371" cy="162371"/>
              <a:chOff x="0" y="0"/>
              <a:chExt cx="6350000" cy="6350000"/>
            </a:xfrm>
          </p:grpSpPr>
          <p:sp>
            <p:nvSpPr>
              <p:cNvPr id="61" name="Freeform 53"/>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93D00"/>
              </a:solidFill>
            </p:spPr>
          </p:sp>
        </p:grpSp>
      </p:grpSp>
      <p:cxnSp>
        <p:nvCxnSpPr>
          <p:cNvPr id="5" name="Straight Arrow Connector 4"/>
          <p:cNvCxnSpPr>
            <a:stCxn id="15" idx="3"/>
            <a:endCxn id="17" idx="1"/>
          </p:cNvCxnSpPr>
          <p:nvPr/>
        </p:nvCxnSpPr>
        <p:spPr>
          <a:xfrm>
            <a:off x="4866117" y="1534921"/>
            <a:ext cx="3656077" cy="2547508"/>
          </a:xfrm>
          <a:prstGeom prst="straightConnector1">
            <a:avLst/>
          </a:prstGeom>
          <a:ln w="38100">
            <a:solidFill>
              <a:srgbClr val="005C2A"/>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a:stCxn id="11" idx="3"/>
            <a:endCxn id="17" idx="2"/>
          </p:cNvCxnSpPr>
          <p:nvPr/>
        </p:nvCxnSpPr>
        <p:spPr>
          <a:xfrm>
            <a:off x="4874260" y="3715777"/>
            <a:ext cx="3117508" cy="1645577"/>
          </a:xfrm>
          <a:prstGeom prst="straightConnector1">
            <a:avLst/>
          </a:prstGeom>
          <a:ln w="38100">
            <a:solidFill>
              <a:srgbClr val="005C2A"/>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9" idx="3"/>
          </p:cNvCxnSpPr>
          <p:nvPr/>
        </p:nvCxnSpPr>
        <p:spPr>
          <a:xfrm>
            <a:off x="4862729" y="6120287"/>
            <a:ext cx="3362793" cy="0"/>
          </a:xfrm>
          <a:prstGeom prst="straightConnector1">
            <a:avLst/>
          </a:prstGeom>
          <a:ln w="38100">
            <a:solidFill>
              <a:srgbClr val="005C2A"/>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10" idx="3"/>
            <a:endCxn id="17" idx="3"/>
          </p:cNvCxnSpPr>
          <p:nvPr/>
        </p:nvCxnSpPr>
        <p:spPr>
          <a:xfrm flipV="1">
            <a:off x="4838821" y="6640279"/>
            <a:ext cx="3683373" cy="1783045"/>
          </a:xfrm>
          <a:prstGeom prst="straightConnector1">
            <a:avLst/>
          </a:prstGeom>
          <a:ln w="38100">
            <a:solidFill>
              <a:srgbClr val="005C2A"/>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30" idx="2"/>
          </p:cNvCxnSpPr>
          <p:nvPr/>
        </p:nvCxnSpPr>
        <p:spPr>
          <a:xfrm flipH="1">
            <a:off x="9691706" y="2761878"/>
            <a:ext cx="1" cy="790803"/>
          </a:xfrm>
          <a:prstGeom prst="straightConnector1">
            <a:avLst/>
          </a:prstGeom>
          <a:ln w="38100">
            <a:solidFill>
              <a:srgbClr val="005C2A"/>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29" idx="0"/>
            <a:endCxn id="17" idx="4"/>
          </p:cNvCxnSpPr>
          <p:nvPr/>
        </p:nvCxnSpPr>
        <p:spPr>
          <a:xfrm flipH="1" flipV="1">
            <a:off x="9802755" y="7170027"/>
            <a:ext cx="1" cy="669473"/>
          </a:xfrm>
          <a:prstGeom prst="straightConnector1">
            <a:avLst/>
          </a:prstGeom>
          <a:ln w="38100">
            <a:solidFill>
              <a:srgbClr val="005C2A"/>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16" idx="1"/>
            <a:endCxn id="17" idx="7"/>
          </p:cNvCxnSpPr>
          <p:nvPr/>
        </p:nvCxnSpPr>
        <p:spPr>
          <a:xfrm flipH="1">
            <a:off x="11083315" y="1339137"/>
            <a:ext cx="2896324" cy="2743292"/>
          </a:xfrm>
          <a:prstGeom prst="straightConnector1">
            <a:avLst/>
          </a:prstGeom>
          <a:ln w="38100">
            <a:solidFill>
              <a:srgbClr val="005C2A"/>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stCxn id="31" idx="1"/>
            <a:endCxn id="17" idx="6"/>
          </p:cNvCxnSpPr>
          <p:nvPr/>
        </p:nvCxnSpPr>
        <p:spPr>
          <a:xfrm flipH="1">
            <a:off x="11613741" y="3457871"/>
            <a:ext cx="2344289" cy="1903483"/>
          </a:xfrm>
          <a:prstGeom prst="straightConnector1">
            <a:avLst/>
          </a:prstGeom>
          <a:ln w="38100">
            <a:solidFill>
              <a:srgbClr val="005C2A"/>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a:stCxn id="28" idx="1"/>
          </p:cNvCxnSpPr>
          <p:nvPr/>
        </p:nvCxnSpPr>
        <p:spPr>
          <a:xfrm flipH="1">
            <a:off x="11379989" y="6120287"/>
            <a:ext cx="2578041" cy="0"/>
          </a:xfrm>
          <a:prstGeom prst="straightConnector1">
            <a:avLst/>
          </a:prstGeom>
          <a:ln w="38100">
            <a:solidFill>
              <a:srgbClr val="005C2A"/>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a:stCxn id="12" idx="1"/>
            <a:endCxn id="29" idx="3"/>
          </p:cNvCxnSpPr>
          <p:nvPr/>
        </p:nvCxnSpPr>
        <p:spPr>
          <a:xfrm flipH="1">
            <a:off x="11379989" y="8499931"/>
            <a:ext cx="2578041" cy="430160"/>
          </a:xfrm>
          <a:prstGeom prst="straightConnector1">
            <a:avLst/>
          </a:prstGeom>
          <a:ln w="38100">
            <a:solidFill>
              <a:srgbClr val="005C2A"/>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531357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 name="TextBox 13"/>
          <p:cNvSpPr txBox="1"/>
          <p:nvPr/>
        </p:nvSpPr>
        <p:spPr>
          <a:xfrm>
            <a:off x="1671387" y="1340757"/>
            <a:ext cx="2203151" cy="2306426"/>
          </a:xfrm>
          <a:prstGeom prst="rect">
            <a:avLst/>
          </a:prstGeom>
        </p:spPr>
        <p:txBody>
          <a:bodyPr lIns="50800" tIns="50800" rIns="50800" bIns="50800" rtlCol="0" anchor="ctr"/>
          <a:lstStyle/>
          <a:p>
            <a:pPr algn="ctr">
              <a:lnSpc>
                <a:spcPts val="2659"/>
              </a:lnSpc>
              <a:spcBef>
                <a:spcPct val="0"/>
              </a:spcBef>
            </a:pPr>
            <a:endParaRPr/>
          </a:p>
        </p:txBody>
      </p:sp>
      <p:pic>
        <p:nvPicPr>
          <p:cNvPr id="19" name="Picture 18"/>
          <p:cNvPicPr>
            <a:picLocks noChangeAspect="1"/>
          </p:cNvPicPr>
          <p:nvPr/>
        </p:nvPicPr>
        <p:blipFill>
          <a:blip r:embed="rId2"/>
          <a:stretch>
            <a:fillRect/>
          </a:stretch>
        </p:blipFill>
        <p:spPr>
          <a:xfrm rot="10800000">
            <a:off x="0" y="1133738"/>
            <a:ext cx="18288000" cy="267610"/>
          </a:xfrm>
          <a:prstGeom prst="rect">
            <a:avLst/>
          </a:prstGeom>
        </p:spPr>
      </p:pic>
      <p:sp>
        <p:nvSpPr>
          <p:cNvPr id="21" name="Round Single Corner Rectangle 20"/>
          <p:cNvSpPr/>
          <p:nvPr/>
        </p:nvSpPr>
        <p:spPr>
          <a:xfrm>
            <a:off x="5494020" y="-30103"/>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5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Review of Literature     </a:t>
            </a:r>
            <a:r>
              <a:rPr lang="en-PH" sz="6000" b="1" u="sng" dirty="0" smtClean="0">
                <a:solidFill>
                  <a:srgbClr val="820000"/>
                </a:solidFill>
                <a:latin typeface="Arial" panose="020B0604020202020204" pitchFamily="34" charset="0"/>
                <a:cs typeface="Arial" panose="020B0604020202020204" pitchFamily="34" charset="0"/>
              </a:rPr>
              <a:t> </a:t>
            </a:r>
          </a:p>
        </p:txBody>
      </p:sp>
      <p:pic>
        <p:nvPicPr>
          <p:cNvPr id="20" name="Picture 19"/>
          <p:cNvPicPr>
            <a:picLocks noChangeAspect="1"/>
          </p:cNvPicPr>
          <p:nvPr/>
        </p:nvPicPr>
        <p:blipFill>
          <a:blip r:embed="rId2"/>
          <a:stretch>
            <a:fillRect/>
          </a:stretch>
        </p:blipFill>
        <p:spPr>
          <a:xfrm>
            <a:off x="0" y="-190500"/>
            <a:ext cx="18288000" cy="267611"/>
          </a:xfrm>
          <a:prstGeom prst="rect">
            <a:avLst/>
          </a:prstGeom>
        </p:spPr>
      </p:pic>
      <p:pic>
        <p:nvPicPr>
          <p:cNvPr id="6" name="Picture 5"/>
          <p:cNvPicPr>
            <a:picLocks noChangeAspect="1"/>
          </p:cNvPicPr>
          <p:nvPr/>
        </p:nvPicPr>
        <p:blipFill>
          <a:blip r:embed="rId3"/>
          <a:stretch>
            <a:fillRect/>
          </a:stretch>
        </p:blipFill>
        <p:spPr>
          <a:xfrm>
            <a:off x="15030450" y="297870"/>
            <a:ext cx="3257550" cy="523875"/>
          </a:xfrm>
          <a:prstGeom prst="rect">
            <a:avLst/>
          </a:prstGeom>
        </p:spPr>
      </p:pic>
      <p:sp>
        <p:nvSpPr>
          <p:cNvPr id="25" name="Parallelogram 24"/>
          <p:cNvSpPr/>
          <p:nvPr/>
        </p:nvSpPr>
        <p:spPr>
          <a:xfrm>
            <a:off x="13030200" y="569676"/>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13" name="Picture 12"/>
          <p:cNvPicPr>
            <a:picLocks noChangeAspect="1"/>
          </p:cNvPicPr>
          <p:nvPr/>
        </p:nvPicPr>
        <p:blipFill>
          <a:blip r:embed="rId3"/>
          <a:stretch>
            <a:fillRect/>
          </a:stretch>
        </p:blipFill>
        <p:spPr>
          <a:xfrm rot="10800000">
            <a:off x="0" y="422038"/>
            <a:ext cx="3257550" cy="523875"/>
          </a:xfrm>
          <a:prstGeom prst="rect">
            <a:avLst/>
          </a:prstGeom>
        </p:spPr>
      </p:pic>
      <p:sp>
        <p:nvSpPr>
          <p:cNvPr id="14" name="Parallelogram 13"/>
          <p:cNvSpPr/>
          <p:nvPr/>
        </p:nvSpPr>
        <p:spPr>
          <a:xfrm>
            <a:off x="659363" y="386515"/>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6" name="Round Single Corner Rectangle 25"/>
          <p:cNvSpPr/>
          <p:nvPr/>
        </p:nvSpPr>
        <p:spPr>
          <a:xfrm rot="16200000">
            <a:off x="-3229808" y="4937577"/>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5400" b="1" dirty="0" smtClean="0">
                <a:solidFill>
                  <a:srgbClr val="005C2A"/>
                </a:solidFill>
                <a:latin typeface="Arial" panose="020B0604020202020204" pitchFamily="34" charset="0"/>
                <a:ea typeface="Adobe Gothic Std B" panose="020B0800000000000000" pitchFamily="34" charset="-128"/>
                <a:cs typeface="Arial" panose="020B0604020202020204" pitchFamily="34" charset="0"/>
              </a:rPr>
              <a:t> SPECTROSCOPY      </a:t>
            </a:r>
            <a:r>
              <a:rPr lang="en-PH" sz="6000" b="1" u="sng" dirty="0" smtClean="0">
                <a:solidFill>
                  <a:srgbClr val="005C2A"/>
                </a:solidFill>
                <a:latin typeface="Arial" panose="020B0604020202020204" pitchFamily="34" charset="0"/>
                <a:cs typeface="Arial" panose="020B0604020202020204" pitchFamily="34" charset="0"/>
              </a:rPr>
              <a:t> </a:t>
            </a:r>
          </a:p>
        </p:txBody>
      </p:sp>
      <p:sp>
        <p:nvSpPr>
          <p:cNvPr id="81" name="Freeform 21"/>
          <p:cNvSpPr/>
          <p:nvPr/>
        </p:nvSpPr>
        <p:spPr>
          <a:xfrm>
            <a:off x="9300666" y="5543623"/>
            <a:ext cx="2590799" cy="2701177"/>
          </a:xfrm>
          <a:custGeom>
            <a:avLst/>
            <a:gdLst/>
            <a:ahLst/>
            <a:cxnLst/>
            <a:rect l="l" t="t" r="r" b="b"/>
            <a:pathLst>
              <a:path w="5499100" h="6350000">
                <a:moveTo>
                  <a:pt x="2749550" y="6350000"/>
                </a:moveTo>
                <a:lnTo>
                  <a:pt x="0" y="4762500"/>
                </a:lnTo>
                <a:lnTo>
                  <a:pt x="0" y="1587500"/>
                </a:lnTo>
                <a:lnTo>
                  <a:pt x="2749550" y="0"/>
                </a:lnTo>
                <a:lnTo>
                  <a:pt x="5499100" y="1587500"/>
                </a:lnTo>
                <a:lnTo>
                  <a:pt x="5499100" y="4762500"/>
                </a:lnTo>
                <a:lnTo>
                  <a:pt x="2749550" y="6350000"/>
                </a:lnTo>
                <a:close/>
              </a:path>
            </a:pathLst>
          </a:custGeom>
          <a:blipFill>
            <a:blip r:embed="rId4"/>
            <a:stretch>
              <a:fillRect l="-30844" r="-30844"/>
            </a:stretch>
          </a:blipFill>
          <a:ln w="57150">
            <a:solidFill>
              <a:srgbClr val="005C2A"/>
            </a:solidFill>
          </a:ln>
        </p:spPr>
      </p:sp>
      <p:sp>
        <p:nvSpPr>
          <p:cNvPr id="83" name="Freeform 21"/>
          <p:cNvSpPr/>
          <p:nvPr/>
        </p:nvSpPr>
        <p:spPr>
          <a:xfrm>
            <a:off x="981964" y="5724776"/>
            <a:ext cx="2590799" cy="2701177"/>
          </a:xfrm>
          <a:custGeom>
            <a:avLst/>
            <a:gdLst/>
            <a:ahLst/>
            <a:cxnLst/>
            <a:rect l="l" t="t" r="r" b="b"/>
            <a:pathLst>
              <a:path w="5499100" h="6350000">
                <a:moveTo>
                  <a:pt x="2749550" y="6350000"/>
                </a:moveTo>
                <a:lnTo>
                  <a:pt x="0" y="4762500"/>
                </a:lnTo>
                <a:lnTo>
                  <a:pt x="0" y="1587500"/>
                </a:lnTo>
                <a:lnTo>
                  <a:pt x="2749550" y="0"/>
                </a:lnTo>
                <a:lnTo>
                  <a:pt x="5499100" y="1587500"/>
                </a:lnTo>
                <a:lnTo>
                  <a:pt x="5499100" y="4762500"/>
                </a:lnTo>
                <a:lnTo>
                  <a:pt x="2749550" y="6350000"/>
                </a:lnTo>
                <a:close/>
              </a:path>
            </a:pathLst>
          </a:custGeom>
          <a:blipFill>
            <a:blip r:embed="rId5"/>
            <a:stretch>
              <a:fillRect l="-30844" r="-30844"/>
            </a:stretch>
          </a:blipFill>
          <a:ln w="57150">
            <a:solidFill>
              <a:srgbClr val="005C2A"/>
            </a:solidFill>
          </a:ln>
        </p:spPr>
      </p:sp>
      <p:sp>
        <p:nvSpPr>
          <p:cNvPr id="85" name="Freeform 21"/>
          <p:cNvSpPr/>
          <p:nvPr/>
        </p:nvSpPr>
        <p:spPr>
          <a:xfrm>
            <a:off x="9676165" y="2324100"/>
            <a:ext cx="2717802" cy="2684141"/>
          </a:xfrm>
          <a:custGeom>
            <a:avLst/>
            <a:gdLst/>
            <a:ahLst/>
            <a:cxnLst/>
            <a:rect l="l" t="t" r="r" b="b"/>
            <a:pathLst>
              <a:path w="5499100" h="6350000">
                <a:moveTo>
                  <a:pt x="2749550" y="6350000"/>
                </a:moveTo>
                <a:lnTo>
                  <a:pt x="0" y="4762500"/>
                </a:lnTo>
                <a:lnTo>
                  <a:pt x="0" y="1587500"/>
                </a:lnTo>
                <a:lnTo>
                  <a:pt x="2749550" y="0"/>
                </a:lnTo>
                <a:lnTo>
                  <a:pt x="5499100" y="1587500"/>
                </a:lnTo>
                <a:lnTo>
                  <a:pt x="5499100" y="4762500"/>
                </a:lnTo>
                <a:lnTo>
                  <a:pt x="2749550" y="6350000"/>
                </a:lnTo>
                <a:close/>
              </a:path>
            </a:pathLst>
          </a:custGeom>
          <a:blipFill>
            <a:blip r:embed="rId6"/>
            <a:stretch>
              <a:fillRect l="-30844" r="-30844"/>
            </a:stretch>
          </a:blipFill>
          <a:ln w="57150">
            <a:solidFill>
              <a:srgbClr val="005C2A"/>
            </a:solidFill>
          </a:ln>
        </p:spPr>
      </p:sp>
      <p:sp>
        <p:nvSpPr>
          <p:cNvPr id="8" name="Rounded Rectangle 7"/>
          <p:cNvSpPr/>
          <p:nvPr/>
        </p:nvSpPr>
        <p:spPr>
          <a:xfrm>
            <a:off x="3863060" y="1538877"/>
            <a:ext cx="1471661" cy="635744"/>
          </a:xfrm>
          <a:prstGeom prst="roundRect">
            <a:avLst/>
          </a:prstGeom>
          <a:ln w="57150">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b="1" dirty="0" smtClean="0">
                <a:solidFill>
                  <a:srgbClr val="005C2A"/>
                </a:solidFill>
              </a:rPr>
              <a:t>UV-VIS</a:t>
            </a:r>
            <a:endParaRPr lang="en-PH" sz="2800" b="1" dirty="0">
              <a:solidFill>
                <a:srgbClr val="005C2A"/>
              </a:solidFill>
            </a:endParaRPr>
          </a:p>
        </p:txBody>
      </p:sp>
      <p:sp>
        <p:nvSpPr>
          <p:cNvPr id="104" name="Rounded Rectangle 103"/>
          <p:cNvSpPr/>
          <p:nvPr/>
        </p:nvSpPr>
        <p:spPr>
          <a:xfrm>
            <a:off x="3767512" y="5471924"/>
            <a:ext cx="1143000" cy="635744"/>
          </a:xfrm>
          <a:prstGeom prst="roundRect">
            <a:avLst/>
          </a:prstGeom>
          <a:ln w="57150">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b="1" dirty="0" smtClean="0">
                <a:solidFill>
                  <a:srgbClr val="005C2A"/>
                </a:solidFill>
              </a:rPr>
              <a:t>GC-MS</a:t>
            </a:r>
            <a:endParaRPr lang="en-PH" sz="2400" b="1" dirty="0">
              <a:solidFill>
                <a:srgbClr val="005C2A"/>
              </a:solidFill>
            </a:endParaRPr>
          </a:p>
        </p:txBody>
      </p:sp>
      <p:sp>
        <p:nvSpPr>
          <p:cNvPr id="105" name="Rounded Rectangle 104"/>
          <p:cNvSpPr/>
          <p:nvPr/>
        </p:nvSpPr>
        <p:spPr>
          <a:xfrm>
            <a:off x="12656819" y="1613023"/>
            <a:ext cx="1143000" cy="635744"/>
          </a:xfrm>
          <a:prstGeom prst="roundRect">
            <a:avLst/>
          </a:prstGeom>
          <a:ln w="57150">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smtClean="0">
                <a:solidFill>
                  <a:srgbClr val="005C2A"/>
                </a:solidFill>
              </a:rPr>
              <a:t>FTIR</a:t>
            </a:r>
            <a:endParaRPr lang="en-PH" sz="3200" b="1" dirty="0">
              <a:solidFill>
                <a:srgbClr val="005C2A"/>
              </a:solidFill>
            </a:endParaRPr>
          </a:p>
        </p:txBody>
      </p:sp>
      <p:sp>
        <p:nvSpPr>
          <p:cNvPr id="46" name="Freeform 21"/>
          <p:cNvSpPr/>
          <p:nvPr/>
        </p:nvSpPr>
        <p:spPr>
          <a:xfrm>
            <a:off x="942142" y="2292846"/>
            <a:ext cx="2590799" cy="2701177"/>
          </a:xfrm>
          <a:custGeom>
            <a:avLst/>
            <a:gdLst/>
            <a:ahLst/>
            <a:cxnLst/>
            <a:rect l="l" t="t" r="r" b="b"/>
            <a:pathLst>
              <a:path w="5499100" h="6350000">
                <a:moveTo>
                  <a:pt x="2749550" y="6350000"/>
                </a:moveTo>
                <a:lnTo>
                  <a:pt x="0" y="4762500"/>
                </a:lnTo>
                <a:lnTo>
                  <a:pt x="0" y="1587500"/>
                </a:lnTo>
                <a:lnTo>
                  <a:pt x="2749550" y="0"/>
                </a:lnTo>
                <a:lnTo>
                  <a:pt x="5499100" y="1587500"/>
                </a:lnTo>
                <a:lnTo>
                  <a:pt x="5499100" y="4762500"/>
                </a:lnTo>
                <a:lnTo>
                  <a:pt x="2749550" y="6350000"/>
                </a:lnTo>
                <a:close/>
              </a:path>
            </a:pathLst>
          </a:custGeom>
          <a:blipFill>
            <a:blip r:embed="rId7"/>
            <a:stretch>
              <a:fillRect l="-30844" r="-30844"/>
            </a:stretch>
          </a:blipFill>
          <a:ln w="57150">
            <a:solidFill>
              <a:srgbClr val="005C2A"/>
            </a:solidFill>
          </a:ln>
        </p:spPr>
      </p:sp>
      <p:sp>
        <p:nvSpPr>
          <p:cNvPr id="2" name="Rectangle 1"/>
          <p:cNvSpPr/>
          <p:nvPr/>
        </p:nvSpPr>
        <p:spPr>
          <a:xfrm>
            <a:off x="3677790" y="2264799"/>
            <a:ext cx="5313810" cy="2862322"/>
          </a:xfrm>
          <a:prstGeom prst="rect">
            <a:avLst/>
          </a:prstGeom>
        </p:spPr>
        <p:txBody>
          <a:bodyPr wrap="square">
            <a:spAutoFit/>
          </a:bodyPr>
          <a:lstStyle/>
          <a:p>
            <a:pPr algn="just"/>
            <a:r>
              <a:rPr lang="en-US" b="1" dirty="0" smtClean="0"/>
              <a:t>	UV-Vis </a:t>
            </a:r>
            <a:r>
              <a:rPr lang="en-US" b="1" dirty="0"/>
              <a:t>spectroscopy is an analytical technique that measures the amount of discrete wavelengths of UV or visible light that are absorbed by or transmitted through a sample in comparison to a reference or blank sample. This property is influenced by the sample composition, potentially providing information on what is in the sample and at what concentration. Since this spectroscopy technique relies on the use of light, let’s first consider the properties of </a:t>
            </a:r>
            <a:r>
              <a:rPr lang="en-US" b="1" dirty="0" smtClean="0"/>
              <a:t>light.[1]</a:t>
            </a:r>
            <a:endParaRPr lang="en-PH" b="1" dirty="0"/>
          </a:p>
        </p:txBody>
      </p:sp>
      <p:sp>
        <p:nvSpPr>
          <p:cNvPr id="3" name="Rectangle 2"/>
          <p:cNvSpPr/>
          <p:nvPr/>
        </p:nvSpPr>
        <p:spPr>
          <a:xfrm>
            <a:off x="689021" y="9290237"/>
            <a:ext cx="6091668" cy="369332"/>
          </a:xfrm>
          <a:prstGeom prst="rect">
            <a:avLst/>
          </a:prstGeom>
        </p:spPr>
        <p:txBody>
          <a:bodyPr wrap="none">
            <a:spAutoFit/>
          </a:bodyPr>
          <a:lstStyle/>
          <a:p>
            <a:r>
              <a:rPr lang="en-PH" dirty="0" smtClean="0">
                <a:latin typeface="Arial" panose="020B0604020202020204" pitchFamily="34" charset="0"/>
                <a:cs typeface="Arial" panose="020B0604020202020204" pitchFamily="34" charset="0"/>
              </a:rPr>
              <a:t>[1] https</a:t>
            </a:r>
            <a:r>
              <a:rPr lang="en-PH" dirty="0">
                <a:latin typeface="Arial" panose="020B0604020202020204" pitchFamily="34" charset="0"/>
                <a:cs typeface="Arial" panose="020B0604020202020204" pitchFamily="34" charset="0"/>
              </a:rPr>
              <a:t>://www.technologynetworks.com/analysis/articles/</a:t>
            </a:r>
          </a:p>
        </p:txBody>
      </p:sp>
      <p:sp>
        <p:nvSpPr>
          <p:cNvPr id="5" name="Rectangle 4"/>
          <p:cNvSpPr/>
          <p:nvPr/>
        </p:nvSpPr>
        <p:spPr>
          <a:xfrm>
            <a:off x="12415738" y="2323486"/>
            <a:ext cx="5345663" cy="2031325"/>
          </a:xfrm>
          <a:prstGeom prst="rect">
            <a:avLst/>
          </a:prstGeom>
        </p:spPr>
        <p:txBody>
          <a:bodyPr wrap="square">
            <a:spAutoFit/>
          </a:bodyPr>
          <a:lstStyle/>
          <a:p>
            <a:pPr marL="91440" marR="0" indent="457200" algn="just">
              <a:spcBef>
                <a:spcPts val="0"/>
              </a:spcBef>
              <a:spcAft>
                <a:spcPts val="0"/>
              </a:spcAft>
            </a:pPr>
            <a:r>
              <a:rPr lang="en-PH" b="1" dirty="0">
                <a:latin typeface="Arial" panose="020B0604020202020204" pitchFamily="34" charset="0"/>
                <a:ea typeface="Calibri" panose="020F0502020204030204" pitchFamily="34" charset="0"/>
                <a:cs typeface="Arial" panose="020B0604020202020204" pitchFamily="34" charset="0"/>
              </a:rPr>
              <a:t>Fourier Transform Infrared (FTIR) has been developed to simultaneously determine organic components, including chemical bonds and organic content (e.g., protein, carbohydrate, and lipid). However, until now, further documents have yet to describe the detailed information in the FTIR peaks</a:t>
            </a:r>
            <a:r>
              <a:rPr lang="en-PH" b="1" baseline="30000" dirty="0" smtClean="0">
                <a:latin typeface="Arial" panose="020B0604020202020204" pitchFamily="34" charset="0"/>
                <a:ea typeface="Calibri" panose="020F0502020204030204" pitchFamily="34" charset="0"/>
                <a:cs typeface="Arial" panose="020B0604020202020204" pitchFamily="34" charset="0"/>
              </a:rPr>
              <a:t>.</a:t>
            </a:r>
            <a:r>
              <a:rPr lang="en-PH" b="1" dirty="0" smtClean="0">
                <a:latin typeface="Arial" panose="020B0604020202020204" pitchFamily="34" charset="0"/>
                <a:ea typeface="Calibri" panose="020F0502020204030204" pitchFamily="34" charset="0"/>
                <a:cs typeface="Arial" panose="020B0604020202020204" pitchFamily="34" charset="0"/>
              </a:rPr>
              <a:t> [16]</a:t>
            </a:r>
            <a:endParaRPr lang="en-PH" b="1"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7" name="Rectangle 6"/>
          <p:cNvSpPr/>
          <p:nvPr/>
        </p:nvSpPr>
        <p:spPr>
          <a:xfrm>
            <a:off x="616020" y="9792249"/>
            <a:ext cx="6237670" cy="369332"/>
          </a:xfrm>
          <a:prstGeom prst="rect">
            <a:avLst/>
          </a:prstGeom>
        </p:spPr>
        <p:txBody>
          <a:bodyPr wrap="none">
            <a:spAutoFit/>
          </a:bodyPr>
          <a:lstStyle/>
          <a:p>
            <a:r>
              <a:rPr lang="en-PH" dirty="0" smtClean="0">
                <a:latin typeface="Arial" panose="020B0604020202020204" pitchFamily="34" charset="0"/>
                <a:ea typeface="Calibri" panose="020F0502020204030204" pitchFamily="34" charset="0"/>
              </a:rPr>
              <a:t>[16]</a:t>
            </a:r>
            <a:r>
              <a:rPr lang="en-PH" dirty="0">
                <a:latin typeface="Arial" panose="020B0604020202020204" pitchFamily="34" charset="0"/>
                <a:ea typeface="Calibri" panose="020F0502020204030204" pitchFamily="34" charset="0"/>
              </a:rPr>
              <a:t> </a:t>
            </a:r>
            <a:r>
              <a:rPr lang="en-PH" dirty="0" err="1" smtClean="0">
                <a:latin typeface="Arial" panose="020B0604020202020204" pitchFamily="34" charset="0"/>
                <a:ea typeface="Calibri" panose="020F0502020204030204" pitchFamily="34" charset="0"/>
              </a:rPr>
              <a:t>Nandiyanto</a:t>
            </a:r>
            <a:r>
              <a:rPr lang="en-PH" dirty="0">
                <a:latin typeface="Arial" panose="020B0604020202020204" pitchFamily="34" charset="0"/>
                <a:ea typeface="Calibri" panose="020F0502020204030204" pitchFamily="34" charset="0"/>
              </a:rPr>
              <a:t>, A. B., </a:t>
            </a:r>
            <a:r>
              <a:rPr lang="en-PH" dirty="0" err="1">
                <a:latin typeface="Arial" panose="020B0604020202020204" pitchFamily="34" charset="0"/>
                <a:ea typeface="Calibri" panose="020F0502020204030204" pitchFamily="34" charset="0"/>
              </a:rPr>
              <a:t>Oktiani</a:t>
            </a:r>
            <a:r>
              <a:rPr lang="en-PH" dirty="0">
                <a:latin typeface="Arial" panose="020B0604020202020204" pitchFamily="34" charset="0"/>
                <a:ea typeface="Calibri" panose="020F0502020204030204" pitchFamily="34" charset="0"/>
              </a:rPr>
              <a:t>, R., &amp; </a:t>
            </a:r>
            <a:r>
              <a:rPr lang="en-PH" dirty="0" err="1">
                <a:latin typeface="Arial" panose="020B0604020202020204" pitchFamily="34" charset="0"/>
                <a:ea typeface="Calibri" panose="020F0502020204030204" pitchFamily="34" charset="0"/>
              </a:rPr>
              <a:t>Ragadhita</a:t>
            </a:r>
            <a:r>
              <a:rPr lang="en-PH" dirty="0">
                <a:latin typeface="Arial" panose="020B0604020202020204" pitchFamily="34" charset="0"/>
                <a:ea typeface="Calibri" panose="020F0502020204030204" pitchFamily="34" charset="0"/>
              </a:rPr>
              <a:t>, R. (2019). </a:t>
            </a:r>
            <a:endParaRPr lang="en-PH" dirty="0"/>
          </a:p>
        </p:txBody>
      </p:sp>
      <p:sp>
        <p:nvSpPr>
          <p:cNvPr id="9" name="Rectangle 8"/>
          <p:cNvSpPr/>
          <p:nvPr/>
        </p:nvSpPr>
        <p:spPr>
          <a:xfrm>
            <a:off x="3734855" y="6144835"/>
            <a:ext cx="5256745" cy="2031325"/>
          </a:xfrm>
          <a:prstGeom prst="rect">
            <a:avLst/>
          </a:prstGeom>
        </p:spPr>
        <p:txBody>
          <a:bodyPr wrap="square">
            <a:spAutoFit/>
          </a:bodyPr>
          <a:lstStyle/>
          <a:p>
            <a:pPr algn="just"/>
            <a:r>
              <a:rPr lang="en-PH" b="1" dirty="0" smtClean="0">
                <a:latin typeface="Arial" panose="020B0604020202020204" pitchFamily="34" charset="0"/>
                <a:ea typeface="Calibri" panose="020F0502020204030204" pitchFamily="34" charset="0"/>
              </a:rPr>
              <a:t>	GCMS </a:t>
            </a:r>
            <a:r>
              <a:rPr lang="en-PH" b="1" dirty="0">
                <a:latin typeface="Arial" panose="020B0604020202020204" pitchFamily="34" charset="0"/>
                <a:ea typeface="Calibri" panose="020F0502020204030204" pitchFamily="34" charset="0"/>
              </a:rPr>
              <a:t>provides added specificity, sensitivity, and simultaneous multi-component analysis convenience. This applies to many industries and applications today, for example, environmental, forensic, food and beverage, clinical, pharmaceutical, and chemical industries</a:t>
            </a:r>
            <a:r>
              <a:rPr lang="en-PH" b="1" dirty="0" smtClean="0">
                <a:latin typeface="Arial" panose="020B0604020202020204" pitchFamily="34" charset="0"/>
                <a:ea typeface="Calibri" panose="020F0502020204030204" pitchFamily="34" charset="0"/>
              </a:rPr>
              <a:t>.[18]</a:t>
            </a:r>
            <a:endParaRPr lang="en-PH" b="1" dirty="0"/>
          </a:p>
        </p:txBody>
      </p:sp>
      <p:sp>
        <p:nvSpPr>
          <p:cNvPr id="10" name="Rectangle 9"/>
          <p:cNvSpPr/>
          <p:nvPr/>
        </p:nvSpPr>
        <p:spPr>
          <a:xfrm>
            <a:off x="11783124" y="9792249"/>
            <a:ext cx="3775393" cy="369332"/>
          </a:xfrm>
          <a:prstGeom prst="rect">
            <a:avLst/>
          </a:prstGeom>
        </p:spPr>
        <p:txBody>
          <a:bodyPr wrap="none">
            <a:spAutoFit/>
          </a:bodyPr>
          <a:lstStyle/>
          <a:p>
            <a:r>
              <a:rPr lang="en-PH" dirty="0" smtClean="0">
                <a:latin typeface="Arial" panose="020B0604020202020204" pitchFamily="34" charset="0"/>
                <a:ea typeface="Calibri" panose="020F0502020204030204" pitchFamily="34" charset="0"/>
              </a:rPr>
              <a:t>[18] Shimadzu </a:t>
            </a:r>
            <a:r>
              <a:rPr lang="en-PH" dirty="0">
                <a:latin typeface="Arial" panose="020B0604020202020204" pitchFamily="34" charset="0"/>
                <a:ea typeface="Calibri" panose="020F0502020204030204" pitchFamily="34" charset="0"/>
              </a:rPr>
              <a:t>Corporation. (</a:t>
            </a:r>
            <a:r>
              <a:rPr lang="en-PH" dirty="0" smtClean="0">
                <a:latin typeface="Arial" panose="020B0604020202020204" pitchFamily="34" charset="0"/>
                <a:ea typeface="Calibri" panose="020F0502020204030204" pitchFamily="34" charset="0"/>
              </a:rPr>
              <a:t>2020)</a:t>
            </a:r>
            <a:endParaRPr lang="en-PH" dirty="0"/>
          </a:p>
        </p:txBody>
      </p:sp>
      <p:sp>
        <p:nvSpPr>
          <p:cNvPr id="11" name="Rectangle 10"/>
          <p:cNvSpPr/>
          <p:nvPr/>
        </p:nvSpPr>
        <p:spPr>
          <a:xfrm>
            <a:off x="11891465" y="5825585"/>
            <a:ext cx="5988584" cy="2031325"/>
          </a:xfrm>
          <a:prstGeom prst="rect">
            <a:avLst/>
          </a:prstGeom>
        </p:spPr>
        <p:txBody>
          <a:bodyPr wrap="square">
            <a:spAutoFit/>
          </a:bodyPr>
          <a:lstStyle/>
          <a:p>
            <a:pPr marL="91440" marR="0" indent="457200" algn="just">
              <a:spcBef>
                <a:spcPts val="0"/>
              </a:spcBef>
              <a:spcAft>
                <a:spcPts val="0"/>
              </a:spcAft>
            </a:pPr>
            <a:r>
              <a:rPr lang="en-PH" b="1" dirty="0">
                <a:latin typeface="Arial" panose="020B0604020202020204" pitchFamily="34" charset="0"/>
                <a:ea typeface="Calibri" panose="020F0502020204030204" pitchFamily="34" charset="0"/>
                <a:cs typeface="Arial" panose="020B0604020202020204" pitchFamily="34" charset="0"/>
              </a:rPr>
              <a:t>High-performance liquid chromatography (HPLC) is an important qualitative, and quantitative technique generally used to estimate pharmaceutical and biological samples. It is the most versatile, safest, dependable, and fastest chromatographic technique for the quality control of drug </a:t>
            </a:r>
            <a:r>
              <a:rPr lang="en-PH" b="1" dirty="0" smtClean="0">
                <a:latin typeface="Arial" panose="020B0604020202020204" pitchFamily="34" charset="0"/>
                <a:ea typeface="Calibri" panose="020F0502020204030204" pitchFamily="34" charset="0"/>
                <a:cs typeface="Arial" panose="020B0604020202020204" pitchFamily="34" charset="0"/>
              </a:rPr>
              <a:t>components. [31]</a:t>
            </a:r>
            <a:endParaRPr lang="en-PH" b="1"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2" name="Rectangle 11"/>
          <p:cNvSpPr/>
          <p:nvPr/>
        </p:nvSpPr>
        <p:spPr>
          <a:xfrm>
            <a:off x="11783124" y="9346242"/>
            <a:ext cx="6096925" cy="369332"/>
          </a:xfrm>
          <a:prstGeom prst="rect">
            <a:avLst/>
          </a:prstGeom>
        </p:spPr>
        <p:txBody>
          <a:bodyPr wrap="none">
            <a:spAutoFit/>
          </a:bodyPr>
          <a:lstStyle/>
          <a:p>
            <a:r>
              <a:rPr lang="en-PH" dirty="0" smtClean="0">
                <a:latin typeface="Arial" panose="020B0604020202020204" pitchFamily="34" charset="0"/>
                <a:ea typeface="Calibri" panose="020F0502020204030204" pitchFamily="34" charset="0"/>
              </a:rPr>
              <a:t>[31] </a:t>
            </a:r>
            <a:r>
              <a:rPr lang="en-PH" dirty="0" err="1" smtClean="0">
                <a:latin typeface="Arial" panose="020B0604020202020204" pitchFamily="34" charset="0"/>
                <a:ea typeface="Calibri" panose="020F0502020204030204" pitchFamily="34" charset="0"/>
              </a:rPr>
              <a:t>Malviya</a:t>
            </a:r>
            <a:r>
              <a:rPr lang="en-PH" dirty="0">
                <a:latin typeface="Arial" panose="020B0604020202020204" pitchFamily="34" charset="0"/>
                <a:ea typeface="Calibri" panose="020F0502020204030204" pitchFamily="34" charset="0"/>
              </a:rPr>
              <a:t>, R., Bansal, V., Pal, O., &amp; Sharma, P. (2009). </a:t>
            </a:r>
            <a:endParaRPr lang="en-PH" dirty="0"/>
          </a:p>
        </p:txBody>
      </p:sp>
      <p:sp>
        <p:nvSpPr>
          <p:cNvPr id="54" name="Rounded Rectangle 53"/>
          <p:cNvSpPr/>
          <p:nvPr/>
        </p:nvSpPr>
        <p:spPr>
          <a:xfrm>
            <a:off x="12656719" y="5172155"/>
            <a:ext cx="1143000" cy="635744"/>
          </a:xfrm>
          <a:prstGeom prst="roundRect">
            <a:avLst/>
          </a:prstGeom>
          <a:ln w="57150">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smtClean="0">
                <a:solidFill>
                  <a:srgbClr val="005C2A"/>
                </a:solidFill>
              </a:rPr>
              <a:t>HPLC</a:t>
            </a:r>
            <a:endParaRPr lang="en-PH" sz="3200" b="1" dirty="0">
              <a:solidFill>
                <a:srgbClr val="005C2A"/>
              </a:solidFill>
            </a:endParaRPr>
          </a:p>
        </p:txBody>
      </p:sp>
      <p:sp>
        <p:nvSpPr>
          <p:cNvPr id="4" name="Flowchart: Connector 3"/>
          <p:cNvSpPr/>
          <p:nvPr/>
        </p:nvSpPr>
        <p:spPr>
          <a:xfrm>
            <a:off x="1828800" y="1856749"/>
            <a:ext cx="838200" cy="848351"/>
          </a:xfrm>
          <a:prstGeom prst="flowChartConnector">
            <a:avLst/>
          </a:prstGeom>
          <a:ln w="38100">
            <a:solidFill>
              <a:srgbClr val="005C2A"/>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PH" sz="4400" b="1" dirty="0" smtClean="0">
                <a:solidFill>
                  <a:srgbClr val="820000"/>
                </a:solidFill>
              </a:rPr>
              <a:t>1</a:t>
            </a:r>
            <a:endParaRPr lang="en-PH" sz="4400" b="1" dirty="0">
              <a:solidFill>
                <a:srgbClr val="820000"/>
              </a:solidFill>
            </a:endParaRPr>
          </a:p>
        </p:txBody>
      </p:sp>
      <p:sp>
        <p:nvSpPr>
          <p:cNvPr id="28" name="Flowchart: Connector 27"/>
          <p:cNvSpPr/>
          <p:nvPr/>
        </p:nvSpPr>
        <p:spPr>
          <a:xfrm>
            <a:off x="1888895" y="5277657"/>
            <a:ext cx="838200" cy="848351"/>
          </a:xfrm>
          <a:prstGeom prst="flowChartConnector">
            <a:avLst/>
          </a:prstGeom>
          <a:ln w="38100">
            <a:solidFill>
              <a:srgbClr val="005C2A"/>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PH" sz="4400" b="1" dirty="0">
                <a:solidFill>
                  <a:srgbClr val="820000"/>
                </a:solidFill>
              </a:rPr>
              <a:t>2</a:t>
            </a:r>
          </a:p>
        </p:txBody>
      </p:sp>
      <p:sp>
        <p:nvSpPr>
          <p:cNvPr id="29" name="Flowchart: Connector 28"/>
          <p:cNvSpPr/>
          <p:nvPr/>
        </p:nvSpPr>
        <p:spPr>
          <a:xfrm>
            <a:off x="10662169" y="1932303"/>
            <a:ext cx="838200" cy="848351"/>
          </a:xfrm>
          <a:prstGeom prst="flowChartConnector">
            <a:avLst/>
          </a:prstGeom>
          <a:ln w="38100">
            <a:solidFill>
              <a:srgbClr val="005C2A"/>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PH" sz="4400" b="1" dirty="0" smtClean="0">
                <a:solidFill>
                  <a:srgbClr val="820000"/>
                </a:solidFill>
              </a:rPr>
              <a:t>3</a:t>
            </a:r>
            <a:endParaRPr lang="en-PH" sz="4400" b="1" dirty="0">
              <a:solidFill>
                <a:srgbClr val="820000"/>
              </a:solidFill>
            </a:endParaRPr>
          </a:p>
        </p:txBody>
      </p:sp>
      <p:sp>
        <p:nvSpPr>
          <p:cNvPr id="30" name="Flowchart: Connector 29"/>
          <p:cNvSpPr/>
          <p:nvPr/>
        </p:nvSpPr>
        <p:spPr>
          <a:xfrm>
            <a:off x="10176965" y="5134786"/>
            <a:ext cx="838200" cy="848351"/>
          </a:xfrm>
          <a:prstGeom prst="flowChartConnector">
            <a:avLst/>
          </a:prstGeom>
          <a:ln w="38100">
            <a:solidFill>
              <a:srgbClr val="005C2A"/>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PH" sz="4400" b="1" dirty="0">
                <a:solidFill>
                  <a:srgbClr val="820000"/>
                </a:solidFill>
              </a:rPr>
              <a:t>4</a:t>
            </a:r>
          </a:p>
        </p:txBody>
      </p:sp>
    </p:spTree>
    <p:extLst>
      <p:ext uri="{BB962C8B-B14F-4D97-AF65-F5344CB8AC3E}">
        <p14:creationId xmlns:p14="http://schemas.microsoft.com/office/powerpoint/2010/main" val="303458586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 name="TextBox 13"/>
          <p:cNvSpPr txBox="1"/>
          <p:nvPr/>
        </p:nvSpPr>
        <p:spPr>
          <a:xfrm>
            <a:off x="1671387" y="1340757"/>
            <a:ext cx="2203151" cy="2306426"/>
          </a:xfrm>
          <a:prstGeom prst="rect">
            <a:avLst/>
          </a:prstGeom>
        </p:spPr>
        <p:txBody>
          <a:bodyPr lIns="50800" tIns="50800" rIns="50800" bIns="50800" rtlCol="0" anchor="ctr"/>
          <a:lstStyle/>
          <a:p>
            <a:pPr algn="ctr">
              <a:lnSpc>
                <a:spcPts val="2659"/>
              </a:lnSpc>
              <a:spcBef>
                <a:spcPct val="0"/>
              </a:spcBef>
            </a:pPr>
            <a:endParaRPr/>
          </a:p>
        </p:txBody>
      </p:sp>
      <p:pic>
        <p:nvPicPr>
          <p:cNvPr id="19" name="Picture 18"/>
          <p:cNvPicPr>
            <a:picLocks noChangeAspect="1"/>
          </p:cNvPicPr>
          <p:nvPr/>
        </p:nvPicPr>
        <p:blipFill>
          <a:blip r:embed="rId2"/>
          <a:stretch>
            <a:fillRect/>
          </a:stretch>
        </p:blipFill>
        <p:spPr>
          <a:xfrm rot="10800000">
            <a:off x="0" y="1133738"/>
            <a:ext cx="18288000" cy="267610"/>
          </a:xfrm>
          <a:prstGeom prst="rect">
            <a:avLst/>
          </a:prstGeom>
        </p:spPr>
      </p:pic>
      <p:sp>
        <p:nvSpPr>
          <p:cNvPr id="21" name="Round Single Corner Rectangle 20"/>
          <p:cNvSpPr/>
          <p:nvPr/>
        </p:nvSpPr>
        <p:spPr>
          <a:xfrm>
            <a:off x="5494020" y="-30103"/>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5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Review of Literature     </a:t>
            </a:r>
            <a:r>
              <a:rPr lang="en-PH" sz="6000" b="1" u="sng" dirty="0" smtClean="0">
                <a:solidFill>
                  <a:srgbClr val="820000"/>
                </a:solidFill>
                <a:latin typeface="Arial" panose="020B0604020202020204" pitchFamily="34" charset="0"/>
                <a:cs typeface="Arial" panose="020B0604020202020204" pitchFamily="34" charset="0"/>
              </a:rPr>
              <a:t> </a:t>
            </a:r>
          </a:p>
        </p:txBody>
      </p:sp>
      <p:pic>
        <p:nvPicPr>
          <p:cNvPr id="20" name="Picture 19"/>
          <p:cNvPicPr>
            <a:picLocks noChangeAspect="1"/>
          </p:cNvPicPr>
          <p:nvPr/>
        </p:nvPicPr>
        <p:blipFill>
          <a:blip r:embed="rId2"/>
          <a:stretch>
            <a:fillRect/>
          </a:stretch>
        </p:blipFill>
        <p:spPr>
          <a:xfrm>
            <a:off x="0" y="-190500"/>
            <a:ext cx="18288000" cy="267611"/>
          </a:xfrm>
          <a:prstGeom prst="rect">
            <a:avLst/>
          </a:prstGeom>
        </p:spPr>
      </p:pic>
      <p:pic>
        <p:nvPicPr>
          <p:cNvPr id="6" name="Picture 5"/>
          <p:cNvPicPr>
            <a:picLocks noChangeAspect="1"/>
          </p:cNvPicPr>
          <p:nvPr/>
        </p:nvPicPr>
        <p:blipFill>
          <a:blip r:embed="rId3"/>
          <a:stretch>
            <a:fillRect/>
          </a:stretch>
        </p:blipFill>
        <p:spPr>
          <a:xfrm>
            <a:off x="15030450" y="297870"/>
            <a:ext cx="3257550" cy="523875"/>
          </a:xfrm>
          <a:prstGeom prst="rect">
            <a:avLst/>
          </a:prstGeom>
        </p:spPr>
      </p:pic>
      <p:sp>
        <p:nvSpPr>
          <p:cNvPr id="25" name="Parallelogram 24"/>
          <p:cNvSpPr/>
          <p:nvPr/>
        </p:nvSpPr>
        <p:spPr>
          <a:xfrm>
            <a:off x="13030200" y="569676"/>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13" name="Picture 12"/>
          <p:cNvPicPr>
            <a:picLocks noChangeAspect="1"/>
          </p:cNvPicPr>
          <p:nvPr/>
        </p:nvPicPr>
        <p:blipFill>
          <a:blip r:embed="rId3"/>
          <a:stretch>
            <a:fillRect/>
          </a:stretch>
        </p:blipFill>
        <p:spPr>
          <a:xfrm rot="10800000">
            <a:off x="0" y="422038"/>
            <a:ext cx="3257550" cy="523875"/>
          </a:xfrm>
          <a:prstGeom prst="rect">
            <a:avLst/>
          </a:prstGeom>
        </p:spPr>
      </p:pic>
      <p:sp>
        <p:nvSpPr>
          <p:cNvPr id="14" name="Parallelogram 13"/>
          <p:cNvSpPr/>
          <p:nvPr/>
        </p:nvSpPr>
        <p:spPr>
          <a:xfrm>
            <a:off x="659363" y="386515"/>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grpSp>
        <p:nvGrpSpPr>
          <p:cNvPr id="67" name="Group 17"/>
          <p:cNvGrpSpPr/>
          <p:nvPr/>
        </p:nvGrpSpPr>
        <p:grpSpPr>
          <a:xfrm rot="-5400000">
            <a:off x="6160809" y="2030692"/>
            <a:ext cx="3200400" cy="3025217"/>
            <a:chOff x="0" y="0"/>
            <a:chExt cx="6350000" cy="5532120"/>
          </a:xfrm>
          <a:solidFill>
            <a:srgbClr val="FFFF00"/>
          </a:solidFill>
        </p:grpSpPr>
        <p:sp>
          <p:nvSpPr>
            <p:cNvPr id="68" name="Freeform 18"/>
            <p:cNvSpPr/>
            <p:nvPr/>
          </p:nvSpPr>
          <p:spPr>
            <a:xfrm>
              <a:off x="0" y="0"/>
              <a:ext cx="6350000" cy="5532120"/>
            </a:xfrm>
            <a:custGeom>
              <a:avLst/>
              <a:gdLst/>
              <a:ahLst/>
              <a:cxnLst/>
              <a:rect l="l" t="t" r="r" b="b"/>
              <a:pathLst>
                <a:path w="6350000" h="5532120">
                  <a:moveTo>
                    <a:pt x="4762500" y="0"/>
                  </a:moveTo>
                  <a:lnTo>
                    <a:pt x="1587500" y="0"/>
                  </a:lnTo>
                  <a:lnTo>
                    <a:pt x="0" y="2766060"/>
                  </a:lnTo>
                  <a:lnTo>
                    <a:pt x="1587500" y="5532120"/>
                  </a:lnTo>
                  <a:lnTo>
                    <a:pt x="4762500" y="5532120"/>
                  </a:lnTo>
                  <a:lnTo>
                    <a:pt x="6350000" y="2766060"/>
                  </a:lnTo>
                  <a:lnTo>
                    <a:pt x="4762500" y="0"/>
                  </a:lnTo>
                  <a:lnTo>
                    <a:pt x="4762500" y="0"/>
                  </a:lnTo>
                  <a:close/>
                  <a:moveTo>
                    <a:pt x="4676140" y="5382260"/>
                  </a:moveTo>
                  <a:lnTo>
                    <a:pt x="1673860" y="5382260"/>
                  </a:lnTo>
                  <a:lnTo>
                    <a:pt x="172720" y="2766060"/>
                  </a:lnTo>
                  <a:lnTo>
                    <a:pt x="1673860" y="149860"/>
                  </a:lnTo>
                  <a:lnTo>
                    <a:pt x="4676140" y="149860"/>
                  </a:lnTo>
                  <a:lnTo>
                    <a:pt x="6177280" y="2766060"/>
                  </a:lnTo>
                  <a:lnTo>
                    <a:pt x="4676140" y="5382260"/>
                  </a:lnTo>
                  <a:close/>
                </a:path>
              </a:pathLst>
            </a:custGeom>
            <a:grpFill/>
            <a:ln>
              <a:solidFill>
                <a:srgbClr val="005C2A"/>
              </a:solidFill>
            </a:ln>
          </p:spPr>
        </p:sp>
      </p:grpSp>
      <p:grpSp>
        <p:nvGrpSpPr>
          <p:cNvPr id="69" name="Group 17"/>
          <p:cNvGrpSpPr/>
          <p:nvPr/>
        </p:nvGrpSpPr>
        <p:grpSpPr>
          <a:xfrm rot="-5400000">
            <a:off x="9287855" y="2030692"/>
            <a:ext cx="3200400" cy="3025217"/>
            <a:chOff x="0" y="0"/>
            <a:chExt cx="6350000" cy="5532120"/>
          </a:xfrm>
          <a:solidFill>
            <a:srgbClr val="FFFF00"/>
          </a:solidFill>
        </p:grpSpPr>
        <p:sp>
          <p:nvSpPr>
            <p:cNvPr id="70" name="Freeform 18"/>
            <p:cNvSpPr/>
            <p:nvPr/>
          </p:nvSpPr>
          <p:spPr>
            <a:xfrm>
              <a:off x="0" y="0"/>
              <a:ext cx="6350000" cy="5532120"/>
            </a:xfrm>
            <a:custGeom>
              <a:avLst/>
              <a:gdLst/>
              <a:ahLst/>
              <a:cxnLst/>
              <a:rect l="l" t="t" r="r" b="b"/>
              <a:pathLst>
                <a:path w="6350000" h="5532120">
                  <a:moveTo>
                    <a:pt x="4762500" y="0"/>
                  </a:moveTo>
                  <a:lnTo>
                    <a:pt x="1587500" y="0"/>
                  </a:lnTo>
                  <a:lnTo>
                    <a:pt x="0" y="2766060"/>
                  </a:lnTo>
                  <a:lnTo>
                    <a:pt x="1587500" y="5532120"/>
                  </a:lnTo>
                  <a:lnTo>
                    <a:pt x="4762500" y="5532120"/>
                  </a:lnTo>
                  <a:lnTo>
                    <a:pt x="6350000" y="2766060"/>
                  </a:lnTo>
                  <a:lnTo>
                    <a:pt x="4762500" y="0"/>
                  </a:lnTo>
                  <a:lnTo>
                    <a:pt x="4762500" y="0"/>
                  </a:lnTo>
                  <a:close/>
                  <a:moveTo>
                    <a:pt x="4676140" y="5382260"/>
                  </a:moveTo>
                  <a:lnTo>
                    <a:pt x="1673860" y="5382260"/>
                  </a:lnTo>
                  <a:lnTo>
                    <a:pt x="172720" y="2766060"/>
                  </a:lnTo>
                  <a:lnTo>
                    <a:pt x="1673860" y="149860"/>
                  </a:lnTo>
                  <a:lnTo>
                    <a:pt x="4676140" y="149860"/>
                  </a:lnTo>
                  <a:lnTo>
                    <a:pt x="6177280" y="2766060"/>
                  </a:lnTo>
                  <a:lnTo>
                    <a:pt x="4676140" y="5382260"/>
                  </a:lnTo>
                  <a:close/>
                </a:path>
              </a:pathLst>
            </a:custGeom>
            <a:grpFill/>
            <a:ln>
              <a:solidFill>
                <a:srgbClr val="005C2A"/>
              </a:solidFill>
            </a:ln>
          </p:spPr>
        </p:sp>
      </p:grpSp>
      <p:sp>
        <p:nvSpPr>
          <p:cNvPr id="81" name="Freeform 21"/>
          <p:cNvSpPr/>
          <p:nvPr/>
        </p:nvSpPr>
        <p:spPr>
          <a:xfrm>
            <a:off x="6458979" y="2181826"/>
            <a:ext cx="2590799" cy="2701177"/>
          </a:xfrm>
          <a:custGeom>
            <a:avLst/>
            <a:gdLst/>
            <a:ahLst/>
            <a:cxnLst/>
            <a:rect l="l" t="t" r="r" b="b"/>
            <a:pathLst>
              <a:path w="5499100" h="6350000">
                <a:moveTo>
                  <a:pt x="2749550" y="6350000"/>
                </a:moveTo>
                <a:lnTo>
                  <a:pt x="0" y="4762500"/>
                </a:lnTo>
                <a:lnTo>
                  <a:pt x="0" y="1587500"/>
                </a:lnTo>
                <a:lnTo>
                  <a:pt x="2749550" y="0"/>
                </a:lnTo>
                <a:lnTo>
                  <a:pt x="5499100" y="1587500"/>
                </a:lnTo>
                <a:lnTo>
                  <a:pt x="5499100" y="4762500"/>
                </a:lnTo>
                <a:lnTo>
                  <a:pt x="2749550" y="6350000"/>
                </a:lnTo>
                <a:close/>
              </a:path>
            </a:pathLst>
          </a:custGeom>
          <a:blipFill>
            <a:blip r:embed="rId4"/>
            <a:stretch>
              <a:fillRect l="-30844" r="-30844"/>
            </a:stretch>
          </a:blipFill>
        </p:spPr>
      </p:sp>
      <p:sp>
        <p:nvSpPr>
          <p:cNvPr id="83" name="Freeform 21"/>
          <p:cNvSpPr/>
          <p:nvPr/>
        </p:nvSpPr>
        <p:spPr>
          <a:xfrm>
            <a:off x="9587701" y="2208746"/>
            <a:ext cx="2590799" cy="2701177"/>
          </a:xfrm>
          <a:custGeom>
            <a:avLst/>
            <a:gdLst/>
            <a:ahLst/>
            <a:cxnLst/>
            <a:rect l="l" t="t" r="r" b="b"/>
            <a:pathLst>
              <a:path w="5499100" h="6350000">
                <a:moveTo>
                  <a:pt x="2749550" y="6350000"/>
                </a:moveTo>
                <a:lnTo>
                  <a:pt x="0" y="4762500"/>
                </a:lnTo>
                <a:lnTo>
                  <a:pt x="0" y="1587500"/>
                </a:lnTo>
                <a:lnTo>
                  <a:pt x="2749550" y="0"/>
                </a:lnTo>
                <a:lnTo>
                  <a:pt x="5499100" y="1587500"/>
                </a:lnTo>
                <a:lnTo>
                  <a:pt x="5499100" y="4762500"/>
                </a:lnTo>
                <a:lnTo>
                  <a:pt x="2749550" y="6350000"/>
                </a:lnTo>
                <a:close/>
              </a:path>
            </a:pathLst>
          </a:custGeom>
          <a:blipFill>
            <a:blip r:embed="rId5"/>
            <a:stretch>
              <a:fillRect l="-30844" r="-30844"/>
            </a:stretch>
          </a:blipFill>
        </p:spPr>
      </p:sp>
      <p:sp>
        <p:nvSpPr>
          <p:cNvPr id="47" name="Round Single Corner Rectangle 46"/>
          <p:cNvSpPr/>
          <p:nvPr/>
        </p:nvSpPr>
        <p:spPr>
          <a:xfrm>
            <a:off x="-1715689" y="1338941"/>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5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a:t>
            </a:r>
            <a:r>
              <a:rPr lang="en-PH" sz="2800" b="1" dirty="0" err="1"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Microplate</a:t>
            </a:r>
            <a:r>
              <a:rPr lang="en-PH" sz="28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Reader     </a:t>
            </a:r>
            <a:r>
              <a:rPr lang="en-PH" sz="3200" b="1" u="sng" dirty="0" smtClean="0">
                <a:solidFill>
                  <a:srgbClr val="820000"/>
                </a:solidFill>
                <a:latin typeface="Arial" panose="020B0604020202020204" pitchFamily="34" charset="0"/>
                <a:cs typeface="Arial" panose="020B0604020202020204" pitchFamily="34" charset="0"/>
              </a:rPr>
              <a:t> </a:t>
            </a:r>
            <a:endParaRPr lang="en-PH" sz="6000" b="1" u="sng" dirty="0" smtClean="0">
              <a:solidFill>
                <a:srgbClr val="820000"/>
              </a:solidFill>
              <a:latin typeface="Arial" panose="020B0604020202020204" pitchFamily="34" charset="0"/>
              <a:cs typeface="Arial" panose="020B0604020202020204" pitchFamily="34" charset="0"/>
            </a:endParaRPr>
          </a:p>
        </p:txBody>
      </p:sp>
      <p:sp>
        <p:nvSpPr>
          <p:cNvPr id="48" name="Round Single Corner Rectangle 47"/>
          <p:cNvSpPr/>
          <p:nvPr/>
        </p:nvSpPr>
        <p:spPr>
          <a:xfrm>
            <a:off x="11049000" y="1616548"/>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5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a:t>
            </a:r>
            <a:r>
              <a:rPr lang="en-PH" sz="28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Microwave Digestion</a:t>
            </a:r>
            <a:r>
              <a:rPr lang="en-PH" sz="36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a:t>
            </a:r>
            <a:r>
              <a:rPr lang="en-PH" sz="4000" b="1" u="sng" dirty="0" smtClean="0">
                <a:solidFill>
                  <a:srgbClr val="820000"/>
                </a:solidFill>
                <a:latin typeface="Arial" panose="020B0604020202020204" pitchFamily="34" charset="0"/>
                <a:cs typeface="Arial" panose="020B0604020202020204" pitchFamily="34" charset="0"/>
              </a:rPr>
              <a:t> </a:t>
            </a:r>
            <a:endParaRPr lang="en-PH" sz="6000" b="1" u="sng" dirty="0" smtClean="0">
              <a:solidFill>
                <a:srgbClr val="820000"/>
              </a:solidFill>
              <a:latin typeface="Arial" panose="020B0604020202020204" pitchFamily="34" charset="0"/>
              <a:cs typeface="Arial" panose="020B0604020202020204" pitchFamily="34" charset="0"/>
            </a:endParaRPr>
          </a:p>
        </p:txBody>
      </p:sp>
      <p:grpSp>
        <p:nvGrpSpPr>
          <p:cNvPr id="55" name="Group 17"/>
          <p:cNvGrpSpPr/>
          <p:nvPr/>
        </p:nvGrpSpPr>
        <p:grpSpPr>
          <a:xfrm rot="-5400000">
            <a:off x="6172200" y="5275142"/>
            <a:ext cx="3200400" cy="3025217"/>
            <a:chOff x="0" y="0"/>
            <a:chExt cx="6350000" cy="5532120"/>
          </a:xfrm>
          <a:solidFill>
            <a:srgbClr val="FFFF00"/>
          </a:solidFill>
        </p:grpSpPr>
        <p:sp>
          <p:nvSpPr>
            <p:cNvPr id="56" name="Freeform 18"/>
            <p:cNvSpPr/>
            <p:nvPr/>
          </p:nvSpPr>
          <p:spPr>
            <a:xfrm>
              <a:off x="0" y="0"/>
              <a:ext cx="6350000" cy="5532120"/>
            </a:xfrm>
            <a:custGeom>
              <a:avLst/>
              <a:gdLst/>
              <a:ahLst/>
              <a:cxnLst/>
              <a:rect l="l" t="t" r="r" b="b"/>
              <a:pathLst>
                <a:path w="6350000" h="5532120">
                  <a:moveTo>
                    <a:pt x="4762500" y="0"/>
                  </a:moveTo>
                  <a:lnTo>
                    <a:pt x="1587500" y="0"/>
                  </a:lnTo>
                  <a:lnTo>
                    <a:pt x="0" y="2766060"/>
                  </a:lnTo>
                  <a:lnTo>
                    <a:pt x="1587500" y="5532120"/>
                  </a:lnTo>
                  <a:lnTo>
                    <a:pt x="4762500" y="5532120"/>
                  </a:lnTo>
                  <a:lnTo>
                    <a:pt x="6350000" y="2766060"/>
                  </a:lnTo>
                  <a:lnTo>
                    <a:pt x="4762500" y="0"/>
                  </a:lnTo>
                  <a:lnTo>
                    <a:pt x="4762500" y="0"/>
                  </a:lnTo>
                  <a:close/>
                  <a:moveTo>
                    <a:pt x="4676140" y="5382260"/>
                  </a:moveTo>
                  <a:lnTo>
                    <a:pt x="1673860" y="5382260"/>
                  </a:lnTo>
                  <a:lnTo>
                    <a:pt x="172720" y="2766060"/>
                  </a:lnTo>
                  <a:lnTo>
                    <a:pt x="1673860" y="149860"/>
                  </a:lnTo>
                  <a:lnTo>
                    <a:pt x="4676140" y="149860"/>
                  </a:lnTo>
                  <a:lnTo>
                    <a:pt x="6177280" y="2766060"/>
                  </a:lnTo>
                  <a:lnTo>
                    <a:pt x="4676140" y="5382260"/>
                  </a:lnTo>
                  <a:close/>
                </a:path>
              </a:pathLst>
            </a:custGeom>
            <a:grpFill/>
            <a:ln>
              <a:solidFill>
                <a:srgbClr val="005C2A"/>
              </a:solidFill>
            </a:ln>
          </p:spPr>
        </p:sp>
      </p:grpSp>
      <p:sp>
        <p:nvSpPr>
          <p:cNvPr id="57" name="Freeform 21"/>
          <p:cNvSpPr/>
          <p:nvPr/>
        </p:nvSpPr>
        <p:spPr>
          <a:xfrm>
            <a:off x="6477001" y="5337923"/>
            <a:ext cx="2590799" cy="2701177"/>
          </a:xfrm>
          <a:custGeom>
            <a:avLst/>
            <a:gdLst/>
            <a:ahLst/>
            <a:cxnLst/>
            <a:rect l="l" t="t" r="r" b="b"/>
            <a:pathLst>
              <a:path w="5499100" h="6350000">
                <a:moveTo>
                  <a:pt x="2749550" y="6350000"/>
                </a:moveTo>
                <a:lnTo>
                  <a:pt x="0" y="4762500"/>
                </a:lnTo>
                <a:lnTo>
                  <a:pt x="0" y="1587500"/>
                </a:lnTo>
                <a:lnTo>
                  <a:pt x="2749550" y="0"/>
                </a:lnTo>
                <a:lnTo>
                  <a:pt x="5499100" y="1587500"/>
                </a:lnTo>
                <a:lnTo>
                  <a:pt x="5499100" y="4762500"/>
                </a:lnTo>
                <a:lnTo>
                  <a:pt x="2749550" y="6350000"/>
                </a:lnTo>
                <a:close/>
              </a:path>
            </a:pathLst>
          </a:custGeom>
          <a:blipFill>
            <a:blip r:embed="rId6"/>
            <a:stretch>
              <a:fillRect l="-30844" r="-30844"/>
            </a:stretch>
          </a:blipFill>
        </p:spPr>
      </p:sp>
      <p:sp>
        <p:nvSpPr>
          <p:cNvPr id="59" name="Round Single Corner Rectangle 58"/>
          <p:cNvSpPr/>
          <p:nvPr/>
        </p:nvSpPr>
        <p:spPr>
          <a:xfrm>
            <a:off x="-864908" y="5098296"/>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5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a:t>
            </a:r>
            <a:r>
              <a:rPr lang="en-PH" sz="28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Thin Layer Chromatography </a:t>
            </a:r>
            <a:r>
              <a:rPr lang="en-PH" sz="36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a:t>
            </a:r>
            <a:r>
              <a:rPr lang="en-PH" sz="4000" b="1" u="sng" dirty="0" smtClean="0">
                <a:solidFill>
                  <a:srgbClr val="820000"/>
                </a:solidFill>
                <a:latin typeface="Arial" panose="020B0604020202020204" pitchFamily="34" charset="0"/>
                <a:cs typeface="Arial" panose="020B0604020202020204" pitchFamily="34" charset="0"/>
              </a:rPr>
              <a:t> </a:t>
            </a:r>
            <a:endParaRPr lang="en-PH" sz="6000" b="1" u="sng" dirty="0" smtClean="0">
              <a:solidFill>
                <a:srgbClr val="820000"/>
              </a:solidFill>
              <a:latin typeface="Arial" panose="020B0604020202020204" pitchFamily="34" charset="0"/>
              <a:cs typeface="Arial" panose="020B0604020202020204" pitchFamily="34" charset="0"/>
            </a:endParaRPr>
          </a:p>
        </p:txBody>
      </p:sp>
      <p:grpSp>
        <p:nvGrpSpPr>
          <p:cNvPr id="62" name="Group 17"/>
          <p:cNvGrpSpPr/>
          <p:nvPr/>
        </p:nvGrpSpPr>
        <p:grpSpPr>
          <a:xfrm rot="-5400000">
            <a:off x="9307791" y="5231092"/>
            <a:ext cx="3200400" cy="3025217"/>
            <a:chOff x="0" y="0"/>
            <a:chExt cx="6350000" cy="5532120"/>
          </a:xfrm>
          <a:solidFill>
            <a:srgbClr val="FFFF00"/>
          </a:solidFill>
        </p:grpSpPr>
        <p:sp>
          <p:nvSpPr>
            <p:cNvPr id="65" name="Freeform 18"/>
            <p:cNvSpPr/>
            <p:nvPr/>
          </p:nvSpPr>
          <p:spPr>
            <a:xfrm>
              <a:off x="0" y="0"/>
              <a:ext cx="6350000" cy="5532120"/>
            </a:xfrm>
            <a:custGeom>
              <a:avLst/>
              <a:gdLst/>
              <a:ahLst/>
              <a:cxnLst/>
              <a:rect l="l" t="t" r="r" b="b"/>
              <a:pathLst>
                <a:path w="6350000" h="5532120">
                  <a:moveTo>
                    <a:pt x="4762500" y="0"/>
                  </a:moveTo>
                  <a:lnTo>
                    <a:pt x="1587500" y="0"/>
                  </a:lnTo>
                  <a:lnTo>
                    <a:pt x="0" y="2766060"/>
                  </a:lnTo>
                  <a:lnTo>
                    <a:pt x="1587500" y="5532120"/>
                  </a:lnTo>
                  <a:lnTo>
                    <a:pt x="4762500" y="5532120"/>
                  </a:lnTo>
                  <a:lnTo>
                    <a:pt x="6350000" y="2766060"/>
                  </a:lnTo>
                  <a:lnTo>
                    <a:pt x="4762500" y="0"/>
                  </a:lnTo>
                  <a:lnTo>
                    <a:pt x="4762500" y="0"/>
                  </a:lnTo>
                  <a:close/>
                  <a:moveTo>
                    <a:pt x="4676140" y="5382260"/>
                  </a:moveTo>
                  <a:lnTo>
                    <a:pt x="1673860" y="5382260"/>
                  </a:lnTo>
                  <a:lnTo>
                    <a:pt x="172720" y="2766060"/>
                  </a:lnTo>
                  <a:lnTo>
                    <a:pt x="1673860" y="149860"/>
                  </a:lnTo>
                  <a:lnTo>
                    <a:pt x="4676140" y="149860"/>
                  </a:lnTo>
                  <a:lnTo>
                    <a:pt x="6177280" y="2766060"/>
                  </a:lnTo>
                  <a:lnTo>
                    <a:pt x="4676140" y="5382260"/>
                  </a:lnTo>
                  <a:close/>
                </a:path>
              </a:pathLst>
            </a:custGeom>
            <a:grpFill/>
            <a:ln>
              <a:solidFill>
                <a:srgbClr val="005C2A"/>
              </a:solidFill>
            </a:ln>
          </p:spPr>
        </p:sp>
      </p:grpSp>
      <p:sp>
        <p:nvSpPr>
          <p:cNvPr id="66" name="Freeform 21"/>
          <p:cNvSpPr/>
          <p:nvPr/>
        </p:nvSpPr>
        <p:spPr>
          <a:xfrm>
            <a:off x="9601201" y="5337923"/>
            <a:ext cx="2590799" cy="2701177"/>
          </a:xfrm>
          <a:custGeom>
            <a:avLst/>
            <a:gdLst/>
            <a:ahLst/>
            <a:cxnLst/>
            <a:rect l="l" t="t" r="r" b="b"/>
            <a:pathLst>
              <a:path w="5499100" h="6350000">
                <a:moveTo>
                  <a:pt x="2749550" y="6350000"/>
                </a:moveTo>
                <a:lnTo>
                  <a:pt x="0" y="4762500"/>
                </a:lnTo>
                <a:lnTo>
                  <a:pt x="0" y="1587500"/>
                </a:lnTo>
                <a:lnTo>
                  <a:pt x="2749550" y="0"/>
                </a:lnTo>
                <a:lnTo>
                  <a:pt x="5499100" y="1587500"/>
                </a:lnTo>
                <a:lnTo>
                  <a:pt x="5499100" y="4762500"/>
                </a:lnTo>
                <a:lnTo>
                  <a:pt x="2749550" y="6350000"/>
                </a:lnTo>
                <a:close/>
              </a:path>
            </a:pathLst>
          </a:custGeom>
          <a:blipFill>
            <a:blip r:embed="rId7"/>
            <a:stretch>
              <a:fillRect l="-30844" r="-30844"/>
            </a:stretch>
          </a:blipFill>
        </p:spPr>
      </p:sp>
      <p:sp>
        <p:nvSpPr>
          <p:cNvPr id="74" name="Round Single Corner Rectangle 73"/>
          <p:cNvSpPr/>
          <p:nvPr/>
        </p:nvSpPr>
        <p:spPr>
          <a:xfrm>
            <a:off x="10873872" y="5313148"/>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5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a:t>
            </a:r>
            <a:r>
              <a:rPr lang="en-PH" sz="28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Molecular Docking </a:t>
            </a:r>
            <a:r>
              <a:rPr lang="en-PH" sz="36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a:t>
            </a:r>
            <a:r>
              <a:rPr lang="en-PH" sz="4000" b="1" u="sng" dirty="0" smtClean="0">
                <a:solidFill>
                  <a:srgbClr val="820000"/>
                </a:solidFill>
                <a:latin typeface="Arial" panose="020B0604020202020204" pitchFamily="34" charset="0"/>
                <a:cs typeface="Arial" panose="020B0604020202020204" pitchFamily="34" charset="0"/>
              </a:rPr>
              <a:t> </a:t>
            </a:r>
            <a:endParaRPr lang="en-PH" sz="6000" b="1" u="sng" dirty="0" smtClean="0">
              <a:solidFill>
                <a:srgbClr val="820000"/>
              </a:solidFill>
              <a:latin typeface="Arial" panose="020B0604020202020204" pitchFamily="34" charset="0"/>
              <a:cs typeface="Arial" panose="020B0604020202020204" pitchFamily="34" charset="0"/>
            </a:endParaRPr>
          </a:p>
        </p:txBody>
      </p:sp>
      <p:sp>
        <p:nvSpPr>
          <p:cNvPr id="2" name="Rectangle 1"/>
          <p:cNvSpPr/>
          <p:nvPr/>
        </p:nvSpPr>
        <p:spPr>
          <a:xfrm>
            <a:off x="12841519" y="2520538"/>
            <a:ext cx="4950154" cy="1938992"/>
          </a:xfrm>
          <a:prstGeom prst="rect">
            <a:avLst/>
          </a:prstGeom>
        </p:spPr>
        <p:txBody>
          <a:bodyPr wrap="square">
            <a:spAutoFit/>
          </a:bodyPr>
          <a:lstStyle/>
          <a:p>
            <a:pPr algn="just"/>
            <a:r>
              <a:rPr lang="en-PH" sz="2000" dirty="0">
                <a:latin typeface="Arial" panose="020B0604020202020204" pitchFamily="34" charset="0"/>
                <a:ea typeface="Calibri" panose="020F0502020204030204" pitchFamily="34" charset="0"/>
                <a:cs typeface="Times New Roman" panose="02020603050405020304" pitchFamily="18" charset="0"/>
              </a:rPr>
              <a:t>Microwave digestion is a well-established preparation technique for converting solid samples into solutions suitable for analysis by ICP-AES, ICP-MS, atomic absorption spectrophotometry, or polarography. </a:t>
            </a:r>
            <a:r>
              <a:rPr lang="en-PH" sz="2000" dirty="0" smtClean="0">
                <a:latin typeface="Arial" panose="020B0604020202020204" pitchFamily="34" charset="0"/>
                <a:ea typeface="Calibri" panose="020F0502020204030204" pitchFamily="34" charset="0"/>
                <a:cs typeface="Times New Roman" panose="02020603050405020304" pitchFamily="18" charset="0"/>
              </a:rPr>
              <a:t>[21,22]</a:t>
            </a:r>
            <a:endParaRPr lang="en-PH" sz="2000" dirty="0"/>
          </a:p>
        </p:txBody>
      </p:sp>
      <p:sp>
        <p:nvSpPr>
          <p:cNvPr id="3" name="Rectangle 2"/>
          <p:cNvSpPr/>
          <p:nvPr/>
        </p:nvSpPr>
        <p:spPr>
          <a:xfrm>
            <a:off x="527462" y="9076259"/>
            <a:ext cx="7387663" cy="369332"/>
          </a:xfrm>
          <a:prstGeom prst="rect">
            <a:avLst/>
          </a:prstGeom>
        </p:spPr>
        <p:txBody>
          <a:bodyPr wrap="none">
            <a:spAutoFit/>
          </a:bodyPr>
          <a:lstStyle/>
          <a:p>
            <a:r>
              <a:rPr lang="en-PH" dirty="0" smtClean="0">
                <a:latin typeface="Arial" panose="020B0604020202020204" pitchFamily="34" charset="0"/>
                <a:ea typeface="Calibri" panose="020F0502020204030204" pitchFamily="34" charset="0"/>
              </a:rPr>
              <a:t>[21]  Hassan</a:t>
            </a:r>
            <a:r>
              <a:rPr lang="en-PH" dirty="0">
                <a:latin typeface="Arial" panose="020B0604020202020204" pitchFamily="34" charset="0"/>
                <a:ea typeface="Calibri" panose="020F0502020204030204" pitchFamily="34" charset="0"/>
              </a:rPr>
              <a:t>, N. M., Rasmussen, P. E., &amp; </a:t>
            </a:r>
            <a:r>
              <a:rPr lang="en-PH" dirty="0" err="1">
                <a:latin typeface="Arial" panose="020B0604020202020204" pitchFamily="34" charset="0"/>
                <a:ea typeface="Calibri" panose="020F0502020204030204" pitchFamily="34" charset="0"/>
              </a:rPr>
              <a:t>Zlotorzynska</a:t>
            </a:r>
            <a:r>
              <a:rPr lang="en-PH" dirty="0">
                <a:latin typeface="Arial" panose="020B0604020202020204" pitchFamily="34" charset="0"/>
                <a:ea typeface="Calibri" panose="020F0502020204030204" pitchFamily="34" charset="0"/>
              </a:rPr>
              <a:t>, E. D. (</a:t>
            </a:r>
            <a:r>
              <a:rPr lang="en-PH" dirty="0" smtClean="0">
                <a:latin typeface="Arial" panose="020B0604020202020204" pitchFamily="34" charset="0"/>
                <a:ea typeface="Calibri" panose="020F0502020204030204" pitchFamily="34" charset="0"/>
              </a:rPr>
              <a:t>2007)</a:t>
            </a:r>
            <a:endParaRPr lang="en-PH" dirty="0"/>
          </a:p>
        </p:txBody>
      </p:sp>
      <p:sp>
        <p:nvSpPr>
          <p:cNvPr id="5" name="Rectangle 4"/>
          <p:cNvSpPr/>
          <p:nvPr/>
        </p:nvSpPr>
        <p:spPr>
          <a:xfrm>
            <a:off x="502954" y="9510867"/>
            <a:ext cx="5635004" cy="369332"/>
          </a:xfrm>
          <a:prstGeom prst="rect">
            <a:avLst/>
          </a:prstGeom>
        </p:spPr>
        <p:txBody>
          <a:bodyPr wrap="none">
            <a:spAutoFit/>
          </a:bodyPr>
          <a:lstStyle/>
          <a:p>
            <a:r>
              <a:rPr lang="en-PH" dirty="0" smtClean="0">
                <a:latin typeface="Arial" panose="020B0604020202020204" pitchFamily="34" charset="0"/>
                <a:ea typeface="Calibri" panose="020F0502020204030204" pitchFamily="34" charset="0"/>
              </a:rPr>
              <a:t>[22] </a:t>
            </a:r>
            <a:r>
              <a:rPr lang="en-PH" dirty="0" err="1" smtClean="0">
                <a:latin typeface="Arial" panose="020B0604020202020204" pitchFamily="34" charset="0"/>
                <a:ea typeface="Calibri" panose="020F0502020204030204" pitchFamily="34" charset="0"/>
              </a:rPr>
              <a:t>Helmeczi</a:t>
            </a:r>
            <a:r>
              <a:rPr lang="en-PH" dirty="0">
                <a:latin typeface="Arial" panose="020B0604020202020204" pitchFamily="34" charset="0"/>
                <a:ea typeface="Calibri" panose="020F0502020204030204" pitchFamily="34" charset="0"/>
              </a:rPr>
              <a:t>, E., Wang, Y., &amp; Brindle, I. D. (2016). </a:t>
            </a:r>
            <a:endParaRPr lang="en-PH" dirty="0"/>
          </a:p>
        </p:txBody>
      </p:sp>
      <p:sp>
        <p:nvSpPr>
          <p:cNvPr id="7" name="Rectangle 6"/>
          <p:cNvSpPr/>
          <p:nvPr/>
        </p:nvSpPr>
        <p:spPr>
          <a:xfrm>
            <a:off x="12888256" y="6134509"/>
            <a:ext cx="4915927" cy="1938992"/>
          </a:xfrm>
          <a:prstGeom prst="rect">
            <a:avLst/>
          </a:prstGeom>
        </p:spPr>
        <p:txBody>
          <a:bodyPr wrap="square">
            <a:spAutoFit/>
          </a:bodyPr>
          <a:lstStyle/>
          <a:p>
            <a:pPr algn="just"/>
            <a:r>
              <a:rPr lang="en-PH" sz="2400" dirty="0">
                <a:latin typeface="Arial" panose="020B0604020202020204" pitchFamily="34" charset="0"/>
                <a:ea typeface="Calibri" panose="020F0502020204030204" pitchFamily="34" charset="0"/>
              </a:rPr>
              <a:t>The objective of docking studies is to anticipate the desired three-dimensional structures. Docking, in and of itself, generates only suitable incentive </a:t>
            </a:r>
            <a:r>
              <a:rPr lang="en-PH" sz="2400" dirty="0" smtClean="0">
                <a:latin typeface="Arial" panose="020B0604020202020204" pitchFamily="34" charset="0"/>
                <a:ea typeface="Calibri" panose="020F0502020204030204" pitchFamily="34" charset="0"/>
              </a:rPr>
              <a:t>structures.</a:t>
            </a:r>
            <a:r>
              <a:rPr lang="en-PH" sz="2400" b="1" baseline="30000" dirty="0" smtClean="0">
                <a:latin typeface="Arial" panose="020B0604020202020204" pitchFamily="34" charset="0"/>
                <a:ea typeface="Calibri" panose="020F0502020204030204" pitchFamily="34" charset="0"/>
              </a:rPr>
              <a:t>[38]</a:t>
            </a:r>
            <a:endParaRPr lang="en-PH" sz="2400" dirty="0"/>
          </a:p>
        </p:txBody>
      </p:sp>
      <p:sp>
        <p:nvSpPr>
          <p:cNvPr id="8" name="Rectangle 7"/>
          <p:cNvSpPr/>
          <p:nvPr/>
        </p:nvSpPr>
        <p:spPr>
          <a:xfrm>
            <a:off x="7942150" y="9175502"/>
            <a:ext cx="8499699" cy="369332"/>
          </a:xfrm>
          <a:prstGeom prst="rect">
            <a:avLst/>
          </a:prstGeom>
        </p:spPr>
        <p:txBody>
          <a:bodyPr wrap="none">
            <a:spAutoFit/>
          </a:bodyPr>
          <a:lstStyle/>
          <a:p>
            <a:r>
              <a:rPr lang="en-PH" dirty="0" smtClean="0">
                <a:latin typeface="Arial" panose="020B0604020202020204" pitchFamily="34" charset="0"/>
                <a:ea typeface="Calibri" panose="020F0502020204030204" pitchFamily="34" charset="0"/>
              </a:rPr>
              <a:t>[38] </a:t>
            </a:r>
            <a:r>
              <a:rPr lang="en-PH" dirty="0" err="1" smtClean="0">
                <a:latin typeface="Arial" panose="020B0604020202020204" pitchFamily="34" charset="0"/>
                <a:ea typeface="Calibri" panose="020F0502020204030204" pitchFamily="34" charset="0"/>
              </a:rPr>
              <a:t>Laldinfeli</a:t>
            </a:r>
            <a:r>
              <a:rPr lang="en-PH" dirty="0">
                <a:latin typeface="Arial" panose="020B0604020202020204" pitchFamily="34" charset="0"/>
                <a:ea typeface="Calibri" panose="020F0502020204030204" pitchFamily="34" charset="0"/>
              </a:rPr>
              <a:t>, R., </a:t>
            </a:r>
            <a:r>
              <a:rPr lang="en-PH" dirty="0" err="1">
                <a:latin typeface="Arial" panose="020B0604020202020204" pitchFamily="34" charset="0"/>
                <a:ea typeface="Calibri" panose="020F0502020204030204" pitchFamily="34" charset="0"/>
              </a:rPr>
              <a:t>Laldinliana</a:t>
            </a:r>
            <a:r>
              <a:rPr lang="en-PH" dirty="0">
                <a:latin typeface="Arial" panose="020B0604020202020204" pitchFamily="34" charset="0"/>
                <a:ea typeface="Calibri" panose="020F0502020204030204" pitchFamily="34" charset="0"/>
              </a:rPr>
              <a:t>, K., </a:t>
            </a:r>
            <a:r>
              <a:rPr lang="en-PH" dirty="0" err="1">
                <a:latin typeface="Arial" panose="020B0604020202020204" pitchFamily="34" charset="0"/>
                <a:ea typeface="Calibri" panose="020F0502020204030204" pitchFamily="34" charset="0"/>
              </a:rPr>
              <a:t>Nurpen</a:t>
            </a:r>
            <a:r>
              <a:rPr lang="en-PH" dirty="0">
                <a:latin typeface="Arial" panose="020B0604020202020204" pitchFamily="34" charset="0"/>
                <a:ea typeface="Calibri" panose="020F0502020204030204" pitchFamily="34" charset="0"/>
              </a:rPr>
              <a:t>, T. M., </a:t>
            </a:r>
            <a:r>
              <a:rPr lang="en-PH" dirty="0" err="1">
                <a:latin typeface="Arial" panose="020B0604020202020204" pitchFamily="34" charset="0"/>
                <a:ea typeface="Calibri" panose="020F0502020204030204" pitchFamily="34" charset="0"/>
              </a:rPr>
              <a:t>Awadhesh</a:t>
            </a:r>
            <a:r>
              <a:rPr lang="en-PH" dirty="0">
                <a:latin typeface="Arial" panose="020B0604020202020204" pitchFamily="34" charset="0"/>
                <a:ea typeface="Calibri" panose="020F0502020204030204" pitchFamily="34" charset="0"/>
              </a:rPr>
              <a:t>, K., &amp; Y., T. S. (2022). </a:t>
            </a:r>
            <a:endParaRPr lang="en-PH" dirty="0"/>
          </a:p>
        </p:txBody>
      </p:sp>
      <p:sp>
        <p:nvSpPr>
          <p:cNvPr id="9" name="Rectangle 8"/>
          <p:cNvSpPr/>
          <p:nvPr/>
        </p:nvSpPr>
        <p:spPr>
          <a:xfrm>
            <a:off x="381000" y="5981700"/>
            <a:ext cx="5612363" cy="2862322"/>
          </a:xfrm>
          <a:prstGeom prst="rect">
            <a:avLst/>
          </a:prstGeom>
        </p:spPr>
        <p:txBody>
          <a:bodyPr wrap="square">
            <a:spAutoFit/>
          </a:bodyPr>
          <a:lstStyle/>
          <a:p>
            <a:pPr algn="just"/>
            <a:r>
              <a:rPr lang="en-PH" sz="2000" dirty="0">
                <a:latin typeface="Arial" panose="020B0604020202020204" pitchFamily="34" charset="0"/>
                <a:ea typeface="Calibri" panose="020F0502020204030204" pitchFamily="34" charset="0"/>
              </a:rPr>
              <a:t>Thin layer chromatography (TLC) is a quick, sensitive, and inexpensive technique used to determine the number of components in a mixture, verify the identity and purity of a compound, monitor the progress of a reaction, determine the solvent composition for preparative separations, and </a:t>
            </a:r>
            <a:r>
              <a:rPr lang="en-PH" sz="2000" dirty="0" err="1">
                <a:latin typeface="Arial" panose="020B0604020202020204" pitchFamily="34" charset="0"/>
                <a:ea typeface="Calibri" panose="020F0502020204030204" pitchFamily="34" charset="0"/>
              </a:rPr>
              <a:t>analyze</a:t>
            </a:r>
            <a:r>
              <a:rPr lang="en-PH" sz="2000" dirty="0">
                <a:latin typeface="Arial" panose="020B0604020202020204" pitchFamily="34" charset="0"/>
                <a:ea typeface="Calibri" panose="020F0502020204030204" pitchFamily="34" charset="0"/>
              </a:rPr>
              <a:t> the fractions obtained from column </a:t>
            </a:r>
            <a:r>
              <a:rPr lang="en-PH" sz="2000" dirty="0" smtClean="0">
                <a:latin typeface="Arial" panose="020B0604020202020204" pitchFamily="34" charset="0"/>
                <a:ea typeface="Calibri" panose="020F0502020204030204" pitchFamily="34" charset="0"/>
              </a:rPr>
              <a:t>chromatography.</a:t>
            </a:r>
            <a:r>
              <a:rPr lang="en-PH" sz="2000" dirty="0"/>
              <a:t> </a:t>
            </a:r>
            <a:r>
              <a:rPr lang="en-PH" sz="2000" dirty="0" smtClean="0"/>
              <a:t>[25]</a:t>
            </a:r>
            <a:r>
              <a:rPr lang="en-PH" dirty="0"/>
              <a:t>	</a:t>
            </a:r>
          </a:p>
        </p:txBody>
      </p:sp>
      <p:sp>
        <p:nvSpPr>
          <p:cNvPr id="10" name="Rectangle 9"/>
          <p:cNvSpPr/>
          <p:nvPr/>
        </p:nvSpPr>
        <p:spPr>
          <a:xfrm>
            <a:off x="7696200" y="9513340"/>
            <a:ext cx="10020392" cy="685059"/>
          </a:xfrm>
          <a:prstGeom prst="rect">
            <a:avLst/>
          </a:prstGeom>
        </p:spPr>
        <p:txBody>
          <a:bodyPr wrap="square">
            <a:spAutoFit/>
          </a:bodyPr>
          <a:lstStyle/>
          <a:p>
            <a:pPr marL="822960" marR="0" indent="-548640" algn="just">
              <a:lnSpc>
                <a:spcPct val="107000"/>
              </a:lnSpc>
              <a:spcBef>
                <a:spcPts val="1200"/>
              </a:spcBef>
              <a:spcAft>
                <a:spcPts val="800"/>
              </a:spcAft>
            </a:pPr>
            <a:r>
              <a:rPr lang="en-PH" dirty="0" smtClean="0">
                <a:latin typeface="Arial" panose="020B0604020202020204" pitchFamily="34" charset="0"/>
                <a:ea typeface="Calibri" panose="020F0502020204030204" pitchFamily="34" charset="0"/>
                <a:cs typeface="Arial" panose="020B0604020202020204" pitchFamily="34" charset="0"/>
              </a:rPr>
              <a:t>[25] </a:t>
            </a:r>
            <a:r>
              <a:rPr lang="en-PH" dirty="0" err="1" smtClean="0">
                <a:latin typeface="Arial" panose="020B0604020202020204" pitchFamily="34" charset="0"/>
                <a:ea typeface="Calibri" panose="020F0502020204030204" pitchFamily="34" charset="0"/>
                <a:cs typeface="Arial" panose="020B0604020202020204" pitchFamily="34" charset="0"/>
              </a:rPr>
              <a:t>Cai</a:t>
            </a:r>
            <a:r>
              <a:rPr lang="en-PH" dirty="0">
                <a:latin typeface="Arial" panose="020B0604020202020204" pitchFamily="34" charset="0"/>
                <a:ea typeface="Calibri" panose="020F0502020204030204" pitchFamily="34" charset="0"/>
                <a:cs typeface="Arial" panose="020B0604020202020204" pitchFamily="34" charset="0"/>
              </a:rPr>
              <a:t>, L. (2004). Thin Layer Chromatography. </a:t>
            </a:r>
            <a:r>
              <a:rPr lang="en-PH" i="1" dirty="0">
                <a:latin typeface="Arial" panose="020B0604020202020204" pitchFamily="34" charset="0"/>
                <a:ea typeface="Calibri" panose="020F0502020204030204" pitchFamily="34" charset="0"/>
                <a:cs typeface="Arial" panose="020B0604020202020204" pitchFamily="34" charset="0"/>
              </a:rPr>
              <a:t>Current Protocols Essential Laboratory Technique</a:t>
            </a:r>
            <a:r>
              <a:rPr lang="en-PH" dirty="0">
                <a:latin typeface="Arial" panose="020B0604020202020204" pitchFamily="34" charset="0"/>
                <a:ea typeface="Calibri" panose="020F0502020204030204" pitchFamily="34" charset="0"/>
                <a:cs typeface="Arial" panose="020B0604020202020204" pitchFamily="34" charset="0"/>
              </a:rPr>
              <a:t>, 6.3.1-6.3-18.</a:t>
            </a:r>
            <a:endParaRPr lang="en-PH"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1" name="Rectangle 10"/>
          <p:cNvSpPr/>
          <p:nvPr/>
        </p:nvSpPr>
        <p:spPr>
          <a:xfrm>
            <a:off x="381000" y="2317446"/>
            <a:ext cx="5728491" cy="2862322"/>
          </a:xfrm>
          <a:prstGeom prst="rect">
            <a:avLst/>
          </a:prstGeom>
        </p:spPr>
        <p:txBody>
          <a:bodyPr wrap="square">
            <a:spAutoFit/>
          </a:bodyPr>
          <a:lstStyle/>
          <a:p>
            <a:pPr algn="just"/>
            <a:r>
              <a:rPr lang="en-PH" sz="2000" dirty="0">
                <a:latin typeface="Arial" panose="020B0604020202020204" pitchFamily="34" charset="0"/>
                <a:ea typeface="Calibri" panose="020F0502020204030204" pitchFamily="34" charset="0"/>
              </a:rPr>
              <a:t>The </a:t>
            </a:r>
            <a:r>
              <a:rPr lang="en-PH" sz="2000" dirty="0" err="1">
                <a:latin typeface="Arial" panose="020B0604020202020204" pitchFamily="34" charset="0"/>
                <a:ea typeface="Calibri" panose="020F0502020204030204" pitchFamily="34" charset="0"/>
              </a:rPr>
              <a:t>microplate</a:t>
            </a:r>
            <a:r>
              <a:rPr lang="en-PH" sz="2000" dirty="0">
                <a:latin typeface="Arial" panose="020B0604020202020204" pitchFamily="34" charset="0"/>
                <a:ea typeface="Calibri" panose="020F0502020204030204" pitchFamily="34" charset="0"/>
              </a:rPr>
              <a:t> reader, also known as “Photometric </a:t>
            </a:r>
            <a:r>
              <a:rPr lang="en-PH" sz="2000" dirty="0" err="1">
                <a:latin typeface="Arial" panose="020B0604020202020204" pitchFamily="34" charset="0"/>
                <a:ea typeface="Calibri" panose="020F0502020204030204" pitchFamily="34" charset="0"/>
              </a:rPr>
              <a:t>microplate</a:t>
            </a:r>
            <a:r>
              <a:rPr lang="en-PH" sz="2000" dirty="0">
                <a:latin typeface="Arial" panose="020B0604020202020204" pitchFamily="34" charset="0"/>
                <a:ea typeface="Calibri" panose="020F0502020204030204" pitchFamily="34" charset="0"/>
              </a:rPr>
              <a:t> reader or ELISA reader,” is a specialized spectrophotometer designed to read the results of the ELISA test, a technique used to determine the presence of antibodies or specific antigens in samples. The technique is based on the detection of an antigen or antibodies captured on a solid surface using direct </a:t>
            </a:r>
            <a:r>
              <a:rPr lang="en-PH" sz="2000" dirty="0" smtClean="0">
                <a:latin typeface="Arial" panose="020B0604020202020204" pitchFamily="34" charset="0"/>
                <a:ea typeface="Calibri" panose="020F0502020204030204" pitchFamily="34" charset="0"/>
              </a:rPr>
              <a:t>or secondary,[ 32]</a:t>
            </a:r>
            <a:endParaRPr lang="en-PH" sz="2000" dirty="0"/>
          </a:p>
        </p:txBody>
      </p:sp>
      <p:sp>
        <p:nvSpPr>
          <p:cNvPr id="12" name="Rectangle 11"/>
          <p:cNvSpPr/>
          <p:nvPr/>
        </p:nvSpPr>
        <p:spPr>
          <a:xfrm>
            <a:off x="580459" y="9917668"/>
            <a:ext cx="4258538" cy="369332"/>
          </a:xfrm>
          <a:prstGeom prst="rect">
            <a:avLst/>
          </a:prstGeom>
        </p:spPr>
        <p:txBody>
          <a:bodyPr wrap="none">
            <a:spAutoFit/>
          </a:bodyPr>
          <a:lstStyle/>
          <a:p>
            <a:r>
              <a:rPr lang="en-PH" dirty="0" smtClean="0">
                <a:latin typeface="Arial" panose="020B0604020202020204" pitchFamily="34" charset="0"/>
                <a:ea typeface="Calibri" panose="020F0502020204030204" pitchFamily="34" charset="0"/>
              </a:rPr>
              <a:t>[32] World </a:t>
            </a:r>
            <a:r>
              <a:rPr lang="en-PH" dirty="0">
                <a:latin typeface="Arial" panose="020B0604020202020204" pitchFamily="34" charset="0"/>
                <a:ea typeface="Calibri" panose="020F0502020204030204" pitchFamily="34" charset="0"/>
              </a:rPr>
              <a:t>Health Organization. (2008). </a:t>
            </a:r>
            <a:endParaRPr lang="en-PH" dirty="0"/>
          </a:p>
        </p:txBody>
      </p:sp>
      <p:sp>
        <p:nvSpPr>
          <p:cNvPr id="35" name="Flowchart: Connector 34"/>
          <p:cNvSpPr/>
          <p:nvPr/>
        </p:nvSpPr>
        <p:spPr>
          <a:xfrm>
            <a:off x="7298693" y="1598820"/>
            <a:ext cx="838200" cy="848351"/>
          </a:xfrm>
          <a:prstGeom prst="flowChartConnector">
            <a:avLst/>
          </a:prstGeom>
          <a:ln w="38100">
            <a:solidFill>
              <a:srgbClr val="005C2A"/>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PH" sz="4400" b="1" dirty="0">
                <a:solidFill>
                  <a:srgbClr val="820000"/>
                </a:solidFill>
              </a:rPr>
              <a:t>5</a:t>
            </a:r>
          </a:p>
        </p:txBody>
      </p:sp>
      <p:sp>
        <p:nvSpPr>
          <p:cNvPr id="36" name="Flowchart: Connector 35"/>
          <p:cNvSpPr/>
          <p:nvPr/>
        </p:nvSpPr>
        <p:spPr>
          <a:xfrm>
            <a:off x="10505390" y="1533003"/>
            <a:ext cx="838200" cy="848351"/>
          </a:xfrm>
          <a:prstGeom prst="flowChartConnector">
            <a:avLst/>
          </a:prstGeom>
          <a:ln w="38100">
            <a:solidFill>
              <a:srgbClr val="005C2A"/>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PH" sz="4400" b="1" dirty="0" smtClean="0">
                <a:solidFill>
                  <a:srgbClr val="820000"/>
                </a:solidFill>
              </a:rPr>
              <a:t>6</a:t>
            </a:r>
            <a:endParaRPr lang="en-PH" sz="4400" b="1" dirty="0">
              <a:solidFill>
                <a:srgbClr val="820000"/>
              </a:solidFill>
            </a:endParaRPr>
          </a:p>
        </p:txBody>
      </p:sp>
      <p:sp>
        <p:nvSpPr>
          <p:cNvPr id="37" name="Flowchart: Connector 36"/>
          <p:cNvSpPr/>
          <p:nvPr/>
        </p:nvSpPr>
        <p:spPr>
          <a:xfrm>
            <a:off x="7353300" y="7983848"/>
            <a:ext cx="838200" cy="848351"/>
          </a:xfrm>
          <a:prstGeom prst="flowChartConnector">
            <a:avLst/>
          </a:prstGeom>
          <a:ln w="38100">
            <a:solidFill>
              <a:srgbClr val="005C2A"/>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PH" sz="4400" b="1" dirty="0" smtClean="0">
                <a:solidFill>
                  <a:srgbClr val="820000"/>
                </a:solidFill>
              </a:rPr>
              <a:t>7</a:t>
            </a:r>
            <a:endParaRPr lang="en-PH" sz="4400" b="1" dirty="0">
              <a:solidFill>
                <a:srgbClr val="820000"/>
              </a:solidFill>
            </a:endParaRPr>
          </a:p>
        </p:txBody>
      </p:sp>
      <p:sp>
        <p:nvSpPr>
          <p:cNvPr id="38" name="Flowchart: Connector 37"/>
          <p:cNvSpPr/>
          <p:nvPr/>
        </p:nvSpPr>
        <p:spPr>
          <a:xfrm>
            <a:off x="10454772" y="7919726"/>
            <a:ext cx="838200" cy="848351"/>
          </a:xfrm>
          <a:prstGeom prst="flowChartConnector">
            <a:avLst/>
          </a:prstGeom>
          <a:ln w="38100">
            <a:solidFill>
              <a:srgbClr val="005C2A"/>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PH" sz="4400" b="1" dirty="0" smtClean="0">
                <a:solidFill>
                  <a:srgbClr val="820000"/>
                </a:solidFill>
              </a:rPr>
              <a:t>8</a:t>
            </a:r>
            <a:endParaRPr lang="en-PH" sz="4400" b="1" dirty="0">
              <a:solidFill>
                <a:srgbClr val="820000"/>
              </a:solidFill>
            </a:endParaRPr>
          </a:p>
        </p:txBody>
      </p:sp>
    </p:spTree>
    <p:extLst>
      <p:ext uri="{BB962C8B-B14F-4D97-AF65-F5344CB8AC3E}">
        <p14:creationId xmlns:p14="http://schemas.microsoft.com/office/powerpoint/2010/main" val="228039856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Box 13"/>
          <p:cNvSpPr txBox="1"/>
          <p:nvPr/>
        </p:nvSpPr>
        <p:spPr>
          <a:xfrm>
            <a:off x="1671387" y="1531257"/>
            <a:ext cx="2203151" cy="2306426"/>
          </a:xfrm>
          <a:prstGeom prst="rect">
            <a:avLst/>
          </a:prstGeom>
        </p:spPr>
        <p:txBody>
          <a:bodyPr lIns="50800" tIns="50800" rIns="50800" bIns="50800" rtlCol="0" anchor="ctr"/>
          <a:lstStyle/>
          <a:p>
            <a:pPr algn="ctr">
              <a:lnSpc>
                <a:spcPts val="2659"/>
              </a:lnSpc>
              <a:spcBef>
                <a:spcPct val="0"/>
              </a:spcBef>
            </a:pPr>
            <a:endParaRPr/>
          </a:p>
        </p:txBody>
      </p:sp>
      <p:pic>
        <p:nvPicPr>
          <p:cNvPr id="18" name="Picture 17"/>
          <p:cNvPicPr>
            <a:picLocks noChangeAspect="1"/>
          </p:cNvPicPr>
          <p:nvPr/>
        </p:nvPicPr>
        <p:blipFill>
          <a:blip r:embed="rId2"/>
          <a:stretch>
            <a:fillRect/>
          </a:stretch>
        </p:blipFill>
        <p:spPr>
          <a:xfrm>
            <a:off x="76200" y="9266338"/>
            <a:ext cx="2327677" cy="1020662"/>
          </a:xfrm>
          <a:prstGeom prst="rect">
            <a:avLst/>
          </a:prstGeom>
        </p:spPr>
      </p:pic>
      <p:pic>
        <p:nvPicPr>
          <p:cNvPr id="19" name="Picture 18"/>
          <p:cNvPicPr>
            <a:picLocks noChangeAspect="1"/>
          </p:cNvPicPr>
          <p:nvPr/>
        </p:nvPicPr>
        <p:blipFill>
          <a:blip r:embed="rId3"/>
          <a:stretch>
            <a:fillRect/>
          </a:stretch>
        </p:blipFill>
        <p:spPr>
          <a:xfrm rot="10800000">
            <a:off x="-30480" y="1294489"/>
            <a:ext cx="18288000" cy="267610"/>
          </a:xfrm>
          <a:prstGeom prst="rect">
            <a:avLst/>
          </a:prstGeom>
        </p:spPr>
      </p:pic>
      <p:sp>
        <p:nvSpPr>
          <p:cNvPr id="21" name="Round Single Corner Rectangle 20"/>
          <p:cNvSpPr/>
          <p:nvPr/>
        </p:nvSpPr>
        <p:spPr>
          <a:xfrm>
            <a:off x="5494020" y="160397"/>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5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Methodology      </a:t>
            </a:r>
            <a:r>
              <a:rPr lang="en-PH" sz="6000" b="1" u="sng" dirty="0" smtClean="0">
                <a:solidFill>
                  <a:srgbClr val="820000"/>
                </a:solidFill>
                <a:latin typeface="Arial" panose="020B0604020202020204" pitchFamily="34" charset="0"/>
                <a:cs typeface="Arial" panose="020B0604020202020204" pitchFamily="34" charset="0"/>
              </a:rPr>
              <a:t> </a:t>
            </a:r>
          </a:p>
        </p:txBody>
      </p:sp>
      <p:pic>
        <p:nvPicPr>
          <p:cNvPr id="20" name="Picture 19"/>
          <p:cNvPicPr>
            <a:picLocks noChangeAspect="1"/>
          </p:cNvPicPr>
          <p:nvPr/>
        </p:nvPicPr>
        <p:blipFill>
          <a:blip r:embed="rId3"/>
          <a:stretch>
            <a:fillRect/>
          </a:stretch>
        </p:blipFill>
        <p:spPr>
          <a:xfrm>
            <a:off x="0" y="0"/>
            <a:ext cx="18288000" cy="267611"/>
          </a:xfrm>
          <a:prstGeom prst="rect">
            <a:avLst/>
          </a:prstGeom>
        </p:spPr>
      </p:pic>
      <p:sp>
        <p:nvSpPr>
          <p:cNvPr id="4" name="Parallelogram 3"/>
          <p:cNvSpPr/>
          <p:nvPr/>
        </p:nvSpPr>
        <p:spPr>
          <a:xfrm>
            <a:off x="2388637" y="9936689"/>
            <a:ext cx="9727163" cy="236011"/>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2" name="Parallelogram 21"/>
          <p:cNvSpPr/>
          <p:nvPr/>
        </p:nvSpPr>
        <p:spPr>
          <a:xfrm>
            <a:off x="12192000" y="9944100"/>
            <a:ext cx="1421363" cy="228600"/>
          </a:xfrm>
          <a:prstGeom prst="parallelogram">
            <a:avLst/>
          </a:prstGeom>
          <a:solidFill>
            <a:srgbClr val="FFC000"/>
          </a:solidFill>
          <a:ln>
            <a:solidFill>
              <a:srgbClr val="FFC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3" name="Parallelogram 22"/>
          <p:cNvSpPr/>
          <p:nvPr/>
        </p:nvSpPr>
        <p:spPr>
          <a:xfrm>
            <a:off x="13689563" y="9944100"/>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24" name="Picture 23"/>
          <p:cNvPicPr>
            <a:picLocks noChangeAspect="1"/>
          </p:cNvPicPr>
          <p:nvPr/>
        </p:nvPicPr>
        <p:blipFill>
          <a:blip r:embed="rId3"/>
          <a:stretch>
            <a:fillRect/>
          </a:stretch>
        </p:blipFill>
        <p:spPr>
          <a:xfrm rot="10800000" flipV="1">
            <a:off x="2403877" y="9668509"/>
            <a:ext cx="15899363" cy="232657"/>
          </a:xfrm>
          <a:prstGeom prst="rect">
            <a:avLst/>
          </a:prstGeom>
        </p:spPr>
      </p:pic>
      <p:pic>
        <p:nvPicPr>
          <p:cNvPr id="6" name="Picture 5"/>
          <p:cNvPicPr>
            <a:picLocks noChangeAspect="1"/>
          </p:cNvPicPr>
          <p:nvPr/>
        </p:nvPicPr>
        <p:blipFill>
          <a:blip r:embed="rId4"/>
          <a:stretch>
            <a:fillRect/>
          </a:stretch>
        </p:blipFill>
        <p:spPr>
          <a:xfrm>
            <a:off x="15030450" y="488370"/>
            <a:ext cx="3257550" cy="523875"/>
          </a:xfrm>
          <a:prstGeom prst="rect">
            <a:avLst/>
          </a:prstGeom>
        </p:spPr>
      </p:pic>
      <p:sp>
        <p:nvSpPr>
          <p:cNvPr id="25" name="Parallelogram 24"/>
          <p:cNvSpPr/>
          <p:nvPr/>
        </p:nvSpPr>
        <p:spPr>
          <a:xfrm>
            <a:off x="13030200" y="760176"/>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13" name="Picture 12"/>
          <p:cNvPicPr>
            <a:picLocks noChangeAspect="1"/>
          </p:cNvPicPr>
          <p:nvPr/>
        </p:nvPicPr>
        <p:blipFill>
          <a:blip r:embed="rId4"/>
          <a:stretch>
            <a:fillRect/>
          </a:stretch>
        </p:blipFill>
        <p:spPr>
          <a:xfrm rot="10800000">
            <a:off x="0" y="612538"/>
            <a:ext cx="3257550" cy="523875"/>
          </a:xfrm>
          <a:prstGeom prst="rect">
            <a:avLst/>
          </a:prstGeom>
        </p:spPr>
      </p:pic>
      <p:sp>
        <p:nvSpPr>
          <p:cNvPr id="14" name="Parallelogram 13"/>
          <p:cNvSpPr/>
          <p:nvPr/>
        </p:nvSpPr>
        <p:spPr>
          <a:xfrm>
            <a:off x="659363" y="577015"/>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9" name="Rectangle 28"/>
          <p:cNvSpPr/>
          <p:nvPr/>
        </p:nvSpPr>
        <p:spPr>
          <a:xfrm>
            <a:off x="1454530" y="2319935"/>
            <a:ext cx="15929956" cy="1938992"/>
          </a:xfrm>
          <a:prstGeom prst="rect">
            <a:avLst/>
          </a:prstGeom>
        </p:spPr>
        <p:txBody>
          <a:bodyPr wrap="square">
            <a:spAutoFit/>
          </a:bodyPr>
          <a:lstStyle/>
          <a:p>
            <a:pPr marL="0" lvl="2" algn="just"/>
            <a:endParaRPr lang="en-PH" sz="2800" dirty="0" smtClean="0"/>
          </a:p>
          <a:p>
            <a:pPr marL="457200" lvl="2" indent="-457200" algn="just">
              <a:buFont typeface="Wingdings" panose="05000000000000000000" pitchFamily="2" charset="2"/>
              <a:buChar char="Ø"/>
            </a:pPr>
            <a:endParaRPr lang="en-PH" sz="2800" dirty="0" smtClean="0"/>
          </a:p>
          <a:p>
            <a:pPr marL="285750" lvl="2" indent="-285750" algn="just">
              <a:buFont typeface="Arial" panose="020B0604020202020204" pitchFamily="34" charset="0"/>
              <a:buChar char="•"/>
            </a:pPr>
            <a:endParaRPr lang="en-PH" sz="3200" dirty="0"/>
          </a:p>
          <a:p>
            <a:pPr marL="285750" indent="-285750" algn="just">
              <a:buFont typeface="Arial" panose="020B0604020202020204" pitchFamily="34" charset="0"/>
              <a:buChar char="•"/>
            </a:pPr>
            <a:endParaRPr lang="en-PH" sz="3200" dirty="0">
              <a:solidFill>
                <a:srgbClr val="005C2A"/>
              </a:solidFill>
              <a:latin typeface="Arial" panose="020B0604020202020204" pitchFamily="34" charset="0"/>
              <a:cs typeface="Arial" panose="020B0604020202020204" pitchFamily="34" charset="0"/>
            </a:endParaRPr>
          </a:p>
        </p:txBody>
      </p:sp>
      <p:sp>
        <p:nvSpPr>
          <p:cNvPr id="27" name="Rectangle 26"/>
          <p:cNvSpPr/>
          <p:nvPr/>
        </p:nvSpPr>
        <p:spPr>
          <a:xfrm>
            <a:off x="-60960" y="1734345"/>
            <a:ext cx="11486917" cy="2831544"/>
          </a:xfrm>
          <a:prstGeom prst="rect">
            <a:avLst/>
          </a:prstGeom>
        </p:spPr>
        <p:txBody>
          <a:bodyPr wrap="square">
            <a:spAutoFit/>
          </a:bodyPr>
          <a:lstStyle/>
          <a:p>
            <a:pPr algn="just"/>
            <a:r>
              <a:rPr lang="en-PH" sz="4000" dirty="0">
                <a:solidFill>
                  <a:srgbClr val="820000"/>
                </a:solidFill>
                <a:latin typeface="Arial" panose="020B0604020202020204" pitchFamily="34" charset="0"/>
                <a:cs typeface="Arial" panose="020B0604020202020204" pitchFamily="34" charset="0"/>
              </a:rPr>
              <a:t> </a:t>
            </a:r>
            <a:r>
              <a:rPr lang="en-PH" sz="4000" dirty="0" smtClean="0">
                <a:solidFill>
                  <a:srgbClr val="820000"/>
                </a:solidFill>
                <a:latin typeface="Arial" panose="020B0604020202020204" pitchFamily="34" charset="0"/>
                <a:cs typeface="Arial" panose="020B0604020202020204" pitchFamily="34" charset="0"/>
              </a:rPr>
              <a:t>  </a:t>
            </a:r>
            <a:r>
              <a:rPr lang="en-PH" sz="4000" dirty="0">
                <a:solidFill>
                  <a:srgbClr val="820000"/>
                </a:solidFill>
                <a:latin typeface="Arial" panose="020B0604020202020204" pitchFamily="34" charset="0"/>
                <a:cs typeface="Arial" panose="020B0604020202020204" pitchFamily="34" charset="0"/>
              </a:rPr>
              <a:t> </a:t>
            </a:r>
            <a:r>
              <a:rPr lang="en-PH" sz="4000" dirty="0" smtClean="0">
                <a:solidFill>
                  <a:srgbClr val="820000"/>
                </a:solidFill>
                <a:latin typeface="Arial" panose="020B0604020202020204" pitchFamily="34" charset="0"/>
                <a:cs typeface="Arial" panose="020B0604020202020204" pitchFamily="34" charset="0"/>
              </a:rPr>
              <a:t>3.1  </a:t>
            </a:r>
            <a:r>
              <a:rPr lang="en-PH" sz="4000" b="1" dirty="0" smtClean="0">
                <a:solidFill>
                  <a:srgbClr val="820000"/>
                </a:solidFill>
                <a:latin typeface="Arial" panose="020B0604020202020204" pitchFamily="34" charset="0"/>
                <a:cs typeface="Arial" panose="020B0604020202020204" pitchFamily="34" charset="0"/>
              </a:rPr>
              <a:t>Experimental Design</a:t>
            </a:r>
          </a:p>
          <a:p>
            <a:pPr marL="0" lvl="2" algn="just"/>
            <a:endParaRPr lang="en-PH" b="1" dirty="0"/>
          </a:p>
          <a:p>
            <a:pPr algn="just"/>
            <a:r>
              <a:rPr lang="en-PH" sz="4000" dirty="0" smtClean="0"/>
              <a:t> </a:t>
            </a:r>
            <a:endParaRPr lang="en-PH" sz="4000" b="1" dirty="0">
              <a:solidFill>
                <a:srgbClr val="820000"/>
              </a:solidFill>
              <a:latin typeface="Arial" panose="020B0604020202020204" pitchFamily="34" charset="0"/>
              <a:cs typeface="Arial" panose="020B0604020202020204" pitchFamily="34" charset="0"/>
            </a:endParaRPr>
          </a:p>
          <a:p>
            <a:pPr algn="just"/>
            <a:endParaRPr lang="en-PH" sz="4000" b="1" dirty="0" smtClean="0">
              <a:solidFill>
                <a:srgbClr val="820000"/>
              </a:solidFill>
              <a:latin typeface="Arial" panose="020B0604020202020204" pitchFamily="34" charset="0"/>
              <a:cs typeface="Arial" panose="020B0604020202020204" pitchFamily="34" charset="0"/>
            </a:endParaRPr>
          </a:p>
          <a:p>
            <a:pPr algn="just"/>
            <a:r>
              <a:rPr lang="en-PH" sz="4000" b="1"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pic>
        <p:nvPicPr>
          <p:cNvPr id="28" name="Picture 27"/>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844058" y="2376601"/>
            <a:ext cx="10058400" cy="5785042"/>
          </a:xfrm>
          <a:prstGeom prst="rect">
            <a:avLst/>
          </a:prstGeom>
          <a:noFill/>
          <a:ln>
            <a:noFill/>
          </a:ln>
        </p:spPr>
      </p:pic>
      <p:sp>
        <p:nvSpPr>
          <p:cNvPr id="2" name="Rectangle 1"/>
          <p:cNvSpPr/>
          <p:nvPr/>
        </p:nvSpPr>
        <p:spPr>
          <a:xfrm>
            <a:off x="4243723" y="8569714"/>
            <a:ext cx="8666476" cy="954107"/>
          </a:xfrm>
          <a:prstGeom prst="rect">
            <a:avLst/>
          </a:prstGeom>
        </p:spPr>
        <p:txBody>
          <a:bodyPr wrap="none">
            <a:spAutoFit/>
          </a:bodyPr>
          <a:lstStyle/>
          <a:p>
            <a:pPr marL="91440" marR="0" algn="ctr">
              <a:lnSpc>
                <a:spcPct val="200000"/>
              </a:lnSpc>
              <a:spcBef>
                <a:spcPts val="0"/>
              </a:spcBef>
              <a:spcAft>
                <a:spcPts val="0"/>
              </a:spcAft>
            </a:pPr>
            <a:r>
              <a:rPr lang="en-PH" sz="2800" b="1" dirty="0">
                <a:solidFill>
                  <a:srgbClr val="820000"/>
                </a:solidFill>
                <a:latin typeface="Arial" panose="020B0604020202020204" pitchFamily="34" charset="0"/>
                <a:ea typeface="Calibri" panose="020F0502020204030204" pitchFamily="34" charset="0"/>
                <a:cs typeface="Arial" panose="020B0604020202020204" pitchFamily="34" charset="0"/>
              </a:rPr>
              <a:t>Figure 11. </a:t>
            </a:r>
            <a:r>
              <a:rPr lang="en-PH" sz="2800" dirty="0">
                <a:solidFill>
                  <a:srgbClr val="820000"/>
                </a:solidFill>
                <a:latin typeface="Arial" panose="020B0604020202020204" pitchFamily="34" charset="0"/>
                <a:ea typeface="Calibri" panose="020F0502020204030204" pitchFamily="34" charset="0"/>
                <a:cs typeface="Arial" panose="020B0604020202020204" pitchFamily="34" charset="0"/>
              </a:rPr>
              <a:t>Workflow schematic diagram of the study</a:t>
            </a:r>
            <a:r>
              <a:rPr lang="en-PH" dirty="0">
                <a:latin typeface="Arial" panose="020B0604020202020204" pitchFamily="34" charset="0"/>
                <a:ea typeface="Calibri" panose="020F0502020204030204" pitchFamily="34" charset="0"/>
                <a:cs typeface="Arial" panose="020B0604020202020204" pitchFamily="34" charset="0"/>
              </a:rPr>
              <a:t>.</a:t>
            </a:r>
            <a:endParaRPr lang="en-PH" dirty="0">
              <a:effectLst/>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31369216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Box 13"/>
          <p:cNvSpPr txBox="1"/>
          <p:nvPr/>
        </p:nvSpPr>
        <p:spPr>
          <a:xfrm>
            <a:off x="1671387" y="1531257"/>
            <a:ext cx="2203151" cy="2306426"/>
          </a:xfrm>
          <a:prstGeom prst="rect">
            <a:avLst/>
          </a:prstGeom>
        </p:spPr>
        <p:txBody>
          <a:bodyPr lIns="50800" tIns="50800" rIns="50800" bIns="50800" rtlCol="0" anchor="ctr"/>
          <a:lstStyle/>
          <a:p>
            <a:pPr algn="ctr">
              <a:lnSpc>
                <a:spcPts val="2659"/>
              </a:lnSpc>
              <a:spcBef>
                <a:spcPct val="0"/>
              </a:spcBef>
            </a:pPr>
            <a:endParaRPr/>
          </a:p>
        </p:txBody>
      </p:sp>
      <p:pic>
        <p:nvPicPr>
          <p:cNvPr id="18" name="Picture 17"/>
          <p:cNvPicPr>
            <a:picLocks noChangeAspect="1"/>
          </p:cNvPicPr>
          <p:nvPr/>
        </p:nvPicPr>
        <p:blipFill>
          <a:blip r:embed="rId2"/>
          <a:stretch>
            <a:fillRect/>
          </a:stretch>
        </p:blipFill>
        <p:spPr>
          <a:xfrm>
            <a:off x="76200" y="9266338"/>
            <a:ext cx="2327677" cy="1020662"/>
          </a:xfrm>
          <a:prstGeom prst="rect">
            <a:avLst/>
          </a:prstGeom>
        </p:spPr>
      </p:pic>
      <p:pic>
        <p:nvPicPr>
          <p:cNvPr id="19" name="Picture 18"/>
          <p:cNvPicPr>
            <a:picLocks noChangeAspect="1"/>
          </p:cNvPicPr>
          <p:nvPr/>
        </p:nvPicPr>
        <p:blipFill>
          <a:blip r:embed="rId3"/>
          <a:stretch>
            <a:fillRect/>
          </a:stretch>
        </p:blipFill>
        <p:spPr>
          <a:xfrm rot="10800000">
            <a:off x="-30480" y="1294489"/>
            <a:ext cx="18288000" cy="267610"/>
          </a:xfrm>
          <a:prstGeom prst="rect">
            <a:avLst/>
          </a:prstGeom>
        </p:spPr>
      </p:pic>
      <p:sp>
        <p:nvSpPr>
          <p:cNvPr id="21" name="Round Single Corner Rectangle 20"/>
          <p:cNvSpPr/>
          <p:nvPr/>
        </p:nvSpPr>
        <p:spPr>
          <a:xfrm>
            <a:off x="5494020" y="160397"/>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5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Methodology      </a:t>
            </a:r>
            <a:r>
              <a:rPr lang="en-PH" sz="6000" b="1" u="sng" dirty="0" smtClean="0">
                <a:solidFill>
                  <a:srgbClr val="820000"/>
                </a:solidFill>
                <a:latin typeface="Arial" panose="020B0604020202020204" pitchFamily="34" charset="0"/>
                <a:cs typeface="Arial" panose="020B0604020202020204" pitchFamily="34" charset="0"/>
              </a:rPr>
              <a:t> </a:t>
            </a:r>
          </a:p>
        </p:txBody>
      </p:sp>
      <p:pic>
        <p:nvPicPr>
          <p:cNvPr id="20" name="Picture 19"/>
          <p:cNvPicPr>
            <a:picLocks noChangeAspect="1"/>
          </p:cNvPicPr>
          <p:nvPr/>
        </p:nvPicPr>
        <p:blipFill>
          <a:blip r:embed="rId3"/>
          <a:stretch>
            <a:fillRect/>
          </a:stretch>
        </p:blipFill>
        <p:spPr>
          <a:xfrm>
            <a:off x="0" y="0"/>
            <a:ext cx="18288000" cy="267611"/>
          </a:xfrm>
          <a:prstGeom prst="rect">
            <a:avLst/>
          </a:prstGeom>
        </p:spPr>
      </p:pic>
      <p:sp>
        <p:nvSpPr>
          <p:cNvPr id="4" name="Parallelogram 3"/>
          <p:cNvSpPr/>
          <p:nvPr/>
        </p:nvSpPr>
        <p:spPr>
          <a:xfrm>
            <a:off x="2388637" y="9936689"/>
            <a:ext cx="9727163" cy="236011"/>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2" name="Parallelogram 21"/>
          <p:cNvSpPr/>
          <p:nvPr/>
        </p:nvSpPr>
        <p:spPr>
          <a:xfrm>
            <a:off x="12192000" y="9944100"/>
            <a:ext cx="1421363" cy="228600"/>
          </a:xfrm>
          <a:prstGeom prst="parallelogram">
            <a:avLst/>
          </a:prstGeom>
          <a:solidFill>
            <a:srgbClr val="FFC000"/>
          </a:solidFill>
          <a:ln>
            <a:solidFill>
              <a:srgbClr val="FFC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3" name="Parallelogram 22"/>
          <p:cNvSpPr/>
          <p:nvPr/>
        </p:nvSpPr>
        <p:spPr>
          <a:xfrm>
            <a:off x="13689563" y="9944100"/>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24" name="Picture 23"/>
          <p:cNvPicPr>
            <a:picLocks noChangeAspect="1"/>
          </p:cNvPicPr>
          <p:nvPr/>
        </p:nvPicPr>
        <p:blipFill>
          <a:blip r:embed="rId3"/>
          <a:stretch>
            <a:fillRect/>
          </a:stretch>
        </p:blipFill>
        <p:spPr>
          <a:xfrm rot="10800000" flipV="1">
            <a:off x="2403877" y="9668509"/>
            <a:ext cx="15899363" cy="232657"/>
          </a:xfrm>
          <a:prstGeom prst="rect">
            <a:avLst/>
          </a:prstGeom>
        </p:spPr>
      </p:pic>
      <p:pic>
        <p:nvPicPr>
          <p:cNvPr id="6" name="Picture 5"/>
          <p:cNvPicPr>
            <a:picLocks noChangeAspect="1"/>
          </p:cNvPicPr>
          <p:nvPr/>
        </p:nvPicPr>
        <p:blipFill>
          <a:blip r:embed="rId4"/>
          <a:stretch>
            <a:fillRect/>
          </a:stretch>
        </p:blipFill>
        <p:spPr>
          <a:xfrm>
            <a:off x="15030450" y="488370"/>
            <a:ext cx="3257550" cy="523875"/>
          </a:xfrm>
          <a:prstGeom prst="rect">
            <a:avLst/>
          </a:prstGeom>
        </p:spPr>
      </p:pic>
      <p:sp>
        <p:nvSpPr>
          <p:cNvPr id="25" name="Parallelogram 24"/>
          <p:cNvSpPr/>
          <p:nvPr/>
        </p:nvSpPr>
        <p:spPr>
          <a:xfrm>
            <a:off x="13030200" y="760176"/>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13" name="Picture 12"/>
          <p:cNvPicPr>
            <a:picLocks noChangeAspect="1"/>
          </p:cNvPicPr>
          <p:nvPr/>
        </p:nvPicPr>
        <p:blipFill>
          <a:blip r:embed="rId4"/>
          <a:stretch>
            <a:fillRect/>
          </a:stretch>
        </p:blipFill>
        <p:spPr>
          <a:xfrm rot="10800000">
            <a:off x="0" y="612538"/>
            <a:ext cx="3257550" cy="523875"/>
          </a:xfrm>
          <a:prstGeom prst="rect">
            <a:avLst/>
          </a:prstGeom>
        </p:spPr>
      </p:pic>
      <p:sp>
        <p:nvSpPr>
          <p:cNvPr id="14" name="Parallelogram 13"/>
          <p:cNvSpPr/>
          <p:nvPr/>
        </p:nvSpPr>
        <p:spPr>
          <a:xfrm>
            <a:off x="659363" y="577015"/>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9" name="Rectangle 28"/>
          <p:cNvSpPr/>
          <p:nvPr/>
        </p:nvSpPr>
        <p:spPr>
          <a:xfrm>
            <a:off x="1454530" y="2319935"/>
            <a:ext cx="15929956" cy="1938992"/>
          </a:xfrm>
          <a:prstGeom prst="rect">
            <a:avLst/>
          </a:prstGeom>
        </p:spPr>
        <p:txBody>
          <a:bodyPr wrap="square">
            <a:spAutoFit/>
          </a:bodyPr>
          <a:lstStyle/>
          <a:p>
            <a:pPr marL="0" lvl="2" algn="just"/>
            <a:endParaRPr lang="en-PH" sz="2800" dirty="0" smtClean="0"/>
          </a:p>
          <a:p>
            <a:pPr marL="457200" lvl="2" indent="-457200" algn="just">
              <a:buFont typeface="Wingdings" panose="05000000000000000000" pitchFamily="2" charset="2"/>
              <a:buChar char="Ø"/>
            </a:pPr>
            <a:endParaRPr lang="en-PH" sz="2800" dirty="0" smtClean="0"/>
          </a:p>
          <a:p>
            <a:pPr marL="285750" lvl="2" indent="-285750" algn="just">
              <a:buFont typeface="Arial" panose="020B0604020202020204" pitchFamily="34" charset="0"/>
              <a:buChar char="•"/>
            </a:pPr>
            <a:endParaRPr lang="en-PH" sz="3200" dirty="0"/>
          </a:p>
          <a:p>
            <a:pPr marL="285750" indent="-285750" algn="just">
              <a:buFont typeface="Arial" panose="020B0604020202020204" pitchFamily="34" charset="0"/>
              <a:buChar char="•"/>
            </a:pPr>
            <a:endParaRPr lang="en-PH" sz="3200" dirty="0">
              <a:solidFill>
                <a:srgbClr val="005C2A"/>
              </a:solidFill>
              <a:latin typeface="Arial" panose="020B0604020202020204" pitchFamily="34" charset="0"/>
              <a:cs typeface="Arial" panose="020B0604020202020204" pitchFamily="34" charset="0"/>
            </a:endParaRPr>
          </a:p>
        </p:txBody>
      </p:sp>
      <p:sp>
        <p:nvSpPr>
          <p:cNvPr id="27" name="Rectangle 26"/>
          <p:cNvSpPr/>
          <p:nvPr/>
        </p:nvSpPr>
        <p:spPr>
          <a:xfrm>
            <a:off x="-60960" y="1734345"/>
            <a:ext cx="11486917" cy="2831544"/>
          </a:xfrm>
          <a:prstGeom prst="rect">
            <a:avLst/>
          </a:prstGeom>
        </p:spPr>
        <p:txBody>
          <a:bodyPr wrap="square">
            <a:spAutoFit/>
          </a:bodyPr>
          <a:lstStyle/>
          <a:p>
            <a:pPr algn="just"/>
            <a:r>
              <a:rPr lang="en-PH" sz="4000" dirty="0">
                <a:solidFill>
                  <a:srgbClr val="820000"/>
                </a:solidFill>
                <a:latin typeface="Arial" panose="020B0604020202020204" pitchFamily="34" charset="0"/>
                <a:cs typeface="Arial" panose="020B0604020202020204" pitchFamily="34" charset="0"/>
              </a:rPr>
              <a:t> </a:t>
            </a:r>
            <a:r>
              <a:rPr lang="en-PH" sz="4000" dirty="0" smtClean="0">
                <a:solidFill>
                  <a:srgbClr val="820000"/>
                </a:solidFill>
                <a:latin typeface="Arial" panose="020B0604020202020204" pitchFamily="34" charset="0"/>
                <a:cs typeface="Arial" panose="020B0604020202020204" pitchFamily="34" charset="0"/>
              </a:rPr>
              <a:t>  </a:t>
            </a:r>
            <a:r>
              <a:rPr lang="en-PH" sz="4000" dirty="0">
                <a:solidFill>
                  <a:srgbClr val="820000"/>
                </a:solidFill>
                <a:latin typeface="Arial" panose="020B0604020202020204" pitchFamily="34" charset="0"/>
                <a:cs typeface="Arial" panose="020B0604020202020204" pitchFamily="34" charset="0"/>
              </a:rPr>
              <a:t> </a:t>
            </a:r>
            <a:r>
              <a:rPr lang="en-PH" sz="4000" dirty="0" smtClean="0">
                <a:solidFill>
                  <a:srgbClr val="820000"/>
                </a:solidFill>
                <a:latin typeface="Arial" panose="020B0604020202020204" pitchFamily="34" charset="0"/>
                <a:cs typeface="Arial" panose="020B0604020202020204" pitchFamily="34" charset="0"/>
              </a:rPr>
              <a:t>3.2  </a:t>
            </a:r>
            <a:r>
              <a:rPr lang="en-PH" sz="4000" b="1" dirty="0" smtClean="0">
                <a:solidFill>
                  <a:srgbClr val="820000"/>
                </a:solidFill>
                <a:latin typeface="Arial" panose="020B0604020202020204" pitchFamily="34" charset="0"/>
                <a:cs typeface="Arial" panose="020B0604020202020204" pitchFamily="34" charset="0"/>
              </a:rPr>
              <a:t>Sample</a:t>
            </a:r>
          </a:p>
          <a:p>
            <a:pPr marL="0" lvl="2" algn="just"/>
            <a:endParaRPr lang="en-PH" b="1" dirty="0"/>
          </a:p>
          <a:p>
            <a:pPr algn="just"/>
            <a:r>
              <a:rPr lang="en-PH" sz="4000" dirty="0" smtClean="0"/>
              <a:t> </a:t>
            </a:r>
            <a:endParaRPr lang="en-PH" sz="4000" b="1" dirty="0">
              <a:solidFill>
                <a:srgbClr val="820000"/>
              </a:solidFill>
              <a:latin typeface="Arial" panose="020B0604020202020204" pitchFamily="34" charset="0"/>
              <a:cs typeface="Arial" panose="020B0604020202020204" pitchFamily="34" charset="0"/>
            </a:endParaRPr>
          </a:p>
          <a:p>
            <a:pPr algn="just"/>
            <a:endParaRPr lang="en-PH" sz="4000" b="1" dirty="0" smtClean="0">
              <a:solidFill>
                <a:srgbClr val="820000"/>
              </a:solidFill>
              <a:latin typeface="Arial" panose="020B0604020202020204" pitchFamily="34" charset="0"/>
              <a:cs typeface="Arial" panose="020B0604020202020204" pitchFamily="34" charset="0"/>
            </a:endParaRPr>
          </a:p>
          <a:p>
            <a:pPr algn="just"/>
            <a:r>
              <a:rPr lang="en-PH" sz="4000" b="1"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3" name="Rectangle 2"/>
          <p:cNvSpPr/>
          <p:nvPr/>
        </p:nvSpPr>
        <p:spPr>
          <a:xfrm>
            <a:off x="523391" y="2588977"/>
            <a:ext cx="8896117" cy="5909310"/>
          </a:xfrm>
          <a:prstGeom prst="rect">
            <a:avLst/>
          </a:prstGeom>
        </p:spPr>
        <p:txBody>
          <a:bodyPr wrap="square">
            <a:spAutoFit/>
          </a:bodyPr>
          <a:lstStyle/>
          <a:p>
            <a:pPr marL="457200" marR="0" indent="-457200" algn="just">
              <a:spcBef>
                <a:spcPts val="0"/>
              </a:spcBef>
              <a:spcAft>
                <a:spcPts val="0"/>
              </a:spcAft>
              <a:buFont typeface="Arial" panose="020B0604020202020204" pitchFamily="34" charset="0"/>
              <a:buChar char="•"/>
            </a:pPr>
            <a:r>
              <a:rPr lang="en-PH" sz="3600" dirty="0">
                <a:solidFill>
                  <a:srgbClr val="820000"/>
                </a:solidFill>
                <a:latin typeface="Arial" panose="020B0604020202020204" pitchFamily="34" charset="0"/>
                <a:ea typeface="Calibri" panose="020F0502020204030204" pitchFamily="34" charset="0"/>
              </a:rPr>
              <a:t>The sample that will be used in this study are crude </a:t>
            </a:r>
            <a:r>
              <a:rPr lang="en-PH" sz="3600" dirty="0" err="1">
                <a:solidFill>
                  <a:srgbClr val="820000"/>
                </a:solidFill>
                <a:latin typeface="Arial" panose="020B0604020202020204" pitchFamily="34" charset="0"/>
                <a:ea typeface="Calibri" panose="020F0502020204030204" pitchFamily="34" charset="0"/>
              </a:rPr>
              <a:t>methanolic</a:t>
            </a:r>
            <a:r>
              <a:rPr lang="en-PH" sz="3600" dirty="0">
                <a:solidFill>
                  <a:srgbClr val="820000"/>
                </a:solidFill>
                <a:latin typeface="Arial" panose="020B0604020202020204" pitchFamily="34" charset="0"/>
                <a:ea typeface="Calibri" panose="020F0502020204030204" pitchFamily="34" charset="0"/>
              </a:rPr>
              <a:t> extracts prepared already from previous </a:t>
            </a:r>
            <a:r>
              <a:rPr lang="en-PH" sz="3600" dirty="0" smtClean="0">
                <a:solidFill>
                  <a:srgbClr val="820000"/>
                </a:solidFill>
                <a:latin typeface="Arial" panose="020B0604020202020204" pitchFamily="34" charset="0"/>
                <a:ea typeface="Calibri" panose="020F0502020204030204" pitchFamily="34" charset="0"/>
              </a:rPr>
              <a:t>researcher </a:t>
            </a:r>
            <a:r>
              <a:rPr lang="en-PH" sz="3600" dirty="0">
                <a:solidFill>
                  <a:srgbClr val="820000"/>
                </a:solidFill>
                <a:latin typeface="Arial" panose="020B0604020202020204" pitchFamily="34" charset="0"/>
                <a:ea typeface="Calibri" panose="020F0502020204030204" pitchFamily="34" charset="0"/>
              </a:rPr>
              <a:t>of this research project under OVCRE of MSU-IIT. The </a:t>
            </a:r>
            <a:r>
              <a:rPr lang="en-PH" sz="3600" i="1" dirty="0" err="1">
                <a:solidFill>
                  <a:srgbClr val="820000"/>
                </a:solidFill>
                <a:latin typeface="Arial" panose="020B0604020202020204" pitchFamily="34" charset="0"/>
                <a:ea typeface="Calibri" panose="020F0502020204030204" pitchFamily="34" charset="0"/>
              </a:rPr>
              <a:t>Cocos</a:t>
            </a:r>
            <a:r>
              <a:rPr lang="en-PH" sz="3600" i="1" dirty="0">
                <a:solidFill>
                  <a:srgbClr val="820000"/>
                </a:solidFill>
                <a:latin typeface="Arial" panose="020B0604020202020204" pitchFamily="34" charset="0"/>
                <a:ea typeface="Calibri" panose="020F0502020204030204" pitchFamily="34" charset="0"/>
              </a:rPr>
              <a:t> </a:t>
            </a:r>
            <a:r>
              <a:rPr lang="en-PH" sz="3600" i="1" dirty="0" err="1">
                <a:solidFill>
                  <a:srgbClr val="820000"/>
                </a:solidFill>
                <a:latin typeface="Arial" panose="020B0604020202020204" pitchFamily="34" charset="0"/>
                <a:ea typeface="Calibri" panose="020F0502020204030204" pitchFamily="34" charset="0"/>
              </a:rPr>
              <a:t>Nucifera</a:t>
            </a:r>
            <a:r>
              <a:rPr lang="en-PH" sz="3600" i="1" dirty="0">
                <a:solidFill>
                  <a:srgbClr val="820000"/>
                </a:solidFill>
                <a:latin typeface="Arial" panose="020B0604020202020204" pitchFamily="34" charset="0"/>
                <a:ea typeface="Calibri" panose="020F0502020204030204" pitchFamily="34" charset="0"/>
              </a:rPr>
              <a:t> </a:t>
            </a:r>
            <a:r>
              <a:rPr lang="en-PH" sz="3600" dirty="0">
                <a:solidFill>
                  <a:srgbClr val="820000"/>
                </a:solidFill>
                <a:latin typeface="Arial" panose="020B0604020202020204" pitchFamily="34" charset="0"/>
                <a:ea typeface="Calibri" panose="020F0502020204030204" pitchFamily="34" charset="0"/>
              </a:rPr>
              <a:t>seeds were obtained from the previous researcher's residence in </a:t>
            </a:r>
            <a:r>
              <a:rPr lang="en-PH" sz="3600" dirty="0" err="1">
                <a:solidFill>
                  <a:srgbClr val="820000"/>
                </a:solidFill>
                <a:latin typeface="Arial" panose="020B0604020202020204" pitchFamily="34" charset="0"/>
                <a:ea typeface="Calibri" panose="020F0502020204030204" pitchFamily="34" charset="0"/>
              </a:rPr>
              <a:t>Katipunan</a:t>
            </a:r>
            <a:r>
              <a:rPr lang="en-PH" sz="3600" dirty="0">
                <a:solidFill>
                  <a:srgbClr val="820000"/>
                </a:solidFill>
                <a:latin typeface="Arial" panose="020B0604020202020204" pitchFamily="34" charset="0"/>
                <a:ea typeface="Calibri" panose="020F0502020204030204" pitchFamily="34" charset="0"/>
              </a:rPr>
              <a:t>, Ramon Magsaysay, </a:t>
            </a:r>
            <a:r>
              <a:rPr lang="en-PH" sz="3600" dirty="0" err="1">
                <a:solidFill>
                  <a:srgbClr val="820000"/>
                </a:solidFill>
                <a:latin typeface="Arial" panose="020B0604020202020204" pitchFamily="34" charset="0"/>
                <a:ea typeface="Calibri" panose="020F0502020204030204" pitchFamily="34" charset="0"/>
              </a:rPr>
              <a:t>Zamboanga</a:t>
            </a:r>
            <a:r>
              <a:rPr lang="en-PH" sz="3600" dirty="0">
                <a:solidFill>
                  <a:srgbClr val="820000"/>
                </a:solidFill>
                <a:latin typeface="Arial" panose="020B0604020202020204" pitchFamily="34" charset="0"/>
                <a:ea typeface="Calibri" panose="020F0502020204030204" pitchFamily="34" charset="0"/>
              </a:rPr>
              <a:t> del Sur, Philippines (8.0495° N, 123.4524° E) (</a:t>
            </a:r>
            <a:r>
              <a:rPr lang="en-PH" sz="3600" b="1" dirty="0">
                <a:solidFill>
                  <a:srgbClr val="820000"/>
                </a:solidFill>
                <a:latin typeface="Arial" panose="020B0604020202020204" pitchFamily="34" charset="0"/>
                <a:ea typeface="Calibri" panose="020F0502020204030204" pitchFamily="34" charset="0"/>
              </a:rPr>
              <a:t>Figure 12</a:t>
            </a:r>
            <a:r>
              <a:rPr lang="en-PH" sz="3600" dirty="0">
                <a:solidFill>
                  <a:srgbClr val="820000"/>
                </a:solidFill>
                <a:latin typeface="Arial" panose="020B0604020202020204" pitchFamily="34" charset="0"/>
                <a:ea typeface="Calibri" panose="020F0502020204030204" pitchFamily="34" charset="0"/>
              </a:rPr>
              <a:t>).</a:t>
            </a:r>
            <a:r>
              <a:rPr lang="en-PH" sz="2000" dirty="0">
                <a:latin typeface="Arial" panose="020B0604020202020204" pitchFamily="34" charset="0"/>
                <a:ea typeface="Calibri" panose="020F0502020204030204" pitchFamily="34" charset="0"/>
              </a:rPr>
              <a:t> </a:t>
            </a:r>
            <a:r>
              <a:rPr lang="en-PH" sz="2000" dirty="0">
                <a:latin typeface="Arial" panose="020B0604020202020204" pitchFamily="34" charset="0"/>
                <a:ea typeface="Calibri" panose="020F0502020204030204" pitchFamily="34" charset="0"/>
                <a:cs typeface="Arial" panose="020B0604020202020204" pitchFamily="34" charset="0"/>
              </a:rPr>
              <a:t>  </a:t>
            </a:r>
            <a:r>
              <a:rPr lang="en-PH" dirty="0">
                <a:latin typeface="Arial" panose="020B0604020202020204" pitchFamily="34" charset="0"/>
                <a:ea typeface="Calibri" panose="020F0502020204030204" pitchFamily="34" charset="0"/>
                <a:cs typeface="Arial" panose="020B0604020202020204" pitchFamily="34" charset="0"/>
              </a:rPr>
              <a:t>	</a:t>
            </a:r>
            <a:endParaRPr lang="en-PH" sz="1200" dirty="0">
              <a:latin typeface="Arial" panose="020B0604020202020204" pitchFamily="34" charset="0"/>
              <a:ea typeface="Calibri" panose="020F0502020204030204" pitchFamily="34" charset="0"/>
              <a:cs typeface="Times New Roman" panose="02020603050405020304" pitchFamily="18" charset="0"/>
            </a:endParaRPr>
          </a:p>
          <a:p>
            <a:pPr marL="285750" marR="0" indent="-285750" algn="just">
              <a:spcBef>
                <a:spcPts val="0"/>
              </a:spcBef>
              <a:spcAft>
                <a:spcPts val="0"/>
              </a:spcAft>
            </a:pPr>
            <a:r>
              <a:rPr lang="en-PH" dirty="0">
                <a:latin typeface="Arial" panose="020B0604020202020204" pitchFamily="34" charset="0"/>
                <a:ea typeface="Calibri" panose="020F0502020204030204" pitchFamily="34" charset="0"/>
                <a:cs typeface="Arial" panose="020B0604020202020204" pitchFamily="34" charset="0"/>
              </a:rPr>
              <a:t> </a:t>
            </a:r>
            <a:endParaRPr lang="en-PH" sz="1200" dirty="0">
              <a:effectLst/>
              <a:latin typeface="Arial" panose="020B0604020202020204" pitchFamily="34" charset="0"/>
              <a:ea typeface="Calibri" panose="020F0502020204030204" pitchFamily="34" charset="0"/>
              <a:cs typeface="Times New Roman" panose="02020603050405020304" pitchFamily="18" charset="0"/>
            </a:endParaRPr>
          </a:p>
        </p:txBody>
      </p:sp>
      <p:pic>
        <p:nvPicPr>
          <p:cNvPr id="26" name="Picture 25" descr="Map&#10;&#10;Description automatically generated"/>
          <p:cNvPicPr/>
          <p:nvPr/>
        </p:nvPicPr>
        <p:blipFill rotWithShape="1">
          <a:blip r:embed="rId5">
            <a:extLst>
              <a:ext uri="{28A0092B-C50C-407E-A947-70E740481C1C}">
                <a14:useLocalDpi xmlns:a14="http://schemas.microsoft.com/office/drawing/2010/main" val="0"/>
              </a:ext>
            </a:extLst>
          </a:blip>
          <a:srcRect b="6000"/>
          <a:stretch/>
        </p:blipFill>
        <p:spPr bwMode="auto">
          <a:xfrm>
            <a:off x="10031153" y="1867812"/>
            <a:ext cx="7597484" cy="6639674"/>
          </a:xfrm>
          <a:prstGeom prst="rect">
            <a:avLst/>
          </a:prstGeom>
          <a:ln>
            <a:noFill/>
          </a:ln>
          <a:extLst>
            <a:ext uri="{53640926-AAD7-44D8-BBD7-CCE9431645EC}">
              <a14:shadowObscured xmlns:a14="http://schemas.microsoft.com/office/drawing/2010/main"/>
            </a:ext>
          </a:extLst>
        </p:spPr>
      </p:pic>
      <p:sp>
        <p:nvSpPr>
          <p:cNvPr id="5" name="Rectangle 4"/>
          <p:cNvSpPr/>
          <p:nvPr/>
        </p:nvSpPr>
        <p:spPr>
          <a:xfrm>
            <a:off x="9822016" y="8497927"/>
            <a:ext cx="8037137" cy="954107"/>
          </a:xfrm>
          <a:prstGeom prst="rect">
            <a:avLst/>
          </a:prstGeom>
        </p:spPr>
        <p:txBody>
          <a:bodyPr wrap="none">
            <a:spAutoFit/>
          </a:bodyPr>
          <a:lstStyle/>
          <a:p>
            <a:pPr marL="91440" marR="0" algn="ctr">
              <a:lnSpc>
                <a:spcPct val="200000"/>
              </a:lnSpc>
              <a:spcBef>
                <a:spcPts val="0"/>
              </a:spcBef>
              <a:spcAft>
                <a:spcPts val="0"/>
              </a:spcAft>
            </a:pPr>
            <a:r>
              <a:rPr lang="en-PH" sz="2800" b="1" dirty="0">
                <a:latin typeface="Arial" panose="020B0604020202020204" pitchFamily="34" charset="0"/>
                <a:ea typeface="Calibri" panose="020F0502020204030204" pitchFamily="34" charset="0"/>
                <a:cs typeface="Arial" panose="020B0604020202020204" pitchFamily="34" charset="0"/>
              </a:rPr>
              <a:t>Figure 12. </a:t>
            </a:r>
            <a:r>
              <a:rPr lang="en-PH" sz="2800" dirty="0">
                <a:latin typeface="Arial" panose="020B0604020202020204" pitchFamily="34" charset="0"/>
                <a:ea typeface="Calibri" panose="020F0502020204030204" pitchFamily="34" charset="0"/>
                <a:cs typeface="Arial" panose="020B0604020202020204" pitchFamily="34" charset="0"/>
              </a:rPr>
              <a:t>Map of the sample collection location</a:t>
            </a:r>
            <a:r>
              <a:rPr lang="en-PH" dirty="0">
                <a:latin typeface="Arial" panose="020B0604020202020204" pitchFamily="34" charset="0"/>
                <a:ea typeface="Calibri" panose="020F0502020204030204" pitchFamily="34" charset="0"/>
                <a:cs typeface="Arial" panose="020B0604020202020204" pitchFamily="34" charset="0"/>
              </a:rPr>
              <a:t>.</a:t>
            </a:r>
            <a:endParaRPr lang="en-PH" dirty="0">
              <a:effectLst/>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0189783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Box 13"/>
          <p:cNvSpPr txBox="1"/>
          <p:nvPr/>
        </p:nvSpPr>
        <p:spPr>
          <a:xfrm>
            <a:off x="1671387" y="1531257"/>
            <a:ext cx="2203151" cy="2306426"/>
          </a:xfrm>
          <a:prstGeom prst="rect">
            <a:avLst/>
          </a:prstGeom>
        </p:spPr>
        <p:txBody>
          <a:bodyPr lIns="50800" tIns="50800" rIns="50800" bIns="50800" rtlCol="0" anchor="ctr"/>
          <a:lstStyle/>
          <a:p>
            <a:pPr algn="ctr">
              <a:lnSpc>
                <a:spcPts val="2659"/>
              </a:lnSpc>
              <a:spcBef>
                <a:spcPct val="0"/>
              </a:spcBef>
            </a:pPr>
            <a:endParaRPr/>
          </a:p>
        </p:txBody>
      </p:sp>
      <p:pic>
        <p:nvPicPr>
          <p:cNvPr id="18" name="Picture 17"/>
          <p:cNvPicPr>
            <a:picLocks noChangeAspect="1"/>
          </p:cNvPicPr>
          <p:nvPr/>
        </p:nvPicPr>
        <p:blipFill>
          <a:blip r:embed="rId2"/>
          <a:stretch>
            <a:fillRect/>
          </a:stretch>
        </p:blipFill>
        <p:spPr>
          <a:xfrm>
            <a:off x="76200" y="9266338"/>
            <a:ext cx="2327677" cy="1020662"/>
          </a:xfrm>
          <a:prstGeom prst="rect">
            <a:avLst/>
          </a:prstGeom>
        </p:spPr>
      </p:pic>
      <p:pic>
        <p:nvPicPr>
          <p:cNvPr id="19" name="Picture 18"/>
          <p:cNvPicPr>
            <a:picLocks noChangeAspect="1"/>
          </p:cNvPicPr>
          <p:nvPr/>
        </p:nvPicPr>
        <p:blipFill>
          <a:blip r:embed="rId3"/>
          <a:stretch>
            <a:fillRect/>
          </a:stretch>
        </p:blipFill>
        <p:spPr>
          <a:xfrm rot="10800000">
            <a:off x="-30480" y="1294489"/>
            <a:ext cx="18288000" cy="267610"/>
          </a:xfrm>
          <a:prstGeom prst="rect">
            <a:avLst/>
          </a:prstGeom>
        </p:spPr>
      </p:pic>
      <p:sp>
        <p:nvSpPr>
          <p:cNvPr id="21" name="Round Single Corner Rectangle 20"/>
          <p:cNvSpPr/>
          <p:nvPr/>
        </p:nvSpPr>
        <p:spPr>
          <a:xfrm>
            <a:off x="5494020" y="160397"/>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5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Methodology      </a:t>
            </a:r>
            <a:r>
              <a:rPr lang="en-PH" sz="6000" b="1" u="sng" dirty="0" smtClean="0">
                <a:solidFill>
                  <a:srgbClr val="820000"/>
                </a:solidFill>
                <a:latin typeface="Arial" panose="020B0604020202020204" pitchFamily="34" charset="0"/>
                <a:cs typeface="Arial" panose="020B0604020202020204" pitchFamily="34" charset="0"/>
              </a:rPr>
              <a:t> </a:t>
            </a:r>
          </a:p>
        </p:txBody>
      </p:sp>
      <p:pic>
        <p:nvPicPr>
          <p:cNvPr id="20" name="Picture 19"/>
          <p:cNvPicPr>
            <a:picLocks noChangeAspect="1"/>
          </p:cNvPicPr>
          <p:nvPr/>
        </p:nvPicPr>
        <p:blipFill>
          <a:blip r:embed="rId3"/>
          <a:stretch>
            <a:fillRect/>
          </a:stretch>
        </p:blipFill>
        <p:spPr>
          <a:xfrm>
            <a:off x="0" y="0"/>
            <a:ext cx="18288000" cy="267611"/>
          </a:xfrm>
          <a:prstGeom prst="rect">
            <a:avLst/>
          </a:prstGeom>
        </p:spPr>
      </p:pic>
      <p:sp>
        <p:nvSpPr>
          <p:cNvPr id="4" name="Parallelogram 3"/>
          <p:cNvSpPr/>
          <p:nvPr/>
        </p:nvSpPr>
        <p:spPr>
          <a:xfrm>
            <a:off x="2388637" y="9936689"/>
            <a:ext cx="9727163" cy="236011"/>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2" name="Parallelogram 21"/>
          <p:cNvSpPr/>
          <p:nvPr/>
        </p:nvSpPr>
        <p:spPr>
          <a:xfrm>
            <a:off x="12192000" y="9944100"/>
            <a:ext cx="1421363" cy="228600"/>
          </a:xfrm>
          <a:prstGeom prst="parallelogram">
            <a:avLst/>
          </a:prstGeom>
          <a:solidFill>
            <a:srgbClr val="FFC000"/>
          </a:solidFill>
          <a:ln>
            <a:solidFill>
              <a:srgbClr val="FFC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3" name="Parallelogram 22"/>
          <p:cNvSpPr/>
          <p:nvPr/>
        </p:nvSpPr>
        <p:spPr>
          <a:xfrm>
            <a:off x="13689563" y="9944100"/>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24" name="Picture 23"/>
          <p:cNvPicPr>
            <a:picLocks noChangeAspect="1"/>
          </p:cNvPicPr>
          <p:nvPr/>
        </p:nvPicPr>
        <p:blipFill>
          <a:blip r:embed="rId3"/>
          <a:stretch>
            <a:fillRect/>
          </a:stretch>
        </p:blipFill>
        <p:spPr>
          <a:xfrm rot="10800000" flipV="1">
            <a:off x="2403877" y="9668509"/>
            <a:ext cx="15899363" cy="232657"/>
          </a:xfrm>
          <a:prstGeom prst="rect">
            <a:avLst/>
          </a:prstGeom>
        </p:spPr>
      </p:pic>
      <p:pic>
        <p:nvPicPr>
          <p:cNvPr id="6" name="Picture 5"/>
          <p:cNvPicPr>
            <a:picLocks noChangeAspect="1"/>
          </p:cNvPicPr>
          <p:nvPr/>
        </p:nvPicPr>
        <p:blipFill>
          <a:blip r:embed="rId4"/>
          <a:stretch>
            <a:fillRect/>
          </a:stretch>
        </p:blipFill>
        <p:spPr>
          <a:xfrm>
            <a:off x="15030450" y="488370"/>
            <a:ext cx="3257550" cy="523875"/>
          </a:xfrm>
          <a:prstGeom prst="rect">
            <a:avLst/>
          </a:prstGeom>
        </p:spPr>
      </p:pic>
      <p:sp>
        <p:nvSpPr>
          <p:cNvPr id="25" name="Parallelogram 24"/>
          <p:cNvSpPr/>
          <p:nvPr/>
        </p:nvSpPr>
        <p:spPr>
          <a:xfrm>
            <a:off x="13030200" y="760176"/>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13" name="Picture 12"/>
          <p:cNvPicPr>
            <a:picLocks noChangeAspect="1"/>
          </p:cNvPicPr>
          <p:nvPr/>
        </p:nvPicPr>
        <p:blipFill>
          <a:blip r:embed="rId4"/>
          <a:stretch>
            <a:fillRect/>
          </a:stretch>
        </p:blipFill>
        <p:spPr>
          <a:xfrm rot="10800000">
            <a:off x="0" y="612538"/>
            <a:ext cx="3257550" cy="523875"/>
          </a:xfrm>
          <a:prstGeom prst="rect">
            <a:avLst/>
          </a:prstGeom>
        </p:spPr>
      </p:pic>
      <p:sp>
        <p:nvSpPr>
          <p:cNvPr id="14" name="Parallelogram 13"/>
          <p:cNvSpPr/>
          <p:nvPr/>
        </p:nvSpPr>
        <p:spPr>
          <a:xfrm>
            <a:off x="659363" y="577015"/>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9" name="Rectangle 28"/>
          <p:cNvSpPr/>
          <p:nvPr/>
        </p:nvSpPr>
        <p:spPr>
          <a:xfrm>
            <a:off x="1454530" y="2319935"/>
            <a:ext cx="15929956" cy="1938992"/>
          </a:xfrm>
          <a:prstGeom prst="rect">
            <a:avLst/>
          </a:prstGeom>
        </p:spPr>
        <p:txBody>
          <a:bodyPr wrap="square">
            <a:spAutoFit/>
          </a:bodyPr>
          <a:lstStyle/>
          <a:p>
            <a:pPr marL="0" lvl="2" algn="just"/>
            <a:endParaRPr lang="en-PH" sz="2800" dirty="0" smtClean="0"/>
          </a:p>
          <a:p>
            <a:pPr marL="457200" lvl="2" indent="-457200" algn="just">
              <a:buFont typeface="Wingdings" panose="05000000000000000000" pitchFamily="2" charset="2"/>
              <a:buChar char="Ø"/>
            </a:pPr>
            <a:endParaRPr lang="en-PH" sz="2800" dirty="0" smtClean="0"/>
          </a:p>
          <a:p>
            <a:pPr marL="285750" lvl="2" indent="-285750" algn="just">
              <a:buFont typeface="Arial" panose="020B0604020202020204" pitchFamily="34" charset="0"/>
              <a:buChar char="•"/>
            </a:pPr>
            <a:endParaRPr lang="en-PH" sz="3200" dirty="0"/>
          </a:p>
          <a:p>
            <a:pPr marL="285750" indent="-285750" algn="just">
              <a:buFont typeface="Arial" panose="020B0604020202020204" pitchFamily="34" charset="0"/>
              <a:buChar char="•"/>
            </a:pPr>
            <a:endParaRPr lang="en-PH" sz="3200" dirty="0">
              <a:solidFill>
                <a:srgbClr val="005C2A"/>
              </a:solidFill>
              <a:latin typeface="Arial" panose="020B0604020202020204" pitchFamily="34" charset="0"/>
              <a:cs typeface="Arial" panose="020B0604020202020204" pitchFamily="34" charset="0"/>
            </a:endParaRPr>
          </a:p>
        </p:txBody>
      </p:sp>
      <p:sp>
        <p:nvSpPr>
          <p:cNvPr id="27" name="Rectangle 26"/>
          <p:cNvSpPr/>
          <p:nvPr/>
        </p:nvSpPr>
        <p:spPr>
          <a:xfrm>
            <a:off x="-60960" y="1734345"/>
            <a:ext cx="11486917" cy="2831544"/>
          </a:xfrm>
          <a:prstGeom prst="rect">
            <a:avLst/>
          </a:prstGeom>
        </p:spPr>
        <p:txBody>
          <a:bodyPr wrap="square">
            <a:spAutoFit/>
          </a:bodyPr>
          <a:lstStyle/>
          <a:p>
            <a:pPr algn="just"/>
            <a:r>
              <a:rPr lang="en-PH" sz="4000" dirty="0">
                <a:solidFill>
                  <a:srgbClr val="820000"/>
                </a:solidFill>
                <a:latin typeface="Arial" panose="020B0604020202020204" pitchFamily="34" charset="0"/>
                <a:cs typeface="Arial" panose="020B0604020202020204" pitchFamily="34" charset="0"/>
              </a:rPr>
              <a:t> </a:t>
            </a:r>
            <a:r>
              <a:rPr lang="en-PH" sz="4000" dirty="0" smtClean="0">
                <a:solidFill>
                  <a:srgbClr val="820000"/>
                </a:solidFill>
                <a:latin typeface="Arial" panose="020B0604020202020204" pitchFamily="34" charset="0"/>
                <a:cs typeface="Arial" panose="020B0604020202020204" pitchFamily="34" charset="0"/>
              </a:rPr>
              <a:t>  </a:t>
            </a:r>
            <a:r>
              <a:rPr lang="en-PH" sz="4000" dirty="0">
                <a:solidFill>
                  <a:srgbClr val="820000"/>
                </a:solidFill>
                <a:latin typeface="Arial" panose="020B0604020202020204" pitchFamily="34" charset="0"/>
                <a:cs typeface="Arial" panose="020B0604020202020204" pitchFamily="34" charset="0"/>
              </a:rPr>
              <a:t> </a:t>
            </a:r>
            <a:r>
              <a:rPr lang="en-PH" sz="4000" dirty="0" smtClean="0">
                <a:solidFill>
                  <a:srgbClr val="820000"/>
                </a:solidFill>
                <a:latin typeface="Arial" panose="020B0604020202020204" pitchFamily="34" charset="0"/>
                <a:cs typeface="Arial" panose="020B0604020202020204" pitchFamily="34" charset="0"/>
              </a:rPr>
              <a:t>3.3  </a:t>
            </a:r>
            <a:r>
              <a:rPr lang="en-PH" sz="4000" b="1" dirty="0" smtClean="0">
                <a:solidFill>
                  <a:srgbClr val="820000"/>
                </a:solidFill>
                <a:latin typeface="Arial" panose="020B0604020202020204" pitchFamily="34" charset="0"/>
                <a:cs typeface="Arial" panose="020B0604020202020204" pitchFamily="34" charset="0"/>
              </a:rPr>
              <a:t>Chemicals and Materials</a:t>
            </a:r>
          </a:p>
          <a:p>
            <a:pPr marL="0" lvl="2" algn="just"/>
            <a:endParaRPr lang="en-PH" b="1" dirty="0"/>
          </a:p>
          <a:p>
            <a:pPr algn="just"/>
            <a:r>
              <a:rPr lang="en-PH" sz="4000" dirty="0" smtClean="0"/>
              <a:t> </a:t>
            </a:r>
            <a:endParaRPr lang="en-PH" sz="4000" b="1" dirty="0">
              <a:solidFill>
                <a:srgbClr val="820000"/>
              </a:solidFill>
              <a:latin typeface="Arial" panose="020B0604020202020204" pitchFamily="34" charset="0"/>
              <a:cs typeface="Arial" panose="020B0604020202020204" pitchFamily="34" charset="0"/>
            </a:endParaRPr>
          </a:p>
          <a:p>
            <a:pPr algn="just"/>
            <a:endParaRPr lang="en-PH" sz="4000" b="1" dirty="0" smtClean="0">
              <a:solidFill>
                <a:srgbClr val="820000"/>
              </a:solidFill>
              <a:latin typeface="Arial" panose="020B0604020202020204" pitchFamily="34" charset="0"/>
              <a:cs typeface="Arial" panose="020B0604020202020204" pitchFamily="34" charset="0"/>
            </a:endParaRPr>
          </a:p>
          <a:p>
            <a:pPr algn="just"/>
            <a:r>
              <a:rPr lang="en-PH" sz="4000" b="1"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28" name="Rectangle 27"/>
          <p:cNvSpPr/>
          <p:nvPr/>
        </p:nvSpPr>
        <p:spPr>
          <a:xfrm>
            <a:off x="934927" y="2570302"/>
            <a:ext cx="17704837" cy="2708434"/>
          </a:xfrm>
          <a:prstGeom prst="rect">
            <a:avLst/>
          </a:prstGeom>
        </p:spPr>
        <p:txBody>
          <a:bodyPr wrap="square">
            <a:spAutoFit/>
          </a:bodyPr>
          <a:lstStyle/>
          <a:p>
            <a:pPr marL="457200" indent="-457200" algn="just">
              <a:buFont typeface="Arial" panose="020B0604020202020204" pitchFamily="34" charset="0"/>
              <a:buChar char="•"/>
            </a:pPr>
            <a:r>
              <a:rPr lang="en-PH" sz="3200" dirty="0">
                <a:solidFill>
                  <a:srgbClr val="820000"/>
                </a:solidFill>
                <a:latin typeface="Arial" panose="020B0604020202020204" pitchFamily="34" charset="0"/>
                <a:cs typeface="Arial" panose="020B0604020202020204" pitchFamily="34" charset="0"/>
              </a:rPr>
              <a:t> </a:t>
            </a:r>
            <a:r>
              <a:rPr lang="en-PH" sz="3200" dirty="0" smtClean="0">
                <a:solidFill>
                  <a:srgbClr val="820000"/>
                </a:solidFill>
                <a:latin typeface="Arial" panose="020B0604020202020204" pitchFamily="34" charset="0"/>
                <a:cs typeface="Arial" panose="020B0604020202020204" pitchFamily="34" charset="0"/>
              </a:rPr>
              <a:t>  </a:t>
            </a:r>
            <a:r>
              <a:rPr lang="en-PH" sz="3200" dirty="0">
                <a:solidFill>
                  <a:srgbClr val="820000"/>
                </a:solidFill>
                <a:latin typeface="Arial" panose="020B0604020202020204" pitchFamily="34" charset="0"/>
                <a:cs typeface="Arial" panose="020B0604020202020204" pitchFamily="34" charset="0"/>
              </a:rPr>
              <a:t> </a:t>
            </a:r>
            <a:r>
              <a:rPr lang="en-PH" sz="3200" dirty="0" smtClean="0">
                <a:solidFill>
                  <a:srgbClr val="820000"/>
                </a:solidFill>
                <a:latin typeface="Arial" panose="020B0604020202020204" pitchFamily="34" charset="0"/>
                <a:cs typeface="Arial" panose="020B0604020202020204" pitchFamily="34" charset="0"/>
              </a:rPr>
              <a:t>In preparing the coconut samples, the following chemicals will be uses:</a:t>
            </a:r>
          </a:p>
          <a:p>
            <a:pPr marL="0" lvl="2" algn="just"/>
            <a:endParaRPr lang="en-PH" b="1" dirty="0"/>
          </a:p>
          <a:p>
            <a:pPr algn="just"/>
            <a:r>
              <a:rPr lang="en-PH" sz="4000" dirty="0" smtClean="0"/>
              <a:t> </a:t>
            </a:r>
            <a:endParaRPr lang="en-PH" sz="4000" b="1" dirty="0">
              <a:solidFill>
                <a:srgbClr val="820000"/>
              </a:solidFill>
              <a:latin typeface="Arial" panose="020B0604020202020204" pitchFamily="34" charset="0"/>
              <a:cs typeface="Arial" panose="020B0604020202020204" pitchFamily="34" charset="0"/>
            </a:endParaRPr>
          </a:p>
          <a:p>
            <a:pPr algn="just"/>
            <a:endParaRPr lang="en-PH" sz="4000" b="1" dirty="0" smtClean="0">
              <a:solidFill>
                <a:srgbClr val="820000"/>
              </a:solidFill>
              <a:latin typeface="Arial" panose="020B0604020202020204" pitchFamily="34" charset="0"/>
              <a:cs typeface="Arial" panose="020B0604020202020204" pitchFamily="34" charset="0"/>
            </a:endParaRPr>
          </a:p>
          <a:p>
            <a:pPr algn="just"/>
            <a:r>
              <a:rPr lang="en-PH" sz="4000" b="1"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cxnSp>
        <p:nvCxnSpPr>
          <p:cNvPr id="9" name="Straight Connector 8"/>
          <p:cNvCxnSpPr/>
          <p:nvPr/>
        </p:nvCxnSpPr>
        <p:spPr>
          <a:xfrm>
            <a:off x="2590800" y="3619500"/>
            <a:ext cx="0" cy="5029200"/>
          </a:xfrm>
          <a:prstGeom prst="line">
            <a:avLst/>
          </a:prstGeom>
          <a:ln w="38100">
            <a:solidFill>
              <a:srgbClr val="82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2590800" y="3619500"/>
            <a:ext cx="838200" cy="0"/>
          </a:xfrm>
          <a:prstGeom prst="line">
            <a:avLst/>
          </a:prstGeom>
          <a:ln w="38100">
            <a:solidFill>
              <a:srgbClr val="820000"/>
            </a:solidFill>
          </a:ln>
        </p:spPr>
        <p:style>
          <a:lnRef idx="1">
            <a:schemeClr val="accent1"/>
          </a:lnRef>
          <a:fillRef idx="0">
            <a:schemeClr val="accent1"/>
          </a:fillRef>
          <a:effectRef idx="0">
            <a:schemeClr val="accent1"/>
          </a:effectRef>
          <a:fontRef idx="minor">
            <a:schemeClr val="tx1"/>
          </a:fontRef>
        </p:style>
      </p:cxnSp>
      <p:sp>
        <p:nvSpPr>
          <p:cNvPr id="30" name="Rectangle 29"/>
          <p:cNvSpPr/>
          <p:nvPr/>
        </p:nvSpPr>
        <p:spPr>
          <a:xfrm>
            <a:off x="3288030" y="3301742"/>
            <a:ext cx="17704837" cy="2708434"/>
          </a:xfrm>
          <a:prstGeom prst="rect">
            <a:avLst/>
          </a:prstGeom>
        </p:spPr>
        <p:txBody>
          <a:bodyPr wrap="square">
            <a:spAutoFit/>
          </a:bodyPr>
          <a:lstStyle/>
          <a:p>
            <a:pPr algn="just"/>
            <a:r>
              <a:rPr lang="en-PH" sz="3200" dirty="0" smtClean="0">
                <a:solidFill>
                  <a:srgbClr val="820000"/>
                </a:solidFill>
                <a:latin typeface="Arial" panose="020B0604020202020204" pitchFamily="34" charset="0"/>
                <a:cs typeface="Arial" panose="020B0604020202020204" pitchFamily="34" charset="0"/>
              </a:rPr>
              <a:t> Isopropanol</a:t>
            </a:r>
          </a:p>
          <a:p>
            <a:pPr marL="0" lvl="2" algn="just"/>
            <a:endParaRPr lang="en-PH" b="1" dirty="0"/>
          </a:p>
          <a:p>
            <a:pPr algn="just"/>
            <a:r>
              <a:rPr lang="en-PH" sz="4000" dirty="0" smtClean="0"/>
              <a:t> </a:t>
            </a:r>
            <a:endParaRPr lang="en-PH" sz="4000" b="1" dirty="0">
              <a:solidFill>
                <a:srgbClr val="820000"/>
              </a:solidFill>
              <a:latin typeface="Arial" panose="020B0604020202020204" pitchFamily="34" charset="0"/>
              <a:cs typeface="Arial" panose="020B0604020202020204" pitchFamily="34" charset="0"/>
            </a:endParaRPr>
          </a:p>
          <a:p>
            <a:pPr algn="just"/>
            <a:endParaRPr lang="en-PH" sz="4000" b="1" dirty="0" smtClean="0">
              <a:solidFill>
                <a:srgbClr val="820000"/>
              </a:solidFill>
              <a:latin typeface="Arial" panose="020B0604020202020204" pitchFamily="34" charset="0"/>
              <a:cs typeface="Arial" panose="020B0604020202020204" pitchFamily="34" charset="0"/>
            </a:endParaRPr>
          </a:p>
          <a:p>
            <a:pPr algn="just"/>
            <a:r>
              <a:rPr lang="en-PH" sz="4000" b="1"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cxnSp>
        <p:nvCxnSpPr>
          <p:cNvPr id="31" name="Straight Connector 30"/>
          <p:cNvCxnSpPr/>
          <p:nvPr/>
        </p:nvCxnSpPr>
        <p:spPr>
          <a:xfrm>
            <a:off x="2590800" y="4258927"/>
            <a:ext cx="838200" cy="0"/>
          </a:xfrm>
          <a:prstGeom prst="line">
            <a:avLst/>
          </a:prstGeom>
          <a:ln w="38100">
            <a:solidFill>
              <a:srgbClr val="82000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2590800" y="4824175"/>
            <a:ext cx="838200" cy="0"/>
          </a:xfrm>
          <a:prstGeom prst="line">
            <a:avLst/>
          </a:prstGeom>
          <a:ln w="38100">
            <a:solidFill>
              <a:srgbClr val="82000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2590800" y="5499716"/>
            <a:ext cx="838200" cy="0"/>
          </a:xfrm>
          <a:prstGeom prst="line">
            <a:avLst/>
          </a:prstGeom>
          <a:ln w="38100">
            <a:solidFill>
              <a:srgbClr val="82000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2590800" y="6086456"/>
            <a:ext cx="838200" cy="0"/>
          </a:xfrm>
          <a:prstGeom prst="line">
            <a:avLst/>
          </a:prstGeom>
          <a:ln w="38100">
            <a:solidFill>
              <a:srgbClr val="820000"/>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2590800" y="6667500"/>
            <a:ext cx="838200" cy="0"/>
          </a:xfrm>
          <a:prstGeom prst="line">
            <a:avLst/>
          </a:prstGeom>
          <a:ln w="38100">
            <a:solidFill>
              <a:srgbClr val="820000"/>
            </a:solidFill>
          </a:ln>
        </p:spPr>
        <p:style>
          <a:lnRef idx="1">
            <a:schemeClr val="accent1"/>
          </a:lnRef>
          <a:fillRef idx="0">
            <a:schemeClr val="accent1"/>
          </a:fillRef>
          <a:effectRef idx="0">
            <a:schemeClr val="accent1"/>
          </a:effectRef>
          <a:fontRef idx="minor">
            <a:schemeClr val="tx1"/>
          </a:fontRef>
        </p:style>
      </p:cxnSp>
      <p:sp>
        <p:nvSpPr>
          <p:cNvPr id="37" name="Rectangle 36"/>
          <p:cNvSpPr/>
          <p:nvPr/>
        </p:nvSpPr>
        <p:spPr>
          <a:xfrm>
            <a:off x="3288030" y="3911759"/>
            <a:ext cx="17704837" cy="2708434"/>
          </a:xfrm>
          <a:prstGeom prst="rect">
            <a:avLst/>
          </a:prstGeom>
        </p:spPr>
        <p:txBody>
          <a:bodyPr wrap="square">
            <a:spAutoFit/>
          </a:bodyPr>
          <a:lstStyle/>
          <a:p>
            <a:pPr algn="just"/>
            <a:r>
              <a:rPr lang="en-PH" sz="3200" dirty="0" smtClean="0">
                <a:solidFill>
                  <a:srgbClr val="820000"/>
                </a:solidFill>
                <a:latin typeface="Arial" panose="020B0604020202020204" pitchFamily="34" charset="0"/>
                <a:cs typeface="Arial" panose="020B0604020202020204" pitchFamily="34" charset="0"/>
              </a:rPr>
              <a:t> Chloroform</a:t>
            </a:r>
          </a:p>
          <a:p>
            <a:pPr marL="0" lvl="2" algn="just"/>
            <a:endParaRPr lang="en-PH" b="1" dirty="0"/>
          </a:p>
          <a:p>
            <a:pPr algn="just"/>
            <a:r>
              <a:rPr lang="en-PH" sz="4000" dirty="0" smtClean="0"/>
              <a:t> </a:t>
            </a:r>
            <a:endParaRPr lang="en-PH" sz="4000" b="1" dirty="0">
              <a:solidFill>
                <a:srgbClr val="820000"/>
              </a:solidFill>
              <a:latin typeface="Arial" panose="020B0604020202020204" pitchFamily="34" charset="0"/>
              <a:cs typeface="Arial" panose="020B0604020202020204" pitchFamily="34" charset="0"/>
            </a:endParaRPr>
          </a:p>
          <a:p>
            <a:pPr algn="just"/>
            <a:endParaRPr lang="en-PH" sz="4000" b="1" dirty="0" smtClean="0">
              <a:solidFill>
                <a:srgbClr val="820000"/>
              </a:solidFill>
              <a:latin typeface="Arial" panose="020B0604020202020204" pitchFamily="34" charset="0"/>
              <a:cs typeface="Arial" panose="020B0604020202020204" pitchFamily="34" charset="0"/>
            </a:endParaRPr>
          </a:p>
          <a:p>
            <a:pPr algn="just"/>
            <a:r>
              <a:rPr lang="en-PH" sz="4000" b="1"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38" name="Rectangle 37"/>
          <p:cNvSpPr/>
          <p:nvPr/>
        </p:nvSpPr>
        <p:spPr>
          <a:xfrm>
            <a:off x="3251718" y="4491914"/>
            <a:ext cx="17704837" cy="2708434"/>
          </a:xfrm>
          <a:prstGeom prst="rect">
            <a:avLst/>
          </a:prstGeom>
        </p:spPr>
        <p:txBody>
          <a:bodyPr wrap="square">
            <a:spAutoFit/>
          </a:bodyPr>
          <a:lstStyle/>
          <a:p>
            <a:pPr algn="just"/>
            <a:r>
              <a:rPr lang="en-PH" sz="3200" dirty="0" smtClean="0">
                <a:solidFill>
                  <a:srgbClr val="820000"/>
                </a:solidFill>
                <a:latin typeface="Arial" panose="020B0604020202020204" pitchFamily="34" charset="0"/>
                <a:cs typeface="Arial" panose="020B0604020202020204" pitchFamily="34" charset="0"/>
              </a:rPr>
              <a:t> Methanol</a:t>
            </a:r>
          </a:p>
          <a:p>
            <a:pPr marL="0" lvl="2" algn="just"/>
            <a:endParaRPr lang="en-PH" b="1" dirty="0"/>
          </a:p>
          <a:p>
            <a:pPr algn="just"/>
            <a:r>
              <a:rPr lang="en-PH" sz="4000" dirty="0" smtClean="0"/>
              <a:t> </a:t>
            </a:r>
            <a:endParaRPr lang="en-PH" sz="4000" b="1" dirty="0">
              <a:solidFill>
                <a:srgbClr val="820000"/>
              </a:solidFill>
              <a:latin typeface="Arial" panose="020B0604020202020204" pitchFamily="34" charset="0"/>
              <a:cs typeface="Arial" panose="020B0604020202020204" pitchFamily="34" charset="0"/>
            </a:endParaRPr>
          </a:p>
          <a:p>
            <a:pPr algn="just"/>
            <a:endParaRPr lang="en-PH" sz="4000" b="1" dirty="0" smtClean="0">
              <a:solidFill>
                <a:srgbClr val="820000"/>
              </a:solidFill>
              <a:latin typeface="Arial" panose="020B0604020202020204" pitchFamily="34" charset="0"/>
              <a:cs typeface="Arial" panose="020B0604020202020204" pitchFamily="34" charset="0"/>
            </a:endParaRPr>
          </a:p>
          <a:p>
            <a:pPr algn="just"/>
            <a:r>
              <a:rPr lang="en-PH" sz="4000" b="1"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39" name="Rectangle 38"/>
          <p:cNvSpPr/>
          <p:nvPr/>
        </p:nvSpPr>
        <p:spPr>
          <a:xfrm>
            <a:off x="3269874" y="5193684"/>
            <a:ext cx="17704837" cy="2708434"/>
          </a:xfrm>
          <a:prstGeom prst="rect">
            <a:avLst/>
          </a:prstGeom>
        </p:spPr>
        <p:txBody>
          <a:bodyPr wrap="square">
            <a:spAutoFit/>
          </a:bodyPr>
          <a:lstStyle/>
          <a:p>
            <a:pPr algn="just"/>
            <a:r>
              <a:rPr lang="en-PH" sz="3200" dirty="0" smtClean="0">
                <a:solidFill>
                  <a:srgbClr val="820000"/>
                </a:solidFill>
                <a:latin typeface="Arial" panose="020B0604020202020204" pitchFamily="34" charset="0"/>
                <a:cs typeface="Arial" panose="020B0604020202020204" pitchFamily="34" charset="0"/>
              </a:rPr>
              <a:t> </a:t>
            </a:r>
            <a:r>
              <a:rPr lang="en-PH" sz="3200" dirty="0" err="1" smtClean="0">
                <a:solidFill>
                  <a:srgbClr val="820000"/>
                </a:solidFill>
                <a:latin typeface="Arial" panose="020B0604020202020204" pitchFamily="34" charset="0"/>
                <a:cs typeface="Arial" panose="020B0604020202020204" pitchFamily="34" charset="0"/>
              </a:rPr>
              <a:t>Butylated</a:t>
            </a:r>
            <a:r>
              <a:rPr lang="en-PH" sz="3200" dirty="0" smtClean="0">
                <a:solidFill>
                  <a:srgbClr val="820000"/>
                </a:solidFill>
                <a:latin typeface="Arial" panose="020B0604020202020204" pitchFamily="34" charset="0"/>
                <a:cs typeface="Arial" panose="020B0604020202020204" pitchFamily="34" charset="0"/>
              </a:rPr>
              <a:t> </a:t>
            </a:r>
            <a:r>
              <a:rPr lang="en-PH" sz="3200" dirty="0" err="1" smtClean="0">
                <a:solidFill>
                  <a:srgbClr val="820000"/>
                </a:solidFill>
                <a:latin typeface="Arial" panose="020B0604020202020204" pitchFamily="34" charset="0"/>
                <a:cs typeface="Arial" panose="020B0604020202020204" pitchFamily="34" charset="0"/>
              </a:rPr>
              <a:t>hydroxytoluene</a:t>
            </a:r>
            <a:r>
              <a:rPr lang="en-PH" sz="3200" dirty="0" smtClean="0">
                <a:solidFill>
                  <a:srgbClr val="820000"/>
                </a:solidFill>
                <a:latin typeface="Arial" panose="020B0604020202020204" pitchFamily="34" charset="0"/>
                <a:cs typeface="Arial" panose="020B0604020202020204" pitchFamily="34" charset="0"/>
              </a:rPr>
              <a:t> (BHT)</a:t>
            </a:r>
          </a:p>
          <a:p>
            <a:pPr marL="0" lvl="2" algn="just"/>
            <a:endParaRPr lang="en-PH" b="1" dirty="0"/>
          </a:p>
          <a:p>
            <a:pPr algn="just"/>
            <a:r>
              <a:rPr lang="en-PH" sz="4000" dirty="0" smtClean="0"/>
              <a:t> </a:t>
            </a:r>
            <a:endParaRPr lang="en-PH" sz="4000" b="1" dirty="0">
              <a:solidFill>
                <a:srgbClr val="820000"/>
              </a:solidFill>
              <a:latin typeface="Arial" panose="020B0604020202020204" pitchFamily="34" charset="0"/>
              <a:cs typeface="Arial" panose="020B0604020202020204" pitchFamily="34" charset="0"/>
            </a:endParaRPr>
          </a:p>
          <a:p>
            <a:pPr algn="just"/>
            <a:endParaRPr lang="en-PH" sz="4000" b="1" dirty="0" smtClean="0">
              <a:solidFill>
                <a:srgbClr val="820000"/>
              </a:solidFill>
              <a:latin typeface="Arial" panose="020B0604020202020204" pitchFamily="34" charset="0"/>
              <a:cs typeface="Arial" panose="020B0604020202020204" pitchFamily="34" charset="0"/>
            </a:endParaRPr>
          </a:p>
          <a:p>
            <a:pPr algn="just"/>
            <a:r>
              <a:rPr lang="en-PH" sz="4000" b="1"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40" name="Rectangle 39"/>
          <p:cNvSpPr/>
          <p:nvPr/>
        </p:nvSpPr>
        <p:spPr>
          <a:xfrm>
            <a:off x="3233562" y="5755292"/>
            <a:ext cx="17704837" cy="2708434"/>
          </a:xfrm>
          <a:prstGeom prst="rect">
            <a:avLst/>
          </a:prstGeom>
        </p:spPr>
        <p:txBody>
          <a:bodyPr wrap="square">
            <a:spAutoFit/>
          </a:bodyPr>
          <a:lstStyle/>
          <a:p>
            <a:pPr algn="just"/>
            <a:r>
              <a:rPr lang="en-PH" sz="3200" dirty="0" smtClean="0">
                <a:solidFill>
                  <a:srgbClr val="820000"/>
                </a:solidFill>
                <a:latin typeface="Arial" panose="020B0604020202020204" pitchFamily="34" charset="0"/>
                <a:cs typeface="Arial" panose="020B0604020202020204" pitchFamily="34" charset="0"/>
              </a:rPr>
              <a:t> Potassium Chloride (KCL)</a:t>
            </a:r>
          </a:p>
          <a:p>
            <a:pPr marL="0" lvl="2" algn="just"/>
            <a:endParaRPr lang="en-PH" b="1" dirty="0"/>
          </a:p>
          <a:p>
            <a:pPr algn="just"/>
            <a:r>
              <a:rPr lang="en-PH" sz="4000" dirty="0" smtClean="0"/>
              <a:t> </a:t>
            </a:r>
            <a:endParaRPr lang="en-PH" sz="4000" b="1" dirty="0">
              <a:solidFill>
                <a:srgbClr val="820000"/>
              </a:solidFill>
              <a:latin typeface="Arial" panose="020B0604020202020204" pitchFamily="34" charset="0"/>
              <a:cs typeface="Arial" panose="020B0604020202020204" pitchFamily="34" charset="0"/>
            </a:endParaRPr>
          </a:p>
          <a:p>
            <a:pPr algn="just"/>
            <a:endParaRPr lang="en-PH" sz="4000" b="1" dirty="0" smtClean="0">
              <a:solidFill>
                <a:srgbClr val="820000"/>
              </a:solidFill>
              <a:latin typeface="Arial" panose="020B0604020202020204" pitchFamily="34" charset="0"/>
              <a:cs typeface="Arial" panose="020B0604020202020204" pitchFamily="34" charset="0"/>
            </a:endParaRPr>
          </a:p>
          <a:p>
            <a:pPr algn="just"/>
            <a:r>
              <a:rPr lang="en-PH" sz="4000" b="1"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41" name="Rectangle 40"/>
          <p:cNvSpPr/>
          <p:nvPr/>
        </p:nvSpPr>
        <p:spPr>
          <a:xfrm>
            <a:off x="3189630" y="6396093"/>
            <a:ext cx="17704837" cy="2708434"/>
          </a:xfrm>
          <a:prstGeom prst="rect">
            <a:avLst/>
          </a:prstGeom>
        </p:spPr>
        <p:txBody>
          <a:bodyPr wrap="square">
            <a:spAutoFit/>
          </a:bodyPr>
          <a:lstStyle/>
          <a:p>
            <a:pPr algn="just"/>
            <a:r>
              <a:rPr lang="en-PH" sz="3200" dirty="0" smtClean="0">
                <a:solidFill>
                  <a:srgbClr val="820000"/>
                </a:solidFill>
                <a:latin typeface="Arial" panose="020B0604020202020204" pitchFamily="34" charset="0"/>
                <a:cs typeface="Arial" panose="020B0604020202020204" pitchFamily="34" charset="0"/>
              </a:rPr>
              <a:t> Distilled water</a:t>
            </a:r>
          </a:p>
          <a:p>
            <a:pPr marL="0" lvl="2" algn="just"/>
            <a:endParaRPr lang="en-PH" b="1" dirty="0"/>
          </a:p>
          <a:p>
            <a:pPr algn="just"/>
            <a:r>
              <a:rPr lang="en-PH" sz="4000" dirty="0" smtClean="0"/>
              <a:t> </a:t>
            </a:r>
            <a:endParaRPr lang="en-PH" sz="4000" b="1" dirty="0">
              <a:solidFill>
                <a:srgbClr val="820000"/>
              </a:solidFill>
              <a:latin typeface="Arial" panose="020B0604020202020204" pitchFamily="34" charset="0"/>
              <a:cs typeface="Arial" panose="020B0604020202020204" pitchFamily="34" charset="0"/>
            </a:endParaRPr>
          </a:p>
          <a:p>
            <a:pPr algn="just"/>
            <a:endParaRPr lang="en-PH" sz="4000" b="1" dirty="0" smtClean="0">
              <a:solidFill>
                <a:srgbClr val="820000"/>
              </a:solidFill>
              <a:latin typeface="Arial" panose="020B0604020202020204" pitchFamily="34" charset="0"/>
              <a:cs typeface="Arial" panose="020B0604020202020204" pitchFamily="34" charset="0"/>
            </a:endParaRPr>
          </a:p>
          <a:p>
            <a:pPr algn="just"/>
            <a:r>
              <a:rPr lang="en-PH" sz="4000" b="1"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cxnSp>
        <p:nvCxnSpPr>
          <p:cNvPr id="42" name="Straight Connector 41"/>
          <p:cNvCxnSpPr/>
          <p:nvPr/>
        </p:nvCxnSpPr>
        <p:spPr>
          <a:xfrm>
            <a:off x="2608722" y="7277100"/>
            <a:ext cx="838200" cy="0"/>
          </a:xfrm>
          <a:prstGeom prst="line">
            <a:avLst/>
          </a:prstGeom>
          <a:ln w="38100">
            <a:solidFill>
              <a:srgbClr val="820000"/>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2608722" y="7902118"/>
            <a:ext cx="838200" cy="0"/>
          </a:xfrm>
          <a:prstGeom prst="line">
            <a:avLst/>
          </a:prstGeom>
          <a:ln w="38100">
            <a:solidFill>
              <a:srgbClr val="820000"/>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2590800" y="8632908"/>
            <a:ext cx="838200" cy="0"/>
          </a:xfrm>
          <a:prstGeom prst="line">
            <a:avLst/>
          </a:prstGeom>
          <a:ln w="38100">
            <a:solidFill>
              <a:srgbClr val="820000"/>
            </a:solidFill>
          </a:ln>
        </p:spPr>
        <p:style>
          <a:lnRef idx="1">
            <a:schemeClr val="accent1"/>
          </a:lnRef>
          <a:fillRef idx="0">
            <a:schemeClr val="accent1"/>
          </a:fillRef>
          <a:effectRef idx="0">
            <a:schemeClr val="accent1"/>
          </a:effectRef>
          <a:fontRef idx="minor">
            <a:schemeClr val="tx1"/>
          </a:fontRef>
        </p:style>
      </p:cxnSp>
      <p:sp>
        <p:nvSpPr>
          <p:cNvPr id="45" name="Rectangle 44"/>
          <p:cNvSpPr/>
          <p:nvPr/>
        </p:nvSpPr>
        <p:spPr>
          <a:xfrm>
            <a:off x="3281304" y="6977030"/>
            <a:ext cx="17704837" cy="2708434"/>
          </a:xfrm>
          <a:prstGeom prst="rect">
            <a:avLst/>
          </a:prstGeom>
        </p:spPr>
        <p:txBody>
          <a:bodyPr wrap="square">
            <a:spAutoFit/>
          </a:bodyPr>
          <a:lstStyle/>
          <a:p>
            <a:pPr algn="just"/>
            <a:r>
              <a:rPr lang="en-PH" sz="3200" dirty="0" smtClean="0">
                <a:solidFill>
                  <a:srgbClr val="820000"/>
                </a:solidFill>
                <a:latin typeface="Arial" panose="020B0604020202020204" pitchFamily="34" charset="0"/>
                <a:cs typeface="Arial" panose="020B0604020202020204" pitchFamily="34" charset="0"/>
              </a:rPr>
              <a:t> 20 % Sodium Carbonate</a:t>
            </a:r>
          </a:p>
          <a:p>
            <a:pPr marL="0" lvl="2" algn="just"/>
            <a:endParaRPr lang="en-PH" b="1" dirty="0"/>
          </a:p>
          <a:p>
            <a:pPr algn="just"/>
            <a:r>
              <a:rPr lang="en-PH" sz="4000" dirty="0" smtClean="0"/>
              <a:t> </a:t>
            </a:r>
            <a:endParaRPr lang="en-PH" sz="4000" b="1" dirty="0">
              <a:solidFill>
                <a:srgbClr val="820000"/>
              </a:solidFill>
              <a:latin typeface="Arial" panose="020B0604020202020204" pitchFamily="34" charset="0"/>
              <a:cs typeface="Arial" panose="020B0604020202020204" pitchFamily="34" charset="0"/>
            </a:endParaRPr>
          </a:p>
          <a:p>
            <a:pPr algn="just"/>
            <a:endParaRPr lang="en-PH" sz="4000" b="1" dirty="0" smtClean="0">
              <a:solidFill>
                <a:srgbClr val="820000"/>
              </a:solidFill>
              <a:latin typeface="Arial" panose="020B0604020202020204" pitchFamily="34" charset="0"/>
              <a:cs typeface="Arial" panose="020B0604020202020204" pitchFamily="34" charset="0"/>
            </a:endParaRPr>
          </a:p>
          <a:p>
            <a:pPr algn="just"/>
            <a:r>
              <a:rPr lang="en-PH" sz="4000" b="1"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46" name="Rectangle 45"/>
          <p:cNvSpPr/>
          <p:nvPr/>
        </p:nvSpPr>
        <p:spPr>
          <a:xfrm>
            <a:off x="3233562" y="7559507"/>
            <a:ext cx="17704837" cy="2708434"/>
          </a:xfrm>
          <a:prstGeom prst="rect">
            <a:avLst/>
          </a:prstGeom>
        </p:spPr>
        <p:txBody>
          <a:bodyPr wrap="square">
            <a:spAutoFit/>
          </a:bodyPr>
          <a:lstStyle/>
          <a:p>
            <a:pPr algn="just"/>
            <a:r>
              <a:rPr lang="en-PH" sz="3200" dirty="0" smtClean="0">
                <a:solidFill>
                  <a:srgbClr val="820000"/>
                </a:solidFill>
                <a:latin typeface="Arial" panose="020B0604020202020204" pitchFamily="34" charset="0"/>
                <a:cs typeface="Arial" panose="020B0604020202020204" pitchFamily="34" charset="0"/>
              </a:rPr>
              <a:t> 10 % </a:t>
            </a:r>
            <a:r>
              <a:rPr lang="en-PH" sz="3200" dirty="0" err="1" smtClean="0">
                <a:solidFill>
                  <a:srgbClr val="820000"/>
                </a:solidFill>
                <a:latin typeface="Arial" panose="020B0604020202020204" pitchFamily="34" charset="0"/>
                <a:cs typeface="Arial" panose="020B0604020202020204" pitchFamily="34" charset="0"/>
              </a:rPr>
              <a:t>Aluminum</a:t>
            </a:r>
            <a:r>
              <a:rPr lang="en-PH" sz="3200" dirty="0" smtClean="0">
                <a:solidFill>
                  <a:srgbClr val="820000"/>
                </a:solidFill>
                <a:latin typeface="Arial" panose="020B0604020202020204" pitchFamily="34" charset="0"/>
                <a:cs typeface="Arial" panose="020B0604020202020204" pitchFamily="34" charset="0"/>
              </a:rPr>
              <a:t> Chloride</a:t>
            </a:r>
          </a:p>
          <a:p>
            <a:pPr marL="0" lvl="2" algn="just"/>
            <a:endParaRPr lang="en-PH" b="1" dirty="0"/>
          </a:p>
          <a:p>
            <a:pPr algn="just"/>
            <a:r>
              <a:rPr lang="en-PH" sz="4000" dirty="0" smtClean="0"/>
              <a:t> </a:t>
            </a:r>
            <a:endParaRPr lang="en-PH" sz="4000" b="1" dirty="0">
              <a:solidFill>
                <a:srgbClr val="820000"/>
              </a:solidFill>
              <a:latin typeface="Arial" panose="020B0604020202020204" pitchFamily="34" charset="0"/>
              <a:cs typeface="Arial" panose="020B0604020202020204" pitchFamily="34" charset="0"/>
            </a:endParaRPr>
          </a:p>
          <a:p>
            <a:pPr algn="just"/>
            <a:endParaRPr lang="en-PH" sz="4000" b="1" dirty="0" smtClean="0">
              <a:solidFill>
                <a:srgbClr val="820000"/>
              </a:solidFill>
              <a:latin typeface="Arial" panose="020B0604020202020204" pitchFamily="34" charset="0"/>
              <a:cs typeface="Arial" panose="020B0604020202020204" pitchFamily="34" charset="0"/>
            </a:endParaRPr>
          </a:p>
          <a:p>
            <a:pPr algn="just"/>
            <a:r>
              <a:rPr lang="en-PH" sz="4000" b="1"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47" name="Rectangle 46"/>
          <p:cNvSpPr/>
          <p:nvPr/>
        </p:nvSpPr>
        <p:spPr>
          <a:xfrm>
            <a:off x="3168634" y="8331247"/>
            <a:ext cx="17704837" cy="2708434"/>
          </a:xfrm>
          <a:prstGeom prst="rect">
            <a:avLst/>
          </a:prstGeom>
        </p:spPr>
        <p:txBody>
          <a:bodyPr wrap="square">
            <a:spAutoFit/>
          </a:bodyPr>
          <a:lstStyle/>
          <a:p>
            <a:pPr algn="just"/>
            <a:r>
              <a:rPr lang="en-PH" sz="3200" dirty="0" smtClean="0">
                <a:solidFill>
                  <a:srgbClr val="820000"/>
                </a:solidFill>
                <a:latin typeface="Arial" panose="020B0604020202020204" pitchFamily="34" charset="0"/>
                <a:cs typeface="Arial" panose="020B0604020202020204" pitchFamily="34" charset="0"/>
              </a:rPr>
              <a:t> 1 M </a:t>
            </a:r>
            <a:r>
              <a:rPr lang="en-PH" sz="3200" dirty="0" err="1" smtClean="0">
                <a:solidFill>
                  <a:srgbClr val="820000"/>
                </a:solidFill>
                <a:latin typeface="Arial" panose="020B0604020202020204" pitchFamily="34" charset="0"/>
                <a:cs typeface="Arial" panose="020B0604020202020204" pitchFamily="34" charset="0"/>
              </a:rPr>
              <a:t>NaOH</a:t>
            </a:r>
            <a:endParaRPr lang="en-PH" sz="3200" dirty="0" smtClean="0">
              <a:solidFill>
                <a:srgbClr val="820000"/>
              </a:solidFill>
              <a:latin typeface="Arial" panose="020B0604020202020204" pitchFamily="34" charset="0"/>
              <a:cs typeface="Arial" panose="020B0604020202020204" pitchFamily="34" charset="0"/>
            </a:endParaRPr>
          </a:p>
          <a:p>
            <a:pPr marL="0" lvl="2" algn="just"/>
            <a:endParaRPr lang="en-PH" b="1" dirty="0"/>
          </a:p>
          <a:p>
            <a:pPr algn="just"/>
            <a:r>
              <a:rPr lang="en-PH" sz="4000" dirty="0" smtClean="0"/>
              <a:t> </a:t>
            </a:r>
            <a:endParaRPr lang="en-PH" sz="4000" b="1" dirty="0">
              <a:solidFill>
                <a:srgbClr val="820000"/>
              </a:solidFill>
              <a:latin typeface="Arial" panose="020B0604020202020204" pitchFamily="34" charset="0"/>
              <a:cs typeface="Arial" panose="020B0604020202020204" pitchFamily="34" charset="0"/>
            </a:endParaRPr>
          </a:p>
          <a:p>
            <a:pPr algn="just"/>
            <a:endParaRPr lang="en-PH" sz="4000" b="1" dirty="0" smtClean="0">
              <a:solidFill>
                <a:srgbClr val="820000"/>
              </a:solidFill>
              <a:latin typeface="Arial" panose="020B0604020202020204" pitchFamily="34" charset="0"/>
              <a:cs typeface="Arial" panose="020B0604020202020204" pitchFamily="34" charset="0"/>
            </a:endParaRPr>
          </a:p>
          <a:p>
            <a:pPr algn="just"/>
            <a:r>
              <a:rPr lang="en-PH" sz="4000" b="1"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cxnSp>
        <p:nvCxnSpPr>
          <p:cNvPr id="48" name="Straight Connector 47"/>
          <p:cNvCxnSpPr/>
          <p:nvPr/>
        </p:nvCxnSpPr>
        <p:spPr>
          <a:xfrm>
            <a:off x="16034501" y="3619500"/>
            <a:ext cx="24881" cy="4434531"/>
          </a:xfrm>
          <a:prstGeom prst="line">
            <a:avLst/>
          </a:prstGeom>
          <a:ln w="38100">
            <a:solidFill>
              <a:srgbClr val="820000"/>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a:off x="15196301" y="3619500"/>
            <a:ext cx="838200" cy="0"/>
          </a:xfrm>
          <a:prstGeom prst="line">
            <a:avLst/>
          </a:prstGeom>
          <a:ln w="38100">
            <a:solidFill>
              <a:srgbClr val="820000"/>
            </a:solidFill>
          </a:ln>
        </p:spPr>
        <p:style>
          <a:lnRef idx="1">
            <a:schemeClr val="accent1"/>
          </a:lnRef>
          <a:fillRef idx="0">
            <a:schemeClr val="accent1"/>
          </a:fillRef>
          <a:effectRef idx="0">
            <a:schemeClr val="accent1"/>
          </a:effectRef>
          <a:fontRef idx="minor">
            <a:schemeClr val="tx1"/>
          </a:fontRef>
        </p:style>
      </p:cxnSp>
      <p:sp>
        <p:nvSpPr>
          <p:cNvPr id="50" name="Rectangle 49"/>
          <p:cNvSpPr/>
          <p:nvPr/>
        </p:nvSpPr>
        <p:spPr>
          <a:xfrm>
            <a:off x="11425957" y="3320169"/>
            <a:ext cx="17704837" cy="2708434"/>
          </a:xfrm>
          <a:prstGeom prst="rect">
            <a:avLst/>
          </a:prstGeom>
        </p:spPr>
        <p:txBody>
          <a:bodyPr wrap="square">
            <a:spAutoFit/>
          </a:bodyPr>
          <a:lstStyle/>
          <a:p>
            <a:pPr algn="just"/>
            <a:r>
              <a:rPr lang="en-PH" sz="3200" dirty="0" smtClean="0">
                <a:solidFill>
                  <a:srgbClr val="820000"/>
                </a:solidFill>
                <a:latin typeface="Arial" panose="020B0604020202020204" pitchFamily="34" charset="0"/>
                <a:cs typeface="Arial" panose="020B0604020202020204" pitchFamily="34" charset="0"/>
              </a:rPr>
              <a:t> 1M Sodium Acetate</a:t>
            </a:r>
          </a:p>
          <a:p>
            <a:pPr marL="0" lvl="2" algn="just"/>
            <a:endParaRPr lang="en-PH" b="1" dirty="0"/>
          </a:p>
          <a:p>
            <a:pPr algn="just"/>
            <a:r>
              <a:rPr lang="en-PH" sz="4000" dirty="0" smtClean="0"/>
              <a:t> </a:t>
            </a:r>
            <a:endParaRPr lang="en-PH" sz="4000" b="1" dirty="0">
              <a:solidFill>
                <a:srgbClr val="820000"/>
              </a:solidFill>
              <a:latin typeface="Arial" panose="020B0604020202020204" pitchFamily="34" charset="0"/>
              <a:cs typeface="Arial" panose="020B0604020202020204" pitchFamily="34" charset="0"/>
            </a:endParaRPr>
          </a:p>
          <a:p>
            <a:pPr algn="just"/>
            <a:endParaRPr lang="en-PH" sz="4000" b="1" dirty="0" smtClean="0">
              <a:solidFill>
                <a:srgbClr val="820000"/>
              </a:solidFill>
              <a:latin typeface="Arial" panose="020B0604020202020204" pitchFamily="34" charset="0"/>
              <a:cs typeface="Arial" panose="020B0604020202020204" pitchFamily="34" charset="0"/>
            </a:endParaRPr>
          </a:p>
          <a:p>
            <a:pPr algn="just"/>
            <a:r>
              <a:rPr lang="en-PH" sz="4000" b="1"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cxnSp>
        <p:nvCxnSpPr>
          <p:cNvPr id="51" name="Straight Connector 50"/>
          <p:cNvCxnSpPr/>
          <p:nvPr/>
        </p:nvCxnSpPr>
        <p:spPr>
          <a:xfrm>
            <a:off x="15196301" y="4381500"/>
            <a:ext cx="838200" cy="0"/>
          </a:xfrm>
          <a:prstGeom prst="line">
            <a:avLst/>
          </a:prstGeom>
          <a:ln w="38100">
            <a:solidFill>
              <a:srgbClr val="820000"/>
            </a:solidFill>
          </a:ln>
        </p:spPr>
        <p:style>
          <a:lnRef idx="1">
            <a:schemeClr val="accent1"/>
          </a:lnRef>
          <a:fillRef idx="0">
            <a:schemeClr val="accent1"/>
          </a:fillRef>
          <a:effectRef idx="0">
            <a:schemeClr val="accent1"/>
          </a:effectRef>
          <a:fontRef idx="minor">
            <a:schemeClr val="tx1"/>
          </a:fontRef>
        </p:style>
      </p:cxnSp>
      <p:sp>
        <p:nvSpPr>
          <p:cNvPr id="52" name="Rectangle 51"/>
          <p:cNvSpPr/>
          <p:nvPr/>
        </p:nvSpPr>
        <p:spPr>
          <a:xfrm>
            <a:off x="9668337" y="4076700"/>
            <a:ext cx="17704837" cy="2708434"/>
          </a:xfrm>
          <a:prstGeom prst="rect">
            <a:avLst/>
          </a:prstGeom>
        </p:spPr>
        <p:txBody>
          <a:bodyPr wrap="square">
            <a:spAutoFit/>
          </a:bodyPr>
          <a:lstStyle/>
          <a:p>
            <a:pPr algn="just"/>
            <a:r>
              <a:rPr lang="en-PH" sz="3200" dirty="0" smtClean="0">
                <a:solidFill>
                  <a:srgbClr val="820000"/>
                </a:solidFill>
                <a:latin typeface="Arial" panose="020B0604020202020204" pitchFamily="34" charset="0"/>
                <a:cs typeface="Arial" panose="020B0604020202020204" pitchFamily="34" charset="0"/>
              </a:rPr>
              <a:t> Ammonium Ferro </a:t>
            </a:r>
            <a:r>
              <a:rPr lang="en-PH" sz="3200" dirty="0" err="1" smtClean="0">
                <a:solidFill>
                  <a:srgbClr val="820000"/>
                </a:solidFill>
                <a:latin typeface="Arial" panose="020B0604020202020204" pitchFamily="34" charset="0"/>
                <a:cs typeface="Arial" panose="020B0604020202020204" pitchFamily="34" charset="0"/>
              </a:rPr>
              <a:t>thiocyanate</a:t>
            </a:r>
            <a:endParaRPr lang="en-PH" sz="3200" dirty="0" smtClean="0">
              <a:solidFill>
                <a:srgbClr val="820000"/>
              </a:solidFill>
              <a:latin typeface="Arial" panose="020B0604020202020204" pitchFamily="34" charset="0"/>
              <a:cs typeface="Arial" panose="020B0604020202020204" pitchFamily="34" charset="0"/>
            </a:endParaRPr>
          </a:p>
          <a:p>
            <a:pPr marL="0" lvl="2" algn="just"/>
            <a:endParaRPr lang="en-PH" b="1" dirty="0"/>
          </a:p>
          <a:p>
            <a:pPr algn="just"/>
            <a:r>
              <a:rPr lang="en-PH" sz="4000" dirty="0" smtClean="0"/>
              <a:t> </a:t>
            </a:r>
            <a:endParaRPr lang="en-PH" sz="4000" b="1" dirty="0">
              <a:solidFill>
                <a:srgbClr val="820000"/>
              </a:solidFill>
              <a:latin typeface="Arial" panose="020B0604020202020204" pitchFamily="34" charset="0"/>
              <a:cs typeface="Arial" panose="020B0604020202020204" pitchFamily="34" charset="0"/>
            </a:endParaRPr>
          </a:p>
          <a:p>
            <a:pPr algn="just"/>
            <a:endParaRPr lang="en-PH" sz="4000" b="1" dirty="0" smtClean="0">
              <a:solidFill>
                <a:srgbClr val="820000"/>
              </a:solidFill>
              <a:latin typeface="Arial" panose="020B0604020202020204" pitchFamily="34" charset="0"/>
              <a:cs typeface="Arial" panose="020B0604020202020204" pitchFamily="34" charset="0"/>
            </a:endParaRPr>
          </a:p>
          <a:p>
            <a:pPr algn="just"/>
            <a:r>
              <a:rPr lang="en-PH" sz="4000" b="1"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cxnSp>
        <p:nvCxnSpPr>
          <p:cNvPr id="54" name="Straight Connector 53"/>
          <p:cNvCxnSpPr/>
          <p:nvPr/>
        </p:nvCxnSpPr>
        <p:spPr>
          <a:xfrm>
            <a:off x="15196301" y="5067300"/>
            <a:ext cx="838200" cy="0"/>
          </a:xfrm>
          <a:prstGeom prst="line">
            <a:avLst/>
          </a:prstGeom>
          <a:ln w="38100">
            <a:solidFill>
              <a:srgbClr val="820000"/>
            </a:solidFill>
          </a:ln>
        </p:spPr>
        <p:style>
          <a:lnRef idx="1">
            <a:schemeClr val="accent1"/>
          </a:lnRef>
          <a:fillRef idx="0">
            <a:schemeClr val="accent1"/>
          </a:fillRef>
          <a:effectRef idx="0">
            <a:schemeClr val="accent1"/>
          </a:effectRef>
          <a:fontRef idx="minor">
            <a:schemeClr val="tx1"/>
          </a:fontRef>
        </p:style>
      </p:cxnSp>
      <p:sp>
        <p:nvSpPr>
          <p:cNvPr id="55" name="Rectangle 54"/>
          <p:cNvSpPr/>
          <p:nvPr/>
        </p:nvSpPr>
        <p:spPr>
          <a:xfrm>
            <a:off x="10778921" y="4767249"/>
            <a:ext cx="17704837" cy="2708434"/>
          </a:xfrm>
          <a:prstGeom prst="rect">
            <a:avLst/>
          </a:prstGeom>
        </p:spPr>
        <p:txBody>
          <a:bodyPr wrap="square">
            <a:spAutoFit/>
          </a:bodyPr>
          <a:lstStyle/>
          <a:p>
            <a:pPr algn="just"/>
            <a:r>
              <a:rPr lang="en-PH" sz="3200" dirty="0" smtClean="0">
                <a:solidFill>
                  <a:srgbClr val="820000"/>
                </a:solidFill>
                <a:latin typeface="Arial" panose="020B0604020202020204" pitchFamily="34" charset="0"/>
                <a:cs typeface="Arial" panose="020B0604020202020204" pitchFamily="34" charset="0"/>
              </a:rPr>
              <a:t> </a:t>
            </a:r>
            <a:r>
              <a:rPr lang="en-PH" sz="3200" dirty="0" err="1" smtClean="0">
                <a:solidFill>
                  <a:srgbClr val="820000"/>
                </a:solidFill>
                <a:latin typeface="Arial" panose="020B0604020202020204" pitchFamily="34" charset="0"/>
                <a:cs typeface="Arial" panose="020B0604020202020204" pitchFamily="34" charset="0"/>
              </a:rPr>
              <a:t>Folin-Ciocalteu</a:t>
            </a:r>
            <a:r>
              <a:rPr lang="en-PH" sz="3200" dirty="0" smtClean="0">
                <a:solidFill>
                  <a:srgbClr val="820000"/>
                </a:solidFill>
                <a:latin typeface="Arial" panose="020B0604020202020204" pitchFamily="34" charset="0"/>
                <a:cs typeface="Arial" panose="020B0604020202020204" pitchFamily="34" charset="0"/>
              </a:rPr>
              <a:t> reagent</a:t>
            </a:r>
          </a:p>
          <a:p>
            <a:pPr marL="0" lvl="2" algn="just"/>
            <a:endParaRPr lang="en-PH" b="1" dirty="0"/>
          </a:p>
          <a:p>
            <a:pPr algn="just"/>
            <a:r>
              <a:rPr lang="en-PH" sz="4000" dirty="0" smtClean="0"/>
              <a:t> </a:t>
            </a:r>
            <a:endParaRPr lang="en-PH" sz="4000" b="1" dirty="0">
              <a:solidFill>
                <a:srgbClr val="820000"/>
              </a:solidFill>
              <a:latin typeface="Arial" panose="020B0604020202020204" pitchFamily="34" charset="0"/>
              <a:cs typeface="Arial" panose="020B0604020202020204" pitchFamily="34" charset="0"/>
            </a:endParaRPr>
          </a:p>
          <a:p>
            <a:pPr algn="just"/>
            <a:endParaRPr lang="en-PH" sz="4000" b="1" dirty="0" smtClean="0">
              <a:solidFill>
                <a:srgbClr val="820000"/>
              </a:solidFill>
              <a:latin typeface="Arial" panose="020B0604020202020204" pitchFamily="34" charset="0"/>
              <a:cs typeface="Arial" panose="020B0604020202020204" pitchFamily="34" charset="0"/>
            </a:endParaRPr>
          </a:p>
          <a:p>
            <a:pPr algn="just"/>
            <a:r>
              <a:rPr lang="en-PH" sz="4000" b="1"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cxnSp>
        <p:nvCxnSpPr>
          <p:cNvPr id="56" name="Straight Connector 55"/>
          <p:cNvCxnSpPr/>
          <p:nvPr/>
        </p:nvCxnSpPr>
        <p:spPr>
          <a:xfrm>
            <a:off x="15221182" y="5846131"/>
            <a:ext cx="838200" cy="0"/>
          </a:xfrm>
          <a:prstGeom prst="line">
            <a:avLst/>
          </a:prstGeom>
          <a:ln w="38100">
            <a:solidFill>
              <a:srgbClr val="820000"/>
            </a:solidFill>
          </a:ln>
        </p:spPr>
        <p:style>
          <a:lnRef idx="1">
            <a:schemeClr val="accent1"/>
          </a:lnRef>
          <a:fillRef idx="0">
            <a:schemeClr val="accent1"/>
          </a:fillRef>
          <a:effectRef idx="0">
            <a:schemeClr val="accent1"/>
          </a:effectRef>
          <a:fontRef idx="minor">
            <a:schemeClr val="tx1"/>
          </a:fontRef>
        </p:style>
      </p:cxnSp>
      <p:sp>
        <p:nvSpPr>
          <p:cNvPr id="57" name="Rectangle 56"/>
          <p:cNvSpPr/>
          <p:nvPr/>
        </p:nvSpPr>
        <p:spPr>
          <a:xfrm>
            <a:off x="13232363" y="5483712"/>
            <a:ext cx="17704837" cy="2708434"/>
          </a:xfrm>
          <a:prstGeom prst="rect">
            <a:avLst/>
          </a:prstGeom>
        </p:spPr>
        <p:txBody>
          <a:bodyPr wrap="square">
            <a:spAutoFit/>
          </a:bodyPr>
          <a:lstStyle/>
          <a:p>
            <a:pPr algn="just"/>
            <a:r>
              <a:rPr lang="en-PH" sz="3200" dirty="0" smtClean="0">
                <a:solidFill>
                  <a:srgbClr val="820000"/>
                </a:solidFill>
                <a:latin typeface="Arial" panose="020B0604020202020204" pitchFamily="34" charset="0"/>
                <a:cs typeface="Arial" panose="020B0604020202020204" pitchFamily="34" charset="0"/>
              </a:rPr>
              <a:t> </a:t>
            </a:r>
            <a:r>
              <a:rPr lang="en-PH" sz="3200" dirty="0" err="1" smtClean="0">
                <a:solidFill>
                  <a:srgbClr val="820000"/>
                </a:solidFill>
                <a:latin typeface="Arial" panose="020B0604020202020204" pitchFamily="34" charset="0"/>
                <a:cs typeface="Arial" panose="020B0604020202020204" pitchFamily="34" charset="0"/>
              </a:rPr>
              <a:t>Quercetin</a:t>
            </a:r>
            <a:endParaRPr lang="en-PH" sz="3200" dirty="0" smtClean="0">
              <a:solidFill>
                <a:srgbClr val="820000"/>
              </a:solidFill>
              <a:latin typeface="Arial" panose="020B0604020202020204" pitchFamily="34" charset="0"/>
              <a:cs typeface="Arial" panose="020B0604020202020204" pitchFamily="34" charset="0"/>
            </a:endParaRPr>
          </a:p>
          <a:p>
            <a:pPr marL="0" lvl="2" algn="just"/>
            <a:endParaRPr lang="en-PH" b="1" dirty="0"/>
          </a:p>
          <a:p>
            <a:pPr algn="just"/>
            <a:r>
              <a:rPr lang="en-PH" sz="4000" dirty="0" smtClean="0"/>
              <a:t> </a:t>
            </a:r>
            <a:endParaRPr lang="en-PH" sz="4000" b="1" dirty="0">
              <a:solidFill>
                <a:srgbClr val="820000"/>
              </a:solidFill>
              <a:latin typeface="Arial" panose="020B0604020202020204" pitchFamily="34" charset="0"/>
              <a:cs typeface="Arial" panose="020B0604020202020204" pitchFamily="34" charset="0"/>
            </a:endParaRPr>
          </a:p>
          <a:p>
            <a:pPr algn="just"/>
            <a:endParaRPr lang="en-PH" sz="4000" b="1" dirty="0" smtClean="0">
              <a:solidFill>
                <a:srgbClr val="820000"/>
              </a:solidFill>
              <a:latin typeface="Arial" panose="020B0604020202020204" pitchFamily="34" charset="0"/>
              <a:cs typeface="Arial" panose="020B0604020202020204" pitchFamily="34" charset="0"/>
            </a:endParaRPr>
          </a:p>
          <a:p>
            <a:pPr algn="just"/>
            <a:r>
              <a:rPr lang="en-PH" sz="4000" b="1"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cxnSp>
        <p:nvCxnSpPr>
          <p:cNvPr id="58" name="Straight Connector 57"/>
          <p:cNvCxnSpPr/>
          <p:nvPr/>
        </p:nvCxnSpPr>
        <p:spPr>
          <a:xfrm>
            <a:off x="15221182" y="6547901"/>
            <a:ext cx="838200" cy="0"/>
          </a:xfrm>
          <a:prstGeom prst="line">
            <a:avLst/>
          </a:prstGeom>
          <a:ln w="38100">
            <a:solidFill>
              <a:srgbClr val="820000"/>
            </a:solidFill>
          </a:ln>
        </p:spPr>
        <p:style>
          <a:lnRef idx="1">
            <a:schemeClr val="accent1"/>
          </a:lnRef>
          <a:fillRef idx="0">
            <a:schemeClr val="accent1"/>
          </a:fillRef>
          <a:effectRef idx="0">
            <a:schemeClr val="accent1"/>
          </a:effectRef>
          <a:fontRef idx="minor">
            <a:schemeClr val="tx1"/>
          </a:fontRef>
        </p:style>
      </p:cxnSp>
      <p:sp>
        <p:nvSpPr>
          <p:cNvPr id="59" name="Rectangle 58"/>
          <p:cNvSpPr/>
          <p:nvPr/>
        </p:nvSpPr>
        <p:spPr>
          <a:xfrm>
            <a:off x="13251032" y="6224117"/>
            <a:ext cx="17704837" cy="2708434"/>
          </a:xfrm>
          <a:prstGeom prst="rect">
            <a:avLst/>
          </a:prstGeom>
        </p:spPr>
        <p:txBody>
          <a:bodyPr wrap="square">
            <a:spAutoFit/>
          </a:bodyPr>
          <a:lstStyle/>
          <a:p>
            <a:pPr algn="just"/>
            <a:r>
              <a:rPr lang="en-PH" sz="3200" dirty="0" smtClean="0">
                <a:solidFill>
                  <a:srgbClr val="820000"/>
                </a:solidFill>
                <a:latin typeface="Arial" panose="020B0604020202020204" pitchFamily="34" charset="0"/>
                <a:cs typeface="Arial" panose="020B0604020202020204" pitchFamily="34" charset="0"/>
              </a:rPr>
              <a:t> </a:t>
            </a:r>
            <a:r>
              <a:rPr lang="en-PH" sz="3200" dirty="0" err="1" smtClean="0">
                <a:solidFill>
                  <a:srgbClr val="820000"/>
                </a:solidFill>
                <a:latin typeface="Arial" panose="020B0604020202020204" pitchFamily="34" charset="0"/>
                <a:cs typeface="Arial" panose="020B0604020202020204" pitchFamily="34" charset="0"/>
              </a:rPr>
              <a:t>lauric</a:t>
            </a:r>
            <a:r>
              <a:rPr lang="en-PH" sz="3200" dirty="0" smtClean="0">
                <a:solidFill>
                  <a:srgbClr val="820000"/>
                </a:solidFill>
                <a:latin typeface="Arial" panose="020B0604020202020204" pitchFamily="34" charset="0"/>
                <a:cs typeface="Arial" panose="020B0604020202020204" pitchFamily="34" charset="0"/>
              </a:rPr>
              <a:t> acid</a:t>
            </a:r>
          </a:p>
          <a:p>
            <a:pPr marL="0" lvl="2" algn="just"/>
            <a:endParaRPr lang="en-PH" b="1" dirty="0"/>
          </a:p>
          <a:p>
            <a:pPr algn="just"/>
            <a:r>
              <a:rPr lang="en-PH" sz="4000" dirty="0" smtClean="0"/>
              <a:t> </a:t>
            </a:r>
            <a:endParaRPr lang="en-PH" sz="4000" b="1" dirty="0">
              <a:solidFill>
                <a:srgbClr val="820000"/>
              </a:solidFill>
              <a:latin typeface="Arial" panose="020B0604020202020204" pitchFamily="34" charset="0"/>
              <a:cs typeface="Arial" panose="020B0604020202020204" pitchFamily="34" charset="0"/>
            </a:endParaRPr>
          </a:p>
          <a:p>
            <a:pPr algn="just"/>
            <a:endParaRPr lang="en-PH" sz="4000" b="1" dirty="0" smtClean="0">
              <a:solidFill>
                <a:srgbClr val="820000"/>
              </a:solidFill>
              <a:latin typeface="Arial" panose="020B0604020202020204" pitchFamily="34" charset="0"/>
              <a:cs typeface="Arial" panose="020B0604020202020204" pitchFamily="34" charset="0"/>
            </a:endParaRPr>
          </a:p>
          <a:p>
            <a:pPr algn="just"/>
            <a:r>
              <a:rPr lang="en-PH" sz="4000" b="1"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cxnSp>
        <p:nvCxnSpPr>
          <p:cNvPr id="60" name="Straight Connector 59"/>
          <p:cNvCxnSpPr/>
          <p:nvPr/>
        </p:nvCxnSpPr>
        <p:spPr>
          <a:xfrm>
            <a:off x="15194744" y="7200348"/>
            <a:ext cx="838200" cy="0"/>
          </a:xfrm>
          <a:prstGeom prst="line">
            <a:avLst/>
          </a:prstGeom>
          <a:ln w="38100">
            <a:solidFill>
              <a:srgbClr val="820000"/>
            </a:solidFill>
          </a:ln>
        </p:spPr>
        <p:style>
          <a:lnRef idx="1">
            <a:schemeClr val="accent1"/>
          </a:lnRef>
          <a:fillRef idx="0">
            <a:schemeClr val="accent1"/>
          </a:fillRef>
          <a:effectRef idx="0">
            <a:schemeClr val="accent1"/>
          </a:effectRef>
          <a:fontRef idx="minor">
            <a:schemeClr val="tx1"/>
          </a:fontRef>
        </p:style>
      </p:cxnSp>
      <p:sp>
        <p:nvSpPr>
          <p:cNvPr id="61" name="Rectangle 60"/>
          <p:cNvSpPr/>
          <p:nvPr/>
        </p:nvSpPr>
        <p:spPr>
          <a:xfrm>
            <a:off x="12795107" y="6838314"/>
            <a:ext cx="17704837" cy="2431435"/>
          </a:xfrm>
          <a:prstGeom prst="rect">
            <a:avLst/>
          </a:prstGeom>
        </p:spPr>
        <p:txBody>
          <a:bodyPr wrap="square">
            <a:spAutoFit/>
          </a:bodyPr>
          <a:lstStyle/>
          <a:p>
            <a:pPr algn="just"/>
            <a:r>
              <a:rPr lang="en-PH" sz="3200" dirty="0" smtClean="0">
                <a:solidFill>
                  <a:srgbClr val="820000"/>
                </a:solidFill>
                <a:latin typeface="Arial" panose="020B0604020202020204" pitchFamily="34" charset="0"/>
                <a:cs typeface="Arial" panose="020B0604020202020204" pitchFamily="34" charset="0"/>
              </a:rPr>
              <a:t> Methyl ester</a:t>
            </a:r>
            <a:endParaRPr lang="en-PH" b="1" dirty="0"/>
          </a:p>
          <a:p>
            <a:pPr algn="just"/>
            <a:r>
              <a:rPr lang="en-PH" sz="4000" dirty="0" smtClean="0"/>
              <a:t> </a:t>
            </a:r>
            <a:endParaRPr lang="en-PH" sz="4000" b="1" dirty="0">
              <a:solidFill>
                <a:srgbClr val="820000"/>
              </a:solidFill>
              <a:latin typeface="Arial" panose="020B0604020202020204" pitchFamily="34" charset="0"/>
              <a:cs typeface="Arial" panose="020B0604020202020204" pitchFamily="34" charset="0"/>
            </a:endParaRPr>
          </a:p>
          <a:p>
            <a:pPr algn="just"/>
            <a:endParaRPr lang="en-PH" sz="4000" b="1" dirty="0" smtClean="0">
              <a:solidFill>
                <a:srgbClr val="820000"/>
              </a:solidFill>
              <a:latin typeface="Arial" panose="020B0604020202020204" pitchFamily="34" charset="0"/>
              <a:cs typeface="Arial" panose="020B0604020202020204" pitchFamily="34" charset="0"/>
            </a:endParaRPr>
          </a:p>
          <a:p>
            <a:pPr algn="just"/>
            <a:r>
              <a:rPr lang="en-PH" sz="4000" b="1"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cxnSp>
        <p:nvCxnSpPr>
          <p:cNvPr id="62" name="Straight Connector 61"/>
          <p:cNvCxnSpPr/>
          <p:nvPr/>
        </p:nvCxnSpPr>
        <p:spPr>
          <a:xfrm>
            <a:off x="15221182" y="7893946"/>
            <a:ext cx="838200" cy="0"/>
          </a:xfrm>
          <a:prstGeom prst="line">
            <a:avLst/>
          </a:prstGeom>
          <a:ln w="38100">
            <a:solidFill>
              <a:srgbClr val="820000"/>
            </a:solidFill>
          </a:ln>
        </p:spPr>
        <p:style>
          <a:lnRef idx="1">
            <a:schemeClr val="accent1"/>
          </a:lnRef>
          <a:fillRef idx="0">
            <a:schemeClr val="accent1"/>
          </a:fillRef>
          <a:effectRef idx="0">
            <a:schemeClr val="accent1"/>
          </a:effectRef>
          <a:fontRef idx="minor">
            <a:schemeClr val="tx1"/>
          </a:fontRef>
        </p:style>
      </p:cxnSp>
      <p:sp>
        <p:nvSpPr>
          <p:cNvPr id="64" name="Rectangle 63"/>
          <p:cNvSpPr/>
          <p:nvPr/>
        </p:nvSpPr>
        <p:spPr>
          <a:xfrm>
            <a:off x="11106694" y="7586159"/>
            <a:ext cx="17704837" cy="2431435"/>
          </a:xfrm>
          <a:prstGeom prst="rect">
            <a:avLst/>
          </a:prstGeom>
        </p:spPr>
        <p:txBody>
          <a:bodyPr wrap="square">
            <a:spAutoFit/>
          </a:bodyPr>
          <a:lstStyle/>
          <a:p>
            <a:pPr algn="just"/>
            <a:r>
              <a:rPr lang="en-PH" sz="3200" dirty="0" smtClean="0">
                <a:solidFill>
                  <a:srgbClr val="820000"/>
                </a:solidFill>
                <a:latin typeface="Arial" panose="020B0604020202020204" pitchFamily="34" charset="0"/>
                <a:cs typeface="Arial" panose="020B0604020202020204" pitchFamily="34" charset="0"/>
              </a:rPr>
              <a:t> phospholipid Capsule </a:t>
            </a:r>
            <a:endParaRPr lang="en-PH" b="1" dirty="0"/>
          </a:p>
          <a:p>
            <a:pPr algn="just"/>
            <a:r>
              <a:rPr lang="en-PH" sz="4000" dirty="0" smtClean="0"/>
              <a:t> </a:t>
            </a:r>
            <a:endParaRPr lang="en-PH" sz="4000" b="1" dirty="0">
              <a:solidFill>
                <a:srgbClr val="820000"/>
              </a:solidFill>
              <a:latin typeface="Arial" panose="020B0604020202020204" pitchFamily="34" charset="0"/>
              <a:cs typeface="Arial" panose="020B0604020202020204" pitchFamily="34" charset="0"/>
            </a:endParaRPr>
          </a:p>
          <a:p>
            <a:pPr algn="just"/>
            <a:endParaRPr lang="en-PH" sz="4000" b="1" dirty="0" smtClean="0">
              <a:solidFill>
                <a:srgbClr val="820000"/>
              </a:solidFill>
              <a:latin typeface="Arial" panose="020B0604020202020204" pitchFamily="34" charset="0"/>
              <a:cs typeface="Arial" panose="020B0604020202020204" pitchFamily="34" charset="0"/>
            </a:endParaRPr>
          </a:p>
          <a:p>
            <a:pPr algn="just"/>
            <a:r>
              <a:rPr lang="en-PH" sz="4000" b="1"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grpSp>
        <p:nvGrpSpPr>
          <p:cNvPr id="65" name="Group 11"/>
          <p:cNvGrpSpPr/>
          <p:nvPr/>
        </p:nvGrpSpPr>
        <p:grpSpPr>
          <a:xfrm rot="-5400000">
            <a:off x="16247318" y="5660182"/>
            <a:ext cx="1531140" cy="1412176"/>
            <a:chOff x="0" y="0"/>
            <a:chExt cx="6350000" cy="5532120"/>
          </a:xfrm>
        </p:grpSpPr>
        <p:sp>
          <p:nvSpPr>
            <p:cNvPr id="66" name="Freeform 12"/>
            <p:cNvSpPr/>
            <p:nvPr/>
          </p:nvSpPr>
          <p:spPr>
            <a:xfrm>
              <a:off x="0" y="0"/>
              <a:ext cx="6350000" cy="5532120"/>
            </a:xfrm>
            <a:custGeom>
              <a:avLst/>
              <a:gdLst/>
              <a:ahLst/>
              <a:cxnLst/>
              <a:rect l="l" t="t" r="r" b="b"/>
              <a:pathLst>
                <a:path w="6350000" h="5532120">
                  <a:moveTo>
                    <a:pt x="4762500" y="0"/>
                  </a:moveTo>
                  <a:lnTo>
                    <a:pt x="1587500" y="0"/>
                  </a:lnTo>
                  <a:lnTo>
                    <a:pt x="0" y="2766060"/>
                  </a:lnTo>
                  <a:lnTo>
                    <a:pt x="1587500" y="5532120"/>
                  </a:lnTo>
                  <a:lnTo>
                    <a:pt x="4762500" y="5532120"/>
                  </a:lnTo>
                  <a:lnTo>
                    <a:pt x="6350000" y="2766060"/>
                  </a:lnTo>
                  <a:lnTo>
                    <a:pt x="4762500" y="0"/>
                  </a:lnTo>
                  <a:lnTo>
                    <a:pt x="4762500" y="0"/>
                  </a:lnTo>
                  <a:close/>
                  <a:moveTo>
                    <a:pt x="4676140" y="5382260"/>
                  </a:moveTo>
                  <a:lnTo>
                    <a:pt x="1673860" y="5382260"/>
                  </a:lnTo>
                  <a:lnTo>
                    <a:pt x="172720" y="2766060"/>
                  </a:lnTo>
                  <a:lnTo>
                    <a:pt x="1673860" y="149860"/>
                  </a:lnTo>
                  <a:lnTo>
                    <a:pt x="4676140" y="149860"/>
                  </a:lnTo>
                  <a:lnTo>
                    <a:pt x="6177280" y="2766060"/>
                  </a:lnTo>
                  <a:lnTo>
                    <a:pt x="4676140" y="5382260"/>
                  </a:lnTo>
                  <a:close/>
                </a:path>
              </a:pathLst>
            </a:custGeom>
            <a:solidFill>
              <a:srgbClr val="0D7377"/>
            </a:solidFill>
            <a:ln>
              <a:solidFill>
                <a:srgbClr val="820000"/>
              </a:solidFill>
            </a:ln>
          </p:spPr>
        </p:sp>
      </p:grpSp>
      <p:grpSp>
        <p:nvGrpSpPr>
          <p:cNvPr id="67" name="Group 11"/>
          <p:cNvGrpSpPr/>
          <p:nvPr/>
        </p:nvGrpSpPr>
        <p:grpSpPr>
          <a:xfrm rot="-5400000">
            <a:off x="16240272" y="7804261"/>
            <a:ext cx="1531140" cy="1412176"/>
            <a:chOff x="0" y="0"/>
            <a:chExt cx="6350000" cy="5532120"/>
          </a:xfrm>
        </p:grpSpPr>
        <p:sp>
          <p:nvSpPr>
            <p:cNvPr id="68" name="Freeform 12"/>
            <p:cNvSpPr/>
            <p:nvPr/>
          </p:nvSpPr>
          <p:spPr>
            <a:xfrm>
              <a:off x="0" y="0"/>
              <a:ext cx="6350000" cy="5532120"/>
            </a:xfrm>
            <a:custGeom>
              <a:avLst/>
              <a:gdLst/>
              <a:ahLst/>
              <a:cxnLst/>
              <a:rect l="l" t="t" r="r" b="b"/>
              <a:pathLst>
                <a:path w="6350000" h="5532120">
                  <a:moveTo>
                    <a:pt x="4762500" y="0"/>
                  </a:moveTo>
                  <a:lnTo>
                    <a:pt x="1587500" y="0"/>
                  </a:lnTo>
                  <a:lnTo>
                    <a:pt x="0" y="2766060"/>
                  </a:lnTo>
                  <a:lnTo>
                    <a:pt x="1587500" y="5532120"/>
                  </a:lnTo>
                  <a:lnTo>
                    <a:pt x="4762500" y="5532120"/>
                  </a:lnTo>
                  <a:lnTo>
                    <a:pt x="6350000" y="2766060"/>
                  </a:lnTo>
                  <a:lnTo>
                    <a:pt x="4762500" y="0"/>
                  </a:lnTo>
                  <a:lnTo>
                    <a:pt x="4762500" y="0"/>
                  </a:lnTo>
                  <a:close/>
                  <a:moveTo>
                    <a:pt x="4676140" y="5382260"/>
                  </a:moveTo>
                  <a:lnTo>
                    <a:pt x="1673860" y="5382260"/>
                  </a:lnTo>
                  <a:lnTo>
                    <a:pt x="172720" y="2766060"/>
                  </a:lnTo>
                  <a:lnTo>
                    <a:pt x="1673860" y="149860"/>
                  </a:lnTo>
                  <a:lnTo>
                    <a:pt x="4676140" y="149860"/>
                  </a:lnTo>
                  <a:lnTo>
                    <a:pt x="6177280" y="2766060"/>
                  </a:lnTo>
                  <a:lnTo>
                    <a:pt x="4676140" y="5382260"/>
                  </a:lnTo>
                  <a:close/>
                </a:path>
              </a:pathLst>
            </a:custGeom>
            <a:solidFill>
              <a:srgbClr val="0D7377"/>
            </a:solidFill>
            <a:ln>
              <a:solidFill>
                <a:srgbClr val="820000"/>
              </a:solidFill>
            </a:ln>
          </p:spPr>
        </p:sp>
      </p:grpSp>
      <p:grpSp>
        <p:nvGrpSpPr>
          <p:cNvPr id="69" name="Group 11"/>
          <p:cNvGrpSpPr/>
          <p:nvPr/>
        </p:nvGrpSpPr>
        <p:grpSpPr>
          <a:xfrm rot="-5400000">
            <a:off x="16206742" y="6726982"/>
            <a:ext cx="1531140" cy="1412176"/>
            <a:chOff x="0" y="0"/>
            <a:chExt cx="6350000" cy="5532120"/>
          </a:xfrm>
        </p:grpSpPr>
        <p:sp>
          <p:nvSpPr>
            <p:cNvPr id="70" name="Freeform 12"/>
            <p:cNvSpPr/>
            <p:nvPr/>
          </p:nvSpPr>
          <p:spPr>
            <a:xfrm>
              <a:off x="0" y="0"/>
              <a:ext cx="6350000" cy="5532120"/>
            </a:xfrm>
            <a:custGeom>
              <a:avLst/>
              <a:gdLst/>
              <a:ahLst/>
              <a:cxnLst/>
              <a:rect l="l" t="t" r="r" b="b"/>
              <a:pathLst>
                <a:path w="6350000" h="5532120">
                  <a:moveTo>
                    <a:pt x="4762500" y="0"/>
                  </a:moveTo>
                  <a:lnTo>
                    <a:pt x="1587500" y="0"/>
                  </a:lnTo>
                  <a:lnTo>
                    <a:pt x="0" y="2766060"/>
                  </a:lnTo>
                  <a:lnTo>
                    <a:pt x="1587500" y="5532120"/>
                  </a:lnTo>
                  <a:lnTo>
                    <a:pt x="4762500" y="5532120"/>
                  </a:lnTo>
                  <a:lnTo>
                    <a:pt x="6350000" y="2766060"/>
                  </a:lnTo>
                  <a:lnTo>
                    <a:pt x="4762500" y="0"/>
                  </a:lnTo>
                  <a:lnTo>
                    <a:pt x="4762500" y="0"/>
                  </a:lnTo>
                  <a:close/>
                  <a:moveTo>
                    <a:pt x="4676140" y="5382260"/>
                  </a:moveTo>
                  <a:lnTo>
                    <a:pt x="1673860" y="5382260"/>
                  </a:lnTo>
                  <a:lnTo>
                    <a:pt x="172720" y="2766060"/>
                  </a:lnTo>
                  <a:lnTo>
                    <a:pt x="1673860" y="149860"/>
                  </a:lnTo>
                  <a:lnTo>
                    <a:pt x="4676140" y="149860"/>
                  </a:lnTo>
                  <a:lnTo>
                    <a:pt x="6177280" y="2766060"/>
                  </a:lnTo>
                  <a:lnTo>
                    <a:pt x="4676140" y="5382260"/>
                  </a:lnTo>
                  <a:close/>
                </a:path>
              </a:pathLst>
            </a:custGeom>
            <a:solidFill>
              <a:srgbClr val="0D7377"/>
            </a:solidFill>
            <a:ln>
              <a:solidFill>
                <a:srgbClr val="820000"/>
              </a:solidFill>
            </a:ln>
          </p:spPr>
        </p:sp>
      </p:grpSp>
    </p:spTree>
    <p:extLst>
      <p:ext uri="{BB962C8B-B14F-4D97-AF65-F5344CB8AC3E}">
        <p14:creationId xmlns:p14="http://schemas.microsoft.com/office/powerpoint/2010/main" val="413637153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Box 13"/>
          <p:cNvSpPr txBox="1"/>
          <p:nvPr/>
        </p:nvSpPr>
        <p:spPr>
          <a:xfrm>
            <a:off x="1671387" y="1531257"/>
            <a:ext cx="2203151" cy="2306426"/>
          </a:xfrm>
          <a:prstGeom prst="rect">
            <a:avLst/>
          </a:prstGeom>
        </p:spPr>
        <p:txBody>
          <a:bodyPr lIns="50800" tIns="50800" rIns="50800" bIns="50800" rtlCol="0" anchor="ctr"/>
          <a:lstStyle/>
          <a:p>
            <a:pPr algn="ctr">
              <a:lnSpc>
                <a:spcPts val="2659"/>
              </a:lnSpc>
              <a:spcBef>
                <a:spcPct val="0"/>
              </a:spcBef>
            </a:pPr>
            <a:endParaRPr/>
          </a:p>
        </p:txBody>
      </p:sp>
      <p:pic>
        <p:nvPicPr>
          <p:cNvPr id="18" name="Picture 17"/>
          <p:cNvPicPr>
            <a:picLocks noChangeAspect="1"/>
          </p:cNvPicPr>
          <p:nvPr/>
        </p:nvPicPr>
        <p:blipFill>
          <a:blip r:embed="rId2"/>
          <a:stretch>
            <a:fillRect/>
          </a:stretch>
        </p:blipFill>
        <p:spPr>
          <a:xfrm>
            <a:off x="76200" y="9266338"/>
            <a:ext cx="2327677" cy="1020662"/>
          </a:xfrm>
          <a:prstGeom prst="rect">
            <a:avLst/>
          </a:prstGeom>
        </p:spPr>
      </p:pic>
      <p:pic>
        <p:nvPicPr>
          <p:cNvPr id="19" name="Picture 18"/>
          <p:cNvPicPr>
            <a:picLocks noChangeAspect="1"/>
          </p:cNvPicPr>
          <p:nvPr/>
        </p:nvPicPr>
        <p:blipFill>
          <a:blip r:embed="rId3"/>
          <a:stretch>
            <a:fillRect/>
          </a:stretch>
        </p:blipFill>
        <p:spPr>
          <a:xfrm rot="10800000">
            <a:off x="-30480" y="1294489"/>
            <a:ext cx="18288000" cy="267610"/>
          </a:xfrm>
          <a:prstGeom prst="rect">
            <a:avLst/>
          </a:prstGeom>
        </p:spPr>
      </p:pic>
      <p:sp>
        <p:nvSpPr>
          <p:cNvPr id="21" name="Round Single Corner Rectangle 20"/>
          <p:cNvSpPr/>
          <p:nvPr/>
        </p:nvSpPr>
        <p:spPr>
          <a:xfrm>
            <a:off x="5494020" y="160397"/>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5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Methodology      </a:t>
            </a:r>
            <a:r>
              <a:rPr lang="en-PH" sz="6000" b="1" u="sng" dirty="0" smtClean="0">
                <a:solidFill>
                  <a:srgbClr val="820000"/>
                </a:solidFill>
                <a:latin typeface="Arial" panose="020B0604020202020204" pitchFamily="34" charset="0"/>
                <a:cs typeface="Arial" panose="020B0604020202020204" pitchFamily="34" charset="0"/>
              </a:rPr>
              <a:t> </a:t>
            </a:r>
          </a:p>
        </p:txBody>
      </p:sp>
      <p:pic>
        <p:nvPicPr>
          <p:cNvPr id="20" name="Picture 19"/>
          <p:cNvPicPr>
            <a:picLocks noChangeAspect="1"/>
          </p:cNvPicPr>
          <p:nvPr/>
        </p:nvPicPr>
        <p:blipFill>
          <a:blip r:embed="rId3"/>
          <a:stretch>
            <a:fillRect/>
          </a:stretch>
        </p:blipFill>
        <p:spPr>
          <a:xfrm>
            <a:off x="0" y="0"/>
            <a:ext cx="18288000" cy="267611"/>
          </a:xfrm>
          <a:prstGeom prst="rect">
            <a:avLst/>
          </a:prstGeom>
        </p:spPr>
      </p:pic>
      <p:sp>
        <p:nvSpPr>
          <p:cNvPr id="4" name="Parallelogram 3"/>
          <p:cNvSpPr/>
          <p:nvPr/>
        </p:nvSpPr>
        <p:spPr>
          <a:xfrm>
            <a:off x="2388637" y="9936689"/>
            <a:ext cx="9727163" cy="236011"/>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2" name="Parallelogram 21"/>
          <p:cNvSpPr/>
          <p:nvPr/>
        </p:nvSpPr>
        <p:spPr>
          <a:xfrm>
            <a:off x="12192000" y="9944100"/>
            <a:ext cx="1421363" cy="228600"/>
          </a:xfrm>
          <a:prstGeom prst="parallelogram">
            <a:avLst/>
          </a:prstGeom>
          <a:solidFill>
            <a:srgbClr val="FFC000"/>
          </a:solidFill>
          <a:ln>
            <a:solidFill>
              <a:srgbClr val="FFC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3" name="Parallelogram 22"/>
          <p:cNvSpPr/>
          <p:nvPr/>
        </p:nvSpPr>
        <p:spPr>
          <a:xfrm>
            <a:off x="13689563" y="9944100"/>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24" name="Picture 23"/>
          <p:cNvPicPr>
            <a:picLocks noChangeAspect="1"/>
          </p:cNvPicPr>
          <p:nvPr/>
        </p:nvPicPr>
        <p:blipFill>
          <a:blip r:embed="rId3"/>
          <a:stretch>
            <a:fillRect/>
          </a:stretch>
        </p:blipFill>
        <p:spPr>
          <a:xfrm rot="10800000" flipV="1">
            <a:off x="2403877" y="9668509"/>
            <a:ext cx="15899363" cy="232657"/>
          </a:xfrm>
          <a:prstGeom prst="rect">
            <a:avLst/>
          </a:prstGeom>
        </p:spPr>
      </p:pic>
      <p:pic>
        <p:nvPicPr>
          <p:cNvPr id="6" name="Picture 5"/>
          <p:cNvPicPr>
            <a:picLocks noChangeAspect="1"/>
          </p:cNvPicPr>
          <p:nvPr/>
        </p:nvPicPr>
        <p:blipFill>
          <a:blip r:embed="rId4"/>
          <a:stretch>
            <a:fillRect/>
          </a:stretch>
        </p:blipFill>
        <p:spPr>
          <a:xfrm>
            <a:off x="15030450" y="488370"/>
            <a:ext cx="3257550" cy="523875"/>
          </a:xfrm>
          <a:prstGeom prst="rect">
            <a:avLst/>
          </a:prstGeom>
        </p:spPr>
      </p:pic>
      <p:sp>
        <p:nvSpPr>
          <p:cNvPr id="25" name="Parallelogram 24"/>
          <p:cNvSpPr/>
          <p:nvPr/>
        </p:nvSpPr>
        <p:spPr>
          <a:xfrm>
            <a:off x="13030200" y="760176"/>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13" name="Picture 12"/>
          <p:cNvPicPr>
            <a:picLocks noChangeAspect="1"/>
          </p:cNvPicPr>
          <p:nvPr/>
        </p:nvPicPr>
        <p:blipFill>
          <a:blip r:embed="rId4"/>
          <a:stretch>
            <a:fillRect/>
          </a:stretch>
        </p:blipFill>
        <p:spPr>
          <a:xfrm rot="10800000">
            <a:off x="0" y="612538"/>
            <a:ext cx="3257550" cy="523875"/>
          </a:xfrm>
          <a:prstGeom prst="rect">
            <a:avLst/>
          </a:prstGeom>
        </p:spPr>
      </p:pic>
      <p:sp>
        <p:nvSpPr>
          <p:cNvPr id="14" name="Parallelogram 13"/>
          <p:cNvSpPr/>
          <p:nvPr/>
        </p:nvSpPr>
        <p:spPr>
          <a:xfrm>
            <a:off x="659363" y="577015"/>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9" name="Rectangle 28"/>
          <p:cNvSpPr/>
          <p:nvPr/>
        </p:nvSpPr>
        <p:spPr>
          <a:xfrm>
            <a:off x="1454530" y="2319935"/>
            <a:ext cx="15929956" cy="1938992"/>
          </a:xfrm>
          <a:prstGeom prst="rect">
            <a:avLst/>
          </a:prstGeom>
        </p:spPr>
        <p:txBody>
          <a:bodyPr wrap="square">
            <a:spAutoFit/>
          </a:bodyPr>
          <a:lstStyle/>
          <a:p>
            <a:pPr marL="0" lvl="2" algn="just"/>
            <a:endParaRPr lang="en-PH" sz="2800" dirty="0" smtClean="0"/>
          </a:p>
          <a:p>
            <a:pPr marL="457200" lvl="2" indent="-457200" algn="just">
              <a:buFont typeface="Wingdings" panose="05000000000000000000" pitchFamily="2" charset="2"/>
              <a:buChar char="Ø"/>
            </a:pPr>
            <a:endParaRPr lang="en-PH" sz="2800" dirty="0" smtClean="0"/>
          </a:p>
          <a:p>
            <a:pPr marL="285750" lvl="2" indent="-285750" algn="just">
              <a:buFont typeface="Arial" panose="020B0604020202020204" pitchFamily="34" charset="0"/>
              <a:buChar char="•"/>
            </a:pPr>
            <a:endParaRPr lang="en-PH" sz="3200" dirty="0"/>
          </a:p>
          <a:p>
            <a:pPr marL="285750" indent="-285750" algn="just">
              <a:buFont typeface="Arial" panose="020B0604020202020204" pitchFamily="34" charset="0"/>
              <a:buChar char="•"/>
            </a:pPr>
            <a:endParaRPr lang="en-PH" sz="3200" dirty="0">
              <a:solidFill>
                <a:srgbClr val="005C2A"/>
              </a:solidFill>
              <a:latin typeface="Arial" panose="020B0604020202020204" pitchFamily="34" charset="0"/>
              <a:cs typeface="Arial" panose="020B0604020202020204" pitchFamily="34" charset="0"/>
            </a:endParaRPr>
          </a:p>
        </p:txBody>
      </p:sp>
      <p:sp>
        <p:nvSpPr>
          <p:cNvPr id="27" name="Rectangle 26"/>
          <p:cNvSpPr/>
          <p:nvPr/>
        </p:nvSpPr>
        <p:spPr>
          <a:xfrm>
            <a:off x="-60960" y="1734345"/>
            <a:ext cx="11486917" cy="2831544"/>
          </a:xfrm>
          <a:prstGeom prst="rect">
            <a:avLst/>
          </a:prstGeom>
        </p:spPr>
        <p:txBody>
          <a:bodyPr wrap="square">
            <a:spAutoFit/>
          </a:bodyPr>
          <a:lstStyle/>
          <a:p>
            <a:pPr algn="just"/>
            <a:r>
              <a:rPr lang="en-PH" sz="4000" dirty="0">
                <a:solidFill>
                  <a:srgbClr val="820000"/>
                </a:solidFill>
                <a:latin typeface="Arial" panose="020B0604020202020204" pitchFamily="34" charset="0"/>
                <a:cs typeface="Arial" panose="020B0604020202020204" pitchFamily="34" charset="0"/>
              </a:rPr>
              <a:t> </a:t>
            </a:r>
            <a:r>
              <a:rPr lang="en-PH" sz="4000" dirty="0" smtClean="0">
                <a:solidFill>
                  <a:srgbClr val="820000"/>
                </a:solidFill>
                <a:latin typeface="Arial" panose="020B0604020202020204" pitchFamily="34" charset="0"/>
                <a:cs typeface="Arial" panose="020B0604020202020204" pitchFamily="34" charset="0"/>
              </a:rPr>
              <a:t>  </a:t>
            </a:r>
            <a:r>
              <a:rPr lang="en-PH" sz="4000" dirty="0">
                <a:solidFill>
                  <a:srgbClr val="820000"/>
                </a:solidFill>
                <a:latin typeface="Arial" panose="020B0604020202020204" pitchFamily="34" charset="0"/>
                <a:cs typeface="Arial" panose="020B0604020202020204" pitchFamily="34" charset="0"/>
              </a:rPr>
              <a:t> </a:t>
            </a:r>
            <a:r>
              <a:rPr lang="en-PH" sz="4000" dirty="0" smtClean="0">
                <a:solidFill>
                  <a:srgbClr val="820000"/>
                </a:solidFill>
                <a:latin typeface="Arial" panose="020B0604020202020204" pitchFamily="34" charset="0"/>
                <a:cs typeface="Arial" panose="020B0604020202020204" pitchFamily="34" charset="0"/>
              </a:rPr>
              <a:t>3.3  </a:t>
            </a:r>
            <a:r>
              <a:rPr lang="en-PH" sz="4000" b="1" dirty="0" smtClean="0">
                <a:solidFill>
                  <a:srgbClr val="820000"/>
                </a:solidFill>
                <a:latin typeface="Arial" panose="020B0604020202020204" pitchFamily="34" charset="0"/>
                <a:cs typeface="Arial" panose="020B0604020202020204" pitchFamily="34" charset="0"/>
              </a:rPr>
              <a:t>Chemicals and Materials</a:t>
            </a:r>
          </a:p>
          <a:p>
            <a:pPr marL="0" lvl="2" algn="just"/>
            <a:endParaRPr lang="en-PH" b="1" dirty="0"/>
          </a:p>
          <a:p>
            <a:pPr algn="just"/>
            <a:r>
              <a:rPr lang="en-PH" sz="4000" dirty="0" smtClean="0"/>
              <a:t> </a:t>
            </a:r>
            <a:endParaRPr lang="en-PH" sz="4000" b="1" dirty="0">
              <a:solidFill>
                <a:srgbClr val="820000"/>
              </a:solidFill>
              <a:latin typeface="Arial" panose="020B0604020202020204" pitchFamily="34" charset="0"/>
              <a:cs typeface="Arial" panose="020B0604020202020204" pitchFamily="34" charset="0"/>
            </a:endParaRPr>
          </a:p>
          <a:p>
            <a:pPr algn="just"/>
            <a:endParaRPr lang="en-PH" sz="4000" b="1" dirty="0" smtClean="0">
              <a:solidFill>
                <a:srgbClr val="820000"/>
              </a:solidFill>
              <a:latin typeface="Arial" panose="020B0604020202020204" pitchFamily="34" charset="0"/>
              <a:cs typeface="Arial" panose="020B0604020202020204" pitchFamily="34" charset="0"/>
            </a:endParaRPr>
          </a:p>
          <a:p>
            <a:pPr algn="just"/>
            <a:r>
              <a:rPr lang="en-PH" sz="4000" b="1"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28" name="Rectangle 27"/>
          <p:cNvSpPr/>
          <p:nvPr/>
        </p:nvSpPr>
        <p:spPr>
          <a:xfrm>
            <a:off x="934927" y="2570302"/>
            <a:ext cx="17704837" cy="2708434"/>
          </a:xfrm>
          <a:prstGeom prst="rect">
            <a:avLst/>
          </a:prstGeom>
        </p:spPr>
        <p:txBody>
          <a:bodyPr wrap="square">
            <a:spAutoFit/>
          </a:bodyPr>
          <a:lstStyle/>
          <a:p>
            <a:pPr marL="457200" indent="-457200" algn="just">
              <a:buFont typeface="Arial" panose="020B0604020202020204" pitchFamily="34" charset="0"/>
              <a:buChar char="•"/>
            </a:pPr>
            <a:r>
              <a:rPr lang="en-PH" sz="3200" dirty="0">
                <a:solidFill>
                  <a:srgbClr val="820000"/>
                </a:solidFill>
                <a:latin typeface="Arial" panose="020B0604020202020204" pitchFamily="34" charset="0"/>
                <a:cs typeface="Arial" panose="020B0604020202020204" pitchFamily="34" charset="0"/>
              </a:rPr>
              <a:t> </a:t>
            </a:r>
            <a:r>
              <a:rPr lang="en-PH" sz="3200" dirty="0" smtClean="0">
                <a:solidFill>
                  <a:srgbClr val="820000"/>
                </a:solidFill>
                <a:latin typeface="Arial" panose="020B0604020202020204" pitchFamily="34" charset="0"/>
                <a:cs typeface="Arial" panose="020B0604020202020204" pitchFamily="34" charset="0"/>
              </a:rPr>
              <a:t>  </a:t>
            </a:r>
            <a:r>
              <a:rPr lang="en-PH" sz="3200" dirty="0">
                <a:solidFill>
                  <a:srgbClr val="820000"/>
                </a:solidFill>
                <a:latin typeface="Arial" panose="020B0604020202020204" pitchFamily="34" charset="0"/>
                <a:cs typeface="Arial" panose="020B0604020202020204" pitchFamily="34" charset="0"/>
              </a:rPr>
              <a:t> </a:t>
            </a:r>
            <a:r>
              <a:rPr lang="en-PH" sz="3200" dirty="0" smtClean="0">
                <a:solidFill>
                  <a:srgbClr val="820000"/>
                </a:solidFill>
                <a:latin typeface="Arial" panose="020B0604020202020204" pitchFamily="34" charset="0"/>
                <a:cs typeface="Arial" panose="020B0604020202020204" pitchFamily="34" charset="0"/>
              </a:rPr>
              <a:t>In preparing the coconut samples, the following instruments/ </a:t>
            </a:r>
            <a:r>
              <a:rPr lang="en-PH" sz="3200" dirty="0" err="1" smtClean="0">
                <a:solidFill>
                  <a:srgbClr val="820000"/>
                </a:solidFill>
                <a:latin typeface="Arial" panose="020B0604020202020204" pitchFamily="34" charset="0"/>
                <a:cs typeface="Arial" panose="020B0604020202020204" pitchFamily="34" charset="0"/>
              </a:rPr>
              <a:t>equipements</a:t>
            </a:r>
            <a:r>
              <a:rPr lang="en-PH" sz="3200" dirty="0" smtClean="0">
                <a:solidFill>
                  <a:srgbClr val="820000"/>
                </a:solidFill>
                <a:latin typeface="Arial" panose="020B0604020202020204" pitchFamily="34" charset="0"/>
                <a:cs typeface="Arial" panose="020B0604020202020204" pitchFamily="34" charset="0"/>
              </a:rPr>
              <a:t>   will be uses:</a:t>
            </a:r>
          </a:p>
          <a:p>
            <a:pPr marL="0" lvl="2" algn="just"/>
            <a:endParaRPr lang="en-PH" b="1" dirty="0"/>
          </a:p>
          <a:p>
            <a:pPr algn="just"/>
            <a:r>
              <a:rPr lang="en-PH" sz="4000" dirty="0" smtClean="0"/>
              <a:t> </a:t>
            </a:r>
            <a:endParaRPr lang="en-PH" sz="4000" b="1" dirty="0">
              <a:solidFill>
                <a:srgbClr val="820000"/>
              </a:solidFill>
              <a:latin typeface="Arial" panose="020B0604020202020204" pitchFamily="34" charset="0"/>
              <a:cs typeface="Arial" panose="020B0604020202020204" pitchFamily="34" charset="0"/>
            </a:endParaRPr>
          </a:p>
          <a:p>
            <a:pPr algn="just"/>
            <a:endParaRPr lang="en-PH" sz="4000" b="1" dirty="0" smtClean="0">
              <a:solidFill>
                <a:srgbClr val="820000"/>
              </a:solidFill>
              <a:latin typeface="Arial" panose="020B0604020202020204" pitchFamily="34" charset="0"/>
              <a:cs typeface="Arial" panose="020B0604020202020204" pitchFamily="34" charset="0"/>
            </a:endParaRPr>
          </a:p>
          <a:p>
            <a:pPr algn="just"/>
            <a:r>
              <a:rPr lang="en-PH" sz="4000" b="1"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cxnSp>
        <p:nvCxnSpPr>
          <p:cNvPr id="9" name="Straight Connector 8"/>
          <p:cNvCxnSpPr/>
          <p:nvPr/>
        </p:nvCxnSpPr>
        <p:spPr>
          <a:xfrm>
            <a:off x="2590800" y="3619500"/>
            <a:ext cx="0" cy="5029200"/>
          </a:xfrm>
          <a:prstGeom prst="line">
            <a:avLst/>
          </a:prstGeom>
          <a:ln w="38100">
            <a:solidFill>
              <a:srgbClr val="82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2590800" y="3619500"/>
            <a:ext cx="838200" cy="0"/>
          </a:xfrm>
          <a:prstGeom prst="line">
            <a:avLst/>
          </a:prstGeom>
          <a:ln w="38100">
            <a:solidFill>
              <a:srgbClr val="820000"/>
            </a:solidFill>
          </a:ln>
        </p:spPr>
        <p:style>
          <a:lnRef idx="1">
            <a:schemeClr val="accent1"/>
          </a:lnRef>
          <a:fillRef idx="0">
            <a:schemeClr val="accent1"/>
          </a:fillRef>
          <a:effectRef idx="0">
            <a:schemeClr val="accent1"/>
          </a:effectRef>
          <a:fontRef idx="minor">
            <a:schemeClr val="tx1"/>
          </a:fontRef>
        </p:style>
      </p:cxnSp>
      <p:sp>
        <p:nvSpPr>
          <p:cNvPr id="30" name="Rectangle 29"/>
          <p:cNvSpPr/>
          <p:nvPr/>
        </p:nvSpPr>
        <p:spPr>
          <a:xfrm>
            <a:off x="3288030" y="3301742"/>
            <a:ext cx="17704837" cy="2708434"/>
          </a:xfrm>
          <a:prstGeom prst="rect">
            <a:avLst/>
          </a:prstGeom>
        </p:spPr>
        <p:txBody>
          <a:bodyPr wrap="square">
            <a:spAutoFit/>
          </a:bodyPr>
          <a:lstStyle/>
          <a:p>
            <a:pPr algn="just"/>
            <a:r>
              <a:rPr lang="en-PH" sz="3200" dirty="0" smtClean="0">
                <a:solidFill>
                  <a:srgbClr val="820000"/>
                </a:solidFill>
                <a:latin typeface="Arial" panose="020B0604020202020204" pitchFamily="34" charset="0"/>
                <a:cs typeface="Arial" panose="020B0604020202020204" pitchFamily="34" charset="0"/>
              </a:rPr>
              <a:t> A</a:t>
            </a:r>
            <a:r>
              <a:rPr lang="en-PH" sz="3200" dirty="0" smtClean="0">
                <a:solidFill>
                  <a:srgbClr val="820000"/>
                </a:solidFill>
                <a:latin typeface="Arial" panose="020B0604020202020204" pitchFamily="34" charset="0"/>
                <a:ea typeface="Calibri" panose="020F0502020204030204" pitchFamily="34" charset="0"/>
                <a:cs typeface="Arial" panose="020B0604020202020204" pitchFamily="34" charset="0"/>
              </a:rPr>
              <a:t>nalytical </a:t>
            </a:r>
            <a:r>
              <a:rPr lang="en-PH" sz="3200" dirty="0">
                <a:solidFill>
                  <a:srgbClr val="820000"/>
                </a:solidFill>
                <a:latin typeface="Arial" panose="020B0604020202020204" pitchFamily="34" charset="0"/>
                <a:ea typeface="Calibri" panose="020F0502020204030204" pitchFamily="34" charset="0"/>
                <a:cs typeface="Arial" panose="020B0604020202020204" pitchFamily="34" charset="0"/>
              </a:rPr>
              <a:t>balance (Kern, ABS 220-4)</a:t>
            </a:r>
            <a:endParaRPr lang="en-PH" sz="3200" dirty="0" smtClean="0">
              <a:solidFill>
                <a:srgbClr val="820000"/>
              </a:solidFill>
              <a:latin typeface="Arial" panose="020B0604020202020204" pitchFamily="34" charset="0"/>
              <a:cs typeface="Arial" panose="020B0604020202020204" pitchFamily="34" charset="0"/>
            </a:endParaRPr>
          </a:p>
          <a:p>
            <a:pPr marL="0" lvl="2" algn="just"/>
            <a:endParaRPr lang="en-PH" b="1" dirty="0"/>
          </a:p>
          <a:p>
            <a:pPr algn="just"/>
            <a:r>
              <a:rPr lang="en-PH" sz="4000" dirty="0" smtClean="0"/>
              <a:t> </a:t>
            </a:r>
            <a:endParaRPr lang="en-PH" sz="4000" b="1" dirty="0">
              <a:solidFill>
                <a:srgbClr val="820000"/>
              </a:solidFill>
              <a:latin typeface="Arial" panose="020B0604020202020204" pitchFamily="34" charset="0"/>
              <a:cs typeface="Arial" panose="020B0604020202020204" pitchFamily="34" charset="0"/>
            </a:endParaRPr>
          </a:p>
          <a:p>
            <a:pPr algn="just"/>
            <a:endParaRPr lang="en-PH" sz="4000" b="1" dirty="0" smtClean="0">
              <a:solidFill>
                <a:srgbClr val="820000"/>
              </a:solidFill>
              <a:latin typeface="Arial" panose="020B0604020202020204" pitchFamily="34" charset="0"/>
              <a:cs typeface="Arial" panose="020B0604020202020204" pitchFamily="34" charset="0"/>
            </a:endParaRPr>
          </a:p>
          <a:p>
            <a:pPr algn="just"/>
            <a:r>
              <a:rPr lang="en-PH" sz="4000" b="1"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cxnSp>
        <p:nvCxnSpPr>
          <p:cNvPr id="31" name="Straight Connector 30"/>
          <p:cNvCxnSpPr/>
          <p:nvPr/>
        </p:nvCxnSpPr>
        <p:spPr>
          <a:xfrm>
            <a:off x="2590800" y="4258927"/>
            <a:ext cx="838200" cy="0"/>
          </a:xfrm>
          <a:prstGeom prst="line">
            <a:avLst/>
          </a:prstGeom>
          <a:ln w="38100">
            <a:solidFill>
              <a:srgbClr val="82000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2590800" y="4824175"/>
            <a:ext cx="838200" cy="0"/>
          </a:xfrm>
          <a:prstGeom prst="line">
            <a:avLst/>
          </a:prstGeom>
          <a:ln w="38100">
            <a:solidFill>
              <a:srgbClr val="82000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2590800" y="5499716"/>
            <a:ext cx="838200" cy="0"/>
          </a:xfrm>
          <a:prstGeom prst="line">
            <a:avLst/>
          </a:prstGeom>
          <a:ln w="38100">
            <a:solidFill>
              <a:srgbClr val="82000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2590800" y="6086456"/>
            <a:ext cx="838200" cy="0"/>
          </a:xfrm>
          <a:prstGeom prst="line">
            <a:avLst/>
          </a:prstGeom>
          <a:ln w="38100">
            <a:solidFill>
              <a:srgbClr val="820000"/>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2590800" y="6667500"/>
            <a:ext cx="838200" cy="0"/>
          </a:xfrm>
          <a:prstGeom prst="line">
            <a:avLst/>
          </a:prstGeom>
          <a:ln w="38100">
            <a:solidFill>
              <a:srgbClr val="820000"/>
            </a:solidFill>
          </a:ln>
        </p:spPr>
        <p:style>
          <a:lnRef idx="1">
            <a:schemeClr val="accent1"/>
          </a:lnRef>
          <a:fillRef idx="0">
            <a:schemeClr val="accent1"/>
          </a:fillRef>
          <a:effectRef idx="0">
            <a:schemeClr val="accent1"/>
          </a:effectRef>
          <a:fontRef idx="minor">
            <a:schemeClr val="tx1"/>
          </a:fontRef>
        </p:style>
      </p:cxnSp>
      <p:sp>
        <p:nvSpPr>
          <p:cNvPr id="37" name="Rectangle 36"/>
          <p:cNvSpPr/>
          <p:nvPr/>
        </p:nvSpPr>
        <p:spPr>
          <a:xfrm>
            <a:off x="3288030" y="3911759"/>
            <a:ext cx="17704837" cy="2708434"/>
          </a:xfrm>
          <a:prstGeom prst="rect">
            <a:avLst/>
          </a:prstGeom>
        </p:spPr>
        <p:txBody>
          <a:bodyPr wrap="square">
            <a:spAutoFit/>
          </a:bodyPr>
          <a:lstStyle/>
          <a:p>
            <a:pPr algn="just"/>
            <a:r>
              <a:rPr lang="en-PH" sz="3200" dirty="0" smtClean="0">
                <a:solidFill>
                  <a:srgbClr val="820000"/>
                </a:solidFill>
                <a:latin typeface="Arial" panose="020B0604020202020204" pitchFamily="34" charset="0"/>
                <a:cs typeface="Arial" panose="020B0604020202020204" pitchFamily="34" charset="0"/>
              </a:rPr>
              <a:t> C</a:t>
            </a:r>
            <a:r>
              <a:rPr lang="en-PH" sz="3200" dirty="0" smtClean="0">
                <a:solidFill>
                  <a:srgbClr val="820000"/>
                </a:solidFill>
                <a:latin typeface="Arial" panose="020B0604020202020204" pitchFamily="34" charset="0"/>
                <a:ea typeface="Calibri" panose="020F0502020204030204" pitchFamily="34" charset="0"/>
                <a:cs typeface="Arial" panose="020B0604020202020204" pitchFamily="34" charset="0"/>
              </a:rPr>
              <a:t>entrifuge</a:t>
            </a:r>
            <a:r>
              <a:rPr lang="en-PH" sz="3200" dirty="0" smtClean="0">
                <a:latin typeface="Arial" panose="020B0604020202020204" pitchFamily="34" charset="0"/>
                <a:ea typeface="Calibri" panose="020F0502020204030204" pitchFamily="34" charset="0"/>
                <a:cs typeface="Arial" panose="020B0604020202020204" pitchFamily="34" charset="0"/>
              </a:rPr>
              <a:t> </a:t>
            </a:r>
            <a:r>
              <a:rPr lang="en-PH" sz="3200" dirty="0">
                <a:solidFill>
                  <a:srgbClr val="820000"/>
                </a:solidFill>
                <a:latin typeface="Arial" panose="020B0604020202020204" pitchFamily="34" charset="0"/>
                <a:ea typeface="Calibri" panose="020F0502020204030204" pitchFamily="34" charset="0"/>
                <a:cs typeface="Arial" panose="020B0604020202020204" pitchFamily="34" charset="0"/>
              </a:rPr>
              <a:t>(LC-04C),</a:t>
            </a:r>
            <a:endParaRPr lang="en-PH" sz="3200" dirty="0" smtClean="0">
              <a:solidFill>
                <a:srgbClr val="820000"/>
              </a:solidFill>
              <a:latin typeface="Arial" panose="020B0604020202020204" pitchFamily="34" charset="0"/>
              <a:cs typeface="Arial" panose="020B0604020202020204" pitchFamily="34" charset="0"/>
            </a:endParaRPr>
          </a:p>
          <a:p>
            <a:pPr marL="0" lvl="2" algn="just"/>
            <a:endParaRPr lang="en-PH" b="1" dirty="0"/>
          </a:p>
          <a:p>
            <a:pPr algn="just"/>
            <a:r>
              <a:rPr lang="en-PH" sz="4000" dirty="0" smtClean="0"/>
              <a:t> </a:t>
            </a:r>
            <a:endParaRPr lang="en-PH" sz="4000" b="1" dirty="0">
              <a:solidFill>
                <a:srgbClr val="820000"/>
              </a:solidFill>
              <a:latin typeface="Arial" panose="020B0604020202020204" pitchFamily="34" charset="0"/>
              <a:cs typeface="Arial" panose="020B0604020202020204" pitchFamily="34" charset="0"/>
            </a:endParaRPr>
          </a:p>
          <a:p>
            <a:pPr algn="just"/>
            <a:endParaRPr lang="en-PH" sz="4000" b="1" dirty="0" smtClean="0">
              <a:solidFill>
                <a:srgbClr val="820000"/>
              </a:solidFill>
              <a:latin typeface="Arial" panose="020B0604020202020204" pitchFamily="34" charset="0"/>
              <a:cs typeface="Arial" panose="020B0604020202020204" pitchFamily="34" charset="0"/>
            </a:endParaRPr>
          </a:p>
          <a:p>
            <a:pPr algn="just"/>
            <a:r>
              <a:rPr lang="en-PH" sz="4000" b="1"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38" name="Rectangle 37"/>
          <p:cNvSpPr/>
          <p:nvPr/>
        </p:nvSpPr>
        <p:spPr>
          <a:xfrm>
            <a:off x="3251718" y="4491914"/>
            <a:ext cx="17704837" cy="2708434"/>
          </a:xfrm>
          <a:prstGeom prst="rect">
            <a:avLst/>
          </a:prstGeom>
        </p:spPr>
        <p:txBody>
          <a:bodyPr wrap="square">
            <a:spAutoFit/>
          </a:bodyPr>
          <a:lstStyle/>
          <a:p>
            <a:pPr algn="just"/>
            <a:r>
              <a:rPr lang="en-PH" sz="3200" dirty="0" smtClean="0">
                <a:solidFill>
                  <a:srgbClr val="820000"/>
                </a:solidFill>
                <a:latin typeface="Arial" panose="020B0604020202020204" pitchFamily="34" charset="0"/>
                <a:cs typeface="Arial" panose="020B0604020202020204" pitchFamily="34" charset="0"/>
              </a:rPr>
              <a:t> V</a:t>
            </a:r>
            <a:r>
              <a:rPr lang="en-PH" sz="3200" dirty="0" smtClean="0">
                <a:solidFill>
                  <a:srgbClr val="820000"/>
                </a:solidFill>
                <a:latin typeface="Arial" panose="020B0604020202020204" pitchFamily="34" charset="0"/>
                <a:ea typeface="Calibri" panose="020F0502020204030204" pitchFamily="34" charset="0"/>
                <a:cs typeface="Arial" panose="020B0604020202020204" pitchFamily="34" charset="0"/>
              </a:rPr>
              <a:t>ortex </a:t>
            </a:r>
            <a:r>
              <a:rPr lang="en-PH" sz="3200" dirty="0">
                <a:solidFill>
                  <a:srgbClr val="820000"/>
                </a:solidFill>
                <a:latin typeface="Arial" panose="020B0604020202020204" pitchFamily="34" charset="0"/>
                <a:ea typeface="Calibri" panose="020F0502020204030204" pitchFamily="34" charset="0"/>
                <a:cs typeface="Arial" panose="020B0604020202020204" pitchFamily="34" charset="0"/>
              </a:rPr>
              <a:t>mixer (LMS Mixer </a:t>
            </a:r>
            <a:r>
              <a:rPr lang="en-PH" sz="3200" dirty="0" err="1">
                <a:solidFill>
                  <a:srgbClr val="820000"/>
                </a:solidFill>
                <a:latin typeface="Arial" panose="020B0604020202020204" pitchFamily="34" charset="0"/>
                <a:ea typeface="Calibri" panose="020F0502020204030204" pitchFamily="34" charset="0"/>
                <a:cs typeface="Arial" panose="020B0604020202020204" pitchFamily="34" charset="0"/>
              </a:rPr>
              <a:t>Uzosio</a:t>
            </a:r>
            <a:r>
              <a:rPr lang="en-PH" sz="3200" dirty="0">
                <a:solidFill>
                  <a:srgbClr val="820000"/>
                </a:solidFill>
                <a:latin typeface="Arial" panose="020B0604020202020204" pitchFamily="34" charset="0"/>
                <a:ea typeface="Calibri" panose="020F0502020204030204" pitchFamily="34" charset="0"/>
                <a:cs typeface="Arial" panose="020B0604020202020204" pitchFamily="34" charset="0"/>
              </a:rPr>
              <a:t> VTX-3000L),</a:t>
            </a:r>
            <a:endParaRPr lang="en-PH" sz="3200" dirty="0" smtClean="0">
              <a:solidFill>
                <a:srgbClr val="820000"/>
              </a:solidFill>
              <a:latin typeface="Arial" panose="020B0604020202020204" pitchFamily="34" charset="0"/>
              <a:cs typeface="Arial" panose="020B0604020202020204" pitchFamily="34" charset="0"/>
            </a:endParaRPr>
          </a:p>
          <a:p>
            <a:pPr marL="0" lvl="2" algn="just"/>
            <a:endParaRPr lang="en-PH" b="1" dirty="0"/>
          </a:p>
          <a:p>
            <a:pPr algn="just"/>
            <a:r>
              <a:rPr lang="en-PH" sz="4000" dirty="0" smtClean="0"/>
              <a:t> </a:t>
            </a:r>
            <a:endParaRPr lang="en-PH" sz="4000" b="1" dirty="0">
              <a:solidFill>
                <a:srgbClr val="820000"/>
              </a:solidFill>
              <a:latin typeface="Arial" panose="020B0604020202020204" pitchFamily="34" charset="0"/>
              <a:cs typeface="Arial" panose="020B0604020202020204" pitchFamily="34" charset="0"/>
            </a:endParaRPr>
          </a:p>
          <a:p>
            <a:pPr algn="just"/>
            <a:endParaRPr lang="en-PH" sz="4000" b="1" dirty="0" smtClean="0">
              <a:solidFill>
                <a:srgbClr val="820000"/>
              </a:solidFill>
              <a:latin typeface="Arial" panose="020B0604020202020204" pitchFamily="34" charset="0"/>
              <a:cs typeface="Arial" panose="020B0604020202020204" pitchFamily="34" charset="0"/>
            </a:endParaRPr>
          </a:p>
          <a:p>
            <a:pPr algn="just"/>
            <a:r>
              <a:rPr lang="en-PH" sz="4000" b="1"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39" name="Rectangle 38"/>
          <p:cNvSpPr/>
          <p:nvPr/>
        </p:nvSpPr>
        <p:spPr>
          <a:xfrm>
            <a:off x="3269874" y="5193684"/>
            <a:ext cx="17704837" cy="2708434"/>
          </a:xfrm>
          <a:prstGeom prst="rect">
            <a:avLst/>
          </a:prstGeom>
        </p:spPr>
        <p:txBody>
          <a:bodyPr wrap="square">
            <a:spAutoFit/>
          </a:bodyPr>
          <a:lstStyle/>
          <a:p>
            <a:pPr algn="just"/>
            <a:r>
              <a:rPr lang="en-PH" sz="3200" dirty="0" smtClean="0">
                <a:solidFill>
                  <a:srgbClr val="820000"/>
                </a:solidFill>
                <a:latin typeface="Arial" panose="020B0604020202020204" pitchFamily="34" charset="0"/>
                <a:cs typeface="Arial" panose="020B0604020202020204" pitchFamily="34" charset="0"/>
              </a:rPr>
              <a:t> M</a:t>
            </a:r>
            <a:r>
              <a:rPr lang="en-PH" sz="3200" dirty="0" smtClean="0">
                <a:solidFill>
                  <a:srgbClr val="820000"/>
                </a:solidFill>
                <a:latin typeface="Arial" panose="020B0604020202020204" pitchFamily="34" charset="0"/>
                <a:ea typeface="Calibri" panose="020F0502020204030204" pitchFamily="34" charset="0"/>
                <a:cs typeface="Arial" panose="020B0604020202020204" pitchFamily="34" charset="0"/>
              </a:rPr>
              <a:t>agnetic</a:t>
            </a:r>
            <a:r>
              <a:rPr lang="en-PH" sz="3200" dirty="0" smtClean="0">
                <a:latin typeface="Arial" panose="020B0604020202020204" pitchFamily="34" charset="0"/>
                <a:ea typeface="Calibri" panose="020F0502020204030204" pitchFamily="34" charset="0"/>
                <a:cs typeface="Arial" panose="020B0604020202020204" pitchFamily="34" charset="0"/>
              </a:rPr>
              <a:t> </a:t>
            </a:r>
            <a:r>
              <a:rPr lang="en-PH" sz="3200" dirty="0">
                <a:latin typeface="Arial" panose="020B0604020202020204" pitchFamily="34" charset="0"/>
                <a:ea typeface="Calibri" panose="020F0502020204030204" pitchFamily="34" charset="0"/>
                <a:cs typeface="Arial" panose="020B0604020202020204" pitchFamily="34" charset="0"/>
              </a:rPr>
              <a:t>stirrer</a:t>
            </a:r>
            <a:endParaRPr lang="en-PH" sz="3200" dirty="0" smtClean="0">
              <a:solidFill>
                <a:srgbClr val="820000"/>
              </a:solidFill>
              <a:latin typeface="Arial" panose="020B0604020202020204" pitchFamily="34" charset="0"/>
              <a:cs typeface="Arial" panose="020B0604020202020204" pitchFamily="34" charset="0"/>
            </a:endParaRPr>
          </a:p>
          <a:p>
            <a:pPr marL="0" lvl="2" algn="just"/>
            <a:endParaRPr lang="en-PH" b="1" dirty="0"/>
          </a:p>
          <a:p>
            <a:pPr algn="just"/>
            <a:r>
              <a:rPr lang="en-PH" sz="4000" dirty="0" smtClean="0"/>
              <a:t> </a:t>
            </a:r>
            <a:endParaRPr lang="en-PH" sz="4000" b="1" dirty="0">
              <a:solidFill>
                <a:srgbClr val="820000"/>
              </a:solidFill>
              <a:latin typeface="Arial" panose="020B0604020202020204" pitchFamily="34" charset="0"/>
              <a:cs typeface="Arial" panose="020B0604020202020204" pitchFamily="34" charset="0"/>
            </a:endParaRPr>
          </a:p>
          <a:p>
            <a:pPr algn="just"/>
            <a:endParaRPr lang="en-PH" sz="4000" b="1" dirty="0" smtClean="0">
              <a:solidFill>
                <a:srgbClr val="820000"/>
              </a:solidFill>
              <a:latin typeface="Arial" panose="020B0604020202020204" pitchFamily="34" charset="0"/>
              <a:cs typeface="Arial" panose="020B0604020202020204" pitchFamily="34" charset="0"/>
            </a:endParaRPr>
          </a:p>
          <a:p>
            <a:pPr algn="just"/>
            <a:r>
              <a:rPr lang="en-PH" sz="4000" b="1"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40" name="Rectangle 39"/>
          <p:cNvSpPr/>
          <p:nvPr/>
        </p:nvSpPr>
        <p:spPr>
          <a:xfrm>
            <a:off x="3233562" y="5755292"/>
            <a:ext cx="17704837" cy="2431435"/>
          </a:xfrm>
          <a:prstGeom prst="rect">
            <a:avLst/>
          </a:prstGeom>
        </p:spPr>
        <p:txBody>
          <a:bodyPr wrap="square">
            <a:spAutoFit/>
          </a:bodyPr>
          <a:lstStyle/>
          <a:p>
            <a:pPr algn="just"/>
            <a:r>
              <a:rPr lang="en-PH" sz="3200" dirty="0" smtClean="0">
                <a:solidFill>
                  <a:srgbClr val="820000"/>
                </a:solidFill>
                <a:latin typeface="Arial" panose="020B0604020202020204" pitchFamily="34" charset="0"/>
                <a:cs typeface="Arial" panose="020B0604020202020204" pitchFamily="34" charset="0"/>
              </a:rPr>
              <a:t> </a:t>
            </a:r>
            <a:r>
              <a:rPr lang="en-PH" sz="3200" dirty="0">
                <a:solidFill>
                  <a:srgbClr val="820000"/>
                </a:solidFill>
                <a:latin typeface="Arial" panose="020B0604020202020204" pitchFamily="34" charset="0"/>
                <a:ea typeface="Calibri" panose="020F0502020204030204" pitchFamily="34" charset="0"/>
                <a:cs typeface="Arial" panose="020B0604020202020204" pitchFamily="34" charset="0"/>
              </a:rPr>
              <a:t>water bath shaker</a:t>
            </a:r>
            <a:endParaRPr lang="en-PH" b="1" dirty="0">
              <a:solidFill>
                <a:srgbClr val="820000"/>
              </a:solidFill>
            </a:endParaRPr>
          </a:p>
          <a:p>
            <a:pPr algn="just"/>
            <a:r>
              <a:rPr lang="en-PH" sz="4000" dirty="0" smtClean="0"/>
              <a:t> </a:t>
            </a:r>
            <a:endParaRPr lang="en-PH" sz="4000" b="1" dirty="0">
              <a:solidFill>
                <a:srgbClr val="820000"/>
              </a:solidFill>
              <a:latin typeface="Arial" panose="020B0604020202020204" pitchFamily="34" charset="0"/>
              <a:cs typeface="Arial" panose="020B0604020202020204" pitchFamily="34" charset="0"/>
            </a:endParaRPr>
          </a:p>
          <a:p>
            <a:pPr algn="just"/>
            <a:endParaRPr lang="en-PH" sz="4000" b="1" dirty="0" smtClean="0">
              <a:solidFill>
                <a:srgbClr val="820000"/>
              </a:solidFill>
              <a:latin typeface="Arial" panose="020B0604020202020204" pitchFamily="34" charset="0"/>
              <a:cs typeface="Arial" panose="020B0604020202020204" pitchFamily="34" charset="0"/>
            </a:endParaRPr>
          </a:p>
          <a:p>
            <a:pPr algn="just"/>
            <a:r>
              <a:rPr lang="en-PH" sz="4000" b="1"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41" name="Rectangle 40"/>
          <p:cNvSpPr/>
          <p:nvPr/>
        </p:nvSpPr>
        <p:spPr>
          <a:xfrm>
            <a:off x="3189630" y="6396093"/>
            <a:ext cx="17704837" cy="2708434"/>
          </a:xfrm>
          <a:prstGeom prst="rect">
            <a:avLst/>
          </a:prstGeom>
        </p:spPr>
        <p:txBody>
          <a:bodyPr wrap="square">
            <a:spAutoFit/>
          </a:bodyPr>
          <a:lstStyle/>
          <a:p>
            <a:pPr algn="just"/>
            <a:r>
              <a:rPr lang="en-PH" sz="3200" dirty="0" smtClean="0">
                <a:solidFill>
                  <a:srgbClr val="820000"/>
                </a:solidFill>
                <a:latin typeface="Arial" panose="020B0604020202020204" pitchFamily="34" charset="0"/>
                <a:cs typeface="Arial" panose="020B0604020202020204" pitchFamily="34" charset="0"/>
              </a:rPr>
              <a:t>  Freeze dryer</a:t>
            </a:r>
          </a:p>
          <a:p>
            <a:pPr marL="0" lvl="2" algn="just"/>
            <a:endParaRPr lang="en-PH" b="1" dirty="0"/>
          </a:p>
          <a:p>
            <a:pPr algn="just"/>
            <a:r>
              <a:rPr lang="en-PH" sz="4000" dirty="0" smtClean="0"/>
              <a:t> </a:t>
            </a:r>
            <a:endParaRPr lang="en-PH" sz="4000" b="1" dirty="0">
              <a:solidFill>
                <a:srgbClr val="820000"/>
              </a:solidFill>
              <a:latin typeface="Arial" panose="020B0604020202020204" pitchFamily="34" charset="0"/>
              <a:cs typeface="Arial" panose="020B0604020202020204" pitchFamily="34" charset="0"/>
            </a:endParaRPr>
          </a:p>
          <a:p>
            <a:pPr algn="just"/>
            <a:endParaRPr lang="en-PH" sz="4000" b="1" dirty="0" smtClean="0">
              <a:solidFill>
                <a:srgbClr val="820000"/>
              </a:solidFill>
              <a:latin typeface="Arial" panose="020B0604020202020204" pitchFamily="34" charset="0"/>
              <a:cs typeface="Arial" panose="020B0604020202020204" pitchFamily="34" charset="0"/>
            </a:endParaRPr>
          </a:p>
          <a:p>
            <a:pPr algn="just"/>
            <a:r>
              <a:rPr lang="en-PH" sz="4000" b="1"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cxnSp>
        <p:nvCxnSpPr>
          <p:cNvPr id="42" name="Straight Connector 41"/>
          <p:cNvCxnSpPr/>
          <p:nvPr/>
        </p:nvCxnSpPr>
        <p:spPr>
          <a:xfrm>
            <a:off x="2608722" y="7277100"/>
            <a:ext cx="838200" cy="0"/>
          </a:xfrm>
          <a:prstGeom prst="line">
            <a:avLst/>
          </a:prstGeom>
          <a:ln w="38100">
            <a:solidFill>
              <a:srgbClr val="820000"/>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2608722" y="7902118"/>
            <a:ext cx="838200" cy="0"/>
          </a:xfrm>
          <a:prstGeom prst="line">
            <a:avLst/>
          </a:prstGeom>
          <a:ln w="38100">
            <a:solidFill>
              <a:srgbClr val="820000"/>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2590800" y="8632908"/>
            <a:ext cx="838200" cy="0"/>
          </a:xfrm>
          <a:prstGeom prst="line">
            <a:avLst/>
          </a:prstGeom>
          <a:ln w="38100">
            <a:solidFill>
              <a:srgbClr val="820000"/>
            </a:solidFill>
          </a:ln>
        </p:spPr>
        <p:style>
          <a:lnRef idx="1">
            <a:schemeClr val="accent1"/>
          </a:lnRef>
          <a:fillRef idx="0">
            <a:schemeClr val="accent1"/>
          </a:fillRef>
          <a:effectRef idx="0">
            <a:schemeClr val="accent1"/>
          </a:effectRef>
          <a:fontRef idx="minor">
            <a:schemeClr val="tx1"/>
          </a:fontRef>
        </p:style>
      </p:cxnSp>
      <p:sp>
        <p:nvSpPr>
          <p:cNvPr id="45" name="Rectangle 44"/>
          <p:cNvSpPr/>
          <p:nvPr/>
        </p:nvSpPr>
        <p:spPr>
          <a:xfrm>
            <a:off x="3281304" y="6977030"/>
            <a:ext cx="17704837" cy="2708434"/>
          </a:xfrm>
          <a:prstGeom prst="rect">
            <a:avLst/>
          </a:prstGeom>
        </p:spPr>
        <p:txBody>
          <a:bodyPr wrap="square">
            <a:spAutoFit/>
          </a:bodyPr>
          <a:lstStyle/>
          <a:p>
            <a:pPr algn="just"/>
            <a:r>
              <a:rPr lang="en-PH" sz="3200" dirty="0" smtClean="0">
                <a:solidFill>
                  <a:srgbClr val="820000"/>
                </a:solidFill>
                <a:latin typeface="Arial" panose="020B0604020202020204" pitchFamily="34" charset="0"/>
                <a:cs typeface="Arial" panose="020B0604020202020204" pitchFamily="34" charset="0"/>
              </a:rPr>
              <a:t> </a:t>
            </a:r>
            <a:r>
              <a:rPr lang="en-PH" sz="3200" dirty="0">
                <a:solidFill>
                  <a:srgbClr val="820000"/>
                </a:solidFill>
                <a:latin typeface="Arial" panose="020B0604020202020204" pitchFamily="34" charset="0"/>
                <a:ea typeface="Calibri" panose="020F0502020204030204" pitchFamily="34" charset="0"/>
                <a:cs typeface="Arial" panose="020B0604020202020204" pitchFamily="34" charset="0"/>
              </a:rPr>
              <a:t>UV-Vis spectrophotometer double beam (Peak </a:t>
            </a:r>
            <a:r>
              <a:rPr lang="en-PH" sz="3200" dirty="0" smtClean="0">
                <a:solidFill>
                  <a:srgbClr val="820000"/>
                </a:solidFill>
                <a:latin typeface="Arial" panose="020B0604020202020204" pitchFamily="34" charset="0"/>
                <a:ea typeface="Calibri" panose="020F0502020204030204" pitchFamily="34" charset="0"/>
                <a:cs typeface="Arial" panose="020B0604020202020204" pitchFamily="34" charset="0"/>
              </a:rPr>
              <a:t>Instruments)</a:t>
            </a:r>
            <a:endParaRPr lang="en-PH" sz="3200" dirty="0" smtClean="0">
              <a:solidFill>
                <a:srgbClr val="820000"/>
              </a:solidFill>
              <a:latin typeface="Arial" panose="020B0604020202020204" pitchFamily="34" charset="0"/>
              <a:cs typeface="Arial" panose="020B0604020202020204" pitchFamily="34" charset="0"/>
            </a:endParaRPr>
          </a:p>
          <a:p>
            <a:pPr marL="0" lvl="2" algn="just"/>
            <a:endParaRPr lang="en-PH" b="1" dirty="0"/>
          </a:p>
          <a:p>
            <a:pPr algn="just"/>
            <a:r>
              <a:rPr lang="en-PH" sz="4000" dirty="0" smtClean="0"/>
              <a:t> </a:t>
            </a:r>
            <a:endParaRPr lang="en-PH" sz="4000" b="1" dirty="0">
              <a:solidFill>
                <a:srgbClr val="820000"/>
              </a:solidFill>
              <a:latin typeface="Arial" panose="020B0604020202020204" pitchFamily="34" charset="0"/>
              <a:cs typeface="Arial" panose="020B0604020202020204" pitchFamily="34" charset="0"/>
            </a:endParaRPr>
          </a:p>
          <a:p>
            <a:pPr algn="just"/>
            <a:endParaRPr lang="en-PH" sz="4000" b="1" dirty="0" smtClean="0">
              <a:solidFill>
                <a:srgbClr val="820000"/>
              </a:solidFill>
              <a:latin typeface="Arial" panose="020B0604020202020204" pitchFamily="34" charset="0"/>
              <a:cs typeface="Arial" panose="020B0604020202020204" pitchFamily="34" charset="0"/>
            </a:endParaRPr>
          </a:p>
          <a:p>
            <a:pPr algn="just"/>
            <a:r>
              <a:rPr lang="en-PH" sz="4000" b="1"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46" name="Rectangle 45"/>
          <p:cNvSpPr/>
          <p:nvPr/>
        </p:nvSpPr>
        <p:spPr>
          <a:xfrm>
            <a:off x="3233562" y="7559507"/>
            <a:ext cx="17704837" cy="2708434"/>
          </a:xfrm>
          <a:prstGeom prst="rect">
            <a:avLst/>
          </a:prstGeom>
        </p:spPr>
        <p:txBody>
          <a:bodyPr wrap="square">
            <a:spAutoFit/>
          </a:bodyPr>
          <a:lstStyle/>
          <a:p>
            <a:pPr algn="just"/>
            <a:r>
              <a:rPr lang="en-PH" sz="3200" dirty="0" smtClean="0">
                <a:solidFill>
                  <a:srgbClr val="820000"/>
                </a:solidFill>
                <a:latin typeface="Arial" panose="020B0604020202020204" pitchFamily="34" charset="0"/>
                <a:cs typeface="Arial" panose="020B0604020202020204" pitchFamily="34" charset="0"/>
              </a:rPr>
              <a:t> </a:t>
            </a:r>
            <a:r>
              <a:rPr lang="en-PH" sz="3200" dirty="0" smtClean="0">
                <a:solidFill>
                  <a:srgbClr val="820000"/>
                </a:solidFill>
                <a:latin typeface="Arial" panose="020B0604020202020204" pitchFamily="34" charset="0"/>
                <a:ea typeface="Calibri" panose="020F0502020204030204" pitchFamily="34" charset="0"/>
                <a:cs typeface="Arial" panose="020B0604020202020204" pitchFamily="34" charset="0"/>
              </a:rPr>
              <a:t>FTIR </a:t>
            </a:r>
            <a:r>
              <a:rPr lang="en-PH" sz="3200" dirty="0">
                <a:solidFill>
                  <a:srgbClr val="820000"/>
                </a:solidFill>
                <a:latin typeface="Arial" panose="020B0604020202020204" pitchFamily="34" charset="0"/>
                <a:ea typeface="Calibri" panose="020F0502020204030204" pitchFamily="34" charset="0"/>
                <a:cs typeface="Arial" panose="020B0604020202020204" pitchFamily="34" charset="0"/>
              </a:rPr>
              <a:t>spectrometer</a:t>
            </a:r>
            <a:endParaRPr lang="en-PH" sz="3200" dirty="0" smtClean="0">
              <a:solidFill>
                <a:srgbClr val="820000"/>
              </a:solidFill>
              <a:latin typeface="Arial" panose="020B0604020202020204" pitchFamily="34" charset="0"/>
              <a:cs typeface="Arial" panose="020B0604020202020204" pitchFamily="34" charset="0"/>
            </a:endParaRPr>
          </a:p>
          <a:p>
            <a:pPr marL="0" lvl="2" algn="just"/>
            <a:endParaRPr lang="en-PH" b="1" dirty="0"/>
          </a:p>
          <a:p>
            <a:pPr algn="just"/>
            <a:r>
              <a:rPr lang="en-PH" sz="4000" dirty="0" smtClean="0"/>
              <a:t> </a:t>
            </a:r>
            <a:endParaRPr lang="en-PH" sz="4000" b="1" dirty="0">
              <a:solidFill>
                <a:srgbClr val="820000"/>
              </a:solidFill>
              <a:latin typeface="Arial" panose="020B0604020202020204" pitchFamily="34" charset="0"/>
              <a:cs typeface="Arial" panose="020B0604020202020204" pitchFamily="34" charset="0"/>
            </a:endParaRPr>
          </a:p>
          <a:p>
            <a:pPr algn="just"/>
            <a:endParaRPr lang="en-PH" sz="4000" b="1" dirty="0" smtClean="0">
              <a:solidFill>
                <a:srgbClr val="820000"/>
              </a:solidFill>
              <a:latin typeface="Arial" panose="020B0604020202020204" pitchFamily="34" charset="0"/>
              <a:cs typeface="Arial" panose="020B0604020202020204" pitchFamily="34" charset="0"/>
            </a:endParaRPr>
          </a:p>
          <a:p>
            <a:pPr algn="just"/>
            <a:r>
              <a:rPr lang="en-PH" sz="4000" b="1"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47" name="Rectangle 46"/>
          <p:cNvSpPr/>
          <p:nvPr/>
        </p:nvSpPr>
        <p:spPr>
          <a:xfrm>
            <a:off x="3168634" y="8331247"/>
            <a:ext cx="17704837" cy="3200876"/>
          </a:xfrm>
          <a:prstGeom prst="rect">
            <a:avLst/>
          </a:prstGeom>
        </p:spPr>
        <p:txBody>
          <a:bodyPr wrap="square">
            <a:spAutoFit/>
          </a:bodyPr>
          <a:lstStyle/>
          <a:p>
            <a:pPr algn="just"/>
            <a:r>
              <a:rPr lang="en-PH" sz="3200" dirty="0" smtClean="0">
                <a:solidFill>
                  <a:srgbClr val="820000"/>
                </a:solidFill>
                <a:latin typeface="Arial" panose="020B0604020202020204" pitchFamily="34" charset="0"/>
                <a:cs typeface="Arial" panose="020B0604020202020204" pitchFamily="34" charset="0"/>
              </a:rPr>
              <a:t> </a:t>
            </a:r>
            <a:r>
              <a:rPr lang="en-PH" sz="3200" dirty="0">
                <a:solidFill>
                  <a:srgbClr val="820000"/>
                </a:solidFill>
                <a:latin typeface="Arial" panose="020B0604020202020204" pitchFamily="34" charset="0"/>
                <a:ea typeface="Calibri" panose="020F0502020204030204" pitchFamily="34" charset="0"/>
                <a:cs typeface="Arial" panose="020B0604020202020204" pitchFamily="34" charset="0"/>
              </a:rPr>
              <a:t>LCMS-2020 instrument (Shimadzu).</a:t>
            </a:r>
            <a:endParaRPr lang="en-PH" sz="3200" dirty="0">
              <a:solidFill>
                <a:srgbClr val="820000"/>
              </a:solidFill>
              <a:latin typeface="Arial" panose="020B0604020202020204" pitchFamily="34" charset="0"/>
              <a:ea typeface="Calibri" panose="020F0502020204030204" pitchFamily="34" charset="0"/>
              <a:cs typeface="Times New Roman" panose="02020603050405020304" pitchFamily="18" charset="0"/>
            </a:endParaRPr>
          </a:p>
          <a:p>
            <a:pPr algn="just"/>
            <a:endParaRPr lang="en-PH" sz="3200" dirty="0" smtClean="0">
              <a:solidFill>
                <a:srgbClr val="820000"/>
              </a:solidFill>
              <a:latin typeface="Arial" panose="020B0604020202020204" pitchFamily="34" charset="0"/>
              <a:cs typeface="Arial" panose="020B0604020202020204" pitchFamily="34" charset="0"/>
            </a:endParaRPr>
          </a:p>
          <a:p>
            <a:pPr marL="0" lvl="2" algn="just"/>
            <a:endParaRPr lang="en-PH" b="1" dirty="0"/>
          </a:p>
          <a:p>
            <a:pPr algn="just"/>
            <a:r>
              <a:rPr lang="en-PH" sz="4000" dirty="0" smtClean="0"/>
              <a:t> </a:t>
            </a:r>
            <a:endParaRPr lang="en-PH" sz="4000" b="1" dirty="0">
              <a:solidFill>
                <a:srgbClr val="820000"/>
              </a:solidFill>
              <a:latin typeface="Arial" panose="020B0604020202020204" pitchFamily="34" charset="0"/>
              <a:cs typeface="Arial" panose="020B0604020202020204" pitchFamily="34" charset="0"/>
            </a:endParaRPr>
          </a:p>
          <a:p>
            <a:pPr algn="just"/>
            <a:endParaRPr lang="en-PH" sz="4000" b="1" dirty="0" smtClean="0">
              <a:solidFill>
                <a:srgbClr val="820000"/>
              </a:solidFill>
              <a:latin typeface="Arial" panose="020B0604020202020204" pitchFamily="34" charset="0"/>
              <a:cs typeface="Arial" panose="020B0604020202020204" pitchFamily="34" charset="0"/>
            </a:endParaRPr>
          </a:p>
          <a:p>
            <a:pPr algn="just"/>
            <a:r>
              <a:rPr lang="en-PH" sz="4000" b="1"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grpSp>
        <p:nvGrpSpPr>
          <p:cNvPr id="65" name="Group 11"/>
          <p:cNvGrpSpPr/>
          <p:nvPr/>
        </p:nvGrpSpPr>
        <p:grpSpPr>
          <a:xfrm rot="-5400000">
            <a:off x="16247318" y="5660182"/>
            <a:ext cx="1531140" cy="1412176"/>
            <a:chOff x="0" y="0"/>
            <a:chExt cx="6350000" cy="5532120"/>
          </a:xfrm>
        </p:grpSpPr>
        <p:sp>
          <p:nvSpPr>
            <p:cNvPr id="66" name="Freeform 12"/>
            <p:cNvSpPr/>
            <p:nvPr/>
          </p:nvSpPr>
          <p:spPr>
            <a:xfrm>
              <a:off x="0" y="0"/>
              <a:ext cx="6350000" cy="5532120"/>
            </a:xfrm>
            <a:custGeom>
              <a:avLst/>
              <a:gdLst/>
              <a:ahLst/>
              <a:cxnLst/>
              <a:rect l="l" t="t" r="r" b="b"/>
              <a:pathLst>
                <a:path w="6350000" h="5532120">
                  <a:moveTo>
                    <a:pt x="4762500" y="0"/>
                  </a:moveTo>
                  <a:lnTo>
                    <a:pt x="1587500" y="0"/>
                  </a:lnTo>
                  <a:lnTo>
                    <a:pt x="0" y="2766060"/>
                  </a:lnTo>
                  <a:lnTo>
                    <a:pt x="1587500" y="5532120"/>
                  </a:lnTo>
                  <a:lnTo>
                    <a:pt x="4762500" y="5532120"/>
                  </a:lnTo>
                  <a:lnTo>
                    <a:pt x="6350000" y="2766060"/>
                  </a:lnTo>
                  <a:lnTo>
                    <a:pt x="4762500" y="0"/>
                  </a:lnTo>
                  <a:lnTo>
                    <a:pt x="4762500" y="0"/>
                  </a:lnTo>
                  <a:close/>
                  <a:moveTo>
                    <a:pt x="4676140" y="5382260"/>
                  </a:moveTo>
                  <a:lnTo>
                    <a:pt x="1673860" y="5382260"/>
                  </a:lnTo>
                  <a:lnTo>
                    <a:pt x="172720" y="2766060"/>
                  </a:lnTo>
                  <a:lnTo>
                    <a:pt x="1673860" y="149860"/>
                  </a:lnTo>
                  <a:lnTo>
                    <a:pt x="4676140" y="149860"/>
                  </a:lnTo>
                  <a:lnTo>
                    <a:pt x="6177280" y="2766060"/>
                  </a:lnTo>
                  <a:lnTo>
                    <a:pt x="4676140" y="5382260"/>
                  </a:lnTo>
                  <a:close/>
                </a:path>
              </a:pathLst>
            </a:custGeom>
            <a:solidFill>
              <a:srgbClr val="0D7377"/>
            </a:solidFill>
            <a:ln>
              <a:solidFill>
                <a:srgbClr val="820000"/>
              </a:solidFill>
            </a:ln>
          </p:spPr>
        </p:sp>
      </p:grpSp>
      <p:grpSp>
        <p:nvGrpSpPr>
          <p:cNvPr id="67" name="Group 11"/>
          <p:cNvGrpSpPr/>
          <p:nvPr/>
        </p:nvGrpSpPr>
        <p:grpSpPr>
          <a:xfrm rot="-5400000">
            <a:off x="16240272" y="7804261"/>
            <a:ext cx="1531140" cy="1412176"/>
            <a:chOff x="0" y="0"/>
            <a:chExt cx="6350000" cy="5532120"/>
          </a:xfrm>
        </p:grpSpPr>
        <p:sp>
          <p:nvSpPr>
            <p:cNvPr id="68" name="Freeform 12"/>
            <p:cNvSpPr/>
            <p:nvPr/>
          </p:nvSpPr>
          <p:spPr>
            <a:xfrm>
              <a:off x="0" y="0"/>
              <a:ext cx="6350000" cy="5532120"/>
            </a:xfrm>
            <a:custGeom>
              <a:avLst/>
              <a:gdLst/>
              <a:ahLst/>
              <a:cxnLst/>
              <a:rect l="l" t="t" r="r" b="b"/>
              <a:pathLst>
                <a:path w="6350000" h="5532120">
                  <a:moveTo>
                    <a:pt x="4762500" y="0"/>
                  </a:moveTo>
                  <a:lnTo>
                    <a:pt x="1587500" y="0"/>
                  </a:lnTo>
                  <a:lnTo>
                    <a:pt x="0" y="2766060"/>
                  </a:lnTo>
                  <a:lnTo>
                    <a:pt x="1587500" y="5532120"/>
                  </a:lnTo>
                  <a:lnTo>
                    <a:pt x="4762500" y="5532120"/>
                  </a:lnTo>
                  <a:lnTo>
                    <a:pt x="6350000" y="2766060"/>
                  </a:lnTo>
                  <a:lnTo>
                    <a:pt x="4762500" y="0"/>
                  </a:lnTo>
                  <a:lnTo>
                    <a:pt x="4762500" y="0"/>
                  </a:lnTo>
                  <a:close/>
                  <a:moveTo>
                    <a:pt x="4676140" y="5382260"/>
                  </a:moveTo>
                  <a:lnTo>
                    <a:pt x="1673860" y="5382260"/>
                  </a:lnTo>
                  <a:lnTo>
                    <a:pt x="172720" y="2766060"/>
                  </a:lnTo>
                  <a:lnTo>
                    <a:pt x="1673860" y="149860"/>
                  </a:lnTo>
                  <a:lnTo>
                    <a:pt x="4676140" y="149860"/>
                  </a:lnTo>
                  <a:lnTo>
                    <a:pt x="6177280" y="2766060"/>
                  </a:lnTo>
                  <a:lnTo>
                    <a:pt x="4676140" y="5382260"/>
                  </a:lnTo>
                  <a:close/>
                </a:path>
              </a:pathLst>
            </a:custGeom>
            <a:solidFill>
              <a:srgbClr val="0D7377"/>
            </a:solidFill>
            <a:ln>
              <a:solidFill>
                <a:srgbClr val="820000"/>
              </a:solidFill>
            </a:ln>
          </p:spPr>
        </p:sp>
      </p:grpSp>
      <p:grpSp>
        <p:nvGrpSpPr>
          <p:cNvPr id="69" name="Group 11"/>
          <p:cNvGrpSpPr/>
          <p:nvPr/>
        </p:nvGrpSpPr>
        <p:grpSpPr>
          <a:xfrm rot="-5400000">
            <a:off x="16206742" y="6726982"/>
            <a:ext cx="1531140" cy="1412176"/>
            <a:chOff x="0" y="0"/>
            <a:chExt cx="6350000" cy="5532120"/>
          </a:xfrm>
        </p:grpSpPr>
        <p:sp>
          <p:nvSpPr>
            <p:cNvPr id="70" name="Freeform 12"/>
            <p:cNvSpPr/>
            <p:nvPr/>
          </p:nvSpPr>
          <p:spPr>
            <a:xfrm>
              <a:off x="0" y="0"/>
              <a:ext cx="6350000" cy="5532120"/>
            </a:xfrm>
            <a:custGeom>
              <a:avLst/>
              <a:gdLst/>
              <a:ahLst/>
              <a:cxnLst/>
              <a:rect l="l" t="t" r="r" b="b"/>
              <a:pathLst>
                <a:path w="6350000" h="5532120">
                  <a:moveTo>
                    <a:pt x="4762500" y="0"/>
                  </a:moveTo>
                  <a:lnTo>
                    <a:pt x="1587500" y="0"/>
                  </a:lnTo>
                  <a:lnTo>
                    <a:pt x="0" y="2766060"/>
                  </a:lnTo>
                  <a:lnTo>
                    <a:pt x="1587500" y="5532120"/>
                  </a:lnTo>
                  <a:lnTo>
                    <a:pt x="4762500" y="5532120"/>
                  </a:lnTo>
                  <a:lnTo>
                    <a:pt x="6350000" y="2766060"/>
                  </a:lnTo>
                  <a:lnTo>
                    <a:pt x="4762500" y="0"/>
                  </a:lnTo>
                  <a:lnTo>
                    <a:pt x="4762500" y="0"/>
                  </a:lnTo>
                  <a:close/>
                  <a:moveTo>
                    <a:pt x="4676140" y="5382260"/>
                  </a:moveTo>
                  <a:lnTo>
                    <a:pt x="1673860" y="5382260"/>
                  </a:lnTo>
                  <a:lnTo>
                    <a:pt x="172720" y="2766060"/>
                  </a:lnTo>
                  <a:lnTo>
                    <a:pt x="1673860" y="149860"/>
                  </a:lnTo>
                  <a:lnTo>
                    <a:pt x="4676140" y="149860"/>
                  </a:lnTo>
                  <a:lnTo>
                    <a:pt x="6177280" y="2766060"/>
                  </a:lnTo>
                  <a:lnTo>
                    <a:pt x="4676140" y="5382260"/>
                  </a:lnTo>
                  <a:close/>
                </a:path>
              </a:pathLst>
            </a:custGeom>
            <a:solidFill>
              <a:srgbClr val="0D7377"/>
            </a:solidFill>
            <a:ln>
              <a:solidFill>
                <a:srgbClr val="820000"/>
              </a:solidFill>
            </a:ln>
          </p:spPr>
        </p:sp>
      </p:grpSp>
    </p:spTree>
    <p:extLst>
      <p:ext uri="{BB962C8B-B14F-4D97-AF65-F5344CB8AC3E}">
        <p14:creationId xmlns:p14="http://schemas.microsoft.com/office/powerpoint/2010/main" val="130816383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Box 13"/>
          <p:cNvSpPr txBox="1"/>
          <p:nvPr/>
        </p:nvSpPr>
        <p:spPr>
          <a:xfrm>
            <a:off x="1671387" y="1531257"/>
            <a:ext cx="2203151" cy="2306426"/>
          </a:xfrm>
          <a:prstGeom prst="rect">
            <a:avLst/>
          </a:prstGeom>
        </p:spPr>
        <p:txBody>
          <a:bodyPr lIns="50800" tIns="50800" rIns="50800" bIns="50800" rtlCol="0" anchor="ctr"/>
          <a:lstStyle/>
          <a:p>
            <a:pPr algn="ctr">
              <a:lnSpc>
                <a:spcPts val="2659"/>
              </a:lnSpc>
              <a:spcBef>
                <a:spcPct val="0"/>
              </a:spcBef>
            </a:pPr>
            <a:endParaRPr/>
          </a:p>
        </p:txBody>
      </p:sp>
      <p:pic>
        <p:nvPicPr>
          <p:cNvPr id="18" name="Picture 17"/>
          <p:cNvPicPr>
            <a:picLocks noChangeAspect="1"/>
          </p:cNvPicPr>
          <p:nvPr/>
        </p:nvPicPr>
        <p:blipFill>
          <a:blip r:embed="rId2"/>
          <a:stretch>
            <a:fillRect/>
          </a:stretch>
        </p:blipFill>
        <p:spPr>
          <a:xfrm>
            <a:off x="76200" y="9266338"/>
            <a:ext cx="2327677" cy="1020662"/>
          </a:xfrm>
          <a:prstGeom prst="rect">
            <a:avLst/>
          </a:prstGeom>
        </p:spPr>
      </p:pic>
      <p:pic>
        <p:nvPicPr>
          <p:cNvPr id="19" name="Picture 18"/>
          <p:cNvPicPr>
            <a:picLocks noChangeAspect="1"/>
          </p:cNvPicPr>
          <p:nvPr/>
        </p:nvPicPr>
        <p:blipFill>
          <a:blip r:embed="rId3"/>
          <a:stretch>
            <a:fillRect/>
          </a:stretch>
        </p:blipFill>
        <p:spPr>
          <a:xfrm rot="10800000">
            <a:off x="-30480" y="1294489"/>
            <a:ext cx="18288000" cy="267610"/>
          </a:xfrm>
          <a:prstGeom prst="rect">
            <a:avLst/>
          </a:prstGeom>
        </p:spPr>
      </p:pic>
      <p:sp>
        <p:nvSpPr>
          <p:cNvPr id="21" name="Round Single Corner Rectangle 20"/>
          <p:cNvSpPr/>
          <p:nvPr/>
        </p:nvSpPr>
        <p:spPr>
          <a:xfrm>
            <a:off x="5494020" y="160397"/>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5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Methodology      </a:t>
            </a:r>
            <a:r>
              <a:rPr lang="en-PH" sz="6000" b="1" u="sng" dirty="0" smtClean="0">
                <a:solidFill>
                  <a:srgbClr val="820000"/>
                </a:solidFill>
                <a:latin typeface="Arial" panose="020B0604020202020204" pitchFamily="34" charset="0"/>
                <a:cs typeface="Arial" panose="020B0604020202020204" pitchFamily="34" charset="0"/>
              </a:rPr>
              <a:t> </a:t>
            </a:r>
          </a:p>
        </p:txBody>
      </p:sp>
      <p:pic>
        <p:nvPicPr>
          <p:cNvPr id="20" name="Picture 19"/>
          <p:cNvPicPr>
            <a:picLocks noChangeAspect="1"/>
          </p:cNvPicPr>
          <p:nvPr/>
        </p:nvPicPr>
        <p:blipFill>
          <a:blip r:embed="rId3"/>
          <a:stretch>
            <a:fillRect/>
          </a:stretch>
        </p:blipFill>
        <p:spPr>
          <a:xfrm>
            <a:off x="0" y="0"/>
            <a:ext cx="18288000" cy="267611"/>
          </a:xfrm>
          <a:prstGeom prst="rect">
            <a:avLst/>
          </a:prstGeom>
        </p:spPr>
      </p:pic>
      <p:sp>
        <p:nvSpPr>
          <p:cNvPr id="4" name="Parallelogram 3"/>
          <p:cNvSpPr/>
          <p:nvPr/>
        </p:nvSpPr>
        <p:spPr>
          <a:xfrm>
            <a:off x="2388637" y="9936689"/>
            <a:ext cx="9727163" cy="236011"/>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2" name="Parallelogram 21"/>
          <p:cNvSpPr/>
          <p:nvPr/>
        </p:nvSpPr>
        <p:spPr>
          <a:xfrm>
            <a:off x="12192000" y="9944100"/>
            <a:ext cx="1421363" cy="228600"/>
          </a:xfrm>
          <a:prstGeom prst="parallelogram">
            <a:avLst/>
          </a:prstGeom>
          <a:solidFill>
            <a:srgbClr val="FFC000"/>
          </a:solidFill>
          <a:ln>
            <a:solidFill>
              <a:srgbClr val="FFC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3" name="Parallelogram 22"/>
          <p:cNvSpPr/>
          <p:nvPr/>
        </p:nvSpPr>
        <p:spPr>
          <a:xfrm>
            <a:off x="13689563" y="9944100"/>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24" name="Picture 23"/>
          <p:cNvPicPr>
            <a:picLocks noChangeAspect="1"/>
          </p:cNvPicPr>
          <p:nvPr/>
        </p:nvPicPr>
        <p:blipFill>
          <a:blip r:embed="rId3"/>
          <a:stretch>
            <a:fillRect/>
          </a:stretch>
        </p:blipFill>
        <p:spPr>
          <a:xfrm rot="10800000" flipV="1">
            <a:off x="2403877" y="9668509"/>
            <a:ext cx="15899363" cy="232657"/>
          </a:xfrm>
          <a:prstGeom prst="rect">
            <a:avLst/>
          </a:prstGeom>
        </p:spPr>
      </p:pic>
      <p:pic>
        <p:nvPicPr>
          <p:cNvPr id="6" name="Picture 5"/>
          <p:cNvPicPr>
            <a:picLocks noChangeAspect="1"/>
          </p:cNvPicPr>
          <p:nvPr/>
        </p:nvPicPr>
        <p:blipFill>
          <a:blip r:embed="rId4"/>
          <a:stretch>
            <a:fillRect/>
          </a:stretch>
        </p:blipFill>
        <p:spPr>
          <a:xfrm>
            <a:off x="15030450" y="488370"/>
            <a:ext cx="3257550" cy="523875"/>
          </a:xfrm>
          <a:prstGeom prst="rect">
            <a:avLst/>
          </a:prstGeom>
        </p:spPr>
      </p:pic>
      <p:sp>
        <p:nvSpPr>
          <p:cNvPr id="25" name="Parallelogram 24"/>
          <p:cNvSpPr/>
          <p:nvPr/>
        </p:nvSpPr>
        <p:spPr>
          <a:xfrm>
            <a:off x="13030200" y="760176"/>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13" name="Picture 12"/>
          <p:cNvPicPr>
            <a:picLocks noChangeAspect="1"/>
          </p:cNvPicPr>
          <p:nvPr/>
        </p:nvPicPr>
        <p:blipFill>
          <a:blip r:embed="rId4"/>
          <a:stretch>
            <a:fillRect/>
          </a:stretch>
        </p:blipFill>
        <p:spPr>
          <a:xfrm rot="10800000">
            <a:off x="0" y="612538"/>
            <a:ext cx="3257550" cy="523875"/>
          </a:xfrm>
          <a:prstGeom prst="rect">
            <a:avLst/>
          </a:prstGeom>
        </p:spPr>
      </p:pic>
      <p:sp>
        <p:nvSpPr>
          <p:cNvPr id="14" name="Parallelogram 13"/>
          <p:cNvSpPr/>
          <p:nvPr/>
        </p:nvSpPr>
        <p:spPr>
          <a:xfrm>
            <a:off x="659363" y="577015"/>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9" name="Rectangle 28"/>
          <p:cNvSpPr/>
          <p:nvPr/>
        </p:nvSpPr>
        <p:spPr>
          <a:xfrm>
            <a:off x="1454530" y="2319935"/>
            <a:ext cx="15929956" cy="1938992"/>
          </a:xfrm>
          <a:prstGeom prst="rect">
            <a:avLst/>
          </a:prstGeom>
        </p:spPr>
        <p:txBody>
          <a:bodyPr wrap="square">
            <a:spAutoFit/>
          </a:bodyPr>
          <a:lstStyle/>
          <a:p>
            <a:pPr marL="0" lvl="2" algn="just"/>
            <a:endParaRPr lang="en-PH" sz="2800" dirty="0" smtClean="0"/>
          </a:p>
          <a:p>
            <a:pPr marL="457200" lvl="2" indent="-457200" algn="just">
              <a:buFont typeface="Wingdings" panose="05000000000000000000" pitchFamily="2" charset="2"/>
              <a:buChar char="Ø"/>
            </a:pPr>
            <a:endParaRPr lang="en-PH" sz="2800" dirty="0" smtClean="0"/>
          </a:p>
          <a:p>
            <a:pPr marL="285750" lvl="2" indent="-285750" algn="just">
              <a:buFont typeface="Arial" panose="020B0604020202020204" pitchFamily="34" charset="0"/>
              <a:buChar char="•"/>
            </a:pPr>
            <a:endParaRPr lang="en-PH" sz="3200" dirty="0"/>
          </a:p>
          <a:p>
            <a:pPr marL="285750" indent="-285750" algn="just">
              <a:buFont typeface="Arial" panose="020B0604020202020204" pitchFamily="34" charset="0"/>
              <a:buChar char="•"/>
            </a:pPr>
            <a:endParaRPr lang="en-PH" sz="3200" dirty="0">
              <a:solidFill>
                <a:srgbClr val="005C2A"/>
              </a:solidFill>
              <a:latin typeface="Arial" panose="020B0604020202020204" pitchFamily="34" charset="0"/>
              <a:cs typeface="Arial" panose="020B0604020202020204" pitchFamily="34" charset="0"/>
            </a:endParaRPr>
          </a:p>
        </p:txBody>
      </p:sp>
      <p:sp>
        <p:nvSpPr>
          <p:cNvPr id="27" name="Rectangle 26"/>
          <p:cNvSpPr/>
          <p:nvPr/>
        </p:nvSpPr>
        <p:spPr>
          <a:xfrm>
            <a:off x="-60960" y="1734345"/>
            <a:ext cx="11486917" cy="2831544"/>
          </a:xfrm>
          <a:prstGeom prst="rect">
            <a:avLst/>
          </a:prstGeom>
        </p:spPr>
        <p:txBody>
          <a:bodyPr wrap="square">
            <a:spAutoFit/>
          </a:bodyPr>
          <a:lstStyle/>
          <a:p>
            <a:pPr algn="just"/>
            <a:r>
              <a:rPr lang="en-PH" sz="4000" dirty="0">
                <a:solidFill>
                  <a:srgbClr val="820000"/>
                </a:solidFill>
                <a:latin typeface="Arial" panose="020B0604020202020204" pitchFamily="34" charset="0"/>
                <a:cs typeface="Arial" panose="020B0604020202020204" pitchFamily="34" charset="0"/>
              </a:rPr>
              <a:t> </a:t>
            </a:r>
            <a:r>
              <a:rPr lang="en-PH" sz="4000" dirty="0" smtClean="0">
                <a:solidFill>
                  <a:srgbClr val="820000"/>
                </a:solidFill>
                <a:latin typeface="Arial" panose="020B0604020202020204" pitchFamily="34" charset="0"/>
                <a:cs typeface="Arial" panose="020B0604020202020204" pitchFamily="34" charset="0"/>
              </a:rPr>
              <a:t>  </a:t>
            </a:r>
            <a:r>
              <a:rPr lang="en-PH" sz="4000" dirty="0">
                <a:solidFill>
                  <a:srgbClr val="820000"/>
                </a:solidFill>
                <a:latin typeface="Arial" panose="020B0604020202020204" pitchFamily="34" charset="0"/>
                <a:cs typeface="Arial" panose="020B0604020202020204" pitchFamily="34" charset="0"/>
              </a:rPr>
              <a:t> </a:t>
            </a:r>
            <a:r>
              <a:rPr lang="en-PH" sz="4000" dirty="0" smtClean="0">
                <a:solidFill>
                  <a:srgbClr val="820000"/>
                </a:solidFill>
                <a:latin typeface="Arial" panose="020B0604020202020204" pitchFamily="34" charset="0"/>
                <a:cs typeface="Arial" panose="020B0604020202020204" pitchFamily="34" charset="0"/>
              </a:rPr>
              <a:t>3.4  </a:t>
            </a:r>
            <a:r>
              <a:rPr lang="en-PH" sz="4000" b="1" dirty="0" smtClean="0">
                <a:solidFill>
                  <a:srgbClr val="820000"/>
                </a:solidFill>
                <a:latin typeface="Arial" panose="020B0604020202020204" pitchFamily="34" charset="0"/>
                <a:cs typeface="Arial" panose="020B0604020202020204" pitchFamily="34" charset="0"/>
              </a:rPr>
              <a:t>Chemical Profiling </a:t>
            </a:r>
          </a:p>
          <a:p>
            <a:pPr marL="0" lvl="2" algn="just"/>
            <a:endParaRPr lang="en-PH" b="1" dirty="0"/>
          </a:p>
          <a:p>
            <a:pPr algn="just"/>
            <a:r>
              <a:rPr lang="en-PH" sz="4000" dirty="0" smtClean="0"/>
              <a:t> </a:t>
            </a:r>
            <a:endParaRPr lang="en-PH" sz="4000" b="1" dirty="0">
              <a:solidFill>
                <a:srgbClr val="820000"/>
              </a:solidFill>
              <a:latin typeface="Arial" panose="020B0604020202020204" pitchFamily="34" charset="0"/>
              <a:cs typeface="Arial" panose="020B0604020202020204" pitchFamily="34" charset="0"/>
            </a:endParaRPr>
          </a:p>
          <a:p>
            <a:pPr algn="just"/>
            <a:endParaRPr lang="en-PH" sz="4000" b="1" dirty="0" smtClean="0">
              <a:solidFill>
                <a:srgbClr val="820000"/>
              </a:solidFill>
              <a:latin typeface="Arial" panose="020B0604020202020204" pitchFamily="34" charset="0"/>
              <a:cs typeface="Arial" panose="020B0604020202020204" pitchFamily="34" charset="0"/>
            </a:endParaRPr>
          </a:p>
          <a:p>
            <a:pPr algn="just"/>
            <a:r>
              <a:rPr lang="en-PH" sz="4000" b="1"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28" name="Rectangle 27"/>
          <p:cNvSpPr/>
          <p:nvPr/>
        </p:nvSpPr>
        <p:spPr>
          <a:xfrm>
            <a:off x="934927" y="2570302"/>
            <a:ext cx="17704837" cy="584775"/>
          </a:xfrm>
          <a:prstGeom prst="rect">
            <a:avLst/>
          </a:prstGeom>
        </p:spPr>
        <p:txBody>
          <a:bodyPr wrap="square">
            <a:spAutoFit/>
          </a:bodyPr>
          <a:lstStyle/>
          <a:p>
            <a:pPr algn="just"/>
            <a:r>
              <a:rPr lang="en-PH" sz="3200" dirty="0">
                <a:solidFill>
                  <a:srgbClr val="820000"/>
                </a:solidFill>
                <a:latin typeface="Arial" panose="020B0604020202020204" pitchFamily="34" charset="0"/>
                <a:cs typeface="Arial" panose="020B0604020202020204" pitchFamily="34" charset="0"/>
              </a:rPr>
              <a:t> </a:t>
            </a:r>
            <a:r>
              <a:rPr lang="en-PH" sz="3200" dirty="0" smtClean="0">
                <a:solidFill>
                  <a:srgbClr val="820000"/>
                </a:solidFill>
                <a:latin typeface="Arial" panose="020B0604020202020204" pitchFamily="34" charset="0"/>
                <a:cs typeface="Arial" panose="020B0604020202020204" pitchFamily="34" charset="0"/>
              </a:rPr>
              <a:t>  </a:t>
            </a:r>
            <a:r>
              <a:rPr lang="en-PH" sz="3200" dirty="0">
                <a:solidFill>
                  <a:srgbClr val="820000"/>
                </a:solidFill>
                <a:latin typeface="Arial" panose="020B0604020202020204" pitchFamily="34"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47" name="Rectangle 46"/>
          <p:cNvSpPr/>
          <p:nvPr/>
        </p:nvSpPr>
        <p:spPr>
          <a:xfrm>
            <a:off x="3168634" y="8331247"/>
            <a:ext cx="17704837" cy="2708434"/>
          </a:xfrm>
          <a:prstGeom prst="rect">
            <a:avLst/>
          </a:prstGeom>
        </p:spPr>
        <p:txBody>
          <a:bodyPr wrap="square">
            <a:spAutoFit/>
          </a:bodyPr>
          <a:lstStyle/>
          <a:p>
            <a:pPr algn="just"/>
            <a:endParaRPr lang="en-PH" sz="3200" dirty="0" smtClean="0">
              <a:solidFill>
                <a:srgbClr val="820000"/>
              </a:solidFill>
              <a:latin typeface="Arial" panose="020B0604020202020204" pitchFamily="34" charset="0"/>
              <a:cs typeface="Arial" panose="020B0604020202020204" pitchFamily="34" charset="0"/>
            </a:endParaRPr>
          </a:p>
          <a:p>
            <a:pPr marL="0" lvl="2" algn="just"/>
            <a:endParaRPr lang="en-PH" b="1" dirty="0"/>
          </a:p>
          <a:p>
            <a:pPr algn="just"/>
            <a:r>
              <a:rPr lang="en-PH" sz="4000" dirty="0" smtClean="0"/>
              <a:t> </a:t>
            </a:r>
            <a:endParaRPr lang="en-PH" sz="4000" b="1" dirty="0">
              <a:solidFill>
                <a:srgbClr val="820000"/>
              </a:solidFill>
              <a:latin typeface="Arial" panose="020B0604020202020204" pitchFamily="34" charset="0"/>
              <a:cs typeface="Arial" panose="020B0604020202020204" pitchFamily="34" charset="0"/>
            </a:endParaRPr>
          </a:p>
          <a:p>
            <a:pPr algn="just"/>
            <a:endParaRPr lang="en-PH" sz="4000" b="1" dirty="0" smtClean="0">
              <a:solidFill>
                <a:srgbClr val="820000"/>
              </a:solidFill>
              <a:latin typeface="Arial" panose="020B0604020202020204" pitchFamily="34" charset="0"/>
              <a:cs typeface="Arial" panose="020B0604020202020204" pitchFamily="34" charset="0"/>
            </a:endParaRPr>
          </a:p>
          <a:p>
            <a:pPr algn="just"/>
            <a:r>
              <a:rPr lang="en-PH" sz="4000" b="1"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48" name="Rectangle 47"/>
          <p:cNvSpPr/>
          <p:nvPr/>
        </p:nvSpPr>
        <p:spPr>
          <a:xfrm>
            <a:off x="431081" y="2585704"/>
            <a:ext cx="11486917" cy="2831544"/>
          </a:xfrm>
          <a:prstGeom prst="rect">
            <a:avLst/>
          </a:prstGeom>
        </p:spPr>
        <p:txBody>
          <a:bodyPr wrap="square">
            <a:spAutoFit/>
          </a:bodyPr>
          <a:lstStyle/>
          <a:p>
            <a:pPr algn="just"/>
            <a:r>
              <a:rPr lang="en-PH" sz="4000" dirty="0">
                <a:solidFill>
                  <a:srgbClr val="820000"/>
                </a:solidFill>
                <a:latin typeface="Arial" panose="020B0604020202020204" pitchFamily="34" charset="0"/>
                <a:cs typeface="Arial" panose="020B0604020202020204" pitchFamily="34" charset="0"/>
              </a:rPr>
              <a:t> </a:t>
            </a:r>
            <a:r>
              <a:rPr lang="en-PH" sz="4000" dirty="0" smtClean="0">
                <a:solidFill>
                  <a:srgbClr val="820000"/>
                </a:solidFill>
                <a:latin typeface="Arial" panose="020B0604020202020204" pitchFamily="34" charset="0"/>
                <a:cs typeface="Arial" panose="020B0604020202020204" pitchFamily="34" charset="0"/>
              </a:rPr>
              <a:t>  </a:t>
            </a:r>
            <a:r>
              <a:rPr lang="en-PH" sz="4000" dirty="0">
                <a:solidFill>
                  <a:srgbClr val="820000"/>
                </a:solidFill>
                <a:latin typeface="Arial" panose="020B0604020202020204" pitchFamily="34" charset="0"/>
                <a:cs typeface="Arial" panose="020B0604020202020204" pitchFamily="34" charset="0"/>
              </a:rPr>
              <a:t> </a:t>
            </a:r>
            <a:r>
              <a:rPr lang="en-PH" sz="4000" dirty="0" smtClean="0">
                <a:solidFill>
                  <a:srgbClr val="820000"/>
                </a:solidFill>
                <a:latin typeface="Arial" panose="020B0604020202020204" pitchFamily="34" charset="0"/>
                <a:cs typeface="Arial" panose="020B0604020202020204" pitchFamily="34" charset="0"/>
              </a:rPr>
              <a:t>3.4.1   </a:t>
            </a:r>
            <a:r>
              <a:rPr lang="en-PH" sz="4000" b="1" dirty="0" smtClean="0">
                <a:solidFill>
                  <a:srgbClr val="820000"/>
                </a:solidFill>
                <a:latin typeface="Arial" panose="020B0604020202020204" pitchFamily="34" charset="0"/>
                <a:cs typeface="Arial" panose="020B0604020202020204" pitchFamily="34" charset="0"/>
              </a:rPr>
              <a:t>GC-MS </a:t>
            </a:r>
          </a:p>
          <a:p>
            <a:pPr marL="0" lvl="2" algn="just"/>
            <a:endParaRPr lang="en-PH" b="1" dirty="0"/>
          </a:p>
          <a:p>
            <a:pPr algn="just"/>
            <a:r>
              <a:rPr lang="en-PH" sz="4000" dirty="0" smtClean="0"/>
              <a:t> </a:t>
            </a:r>
            <a:endParaRPr lang="en-PH" sz="4000" b="1" dirty="0">
              <a:solidFill>
                <a:srgbClr val="820000"/>
              </a:solidFill>
              <a:latin typeface="Arial" panose="020B0604020202020204" pitchFamily="34" charset="0"/>
              <a:cs typeface="Arial" panose="020B0604020202020204" pitchFamily="34" charset="0"/>
            </a:endParaRPr>
          </a:p>
          <a:p>
            <a:pPr algn="just"/>
            <a:endParaRPr lang="en-PH" sz="4000" b="1" dirty="0" smtClean="0">
              <a:solidFill>
                <a:srgbClr val="820000"/>
              </a:solidFill>
              <a:latin typeface="Arial" panose="020B0604020202020204" pitchFamily="34" charset="0"/>
              <a:cs typeface="Arial" panose="020B0604020202020204" pitchFamily="34" charset="0"/>
            </a:endParaRPr>
          </a:p>
          <a:p>
            <a:pPr algn="just"/>
            <a:r>
              <a:rPr lang="en-PH" sz="4000" b="1"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5" name="Rectangle 4"/>
          <p:cNvSpPr/>
          <p:nvPr/>
        </p:nvSpPr>
        <p:spPr>
          <a:xfrm>
            <a:off x="689222" y="3313004"/>
            <a:ext cx="9369178" cy="4031873"/>
          </a:xfrm>
          <a:prstGeom prst="rect">
            <a:avLst/>
          </a:prstGeom>
          <a:ln>
            <a:solidFill>
              <a:srgbClr val="820000"/>
            </a:solidFill>
          </a:ln>
        </p:spPr>
        <p:txBody>
          <a:bodyPr wrap="square">
            <a:spAutoFit/>
          </a:bodyPr>
          <a:lstStyle/>
          <a:p>
            <a:pPr marL="228600" marR="0" indent="228600" algn="just">
              <a:spcBef>
                <a:spcPts val="0"/>
              </a:spcBef>
              <a:spcAft>
                <a:spcPts val="0"/>
              </a:spcAft>
            </a:pPr>
            <a:r>
              <a:rPr lang="en-PH" sz="3200" dirty="0">
                <a:solidFill>
                  <a:srgbClr val="820000"/>
                </a:solidFill>
                <a:latin typeface="Arial" panose="020B0604020202020204" pitchFamily="34" charset="0"/>
                <a:ea typeface="Calibri" panose="020F0502020204030204" pitchFamily="34" charset="0"/>
                <a:cs typeface="Arial" panose="020B0604020202020204" pitchFamily="34" charset="0"/>
              </a:rPr>
              <a:t>The crude </a:t>
            </a:r>
            <a:r>
              <a:rPr lang="en-PH" sz="3200" dirty="0" err="1">
                <a:solidFill>
                  <a:srgbClr val="820000"/>
                </a:solidFill>
                <a:latin typeface="Arial" panose="020B0604020202020204" pitchFamily="34" charset="0"/>
                <a:ea typeface="Calibri" panose="020F0502020204030204" pitchFamily="34" charset="0"/>
                <a:cs typeface="Arial" panose="020B0604020202020204" pitchFamily="34" charset="0"/>
              </a:rPr>
              <a:t>methanolic</a:t>
            </a:r>
            <a:r>
              <a:rPr lang="en-PH" sz="3200" dirty="0">
                <a:solidFill>
                  <a:srgbClr val="820000"/>
                </a:solidFill>
                <a:latin typeface="Arial" panose="020B0604020202020204" pitchFamily="34" charset="0"/>
                <a:ea typeface="Calibri" panose="020F0502020204030204" pitchFamily="34" charset="0"/>
                <a:cs typeface="Arial" panose="020B0604020202020204" pitchFamily="34" charset="0"/>
              </a:rPr>
              <a:t> extracts of </a:t>
            </a:r>
            <a:r>
              <a:rPr lang="en-PH" sz="3200" dirty="0" err="1">
                <a:solidFill>
                  <a:srgbClr val="820000"/>
                </a:solidFill>
                <a:latin typeface="Arial" panose="020B0604020202020204" pitchFamily="34" charset="0"/>
                <a:ea typeface="Calibri" panose="020F0502020204030204" pitchFamily="34" charset="0"/>
                <a:cs typeface="Arial" panose="020B0604020202020204" pitchFamily="34" charset="0"/>
              </a:rPr>
              <a:t>haustorium</a:t>
            </a:r>
            <a:r>
              <a:rPr lang="en-PH" sz="3200" dirty="0">
                <a:solidFill>
                  <a:srgbClr val="820000"/>
                </a:solidFill>
                <a:latin typeface="Arial" panose="020B0604020202020204" pitchFamily="34" charset="0"/>
                <a:ea typeface="Calibri" panose="020F0502020204030204" pitchFamily="34" charset="0"/>
                <a:cs typeface="Arial" panose="020B0604020202020204" pitchFamily="34" charset="0"/>
              </a:rPr>
              <a:t>, endosperm, roots, shoots and leaves from six-month old germinating coconut will be sent to the Central Instrumentation Facility of De La Salle University (DLSU) Manila for GC-MS analysis. Expected data to be obtained will be the mass spectra of the sample extracts with </a:t>
            </a:r>
            <a:r>
              <a:rPr lang="en-PH" sz="3200" dirty="0" err="1">
                <a:solidFill>
                  <a:srgbClr val="820000"/>
                </a:solidFill>
                <a:latin typeface="Arial" panose="020B0604020202020204" pitchFamily="34" charset="0"/>
                <a:ea typeface="Calibri" panose="020F0502020204030204" pitchFamily="34" charset="0"/>
                <a:cs typeface="Arial" panose="020B0604020202020204" pitchFamily="34" charset="0"/>
              </a:rPr>
              <a:t>Heatmaps</a:t>
            </a:r>
            <a:r>
              <a:rPr lang="en-PH" sz="3200" dirty="0">
                <a:solidFill>
                  <a:srgbClr val="820000"/>
                </a:solidFill>
                <a:latin typeface="Arial" panose="020B0604020202020204" pitchFamily="34" charset="0"/>
                <a:ea typeface="Calibri" panose="020F0502020204030204" pitchFamily="34" charset="0"/>
                <a:cs typeface="Arial" panose="020B0604020202020204" pitchFamily="34" charset="0"/>
              </a:rPr>
              <a:t> and PCA for data analysis.</a:t>
            </a:r>
            <a:endParaRPr lang="en-PH" sz="3200" dirty="0">
              <a:solidFill>
                <a:srgbClr val="820000"/>
              </a:solidFill>
              <a:effectLst/>
              <a:latin typeface="Arial" panose="020B0604020202020204" pitchFamily="34" charset="0"/>
              <a:ea typeface="Calibri" panose="020F0502020204030204" pitchFamily="34" charset="0"/>
              <a:cs typeface="Times New Roman" panose="02020603050405020304" pitchFamily="18" charset="0"/>
            </a:endParaRPr>
          </a:p>
        </p:txBody>
      </p:sp>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78003" y="2292173"/>
            <a:ext cx="7171835" cy="6237821"/>
          </a:xfrm>
          <a:prstGeom prst="rect">
            <a:avLst/>
          </a:prstGeom>
        </p:spPr>
      </p:pic>
      <p:sp>
        <p:nvSpPr>
          <p:cNvPr id="12" name="Rectangle 11"/>
          <p:cNvSpPr/>
          <p:nvPr/>
        </p:nvSpPr>
        <p:spPr>
          <a:xfrm>
            <a:off x="9041363" y="8715567"/>
            <a:ext cx="9144000" cy="923330"/>
          </a:xfrm>
          <a:prstGeom prst="rect">
            <a:avLst/>
          </a:prstGeom>
        </p:spPr>
        <p:txBody>
          <a:bodyPr>
            <a:spAutoFit/>
          </a:bodyPr>
          <a:lstStyle/>
          <a:p>
            <a:r>
              <a:rPr lang="en-PH" dirty="0">
                <a:hlinkClick r:id="rId6"/>
              </a:rPr>
              <a:t>https://www.dlsu.edu.ph/research/central-instrumentation-facility/gcms/#</a:t>
            </a:r>
            <a:r>
              <a:rPr lang="en-PH" dirty="0" smtClean="0">
                <a:hlinkClick r:id="rId6"/>
              </a:rPr>
              <a:t>1549434877177-866c4daf-c0cc</a:t>
            </a:r>
            <a:endParaRPr lang="en-PH" dirty="0" smtClean="0"/>
          </a:p>
          <a:p>
            <a:endParaRPr lang="en-PH" dirty="0"/>
          </a:p>
        </p:txBody>
      </p:sp>
    </p:spTree>
    <p:extLst>
      <p:ext uri="{BB962C8B-B14F-4D97-AF65-F5344CB8AC3E}">
        <p14:creationId xmlns:p14="http://schemas.microsoft.com/office/powerpoint/2010/main" val="58072939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Box 13"/>
          <p:cNvSpPr txBox="1"/>
          <p:nvPr/>
        </p:nvSpPr>
        <p:spPr>
          <a:xfrm>
            <a:off x="1671387" y="1531257"/>
            <a:ext cx="2203151" cy="2306426"/>
          </a:xfrm>
          <a:prstGeom prst="rect">
            <a:avLst/>
          </a:prstGeom>
        </p:spPr>
        <p:txBody>
          <a:bodyPr lIns="50800" tIns="50800" rIns="50800" bIns="50800" rtlCol="0" anchor="ctr"/>
          <a:lstStyle/>
          <a:p>
            <a:pPr algn="ctr">
              <a:lnSpc>
                <a:spcPts val="2659"/>
              </a:lnSpc>
              <a:spcBef>
                <a:spcPct val="0"/>
              </a:spcBef>
            </a:pPr>
            <a:endParaRPr/>
          </a:p>
        </p:txBody>
      </p:sp>
      <p:pic>
        <p:nvPicPr>
          <p:cNvPr id="18" name="Picture 17"/>
          <p:cNvPicPr>
            <a:picLocks noChangeAspect="1"/>
          </p:cNvPicPr>
          <p:nvPr/>
        </p:nvPicPr>
        <p:blipFill>
          <a:blip r:embed="rId2"/>
          <a:stretch>
            <a:fillRect/>
          </a:stretch>
        </p:blipFill>
        <p:spPr>
          <a:xfrm>
            <a:off x="76200" y="9266338"/>
            <a:ext cx="2327677" cy="1020662"/>
          </a:xfrm>
          <a:prstGeom prst="rect">
            <a:avLst/>
          </a:prstGeom>
        </p:spPr>
      </p:pic>
      <p:pic>
        <p:nvPicPr>
          <p:cNvPr id="19" name="Picture 18"/>
          <p:cNvPicPr>
            <a:picLocks noChangeAspect="1"/>
          </p:cNvPicPr>
          <p:nvPr/>
        </p:nvPicPr>
        <p:blipFill>
          <a:blip r:embed="rId3"/>
          <a:stretch>
            <a:fillRect/>
          </a:stretch>
        </p:blipFill>
        <p:spPr>
          <a:xfrm rot="10800000">
            <a:off x="-30480" y="1294489"/>
            <a:ext cx="18288000" cy="267610"/>
          </a:xfrm>
          <a:prstGeom prst="rect">
            <a:avLst/>
          </a:prstGeom>
        </p:spPr>
      </p:pic>
      <p:sp>
        <p:nvSpPr>
          <p:cNvPr id="21" name="Round Single Corner Rectangle 20"/>
          <p:cNvSpPr/>
          <p:nvPr/>
        </p:nvSpPr>
        <p:spPr>
          <a:xfrm>
            <a:off x="5494020" y="160397"/>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5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Methodology      </a:t>
            </a:r>
            <a:r>
              <a:rPr lang="en-PH" sz="6000" b="1" u="sng" dirty="0" smtClean="0">
                <a:solidFill>
                  <a:srgbClr val="820000"/>
                </a:solidFill>
                <a:latin typeface="Arial" panose="020B0604020202020204" pitchFamily="34" charset="0"/>
                <a:cs typeface="Arial" panose="020B0604020202020204" pitchFamily="34" charset="0"/>
              </a:rPr>
              <a:t> </a:t>
            </a:r>
          </a:p>
        </p:txBody>
      </p:sp>
      <p:pic>
        <p:nvPicPr>
          <p:cNvPr id="20" name="Picture 19"/>
          <p:cNvPicPr>
            <a:picLocks noChangeAspect="1"/>
          </p:cNvPicPr>
          <p:nvPr/>
        </p:nvPicPr>
        <p:blipFill>
          <a:blip r:embed="rId3"/>
          <a:stretch>
            <a:fillRect/>
          </a:stretch>
        </p:blipFill>
        <p:spPr>
          <a:xfrm>
            <a:off x="0" y="0"/>
            <a:ext cx="18288000" cy="267611"/>
          </a:xfrm>
          <a:prstGeom prst="rect">
            <a:avLst/>
          </a:prstGeom>
        </p:spPr>
      </p:pic>
      <p:sp>
        <p:nvSpPr>
          <p:cNvPr id="4" name="Parallelogram 3"/>
          <p:cNvSpPr/>
          <p:nvPr/>
        </p:nvSpPr>
        <p:spPr>
          <a:xfrm>
            <a:off x="2388637" y="9936689"/>
            <a:ext cx="9727163" cy="236011"/>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2" name="Parallelogram 21"/>
          <p:cNvSpPr/>
          <p:nvPr/>
        </p:nvSpPr>
        <p:spPr>
          <a:xfrm>
            <a:off x="12192000" y="9944100"/>
            <a:ext cx="1421363" cy="228600"/>
          </a:xfrm>
          <a:prstGeom prst="parallelogram">
            <a:avLst/>
          </a:prstGeom>
          <a:solidFill>
            <a:srgbClr val="FFC000"/>
          </a:solidFill>
          <a:ln>
            <a:solidFill>
              <a:srgbClr val="FFC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3" name="Parallelogram 22"/>
          <p:cNvSpPr/>
          <p:nvPr/>
        </p:nvSpPr>
        <p:spPr>
          <a:xfrm>
            <a:off x="13689563" y="9944100"/>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24" name="Picture 23"/>
          <p:cNvPicPr>
            <a:picLocks noChangeAspect="1"/>
          </p:cNvPicPr>
          <p:nvPr/>
        </p:nvPicPr>
        <p:blipFill>
          <a:blip r:embed="rId3"/>
          <a:stretch>
            <a:fillRect/>
          </a:stretch>
        </p:blipFill>
        <p:spPr>
          <a:xfrm rot="10800000" flipV="1">
            <a:off x="2403877" y="9668509"/>
            <a:ext cx="15899363" cy="232657"/>
          </a:xfrm>
          <a:prstGeom prst="rect">
            <a:avLst/>
          </a:prstGeom>
        </p:spPr>
      </p:pic>
      <p:pic>
        <p:nvPicPr>
          <p:cNvPr id="6" name="Picture 5"/>
          <p:cNvPicPr>
            <a:picLocks noChangeAspect="1"/>
          </p:cNvPicPr>
          <p:nvPr/>
        </p:nvPicPr>
        <p:blipFill>
          <a:blip r:embed="rId4"/>
          <a:stretch>
            <a:fillRect/>
          </a:stretch>
        </p:blipFill>
        <p:spPr>
          <a:xfrm>
            <a:off x="15030450" y="488370"/>
            <a:ext cx="3257550" cy="523875"/>
          </a:xfrm>
          <a:prstGeom prst="rect">
            <a:avLst/>
          </a:prstGeom>
        </p:spPr>
      </p:pic>
      <p:sp>
        <p:nvSpPr>
          <p:cNvPr id="25" name="Parallelogram 24"/>
          <p:cNvSpPr/>
          <p:nvPr/>
        </p:nvSpPr>
        <p:spPr>
          <a:xfrm>
            <a:off x="13030200" y="760176"/>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13" name="Picture 12"/>
          <p:cNvPicPr>
            <a:picLocks noChangeAspect="1"/>
          </p:cNvPicPr>
          <p:nvPr/>
        </p:nvPicPr>
        <p:blipFill>
          <a:blip r:embed="rId4"/>
          <a:stretch>
            <a:fillRect/>
          </a:stretch>
        </p:blipFill>
        <p:spPr>
          <a:xfrm rot="10800000">
            <a:off x="0" y="612538"/>
            <a:ext cx="3257550" cy="523875"/>
          </a:xfrm>
          <a:prstGeom prst="rect">
            <a:avLst/>
          </a:prstGeom>
        </p:spPr>
      </p:pic>
      <p:sp>
        <p:nvSpPr>
          <p:cNvPr id="14" name="Parallelogram 13"/>
          <p:cNvSpPr/>
          <p:nvPr/>
        </p:nvSpPr>
        <p:spPr>
          <a:xfrm>
            <a:off x="659363" y="577015"/>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9" name="Rectangle 28"/>
          <p:cNvSpPr/>
          <p:nvPr/>
        </p:nvSpPr>
        <p:spPr>
          <a:xfrm>
            <a:off x="1454530" y="2319935"/>
            <a:ext cx="15929956" cy="1938992"/>
          </a:xfrm>
          <a:prstGeom prst="rect">
            <a:avLst/>
          </a:prstGeom>
        </p:spPr>
        <p:txBody>
          <a:bodyPr wrap="square">
            <a:spAutoFit/>
          </a:bodyPr>
          <a:lstStyle/>
          <a:p>
            <a:pPr marL="0" lvl="2" algn="just"/>
            <a:endParaRPr lang="en-PH" sz="2800" dirty="0" smtClean="0"/>
          </a:p>
          <a:p>
            <a:pPr marL="457200" lvl="2" indent="-457200" algn="just">
              <a:buFont typeface="Wingdings" panose="05000000000000000000" pitchFamily="2" charset="2"/>
              <a:buChar char="Ø"/>
            </a:pPr>
            <a:endParaRPr lang="en-PH" sz="2800" dirty="0" smtClean="0"/>
          </a:p>
          <a:p>
            <a:pPr marL="285750" lvl="2" indent="-285750" algn="just">
              <a:buFont typeface="Arial" panose="020B0604020202020204" pitchFamily="34" charset="0"/>
              <a:buChar char="•"/>
            </a:pPr>
            <a:endParaRPr lang="en-PH" sz="3200" dirty="0"/>
          </a:p>
          <a:p>
            <a:pPr marL="285750" indent="-285750" algn="just">
              <a:buFont typeface="Arial" panose="020B0604020202020204" pitchFamily="34" charset="0"/>
              <a:buChar char="•"/>
            </a:pPr>
            <a:endParaRPr lang="en-PH" sz="3200" dirty="0">
              <a:solidFill>
                <a:srgbClr val="005C2A"/>
              </a:solidFill>
              <a:latin typeface="Arial" panose="020B0604020202020204" pitchFamily="34" charset="0"/>
              <a:cs typeface="Arial" panose="020B0604020202020204" pitchFamily="34" charset="0"/>
            </a:endParaRPr>
          </a:p>
        </p:txBody>
      </p:sp>
      <p:sp>
        <p:nvSpPr>
          <p:cNvPr id="27" name="Rectangle 26"/>
          <p:cNvSpPr/>
          <p:nvPr/>
        </p:nvSpPr>
        <p:spPr>
          <a:xfrm>
            <a:off x="-60960" y="1734345"/>
            <a:ext cx="11486917" cy="2831544"/>
          </a:xfrm>
          <a:prstGeom prst="rect">
            <a:avLst/>
          </a:prstGeom>
        </p:spPr>
        <p:txBody>
          <a:bodyPr wrap="square">
            <a:spAutoFit/>
          </a:bodyPr>
          <a:lstStyle/>
          <a:p>
            <a:pPr algn="just"/>
            <a:r>
              <a:rPr lang="en-PH" sz="4000" dirty="0">
                <a:solidFill>
                  <a:srgbClr val="820000"/>
                </a:solidFill>
                <a:latin typeface="Arial" panose="020B0604020202020204" pitchFamily="34" charset="0"/>
                <a:cs typeface="Arial" panose="020B0604020202020204" pitchFamily="34" charset="0"/>
              </a:rPr>
              <a:t> </a:t>
            </a:r>
            <a:r>
              <a:rPr lang="en-PH" sz="4000" dirty="0" smtClean="0">
                <a:solidFill>
                  <a:srgbClr val="820000"/>
                </a:solidFill>
                <a:latin typeface="Arial" panose="020B0604020202020204" pitchFamily="34" charset="0"/>
                <a:cs typeface="Arial" panose="020B0604020202020204" pitchFamily="34" charset="0"/>
              </a:rPr>
              <a:t>  </a:t>
            </a:r>
            <a:r>
              <a:rPr lang="en-PH" sz="4000" dirty="0">
                <a:solidFill>
                  <a:srgbClr val="820000"/>
                </a:solidFill>
                <a:latin typeface="Arial" panose="020B0604020202020204" pitchFamily="34" charset="0"/>
                <a:cs typeface="Arial" panose="020B0604020202020204" pitchFamily="34" charset="0"/>
              </a:rPr>
              <a:t> </a:t>
            </a:r>
            <a:r>
              <a:rPr lang="en-PH" sz="4000" dirty="0" smtClean="0">
                <a:solidFill>
                  <a:srgbClr val="820000"/>
                </a:solidFill>
                <a:latin typeface="Arial" panose="020B0604020202020204" pitchFamily="34" charset="0"/>
                <a:cs typeface="Arial" panose="020B0604020202020204" pitchFamily="34" charset="0"/>
              </a:rPr>
              <a:t>3.4  </a:t>
            </a:r>
            <a:r>
              <a:rPr lang="en-PH" sz="4000" b="1" dirty="0" smtClean="0">
                <a:solidFill>
                  <a:srgbClr val="820000"/>
                </a:solidFill>
                <a:latin typeface="Arial" panose="020B0604020202020204" pitchFamily="34" charset="0"/>
                <a:cs typeface="Arial" panose="020B0604020202020204" pitchFamily="34" charset="0"/>
              </a:rPr>
              <a:t>Chemical Profiling </a:t>
            </a:r>
          </a:p>
          <a:p>
            <a:pPr marL="0" lvl="2" algn="just"/>
            <a:endParaRPr lang="en-PH" b="1" dirty="0"/>
          </a:p>
          <a:p>
            <a:pPr algn="just"/>
            <a:r>
              <a:rPr lang="en-PH" sz="4000" dirty="0" smtClean="0"/>
              <a:t> </a:t>
            </a:r>
            <a:endParaRPr lang="en-PH" sz="4000" b="1" dirty="0">
              <a:solidFill>
                <a:srgbClr val="820000"/>
              </a:solidFill>
              <a:latin typeface="Arial" panose="020B0604020202020204" pitchFamily="34" charset="0"/>
              <a:cs typeface="Arial" panose="020B0604020202020204" pitchFamily="34" charset="0"/>
            </a:endParaRPr>
          </a:p>
          <a:p>
            <a:pPr algn="just"/>
            <a:endParaRPr lang="en-PH" sz="4000" b="1" dirty="0" smtClean="0">
              <a:solidFill>
                <a:srgbClr val="820000"/>
              </a:solidFill>
              <a:latin typeface="Arial" panose="020B0604020202020204" pitchFamily="34" charset="0"/>
              <a:cs typeface="Arial" panose="020B0604020202020204" pitchFamily="34" charset="0"/>
            </a:endParaRPr>
          </a:p>
          <a:p>
            <a:pPr algn="just"/>
            <a:r>
              <a:rPr lang="en-PH" sz="4000" b="1"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28" name="Rectangle 27"/>
          <p:cNvSpPr/>
          <p:nvPr/>
        </p:nvSpPr>
        <p:spPr>
          <a:xfrm>
            <a:off x="934927" y="2570302"/>
            <a:ext cx="17704837" cy="584775"/>
          </a:xfrm>
          <a:prstGeom prst="rect">
            <a:avLst/>
          </a:prstGeom>
        </p:spPr>
        <p:txBody>
          <a:bodyPr wrap="square">
            <a:spAutoFit/>
          </a:bodyPr>
          <a:lstStyle/>
          <a:p>
            <a:pPr algn="just"/>
            <a:r>
              <a:rPr lang="en-PH" sz="3200" dirty="0">
                <a:solidFill>
                  <a:srgbClr val="820000"/>
                </a:solidFill>
                <a:latin typeface="Arial" panose="020B0604020202020204" pitchFamily="34" charset="0"/>
                <a:cs typeface="Arial" panose="020B0604020202020204" pitchFamily="34" charset="0"/>
              </a:rPr>
              <a:t> </a:t>
            </a:r>
            <a:r>
              <a:rPr lang="en-PH" sz="3200" dirty="0" smtClean="0">
                <a:solidFill>
                  <a:srgbClr val="820000"/>
                </a:solidFill>
                <a:latin typeface="Arial" panose="020B0604020202020204" pitchFamily="34" charset="0"/>
                <a:cs typeface="Arial" panose="020B0604020202020204" pitchFamily="34" charset="0"/>
              </a:rPr>
              <a:t>  </a:t>
            </a:r>
            <a:r>
              <a:rPr lang="en-PH" sz="3200" dirty="0">
                <a:solidFill>
                  <a:srgbClr val="820000"/>
                </a:solidFill>
                <a:latin typeface="Arial" panose="020B0604020202020204" pitchFamily="34"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48" name="Rectangle 47"/>
          <p:cNvSpPr/>
          <p:nvPr/>
        </p:nvSpPr>
        <p:spPr>
          <a:xfrm>
            <a:off x="431081" y="2585704"/>
            <a:ext cx="11486917" cy="2831544"/>
          </a:xfrm>
          <a:prstGeom prst="rect">
            <a:avLst/>
          </a:prstGeom>
        </p:spPr>
        <p:txBody>
          <a:bodyPr wrap="square">
            <a:spAutoFit/>
          </a:bodyPr>
          <a:lstStyle/>
          <a:p>
            <a:pPr algn="just"/>
            <a:r>
              <a:rPr lang="en-PH" sz="4000" dirty="0">
                <a:solidFill>
                  <a:srgbClr val="820000"/>
                </a:solidFill>
                <a:latin typeface="Arial" panose="020B0604020202020204" pitchFamily="34" charset="0"/>
                <a:cs typeface="Arial" panose="020B0604020202020204" pitchFamily="34" charset="0"/>
              </a:rPr>
              <a:t> </a:t>
            </a:r>
            <a:r>
              <a:rPr lang="en-PH" sz="4000" dirty="0" smtClean="0">
                <a:solidFill>
                  <a:srgbClr val="820000"/>
                </a:solidFill>
                <a:latin typeface="Arial" panose="020B0604020202020204" pitchFamily="34" charset="0"/>
                <a:cs typeface="Arial" panose="020B0604020202020204" pitchFamily="34" charset="0"/>
              </a:rPr>
              <a:t>  </a:t>
            </a:r>
            <a:r>
              <a:rPr lang="en-PH" sz="4000" dirty="0">
                <a:solidFill>
                  <a:srgbClr val="820000"/>
                </a:solidFill>
                <a:latin typeface="Arial" panose="020B0604020202020204" pitchFamily="34" charset="0"/>
                <a:cs typeface="Arial" panose="020B0604020202020204" pitchFamily="34" charset="0"/>
              </a:rPr>
              <a:t> </a:t>
            </a:r>
            <a:r>
              <a:rPr lang="en-PH" sz="4000" dirty="0" smtClean="0">
                <a:solidFill>
                  <a:srgbClr val="820000"/>
                </a:solidFill>
                <a:latin typeface="Arial" panose="020B0604020202020204" pitchFamily="34" charset="0"/>
                <a:cs typeface="Arial" panose="020B0604020202020204" pitchFamily="34" charset="0"/>
              </a:rPr>
              <a:t>3.4.2   </a:t>
            </a:r>
            <a:r>
              <a:rPr lang="en-PH" sz="4000" b="1" dirty="0">
                <a:solidFill>
                  <a:srgbClr val="820000"/>
                </a:solidFill>
                <a:latin typeface="Arial" panose="020B0604020202020204" pitchFamily="34" charset="0"/>
                <a:cs typeface="Arial" panose="020B0604020202020204" pitchFamily="34" charset="0"/>
              </a:rPr>
              <a:t>L</a:t>
            </a:r>
            <a:r>
              <a:rPr lang="en-PH" sz="4000" b="1" dirty="0" smtClean="0">
                <a:solidFill>
                  <a:srgbClr val="820000"/>
                </a:solidFill>
                <a:latin typeface="Arial" panose="020B0604020202020204" pitchFamily="34" charset="0"/>
                <a:cs typeface="Arial" panose="020B0604020202020204" pitchFamily="34" charset="0"/>
              </a:rPr>
              <a:t>C-MS </a:t>
            </a:r>
          </a:p>
          <a:p>
            <a:pPr marL="0" lvl="2" algn="just"/>
            <a:endParaRPr lang="en-PH" b="1" dirty="0"/>
          </a:p>
          <a:p>
            <a:pPr algn="just"/>
            <a:r>
              <a:rPr lang="en-PH" sz="4000" dirty="0" smtClean="0"/>
              <a:t> </a:t>
            </a:r>
            <a:endParaRPr lang="en-PH" sz="4000" b="1" dirty="0">
              <a:solidFill>
                <a:srgbClr val="820000"/>
              </a:solidFill>
              <a:latin typeface="Arial" panose="020B0604020202020204" pitchFamily="34" charset="0"/>
              <a:cs typeface="Arial" panose="020B0604020202020204" pitchFamily="34" charset="0"/>
            </a:endParaRPr>
          </a:p>
          <a:p>
            <a:pPr algn="just"/>
            <a:endParaRPr lang="en-PH" sz="4000" b="1" dirty="0" smtClean="0">
              <a:solidFill>
                <a:srgbClr val="820000"/>
              </a:solidFill>
              <a:latin typeface="Arial" panose="020B0604020202020204" pitchFamily="34" charset="0"/>
              <a:cs typeface="Arial" panose="020B0604020202020204" pitchFamily="34" charset="0"/>
            </a:endParaRPr>
          </a:p>
          <a:p>
            <a:pPr algn="just"/>
            <a:r>
              <a:rPr lang="en-PH" sz="4000" b="1"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5" name="Rectangle 4"/>
          <p:cNvSpPr/>
          <p:nvPr/>
        </p:nvSpPr>
        <p:spPr>
          <a:xfrm>
            <a:off x="689222" y="3313004"/>
            <a:ext cx="9369178" cy="5570756"/>
          </a:xfrm>
          <a:prstGeom prst="rect">
            <a:avLst/>
          </a:prstGeom>
          <a:ln>
            <a:solidFill>
              <a:srgbClr val="820000"/>
            </a:solidFill>
          </a:ln>
        </p:spPr>
        <p:txBody>
          <a:bodyPr wrap="square">
            <a:spAutoFit/>
          </a:bodyPr>
          <a:lstStyle/>
          <a:p>
            <a:pPr marL="228600" indent="228600" algn="just"/>
            <a:r>
              <a:rPr lang="en-PH" sz="3600" dirty="0">
                <a:solidFill>
                  <a:srgbClr val="820000"/>
                </a:solidFill>
                <a:latin typeface="Arial" panose="020B0604020202020204" pitchFamily="34" charset="0"/>
                <a:cs typeface="Arial" panose="020B0604020202020204" pitchFamily="34" charset="0"/>
              </a:rPr>
              <a:t>The crude </a:t>
            </a:r>
            <a:r>
              <a:rPr lang="en-PH" sz="3600" dirty="0" err="1">
                <a:solidFill>
                  <a:srgbClr val="820000"/>
                </a:solidFill>
                <a:latin typeface="Arial" panose="020B0604020202020204" pitchFamily="34" charset="0"/>
                <a:cs typeface="Arial" panose="020B0604020202020204" pitchFamily="34" charset="0"/>
              </a:rPr>
              <a:t>methanolic</a:t>
            </a:r>
            <a:r>
              <a:rPr lang="en-PH" sz="3600" dirty="0">
                <a:solidFill>
                  <a:srgbClr val="820000"/>
                </a:solidFill>
                <a:latin typeface="Arial" panose="020B0604020202020204" pitchFamily="34" charset="0"/>
                <a:cs typeface="Arial" panose="020B0604020202020204" pitchFamily="34" charset="0"/>
              </a:rPr>
              <a:t> extracts of </a:t>
            </a:r>
            <a:r>
              <a:rPr lang="en-PH" sz="3600" dirty="0" err="1">
                <a:solidFill>
                  <a:srgbClr val="820000"/>
                </a:solidFill>
                <a:latin typeface="Arial" panose="020B0604020202020204" pitchFamily="34" charset="0"/>
                <a:cs typeface="Arial" panose="020B0604020202020204" pitchFamily="34" charset="0"/>
              </a:rPr>
              <a:t>haustorium</a:t>
            </a:r>
            <a:r>
              <a:rPr lang="en-PH" sz="3600" dirty="0">
                <a:solidFill>
                  <a:srgbClr val="820000"/>
                </a:solidFill>
                <a:latin typeface="Arial" panose="020B0604020202020204" pitchFamily="34" charset="0"/>
                <a:cs typeface="Arial" panose="020B0604020202020204" pitchFamily="34" charset="0"/>
              </a:rPr>
              <a:t>, endosperm, roots, shoots and leaves from six-month old germinating coconut will be sent to the Central Instrumentation Facility of De La Salle University (DLSU) Manila for LC-MS analysis. Expected data to be obtained will be the mass spectra of the sample extracts with </a:t>
            </a:r>
            <a:r>
              <a:rPr lang="en-PH" sz="3600" dirty="0" err="1">
                <a:solidFill>
                  <a:srgbClr val="820000"/>
                </a:solidFill>
                <a:latin typeface="Arial" panose="020B0604020202020204" pitchFamily="34" charset="0"/>
                <a:cs typeface="Arial" panose="020B0604020202020204" pitchFamily="34" charset="0"/>
              </a:rPr>
              <a:t>Heatmaps</a:t>
            </a:r>
            <a:r>
              <a:rPr lang="en-PH" sz="3600" dirty="0">
                <a:solidFill>
                  <a:srgbClr val="820000"/>
                </a:solidFill>
                <a:latin typeface="Arial" panose="020B0604020202020204" pitchFamily="34" charset="0"/>
                <a:cs typeface="Arial" panose="020B0604020202020204" pitchFamily="34" charset="0"/>
              </a:rPr>
              <a:t> and PCA for data analysis.</a:t>
            </a:r>
          </a:p>
          <a:p>
            <a:pPr marL="228600" marR="0" indent="228600" algn="just">
              <a:spcBef>
                <a:spcPts val="0"/>
              </a:spcBef>
              <a:spcAft>
                <a:spcPts val="0"/>
              </a:spcAft>
            </a:pPr>
            <a:endParaRPr lang="en-PH" sz="3200" dirty="0">
              <a:solidFill>
                <a:srgbClr val="820000"/>
              </a:solidFill>
              <a:effectLst/>
              <a:latin typeface="Arial" panose="020B0604020202020204" pitchFamily="34" charset="0"/>
              <a:ea typeface="Calibri" panose="020F0502020204030204" pitchFamily="34" charset="0"/>
              <a:cs typeface="Times New Roman" panose="02020603050405020304" pitchFamily="18" charset="0"/>
            </a:endParaRPr>
          </a:p>
        </p:txBody>
      </p:sp>
      <p:pic>
        <p:nvPicPr>
          <p:cNvPr id="10" name="Picture 9"/>
          <p:cNvPicPr>
            <a:picLocks noChangeAspect="1"/>
          </p:cNvPicPr>
          <p:nvPr/>
        </p:nvPicPr>
        <p:blipFill>
          <a:blip r:embed="rId5"/>
          <a:stretch>
            <a:fillRect/>
          </a:stretch>
        </p:blipFill>
        <p:spPr>
          <a:xfrm>
            <a:off x="10275257" y="3017382"/>
            <a:ext cx="7628832" cy="5799768"/>
          </a:xfrm>
          <a:prstGeom prst="rect">
            <a:avLst/>
          </a:prstGeom>
        </p:spPr>
      </p:pic>
      <p:sp>
        <p:nvSpPr>
          <p:cNvPr id="11" name="Rectangle 10"/>
          <p:cNvSpPr/>
          <p:nvPr/>
        </p:nvSpPr>
        <p:spPr>
          <a:xfrm>
            <a:off x="9787345" y="8907780"/>
            <a:ext cx="9144000" cy="923330"/>
          </a:xfrm>
          <a:prstGeom prst="rect">
            <a:avLst/>
          </a:prstGeom>
        </p:spPr>
        <p:txBody>
          <a:bodyPr>
            <a:spAutoFit/>
          </a:bodyPr>
          <a:lstStyle/>
          <a:p>
            <a:r>
              <a:rPr lang="en-PH" dirty="0">
                <a:hlinkClick r:id="rId6"/>
              </a:rPr>
              <a:t>https://</a:t>
            </a:r>
            <a:r>
              <a:rPr lang="en-PH" dirty="0" smtClean="0">
                <a:hlinkClick r:id="rId6"/>
              </a:rPr>
              <a:t>www.gfz-potsdam.de/en/section/organic-geochemistry/infrastructure/liquid-chromatography-mass-spectrometry-lc-ms</a:t>
            </a:r>
            <a:endParaRPr lang="en-PH" dirty="0" smtClean="0"/>
          </a:p>
          <a:p>
            <a:endParaRPr lang="en-PH" dirty="0"/>
          </a:p>
        </p:txBody>
      </p:sp>
    </p:spTree>
    <p:extLst>
      <p:ext uri="{BB962C8B-B14F-4D97-AF65-F5344CB8AC3E}">
        <p14:creationId xmlns:p14="http://schemas.microsoft.com/office/powerpoint/2010/main" val="404251849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6" name="Picture 105"/>
          <p:cNvPicPr>
            <a:picLocks noChangeAspect="1"/>
          </p:cNvPicPr>
          <p:nvPr/>
        </p:nvPicPr>
        <p:blipFill>
          <a:blip r:embed="rId2"/>
          <a:stretch>
            <a:fillRect/>
          </a:stretch>
        </p:blipFill>
        <p:spPr>
          <a:xfrm>
            <a:off x="9093778" y="4439229"/>
            <a:ext cx="1112354" cy="2481406"/>
          </a:xfrm>
          <a:prstGeom prst="rect">
            <a:avLst/>
          </a:prstGeom>
        </p:spPr>
      </p:pic>
      <p:sp>
        <p:nvSpPr>
          <p:cNvPr id="53" name="TextBox 13"/>
          <p:cNvSpPr txBox="1"/>
          <p:nvPr/>
        </p:nvSpPr>
        <p:spPr>
          <a:xfrm>
            <a:off x="1671387" y="1531257"/>
            <a:ext cx="2203151" cy="2306426"/>
          </a:xfrm>
          <a:prstGeom prst="rect">
            <a:avLst/>
          </a:prstGeom>
        </p:spPr>
        <p:txBody>
          <a:bodyPr lIns="50800" tIns="50800" rIns="50800" bIns="50800" rtlCol="0" anchor="ctr"/>
          <a:lstStyle/>
          <a:p>
            <a:pPr algn="ctr">
              <a:lnSpc>
                <a:spcPts val="2659"/>
              </a:lnSpc>
              <a:spcBef>
                <a:spcPct val="0"/>
              </a:spcBef>
            </a:pPr>
            <a:endParaRPr/>
          </a:p>
        </p:txBody>
      </p:sp>
      <p:pic>
        <p:nvPicPr>
          <p:cNvPr id="18" name="Picture 17"/>
          <p:cNvPicPr>
            <a:picLocks noChangeAspect="1"/>
          </p:cNvPicPr>
          <p:nvPr/>
        </p:nvPicPr>
        <p:blipFill>
          <a:blip r:embed="rId3"/>
          <a:stretch>
            <a:fillRect/>
          </a:stretch>
        </p:blipFill>
        <p:spPr>
          <a:xfrm>
            <a:off x="76200" y="9266338"/>
            <a:ext cx="2327677" cy="1020662"/>
          </a:xfrm>
          <a:prstGeom prst="rect">
            <a:avLst/>
          </a:prstGeom>
        </p:spPr>
      </p:pic>
      <p:pic>
        <p:nvPicPr>
          <p:cNvPr id="19" name="Picture 18"/>
          <p:cNvPicPr>
            <a:picLocks noChangeAspect="1"/>
          </p:cNvPicPr>
          <p:nvPr/>
        </p:nvPicPr>
        <p:blipFill>
          <a:blip r:embed="rId4"/>
          <a:stretch>
            <a:fillRect/>
          </a:stretch>
        </p:blipFill>
        <p:spPr>
          <a:xfrm rot="10800000">
            <a:off x="-30480" y="1294489"/>
            <a:ext cx="18288000" cy="267610"/>
          </a:xfrm>
          <a:prstGeom prst="rect">
            <a:avLst/>
          </a:prstGeom>
        </p:spPr>
      </p:pic>
      <p:sp>
        <p:nvSpPr>
          <p:cNvPr id="21" name="Round Single Corner Rectangle 20"/>
          <p:cNvSpPr/>
          <p:nvPr/>
        </p:nvSpPr>
        <p:spPr>
          <a:xfrm>
            <a:off x="5494020" y="160397"/>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5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Methodology      </a:t>
            </a:r>
            <a:r>
              <a:rPr lang="en-PH" sz="6000" b="1" u="sng" dirty="0" smtClean="0">
                <a:solidFill>
                  <a:srgbClr val="820000"/>
                </a:solidFill>
                <a:latin typeface="Arial" panose="020B0604020202020204" pitchFamily="34" charset="0"/>
                <a:cs typeface="Arial" panose="020B0604020202020204" pitchFamily="34" charset="0"/>
              </a:rPr>
              <a:t> </a:t>
            </a:r>
          </a:p>
        </p:txBody>
      </p:sp>
      <p:pic>
        <p:nvPicPr>
          <p:cNvPr id="20" name="Picture 19"/>
          <p:cNvPicPr>
            <a:picLocks noChangeAspect="1"/>
          </p:cNvPicPr>
          <p:nvPr/>
        </p:nvPicPr>
        <p:blipFill>
          <a:blip r:embed="rId4"/>
          <a:stretch>
            <a:fillRect/>
          </a:stretch>
        </p:blipFill>
        <p:spPr>
          <a:xfrm>
            <a:off x="0" y="0"/>
            <a:ext cx="18288000" cy="267611"/>
          </a:xfrm>
          <a:prstGeom prst="rect">
            <a:avLst/>
          </a:prstGeom>
        </p:spPr>
      </p:pic>
      <p:sp>
        <p:nvSpPr>
          <p:cNvPr id="4" name="Parallelogram 3"/>
          <p:cNvSpPr/>
          <p:nvPr/>
        </p:nvSpPr>
        <p:spPr>
          <a:xfrm>
            <a:off x="2388637" y="9936689"/>
            <a:ext cx="9727163" cy="236011"/>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2" name="Parallelogram 21"/>
          <p:cNvSpPr/>
          <p:nvPr/>
        </p:nvSpPr>
        <p:spPr>
          <a:xfrm>
            <a:off x="12192000" y="9944100"/>
            <a:ext cx="1421363" cy="228600"/>
          </a:xfrm>
          <a:prstGeom prst="parallelogram">
            <a:avLst/>
          </a:prstGeom>
          <a:solidFill>
            <a:srgbClr val="FFC000"/>
          </a:solidFill>
          <a:ln>
            <a:solidFill>
              <a:srgbClr val="FFC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3" name="Parallelogram 22"/>
          <p:cNvSpPr/>
          <p:nvPr/>
        </p:nvSpPr>
        <p:spPr>
          <a:xfrm>
            <a:off x="13689563" y="9944100"/>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24" name="Picture 23"/>
          <p:cNvPicPr>
            <a:picLocks noChangeAspect="1"/>
          </p:cNvPicPr>
          <p:nvPr/>
        </p:nvPicPr>
        <p:blipFill>
          <a:blip r:embed="rId4"/>
          <a:stretch>
            <a:fillRect/>
          </a:stretch>
        </p:blipFill>
        <p:spPr>
          <a:xfrm rot="10800000" flipV="1">
            <a:off x="2403877" y="9668509"/>
            <a:ext cx="15899363" cy="232657"/>
          </a:xfrm>
          <a:prstGeom prst="rect">
            <a:avLst/>
          </a:prstGeom>
        </p:spPr>
      </p:pic>
      <p:pic>
        <p:nvPicPr>
          <p:cNvPr id="6" name="Picture 5"/>
          <p:cNvPicPr>
            <a:picLocks noChangeAspect="1"/>
          </p:cNvPicPr>
          <p:nvPr/>
        </p:nvPicPr>
        <p:blipFill>
          <a:blip r:embed="rId5"/>
          <a:stretch>
            <a:fillRect/>
          </a:stretch>
        </p:blipFill>
        <p:spPr>
          <a:xfrm>
            <a:off x="15030450" y="488370"/>
            <a:ext cx="3257550" cy="523875"/>
          </a:xfrm>
          <a:prstGeom prst="rect">
            <a:avLst/>
          </a:prstGeom>
        </p:spPr>
      </p:pic>
      <p:sp>
        <p:nvSpPr>
          <p:cNvPr id="25" name="Parallelogram 24"/>
          <p:cNvSpPr/>
          <p:nvPr/>
        </p:nvSpPr>
        <p:spPr>
          <a:xfrm>
            <a:off x="13030200" y="760176"/>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13" name="Picture 12"/>
          <p:cNvPicPr>
            <a:picLocks noChangeAspect="1"/>
          </p:cNvPicPr>
          <p:nvPr/>
        </p:nvPicPr>
        <p:blipFill>
          <a:blip r:embed="rId5"/>
          <a:stretch>
            <a:fillRect/>
          </a:stretch>
        </p:blipFill>
        <p:spPr>
          <a:xfrm rot="10800000">
            <a:off x="0" y="612538"/>
            <a:ext cx="3257550" cy="523875"/>
          </a:xfrm>
          <a:prstGeom prst="rect">
            <a:avLst/>
          </a:prstGeom>
        </p:spPr>
      </p:pic>
      <p:sp>
        <p:nvSpPr>
          <p:cNvPr id="14" name="Parallelogram 13"/>
          <p:cNvSpPr/>
          <p:nvPr/>
        </p:nvSpPr>
        <p:spPr>
          <a:xfrm>
            <a:off x="659363" y="577015"/>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48" name="Rectangle 47"/>
          <p:cNvSpPr/>
          <p:nvPr/>
        </p:nvSpPr>
        <p:spPr>
          <a:xfrm>
            <a:off x="-249439" y="1720175"/>
            <a:ext cx="11486917" cy="2831544"/>
          </a:xfrm>
          <a:prstGeom prst="rect">
            <a:avLst/>
          </a:prstGeom>
        </p:spPr>
        <p:txBody>
          <a:bodyPr wrap="square">
            <a:spAutoFit/>
          </a:bodyPr>
          <a:lstStyle/>
          <a:p>
            <a:pPr algn="just"/>
            <a:r>
              <a:rPr lang="en-PH" sz="4000" dirty="0">
                <a:solidFill>
                  <a:srgbClr val="820000"/>
                </a:solidFill>
                <a:latin typeface="Arial" panose="020B0604020202020204" pitchFamily="34" charset="0"/>
                <a:cs typeface="Arial" panose="020B0604020202020204" pitchFamily="34" charset="0"/>
              </a:rPr>
              <a:t> </a:t>
            </a:r>
            <a:r>
              <a:rPr lang="en-PH" sz="4000" dirty="0" smtClean="0">
                <a:solidFill>
                  <a:srgbClr val="820000"/>
                </a:solidFill>
                <a:latin typeface="Arial" panose="020B0604020202020204" pitchFamily="34" charset="0"/>
                <a:cs typeface="Arial" panose="020B0604020202020204" pitchFamily="34" charset="0"/>
              </a:rPr>
              <a:t>  </a:t>
            </a:r>
            <a:r>
              <a:rPr lang="en-PH" sz="3200" dirty="0">
                <a:solidFill>
                  <a:srgbClr val="820000"/>
                </a:solidFill>
                <a:latin typeface="Arial" panose="020B0604020202020204" pitchFamily="34" charset="0"/>
                <a:cs typeface="Arial" panose="020B0604020202020204" pitchFamily="34" charset="0"/>
              </a:rPr>
              <a:t> </a:t>
            </a:r>
            <a:r>
              <a:rPr lang="en-PH" sz="3200" dirty="0" smtClean="0">
                <a:solidFill>
                  <a:srgbClr val="820000"/>
                </a:solidFill>
                <a:latin typeface="Arial" panose="020B0604020202020204" pitchFamily="34" charset="0"/>
                <a:cs typeface="Arial" panose="020B0604020202020204" pitchFamily="34" charset="0"/>
              </a:rPr>
              <a:t>3.6.1   </a:t>
            </a:r>
            <a:r>
              <a:rPr lang="en-PH" sz="3200" b="1" dirty="0">
                <a:solidFill>
                  <a:srgbClr val="820000"/>
                </a:solidFill>
                <a:latin typeface="Arial" panose="020B0604020202020204" pitchFamily="34" charset="0"/>
                <a:cs typeface="Arial" panose="020B0604020202020204" pitchFamily="34" charset="0"/>
              </a:rPr>
              <a:t>Total Phenolic Content</a:t>
            </a:r>
          </a:p>
          <a:p>
            <a:pPr marL="0" lvl="2" algn="just"/>
            <a:endParaRPr lang="en-PH" b="1" dirty="0"/>
          </a:p>
          <a:p>
            <a:pPr algn="just"/>
            <a:r>
              <a:rPr lang="en-PH" sz="4000" dirty="0" smtClean="0"/>
              <a:t> </a:t>
            </a:r>
            <a:endParaRPr lang="en-PH" sz="4000" b="1" dirty="0">
              <a:solidFill>
                <a:srgbClr val="820000"/>
              </a:solidFill>
              <a:latin typeface="Arial" panose="020B0604020202020204" pitchFamily="34" charset="0"/>
              <a:cs typeface="Arial" panose="020B0604020202020204" pitchFamily="34" charset="0"/>
            </a:endParaRPr>
          </a:p>
          <a:p>
            <a:pPr algn="just"/>
            <a:endParaRPr lang="en-PH" sz="4000" b="1" dirty="0" smtClean="0">
              <a:solidFill>
                <a:srgbClr val="820000"/>
              </a:solidFill>
              <a:latin typeface="Arial" panose="020B0604020202020204" pitchFamily="34" charset="0"/>
              <a:cs typeface="Arial" panose="020B0604020202020204" pitchFamily="34" charset="0"/>
            </a:endParaRPr>
          </a:p>
          <a:p>
            <a:pPr algn="just"/>
            <a:r>
              <a:rPr lang="en-PH" sz="4000" b="1"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46" name="Flowchart: Connector 45"/>
          <p:cNvSpPr/>
          <p:nvPr/>
        </p:nvSpPr>
        <p:spPr>
          <a:xfrm>
            <a:off x="4360134" y="2588977"/>
            <a:ext cx="886656" cy="914854"/>
          </a:xfrm>
          <a:prstGeom prst="flowChartConnector">
            <a:avLst/>
          </a:prstGeom>
          <a:blipFill>
            <a:blip r:embed="rId6"/>
            <a:stretch>
              <a:fillRect l="-30844" r="-30844"/>
            </a:stretch>
          </a:blipFill>
          <a:ln w="28575">
            <a:solidFill>
              <a:srgbClr val="005C2A"/>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dirty="0"/>
          </a:p>
        </p:txBody>
      </p:sp>
      <p:sp>
        <p:nvSpPr>
          <p:cNvPr id="47" name="Flowchart: Connector 46"/>
          <p:cNvSpPr/>
          <p:nvPr/>
        </p:nvSpPr>
        <p:spPr>
          <a:xfrm>
            <a:off x="4347477" y="3964924"/>
            <a:ext cx="886656" cy="914854"/>
          </a:xfrm>
          <a:prstGeom prst="flowChartConnector">
            <a:avLst/>
          </a:prstGeom>
          <a:blipFill>
            <a:blip r:embed="rId7"/>
            <a:stretch>
              <a:fillRect l="-30844" r="-30844"/>
            </a:stretch>
          </a:blipFill>
          <a:ln w="28575">
            <a:solidFill>
              <a:srgbClr val="005C2A"/>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dirty="0"/>
          </a:p>
        </p:txBody>
      </p:sp>
      <p:sp>
        <p:nvSpPr>
          <p:cNvPr id="49" name="Flowchart: Connector 48"/>
          <p:cNvSpPr/>
          <p:nvPr/>
        </p:nvSpPr>
        <p:spPr>
          <a:xfrm>
            <a:off x="4360134" y="8053579"/>
            <a:ext cx="886656" cy="914854"/>
          </a:xfrm>
          <a:prstGeom prst="flowChartConnector">
            <a:avLst/>
          </a:prstGeom>
          <a:blipFill>
            <a:blip r:embed="rId8"/>
            <a:stretch>
              <a:fillRect l="-30844" r="-30844"/>
            </a:stretch>
          </a:blipFill>
          <a:ln w="28575">
            <a:solidFill>
              <a:srgbClr val="005C2A"/>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dirty="0"/>
          </a:p>
        </p:txBody>
      </p:sp>
      <p:sp>
        <p:nvSpPr>
          <p:cNvPr id="50" name="Flowchart: Connector 49"/>
          <p:cNvSpPr/>
          <p:nvPr/>
        </p:nvSpPr>
        <p:spPr>
          <a:xfrm>
            <a:off x="4340463" y="6698019"/>
            <a:ext cx="886656" cy="914854"/>
          </a:xfrm>
          <a:prstGeom prst="flowChartConnector">
            <a:avLst/>
          </a:prstGeom>
          <a:blipFill>
            <a:blip r:embed="rId9"/>
            <a:stretch>
              <a:fillRect l="-30844" r="-30844"/>
            </a:stretch>
          </a:blipFill>
          <a:ln w="28575">
            <a:solidFill>
              <a:srgbClr val="005C2A"/>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dirty="0"/>
          </a:p>
        </p:txBody>
      </p:sp>
      <p:sp>
        <p:nvSpPr>
          <p:cNvPr id="51" name="Flowchart: Connector 50"/>
          <p:cNvSpPr/>
          <p:nvPr/>
        </p:nvSpPr>
        <p:spPr>
          <a:xfrm>
            <a:off x="4340463" y="5339236"/>
            <a:ext cx="886656" cy="914854"/>
          </a:xfrm>
          <a:prstGeom prst="flowChartConnector">
            <a:avLst/>
          </a:prstGeom>
          <a:blipFill>
            <a:blip r:embed="rId10"/>
            <a:stretch>
              <a:fillRect l="-30844" r="-30844"/>
            </a:stretch>
          </a:blipFill>
          <a:ln w="28575">
            <a:solidFill>
              <a:srgbClr val="005C2A"/>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dirty="0"/>
          </a:p>
        </p:txBody>
      </p:sp>
      <p:cxnSp>
        <p:nvCxnSpPr>
          <p:cNvPr id="62" name="Straight Connector 61"/>
          <p:cNvCxnSpPr/>
          <p:nvPr/>
        </p:nvCxnSpPr>
        <p:spPr>
          <a:xfrm flipH="1">
            <a:off x="3640292" y="3086100"/>
            <a:ext cx="1" cy="5512701"/>
          </a:xfrm>
          <a:prstGeom prst="line">
            <a:avLst/>
          </a:prstGeom>
          <a:ln w="28575">
            <a:solidFill>
              <a:srgbClr val="820000"/>
            </a:solidFill>
          </a:ln>
        </p:spPr>
        <p:style>
          <a:lnRef idx="1">
            <a:schemeClr val="accent1"/>
          </a:lnRef>
          <a:fillRef idx="0">
            <a:schemeClr val="accent1"/>
          </a:fillRef>
          <a:effectRef idx="0">
            <a:schemeClr val="accent1"/>
          </a:effectRef>
          <a:fontRef idx="minor">
            <a:schemeClr val="tx1"/>
          </a:fontRef>
        </p:style>
      </p:cxnSp>
      <p:pic>
        <p:nvPicPr>
          <p:cNvPr id="72" name="Picture 71"/>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75073" y="5084313"/>
            <a:ext cx="2789816" cy="2116588"/>
          </a:xfrm>
          <a:prstGeom prst="rect">
            <a:avLst/>
          </a:prstGeom>
        </p:spPr>
      </p:pic>
      <p:cxnSp>
        <p:nvCxnSpPr>
          <p:cNvPr id="82" name="Straight Connector 81"/>
          <p:cNvCxnSpPr>
            <a:stCxn id="72" idx="3"/>
          </p:cNvCxnSpPr>
          <p:nvPr/>
        </p:nvCxnSpPr>
        <p:spPr>
          <a:xfrm flipV="1">
            <a:off x="2964889" y="6134100"/>
            <a:ext cx="675404" cy="8507"/>
          </a:xfrm>
          <a:prstGeom prst="line">
            <a:avLst/>
          </a:prstGeom>
          <a:ln w="38100">
            <a:solidFill>
              <a:srgbClr val="820000"/>
            </a:solidFill>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flipV="1">
            <a:off x="3657412" y="3077593"/>
            <a:ext cx="675404" cy="8507"/>
          </a:xfrm>
          <a:prstGeom prst="line">
            <a:avLst/>
          </a:prstGeom>
          <a:ln w="38100">
            <a:solidFill>
              <a:srgbClr val="820000"/>
            </a:solidFill>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flipV="1">
            <a:off x="3651188" y="4465973"/>
            <a:ext cx="675404" cy="8507"/>
          </a:xfrm>
          <a:prstGeom prst="line">
            <a:avLst/>
          </a:prstGeom>
          <a:ln w="38100">
            <a:solidFill>
              <a:srgbClr val="820000"/>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flipV="1">
            <a:off x="3651188" y="5814040"/>
            <a:ext cx="675404" cy="8507"/>
          </a:xfrm>
          <a:prstGeom prst="line">
            <a:avLst/>
          </a:prstGeom>
          <a:ln w="38100">
            <a:solidFill>
              <a:srgbClr val="820000"/>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flipV="1">
            <a:off x="3640293" y="7200901"/>
            <a:ext cx="675404" cy="8507"/>
          </a:xfrm>
          <a:prstGeom prst="line">
            <a:avLst/>
          </a:prstGeom>
          <a:ln w="38100">
            <a:solidFill>
              <a:srgbClr val="820000"/>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flipV="1">
            <a:off x="3654488" y="8590294"/>
            <a:ext cx="675404" cy="8507"/>
          </a:xfrm>
          <a:prstGeom prst="line">
            <a:avLst/>
          </a:prstGeom>
          <a:ln w="38100">
            <a:solidFill>
              <a:srgbClr val="820000"/>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flipV="1">
            <a:off x="5268889" y="3077593"/>
            <a:ext cx="463497" cy="1"/>
          </a:xfrm>
          <a:prstGeom prst="line">
            <a:avLst/>
          </a:prstGeom>
          <a:ln w="38100">
            <a:solidFill>
              <a:srgbClr val="820000"/>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p:nvPr/>
        </p:nvCxnSpPr>
        <p:spPr>
          <a:xfrm flipV="1">
            <a:off x="5234133" y="8590294"/>
            <a:ext cx="463497" cy="1"/>
          </a:xfrm>
          <a:prstGeom prst="line">
            <a:avLst/>
          </a:prstGeom>
          <a:ln w="38100">
            <a:solidFill>
              <a:srgbClr val="820000"/>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p:nvPr/>
        </p:nvCxnSpPr>
        <p:spPr>
          <a:xfrm flipH="1">
            <a:off x="5732386" y="3077593"/>
            <a:ext cx="1" cy="5512701"/>
          </a:xfrm>
          <a:prstGeom prst="line">
            <a:avLst/>
          </a:prstGeom>
          <a:ln w="28575">
            <a:solidFill>
              <a:srgbClr val="820000"/>
            </a:solidFill>
          </a:ln>
        </p:spPr>
        <p:style>
          <a:lnRef idx="1">
            <a:schemeClr val="accent1"/>
          </a:lnRef>
          <a:fillRef idx="0">
            <a:schemeClr val="accent1"/>
          </a:fillRef>
          <a:effectRef idx="0">
            <a:schemeClr val="accent1"/>
          </a:effectRef>
          <a:fontRef idx="minor">
            <a:schemeClr val="tx1"/>
          </a:fontRef>
        </p:style>
      </p:cxnSp>
      <p:sp>
        <p:nvSpPr>
          <p:cNvPr id="96" name="Down Arrow 95"/>
          <p:cNvSpPr/>
          <p:nvPr/>
        </p:nvSpPr>
        <p:spPr>
          <a:xfrm rot="16200000">
            <a:off x="5889526" y="5319750"/>
            <a:ext cx="539567" cy="784333"/>
          </a:xfrm>
          <a:prstGeom prst="downArrow">
            <a:avLst/>
          </a:prstGeom>
          <a:solidFill>
            <a:srgbClr val="820000"/>
          </a:solidFill>
          <a:ln>
            <a:solidFill>
              <a:srgbClr val="8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98" name="Rectangle 97"/>
          <p:cNvSpPr/>
          <p:nvPr/>
        </p:nvSpPr>
        <p:spPr>
          <a:xfrm>
            <a:off x="126094" y="7087384"/>
            <a:ext cx="2391965" cy="2831544"/>
          </a:xfrm>
          <a:prstGeom prst="rect">
            <a:avLst/>
          </a:prstGeom>
        </p:spPr>
        <p:txBody>
          <a:bodyPr wrap="square">
            <a:spAutoFit/>
          </a:bodyPr>
          <a:lstStyle/>
          <a:p>
            <a:pPr algn="just"/>
            <a:r>
              <a:rPr lang="en-PH" sz="4000" dirty="0">
                <a:solidFill>
                  <a:srgbClr val="820000"/>
                </a:solidFill>
                <a:latin typeface="Arial" panose="020B0604020202020204" pitchFamily="34" charset="0"/>
                <a:cs typeface="Arial" panose="020B0604020202020204" pitchFamily="34" charset="0"/>
              </a:rPr>
              <a:t> </a:t>
            </a:r>
            <a:r>
              <a:rPr lang="en-PH" sz="4000" dirty="0" smtClean="0">
                <a:solidFill>
                  <a:srgbClr val="820000"/>
                </a:solidFill>
                <a:latin typeface="Arial" panose="020B0604020202020204" pitchFamily="34" charset="0"/>
                <a:cs typeface="Arial" panose="020B0604020202020204" pitchFamily="34" charset="0"/>
              </a:rPr>
              <a:t>  </a:t>
            </a:r>
            <a:r>
              <a:rPr lang="en-PH" sz="2000" i="1" dirty="0" err="1" smtClean="0">
                <a:solidFill>
                  <a:srgbClr val="820000"/>
                </a:solidFill>
                <a:latin typeface="Arial" panose="020B0604020202020204" pitchFamily="34" charset="0"/>
                <a:cs typeface="Arial" panose="020B0604020202020204" pitchFamily="34" charset="0"/>
              </a:rPr>
              <a:t>Cocus</a:t>
            </a:r>
            <a:r>
              <a:rPr lang="en-PH" sz="2000" i="1" dirty="0" smtClean="0">
                <a:solidFill>
                  <a:srgbClr val="820000"/>
                </a:solidFill>
                <a:latin typeface="Arial" panose="020B0604020202020204" pitchFamily="34" charset="0"/>
                <a:cs typeface="Arial" panose="020B0604020202020204" pitchFamily="34" charset="0"/>
              </a:rPr>
              <a:t> </a:t>
            </a:r>
            <a:r>
              <a:rPr lang="en-PH" sz="2000" i="1" dirty="0" err="1" smtClean="0">
                <a:solidFill>
                  <a:srgbClr val="820000"/>
                </a:solidFill>
                <a:latin typeface="Arial" panose="020B0604020202020204" pitchFamily="34" charset="0"/>
                <a:cs typeface="Arial" panose="020B0604020202020204" pitchFamily="34" charset="0"/>
              </a:rPr>
              <a:t>Nucifera</a:t>
            </a:r>
            <a:r>
              <a:rPr lang="en-PH" sz="2000" i="1" dirty="0" smtClean="0">
                <a:solidFill>
                  <a:srgbClr val="820000"/>
                </a:solidFill>
                <a:latin typeface="Arial" panose="020B0604020202020204" pitchFamily="34" charset="0"/>
                <a:cs typeface="Arial" panose="020B0604020202020204" pitchFamily="34" charset="0"/>
              </a:rPr>
              <a:t> </a:t>
            </a:r>
            <a:endParaRPr lang="en-PH" sz="3200" b="1" i="1" dirty="0" smtClean="0">
              <a:solidFill>
                <a:srgbClr val="820000"/>
              </a:solidFill>
              <a:latin typeface="Arial" panose="020B0604020202020204" pitchFamily="34" charset="0"/>
              <a:cs typeface="Arial" panose="020B0604020202020204" pitchFamily="34" charset="0"/>
            </a:endParaRPr>
          </a:p>
          <a:p>
            <a:pPr marL="0" lvl="2" algn="just"/>
            <a:endParaRPr lang="en-PH" b="1" dirty="0"/>
          </a:p>
          <a:p>
            <a:pPr algn="just"/>
            <a:r>
              <a:rPr lang="en-PH" sz="4000" dirty="0" smtClean="0"/>
              <a:t> </a:t>
            </a:r>
            <a:endParaRPr lang="en-PH" sz="4000" b="1" dirty="0">
              <a:solidFill>
                <a:srgbClr val="820000"/>
              </a:solidFill>
              <a:latin typeface="Arial" panose="020B0604020202020204" pitchFamily="34" charset="0"/>
              <a:cs typeface="Arial" panose="020B0604020202020204" pitchFamily="34" charset="0"/>
            </a:endParaRPr>
          </a:p>
          <a:p>
            <a:pPr algn="just"/>
            <a:endParaRPr lang="en-PH" sz="4000" b="1" dirty="0" smtClean="0">
              <a:solidFill>
                <a:srgbClr val="820000"/>
              </a:solidFill>
              <a:latin typeface="Arial" panose="020B0604020202020204" pitchFamily="34" charset="0"/>
              <a:cs typeface="Arial" panose="020B0604020202020204" pitchFamily="34" charset="0"/>
            </a:endParaRPr>
          </a:p>
          <a:p>
            <a:pPr algn="just"/>
            <a:r>
              <a:rPr lang="en-PH" sz="4000" b="1"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99" name="Rectangle 98"/>
          <p:cNvSpPr/>
          <p:nvPr/>
        </p:nvSpPr>
        <p:spPr>
          <a:xfrm>
            <a:off x="4290869" y="3568767"/>
            <a:ext cx="966931" cy="369332"/>
          </a:xfrm>
          <a:prstGeom prst="rect">
            <a:avLst/>
          </a:prstGeom>
        </p:spPr>
        <p:txBody>
          <a:bodyPr wrap="none">
            <a:spAutoFit/>
          </a:bodyPr>
          <a:lstStyle/>
          <a:p>
            <a:pPr algn="just"/>
            <a:r>
              <a:rPr lang="en-PH" b="1" dirty="0" smtClean="0">
                <a:solidFill>
                  <a:srgbClr val="820000"/>
                </a:solidFill>
                <a:latin typeface="Arial" panose="020B0604020202020204" pitchFamily="34" charset="0"/>
                <a:cs typeface="Arial" panose="020B0604020202020204" pitchFamily="34" charset="0"/>
              </a:rPr>
              <a:t>Leaves</a:t>
            </a:r>
            <a:endParaRPr lang="en-PH" b="1" dirty="0">
              <a:solidFill>
                <a:srgbClr val="820000"/>
              </a:solidFill>
              <a:latin typeface="Arial" panose="020B0604020202020204" pitchFamily="34" charset="0"/>
              <a:cs typeface="Arial" panose="020B0604020202020204" pitchFamily="34" charset="0"/>
            </a:endParaRPr>
          </a:p>
        </p:txBody>
      </p:sp>
      <p:sp>
        <p:nvSpPr>
          <p:cNvPr id="100" name="Rectangle 99"/>
          <p:cNvSpPr/>
          <p:nvPr/>
        </p:nvSpPr>
        <p:spPr>
          <a:xfrm>
            <a:off x="4326592" y="4820955"/>
            <a:ext cx="838691" cy="369332"/>
          </a:xfrm>
          <a:prstGeom prst="rect">
            <a:avLst/>
          </a:prstGeom>
        </p:spPr>
        <p:txBody>
          <a:bodyPr wrap="none">
            <a:spAutoFit/>
          </a:bodyPr>
          <a:lstStyle/>
          <a:p>
            <a:pPr algn="just"/>
            <a:r>
              <a:rPr lang="en-PH" b="1" dirty="0" smtClean="0">
                <a:solidFill>
                  <a:srgbClr val="820000"/>
                </a:solidFill>
                <a:latin typeface="Arial" panose="020B0604020202020204" pitchFamily="34" charset="0"/>
                <a:cs typeface="Arial" panose="020B0604020202020204" pitchFamily="34" charset="0"/>
              </a:rPr>
              <a:t>Roots</a:t>
            </a:r>
            <a:endParaRPr lang="en-PH" b="1" dirty="0">
              <a:solidFill>
                <a:srgbClr val="820000"/>
              </a:solidFill>
              <a:latin typeface="Arial" panose="020B0604020202020204" pitchFamily="34" charset="0"/>
              <a:cs typeface="Arial" panose="020B0604020202020204" pitchFamily="34" charset="0"/>
            </a:endParaRPr>
          </a:p>
        </p:txBody>
      </p:sp>
      <p:sp>
        <p:nvSpPr>
          <p:cNvPr id="101" name="Rectangle 100"/>
          <p:cNvSpPr/>
          <p:nvPr/>
        </p:nvSpPr>
        <p:spPr>
          <a:xfrm>
            <a:off x="4006228" y="7652709"/>
            <a:ext cx="1454244" cy="369332"/>
          </a:xfrm>
          <a:prstGeom prst="rect">
            <a:avLst/>
          </a:prstGeom>
        </p:spPr>
        <p:txBody>
          <a:bodyPr wrap="none">
            <a:spAutoFit/>
          </a:bodyPr>
          <a:lstStyle/>
          <a:p>
            <a:pPr algn="just"/>
            <a:r>
              <a:rPr lang="en-PH" b="1" dirty="0" smtClean="0">
                <a:solidFill>
                  <a:srgbClr val="820000"/>
                </a:solidFill>
                <a:latin typeface="Arial" panose="020B0604020202020204" pitchFamily="34" charset="0"/>
                <a:cs typeface="Arial" panose="020B0604020202020204" pitchFamily="34" charset="0"/>
              </a:rPr>
              <a:t>Endosperm</a:t>
            </a:r>
            <a:endParaRPr lang="en-PH" b="1" dirty="0">
              <a:solidFill>
                <a:srgbClr val="820000"/>
              </a:solidFill>
              <a:latin typeface="Arial" panose="020B0604020202020204" pitchFamily="34" charset="0"/>
              <a:cs typeface="Arial" panose="020B0604020202020204" pitchFamily="34" charset="0"/>
            </a:endParaRPr>
          </a:p>
        </p:txBody>
      </p:sp>
      <p:sp>
        <p:nvSpPr>
          <p:cNvPr id="102" name="Rectangle 101"/>
          <p:cNvSpPr/>
          <p:nvPr/>
        </p:nvSpPr>
        <p:spPr>
          <a:xfrm>
            <a:off x="4279859" y="6335413"/>
            <a:ext cx="966931" cy="369332"/>
          </a:xfrm>
          <a:prstGeom prst="rect">
            <a:avLst/>
          </a:prstGeom>
        </p:spPr>
        <p:txBody>
          <a:bodyPr wrap="none">
            <a:spAutoFit/>
          </a:bodyPr>
          <a:lstStyle/>
          <a:p>
            <a:pPr algn="just"/>
            <a:r>
              <a:rPr lang="en-PH" b="1" dirty="0" smtClean="0">
                <a:solidFill>
                  <a:srgbClr val="820000"/>
                </a:solidFill>
                <a:latin typeface="Arial" panose="020B0604020202020204" pitchFamily="34" charset="0"/>
                <a:cs typeface="Arial" panose="020B0604020202020204" pitchFamily="34" charset="0"/>
              </a:rPr>
              <a:t>Shoots</a:t>
            </a:r>
            <a:endParaRPr lang="en-PH" b="1" dirty="0">
              <a:solidFill>
                <a:srgbClr val="820000"/>
              </a:solidFill>
              <a:latin typeface="Arial" panose="020B0604020202020204" pitchFamily="34" charset="0"/>
              <a:cs typeface="Arial" panose="020B0604020202020204" pitchFamily="34" charset="0"/>
            </a:endParaRPr>
          </a:p>
        </p:txBody>
      </p:sp>
      <p:sp>
        <p:nvSpPr>
          <p:cNvPr id="103" name="Rectangle 102"/>
          <p:cNvSpPr/>
          <p:nvPr/>
        </p:nvSpPr>
        <p:spPr>
          <a:xfrm>
            <a:off x="4055404" y="9059043"/>
            <a:ext cx="1467068" cy="369332"/>
          </a:xfrm>
          <a:prstGeom prst="rect">
            <a:avLst/>
          </a:prstGeom>
        </p:spPr>
        <p:txBody>
          <a:bodyPr wrap="none">
            <a:spAutoFit/>
          </a:bodyPr>
          <a:lstStyle/>
          <a:p>
            <a:pPr algn="just"/>
            <a:r>
              <a:rPr lang="en-PH" b="1" dirty="0" err="1" smtClean="0">
                <a:solidFill>
                  <a:srgbClr val="820000"/>
                </a:solidFill>
                <a:latin typeface="Arial" panose="020B0604020202020204" pitchFamily="34" charset="0"/>
                <a:cs typeface="Arial" panose="020B0604020202020204" pitchFamily="34" charset="0"/>
              </a:rPr>
              <a:t>Haustorium</a:t>
            </a:r>
            <a:endParaRPr lang="en-PH" b="1" dirty="0">
              <a:solidFill>
                <a:srgbClr val="820000"/>
              </a:solidFill>
              <a:latin typeface="Arial" panose="020B0604020202020204" pitchFamily="34" charset="0"/>
              <a:cs typeface="Arial" panose="020B0604020202020204" pitchFamily="34" charset="0"/>
            </a:endParaRPr>
          </a:p>
        </p:txBody>
      </p:sp>
      <p:sp>
        <p:nvSpPr>
          <p:cNvPr id="104" name="Rectangle 103"/>
          <p:cNvSpPr/>
          <p:nvPr/>
        </p:nvSpPr>
        <p:spPr>
          <a:xfrm>
            <a:off x="6586232" y="5303103"/>
            <a:ext cx="1806905" cy="830997"/>
          </a:xfrm>
          <a:prstGeom prst="rect">
            <a:avLst/>
          </a:prstGeom>
          <a:ln w="28575">
            <a:solidFill>
              <a:srgbClr val="820000"/>
            </a:solidFill>
          </a:ln>
        </p:spPr>
        <p:txBody>
          <a:bodyPr wrap="none">
            <a:spAutoFit/>
          </a:bodyPr>
          <a:lstStyle/>
          <a:p>
            <a:pPr algn="just"/>
            <a:r>
              <a:rPr lang="en-PH" sz="2400" dirty="0" err="1" smtClean="0">
                <a:solidFill>
                  <a:srgbClr val="820000"/>
                </a:solidFill>
                <a:latin typeface="Arial" panose="020B0604020202020204" pitchFamily="34" charset="0"/>
                <a:cs typeface="Arial" panose="020B0604020202020204" pitchFamily="34" charset="0"/>
              </a:rPr>
              <a:t>Methanolic</a:t>
            </a:r>
            <a:r>
              <a:rPr lang="en-PH" sz="2400" dirty="0" smtClean="0">
                <a:solidFill>
                  <a:srgbClr val="820000"/>
                </a:solidFill>
                <a:latin typeface="Arial" panose="020B0604020202020204" pitchFamily="34" charset="0"/>
                <a:cs typeface="Arial" panose="020B0604020202020204" pitchFamily="34" charset="0"/>
              </a:rPr>
              <a:t> </a:t>
            </a:r>
          </a:p>
          <a:p>
            <a:pPr algn="ctr"/>
            <a:r>
              <a:rPr lang="en-PH" sz="2400" dirty="0" smtClean="0">
                <a:solidFill>
                  <a:srgbClr val="820000"/>
                </a:solidFill>
                <a:latin typeface="Arial" panose="020B0604020202020204" pitchFamily="34" charset="0"/>
                <a:cs typeface="Arial" panose="020B0604020202020204" pitchFamily="34" charset="0"/>
              </a:rPr>
              <a:t>Extraction</a:t>
            </a:r>
            <a:endParaRPr lang="en-PH" sz="2400" dirty="0">
              <a:solidFill>
                <a:srgbClr val="820000"/>
              </a:solidFill>
              <a:latin typeface="Arial" panose="020B0604020202020204" pitchFamily="34" charset="0"/>
              <a:cs typeface="Arial" panose="020B0604020202020204" pitchFamily="34" charset="0"/>
            </a:endParaRPr>
          </a:p>
        </p:txBody>
      </p:sp>
      <p:sp>
        <p:nvSpPr>
          <p:cNvPr id="105" name="Down Arrow 104"/>
          <p:cNvSpPr/>
          <p:nvPr/>
        </p:nvSpPr>
        <p:spPr>
          <a:xfrm rot="16200000">
            <a:off x="8514281" y="5315985"/>
            <a:ext cx="597267" cy="741211"/>
          </a:xfrm>
          <a:prstGeom prst="downArrow">
            <a:avLst/>
          </a:prstGeom>
          <a:solidFill>
            <a:srgbClr val="820000"/>
          </a:solidFill>
          <a:ln>
            <a:solidFill>
              <a:srgbClr val="8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07" name="Rectangle 106"/>
          <p:cNvSpPr/>
          <p:nvPr/>
        </p:nvSpPr>
        <p:spPr>
          <a:xfrm>
            <a:off x="8523767" y="7258722"/>
            <a:ext cx="1928733" cy="461665"/>
          </a:xfrm>
          <a:prstGeom prst="rect">
            <a:avLst/>
          </a:prstGeom>
          <a:ln w="28575">
            <a:solidFill>
              <a:srgbClr val="820000"/>
            </a:solidFill>
          </a:ln>
        </p:spPr>
        <p:txBody>
          <a:bodyPr wrap="none">
            <a:spAutoFit/>
          </a:bodyPr>
          <a:lstStyle/>
          <a:p>
            <a:pPr algn="just"/>
            <a:r>
              <a:rPr lang="en-PH" sz="2400" dirty="0" smtClean="0">
                <a:solidFill>
                  <a:srgbClr val="820000"/>
                </a:solidFill>
                <a:latin typeface="Arial" panose="020B0604020202020204" pitchFamily="34" charset="0"/>
                <a:cs typeface="Arial" panose="020B0604020202020204" pitchFamily="34" charset="0"/>
              </a:rPr>
              <a:t>Plant Extract</a:t>
            </a:r>
          </a:p>
        </p:txBody>
      </p:sp>
      <p:sp>
        <p:nvSpPr>
          <p:cNvPr id="111" name="Plus 110"/>
          <p:cNvSpPr/>
          <p:nvPr/>
        </p:nvSpPr>
        <p:spPr>
          <a:xfrm>
            <a:off x="9927283" y="5457162"/>
            <a:ext cx="638857" cy="551666"/>
          </a:xfrm>
          <a:prstGeom prst="mathPlus">
            <a:avLst/>
          </a:prstGeom>
          <a:solidFill>
            <a:srgbClr val="820000"/>
          </a:solidFill>
          <a:ln>
            <a:solidFill>
              <a:srgbClr val="8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112" name="Picture 111"/>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1316550" y="4577924"/>
            <a:ext cx="1855886" cy="1478794"/>
          </a:xfrm>
          <a:prstGeom prst="rect">
            <a:avLst/>
          </a:prstGeom>
          <a:ln>
            <a:solidFill>
              <a:srgbClr val="820000"/>
            </a:solidFill>
          </a:ln>
        </p:spPr>
      </p:pic>
      <p:sp>
        <p:nvSpPr>
          <p:cNvPr id="113" name="Rectangle 112"/>
          <p:cNvSpPr/>
          <p:nvPr/>
        </p:nvSpPr>
        <p:spPr>
          <a:xfrm>
            <a:off x="11111477" y="6216531"/>
            <a:ext cx="2206053" cy="461665"/>
          </a:xfrm>
          <a:prstGeom prst="rect">
            <a:avLst/>
          </a:prstGeom>
          <a:ln w="28575">
            <a:solidFill>
              <a:srgbClr val="820000"/>
            </a:solidFill>
          </a:ln>
        </p:spPr>
        <p:txBody>
          <a:bodyPr wrap="none">
            <a:spAutoFit/>
          </a:bodyPr>
          <a:lstStyle/>
          <a:p>
            <a:pPr algn="just"/>
            <a:r>
              <a:rPr lang="en-PH" sz="2400" dirty="0" smtClean="0">
                <a:solidFill>
                  <a:srgbClr val="820000"/>
                </a:solidFill>
                <a:latin typeface="Arial" panose="020B0604020202020204" pitchFamily="34" charset="0"/>
                <a:cs typeface="Arial" panose="020B0604020202020204" pitchFamily="34" charset="0"/>
              </a:rPr>
              <a:t>Standard </a:t>
            </a:r>
            <a:r>
              <a:rPr lang="en-PH" sz="2400" dirty="0" err="1" smtClean="0">
                <a:solidFill>
                  <a:srgbClr val="820000"/>
                </a:solidFill>
                <a:latin typeface="Arial" panose="020B0604020202020204" pitchFamily="34" charset="0"/>
                <a:cs typeface="Arial" panose="020B0604020202020204" pitchFamily="34" charset="0"/>
              </a:rPr>
              <a:t>Sol’n</a:t>
            </a:r>
            <a:endParaRPr lang="en-PH" sz="2400" dirty="0" smtClean="0">
              <a:solidFill>
                <a:srgbClr val="820000"/>
              </a:solidFill>
              <a:latin typeface="Arial" panose="020B0604020202020204" pitchFamily="34" charset="0"/>
              <a:cs typeface="Arial" panose="020B0604020202020204" pitchFamily="34" charset="0"/>
            </a:endParaRPr>
          </a:p>
        </p:txBody>
      </p:sp>
      <p:cxnSp>
        <p:nvCxnSpPr>
          <p:cNvPr id="115" name="Straight Connector 114"/>
          <p:cNvCxnSpPr>
            <a:stCxn id="106" idx="0"/>
          </p:cNvCxnSpPr>
          <p:nvPr/>
        </p:nvCxnSpPr>
        <p:spPr>
          <a:xfrm flipV="1">
            <a:off x="9649955" y="3753433"/>
            <a:ext cx="0" cy="685796"/>
          </a:xfrm>
          <a:prstGeom prst="line">
            <a:avLst/>
          </a:prstGeom>
          <a:ln w="28575">
            <a:solidFill>
              <a:srgbClr val="820000"/>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p:cNvCxnSpPr/>
          <p:nvPr/>
        </p:nvCxnSpPr>
        <p:spPr>
          <a:xfrm>
            <a:off x="9649955" y="3753433"/>
            <a:ext cx="2923045" cy="0"/>
          </a:xfrm>
          <a:prstGeom prst="line">
            <a:avLst/>
          </a:prstGeom>
          <a:ln w="28575">
            <a:solidFill>
              <a:srgbClr val="820000"/>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p:nvPr/>
        </p:nvCxnSpPr>
        <p:spPr>
          <a:xfrm flipV="1">
            <a:off x="12573000" y="3753433"/>
            <a:ext cx="0" cy="685796"/>
          </a:xfrm>
          <a:prstGeom prst="line">
            <a:avLst/>
          </a:prstGeom>
          <a:ln w="28575">
            <a:solidFill>
              <a:srgbClr val="820000"/>
            </a:solidFill>
          </a:ln>
        </p:spPr>
        <p:style>
          <a:lnRef idx="1">
            <a:schemeClr val="accent1"/>
          </a:lnRef>
          <a:fillRef idx="0">
            <a:schemeClr val="accent1"/>
          </a:fillRef>
          <a:effectRef idx="0">
            <a:schemeClr val="accent1"/>
          </a:effectRef>
          <a:fontRef idx="minor">
            <a:schemeClr val="tx1"/>
          </a:fontRef>
        </p:style>
      </p:cxnSp>
      <p:sp>
        <p:nvSpPr>
          <p:cNvPr id="120" name="Flowchart: Connector 119"/>
          <p:cNvSpPr/>
          <p:nvPr/>
        </p:nvSpPr>
        <p:spPr>
          <a:xfrm>
            <a:off x="14535365" y="5458258"/>
            <a:ext cx="1676400" cy="1591903"/>
          </a:xfrm>
          <a:prstGeom prst="flowChartConnector">
            <a:avLst/>
          </a:prstGeom>
          <a:blipFill>
            <a:blip r:embed="rId13"/>
            <a:stretch>
              <a:fillRect l="-30844" r="-30844"/>
            </a:stretch>
          </a:blipFill>
          <a:ln w="28575">
            <a:solidFill>
              <a:srgbClr val="005C2A"/>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dirty="0"/>
          </a:p>
        </p:txBody>
      </p:sp>
      <p:sp>
        <p:nvSpPr>
          <p:cNvPr id="122" name="Down Arrow 121"/>
          <p:cNvSpPr/>
          <p:nvPr/>
        </p:nvSpPr>
        <p:spPr>
          <a:xfrm rot="10800000">
            <a:off x="10353558" y="3008217"/>
            <a:ext cx="539567" cy="611283"/>
          </a:xfrm>
          <a:prstGeom prst="downArrow">
            <a:avLst/>
          </a:prstGeom>
          <a:solidFill>
            <a:srgbClr val="820000"/>
          </a:solidFill>
          <a:ln>
            <a:solidFill>
              <a:srgbClr val="8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24" name="Rectangle 123"/>
          <p:cNvSpPr/>
          <p:nvPr/>
        </p:nvSpPr>
        <p:spPr>
          <a:xfrm>
            <a:off x="11900114" y="2081953"/>
            <a:ext cx="6006886" cy="923330"/>
          </a:xfrm>
          <a:prstGeom prst="rect">
            <a:avLst/>
          </a:prstGeom>
          <a:ln w="28575">
            <a:solidFill>
              <a:srgbClr val="A40000"/>
            </a:solidFill>
          </a:ln>
        </p:spPr>
        <p:txBody>
          <a:bodyPr wrap="square">
            <a:spAutoFit/>
          </a:bodyPr>
          <a:lstStyle/>
          <a:p>
            <a:pPr algn="ctr"/>
            <a:r>
              <a:rPr lang="en-PH" dirty="0" smtClean="0">
                <a:solidFill>
                  <a:srgbClr val="820000"/>
                </a:solidFill>
                <a:latin typeface="Arial" panose="020B0604020202020204" pitchFamily="34" charset="0"/>
                <a:cs typeface="Arial" panose="020B0604020202020204" pitchFamily="34" charset="0"/>
              </a:rPr>
              <a:t>Add 10 µL of FC reagent ,</a:t>
            </a:r>
          </a:p>
          <a:p>
            <a:pPr algn="ctr"/>
            <a:r>
              <a:rPr lang="en-PH" dirty="0">
                <a:solidFill>
                  <a:srgbClr val="820000"/>
                </a:solidFill>
                <a:latin typeface="Arial" panose="020B0604020202020204" pitchFamily="34" charset="0"/>
                <a:cs typeface="Arial" panose="020B0604020202020204" pitchFamily="34" charset="0"/>
              </a:rPr>
              <a:t> </a:t>
            </a:r>
            <a:r>
              <a:rPr lang="en-PH" dirty="0" smtClean="0">
                <a:solidFill>
                  <a:srgbClr val="820000"/>
                </a:solidFill>
                <a:latin typeface="Arial" panose="020B0604020202020204" pitchFamily="34" charset="0"/>
                <a:cs typeface="Arial" panose="020B0604020202020204" pitchFamily="34" charset="0"/>
              </a:rPr>
              <a:t>9 mL of Distilled Water and </a:t>
            </a:r>
            <a:r>
              <a:rPr lang="en-PH" dirty="0">
                <a:solidFill>
                  <a:srgbClr val="820000"/>
                </a:solidFill>
                <a:latin typeface="Arial" panose="020B0604020202020204" pitchFamily="34" charset="0"/>
                <a:cs typeface="Arial" panose="020B0604020202020204" pitchFamily="34" charset="0"/>
              </a:rPr>
              <a:t>80 </a:t>
            </a:r>
            <a:r>
              <a:rPr lang="en-PH" dirty="0" err="1">
                <a:solidFill>
                  <a:srgbClr val="820000"/>
                </a:solidFill>
                <a:latin typeface="Arial" panose="020B0604020202020204" pitchFamily="34" charset="0"/>
                <a:cs typeface="Arial" panose="020B0604020202020204" pitchFamily="34" charset="0"/>
              </a:rPr>
              <a:t>μL</a:t>
            </a:r>
            <a:r>
              <a:rPr lang="en-PH" dirty="0">
                <a:solidFill>
                  <a:srgbClr val="820000"/>
                </a:solidFill>
                <a:latin typeface="Arial" panose="020B0604020202020204" pitchFamily="34" charset="0"/>
                <a:cs typeface="Arial" panose="020B0604020202020204" pitchFamily="34" charset="0"/>
              </a:rPr>
              <a:t> 7.5% Na</a:t>
            </a:r>
            <a:r>
              <a:rPr lang="en-PH" baseline="-25000" dirty="0">
                <a:solidFill>
                  <a:srgbClr val="820000"/>
                </a:solidFill>
                <a:latin typeface="Arial" panose="020B0604020202020204" pitchFamily="34" charset="0"/>
                <a:cs typeface="Arial" panose="020B0604020202020204" pitchFamily="34" charset="0"/>
              </a:rPr>
              <a:t>2</a:t>
            </a:r>
            <a:r>
              <a:rPr lang="en-PH" dirty="0">
                <a:solidFill>
                  <a:srgbClr val="820000"/>
                </a:solidFill>
                <a:latin typeface="Arial" panose="020B0604020202020204" pitchFamily="34" charset="0"/>
                <a:cs typeface="Arial" panose="020B0604020202020204" pitchFamily="34" charset="0"/>
              </a:rPr>
              <a:t>CO</a:t>
            </a:r>
            <a:r>
              <a:rPr lang="en-PH" baseline="-25000" dirty="0">
                <a:solidFill>
                  <a:srgbClr val="820000"/>
                </a:solidFill>
                <a:latin typeface="Arial" panose="020B0604020202020204" pitchFamily="34" charset="0"/>
                <a:cs typeface="Arial" panose="020B0604020202020204" pitchFamily="34" charset="0"/>
              </a:rPr>
              <a:t>3</a:t>
            </a:r>
            <a:r>
              <a:rPr lang="en-PH" dirty="0">
                <a:solidFill>
                  <a:srgbClr val="820000"/>
                </a:solidFill>
                <a:latin typeface="Arial" panose="020B0604020202020204" pitchFamily="34" charset="0"/>
                <a:cs typeface="Arial" panose="020B0604020202020204" pitchFamily="34" charset="0"/>
              </a:rPr>
              <a:t> solution </a:t>
            </a:r>
            <a:r>
              <a:rPr lang="en-PH" dirty="0" smtClean="0">
                <a:solidFill>
                  <a:srgbClr val="820000"/>
                </a:solidFill>
                <a:latin typeface="Arial" panose="020B0604020202020204" pitchFamily="34" charset="0"/>
                <a:cs typeface="Arial" panose="020B0604020202020204" pitchFamily="34" charset="0"/>
              </a:rPr>
              <a:t>into each well</a:t>
            </a:r>
          </a:p>
        </p:txBody>
      </p:sp>
      <p:sp>
        <p:nvSpPr>
          <p:cNvPr id="125" name="Rectangle 124"/>
          <p:cNvSpPr/>
          <p:nvPr/>
        </p:nvSpPr>
        <p:spPr>
          <a:xfrm>
            <a:off x="13248912" y="3905955"/>
            <a:ext cx="4379725" cy="707886"/>
          </a:xfrm>
          <a:prstGeom prst="rect">
            <a:avLst/>
          </a:prstGeom>
          <a:ln w="19050">
            <a:solidFill>
              <a:srgbClr val="A40000"/>
            </a:solidFill>
          </a:ln>
        </p:spPr>
        <p:txBody>
          <a:bodyPr wrap="none">
            <a:spAutoFit/>
          </a:bodyPr>
          <a:lstStyle/>
          <a:p>
            <a:r>
              <a:rPr lang="en-PH" sz="2000" dirty="0">
                <a:solidFill>
                  <a:srgbClr val="820000"/>
                </a:solidFill>
                <a:latin typeface="Arial" panose="020B0604020202020204" pitchFamily="34" charset="0"/>
                <a:ea typeface="Calibri" panose="020F0502020204030204" pitchFamily="34" charset="0"/>
                <a:cs typeface="Times New Roman" panose="02020603050405020304" pitchFamily="18" charset="0"/>
              </a:rPr>
              <a:t>stay in the dark at room temperature </a:t>
            </a:r>
            <a:endParaRPr lang="en-PH" sz="2000" dirty="0" smtClean="0">
              <a:solidFill>
                <a:srgbClr val="820000"/>
              </a:solidFill>
              <a:latin typeface="Arial" panose="020B0604020202020204" pitchFamily="34" charset="0"/>
              <a:ea typeface="Calibri" panose="020F0502020204030204" pitchFamily="34" charset="0"/>
              <a:cs typeface="Times New Roman" panose="02020603050405020304" pitchFamily="18" charset="0"/>
            </a:endParaRPr>
          </a:p>
          <a:p>
            <a:pPr algn="ctr"/>
            <a:r>
              <a:rPr lang="en-PH" sz="2000" dirty="0" smtClean="0">
                <a:solidFill>
                  <a:srgbClr val="820000"/>
                </a:solidFill>
                <a:latin typeface="Arial" panose="020B0604020202020204" pitchFamily="34" charset="0"/>
                <a:ea typeface="Calibri" panose="020F0502020204030204" pitchFamily="34" charset="0"/>
                <a:cs typeface="Times New Roman" panose="02020603050405020304" pitchFamily="18" charset="0"/>
              </a:rPr>
              <a:t>for </a:t>
            </a:r>
            <a:r>
              <a:rPr lang="en-PH" sz="2000" dirty="0">
                <a:solidFill>
                  <a:srgbClr val="820000"/>
                </a:solidFill>
                <a:latin typeface="Arial" panose="020B0604020202020204" pitchFamily="34" charset="0"/>
                <a:ea typeface="Calibri" panose="020F0502020204030204" pitchFamily="34" charset="0"/>
                <a:cs typeface="Times New Roman" panose="02020603050405020304" pitchFamily="18" charset="0"/>
              </a:rPr>
              <a:t>30 </a:t>
            </a:r>
            <a:r>
              <a:rPr lang="en-PH" sz="2000" dirty="0" err="1">
                <a:solidFill>
                  <a:srgbClr val="820000"/>
                </a:solidFill>
                <a:latin typeface="Arial" panose="020B0604020202020204" pitchFamily="34" charset="0"/>
                <a:ea typeface="Calibri" panose="020F0502020204030204" pitchFamily="34" charset="0"/>
                <a:cs typeface="Times New Roman" panose="02020603050405020304" pitchFamily="18" charset="0"/>
              </a:rPr>
              <a:t>mins</a:t>
            </a:r>
            <a:endParaRPr lang="en-PH" sz="2000" dirty="0">
              <a:solidFill>
                <a:srgbClr val="820000"/>
              </a:solidFill>
            </a:endParaRPr>
          </a:p>
        </p:txBody>
      </p:sp>
      <p:sp>
        <p:nvSpPr>
          <p:cNvPr id="126" name="Down Arrow 125"/>
          <p:cNvSpPr/>
          <p:nvPr/>
        </p:nvSpPr>
        <p:spPr>
          <a:xfrm>
            <a:off x="14856412" y="3060809"/>
            <a:ext cx="597267" cy="741211"/>
          </a:xfrm>
          <a:prstGeom prst="downArrow">
            <a:avLst/>
          </a:prstGeom>
          <a:solidFill>
            <a:srgbClr val="820000"/>
          </a:solidFill>
          <a:ln>
            <a:solidFill>
              <a:srgbClr val="8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27" name="Rectangle 126"/>
          <p:cNvSpPr/>
          <p:nvPr/>
        </p:nvSpPr>
        <p:spPr>
          <a:xfrm>
            <a:off x="16078200" y="4887090"/>
            <a:ext cx="2080586" cy="1107996"/>
          </a:xfrm>
          <a:prstGeom prst="rect">
            <a:avLst/>
          </a:prstGeom>
          <a:ln w="28575">
            <a:noFill/>
          </a:ln>
        </p:spPr>
        <p:txBody>
          <a:bodyPr wrap="square">
            <a:spAutoFit/>
          </a:bodyPr>
          <a:lstStyle/>
          <a:p>
            <a:r>
              <a:rPr lang="en-PH" sz="1600" dirty="0">
                <a:solidFill>
                  <a:srgbClr val="820000"/>
                </a:solidFill>
                <a:latin typeface="Arial" panose="020B0604020202020204" pitchFamily="34" charset="0"/>
                <a:ea typeface="Calibri" panose="020F0502020204030204" pitchFamily="34" charset="0"/>
                <a:cs typeface="Times New Roman" panose="02020603050405020304" pitchFamily="18" charset="0"/>
              </a:rPr>
              <a:t>absorbance will then be measured at 765 nm </a:t>
            </a:r>
            <a:r>
              <a:rPr lang="en-PH" sz="1600" dirty="0" smtClean="0">
                <a:solidFill>
                  <a:srgbClr val="820000"/>
                </a:solidFill>
                <a:latin typeface="Arial" panose="020B0604020202020204" pitchFamily="34" charset="0"/>
                <a:ea typeface="Calibri" panose="020F0502020204030204" pitchFamily="34" charset="0"/>
                <a:cs typeface="Times New Roman" panose="02020603050405020304" pitchFamily="18" charset="0"/>
              </a:rPr>
              <a:t>with </a:t>
            </a:r>
            <a:r>
              <a:rPr lang="en-PH" sz="1600" dirty="0">
                <a:solidFill>
                  <a:srgbClr val="820000"/>
                </a:solidFill>
                <a:latin typeface="Arial" panose="020B0604020202020204" pitchFamily="34" charset="0"/>
                <a:ea typeface="Calibri" panose="020F0502020204030204" pitchFamily="34" charset="0"/>
                <a:cs typeface="Times New Roman" panose="02020603050405020304" pitchFamily="18" charset="0"/>
              </a:rPr>
              <a:t>a </a:t>
            </a:r>
            <a:r>
              <a:rPr lang="en-PH" sz="1600" dirty="0" err="1">
                <a:solidFill>
                  <a:srgbClr val="820000"/>
                </a:solidFill>
                <a:latin typeface="Arial" panose="020B0604020202020204" pitchFamily="34" charset="0"/>
                <a:ea typeface="Calibri" panose="020F0502020204030204" pitchFamily="34" charset="0"/>
                <a:cs typeface="Times New Roman" panose="02020603050405020304" pitchFamily="18" charset="0"/>
              </a:rPr>
              <a:t>Microplate</a:t>
            </a:r>
            <a:r>
              <a:rPr lang="en-PH" sz="1600" dirty="0">
                <a:solidFill>
                  <a:srgbClr val="820000"/>
                </a:solidFill>
                <a:latin typeface="Arial" panose="020B0604020202020204" pitchFamily="34" charset="0"/>
                <a:ea typeface="Calibri" panose="020F0502020204030204" pitchFamily="34" charset="0"/>
                <a:cs typeface="Times New Roman" panose="02020603050405020304" pitchFamily="18" charset="0"/>
              </a:rPr>
              <a:t> Reader</a:t>
            </a:r>
            <a:r>
              <a:rPr lang="en-PH" dirty="0">
                <a:solidFill>
                  <a:srgbClr val="820000"/>
                </a:solidFill>
                <a:latin typeface="Arial" panose="020B0604020202020204" pitchFamily="34" charset="0"/>
                <a:ea typeface="Calibri" panose="020F0502020204030204" pitchFamily="34" charset="0"/>
                <a:cs typeface="Times New Roman" panose="02020603050405020304" pitchFamily="18" charset="0"/>
              </a:rPr>
              <a:t>.</a:t>
            </a:r>
            <a:endParaRPr lang="en-PH" dirty="0">
              <a:solidFill>
                <a:srgbClr val="820000"/>
              </a:solidFill>
            </a:endParaRPr>
          </a:p>
        </p:txBody>
      </p:sp>
      <p:sp>
        <p:nvSpPr>
          <p:cNvPr id="128" name="Down Arrow 127"/>
          <p:cNvSpPr/>
          <p:nvPr/>
        </p:nvSpPr>
        <p:spPr>
          <a:xfrm>
            <a:off x="14985431" y="4665360"/>
            <a:ext cx="597267" cy="741211"/>
          </a:xfrm>
          <a:prstGeom prst="downArrow">
            <a:avLst/>
          </a:prstGeom>
          <a:solidFill>
            <a:srgbClr val="820000"/>
          </a:solidFill>
          <a:ln>
            <a:solidFill>
              <a:srgbClr val="8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129" name="Picture 128"/>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9085540" y="1627214"/>
            <a:ext cx="2434791" cy="1316336"/>
          </a:xfrm>
          <a:prstGeom prst="rect">
            <a:avLst/>
          </a:prstGeom>
          <a:ln>
            <a:solidFill>
              <a:srgbClr val="A40000"/>
            </a:solidFill>
          </a:ln>
        </p:spPr>
      </p:pic>
      <p:pic>
        <p:nvPicPr>
          <p:cNvPr id="131" name="Picture 130"/>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1351147" y="6973331"/>
            <a:ext cx="3319611" cy="2349837"/>
          </a:xfrm>
          <a:prstGeom prst="rect">
            <a:avLst/>
          </a:prstGeom>
        </p:spPr>
      </p:pic>
      <p:sp>
        <p:nvSpPr>
          <p:cNvPr id="132" name="Bent Arrow 131"/>
          <p:cNvSpPr/>
          <p:nvPr/>
        </p:nvSpPr>
        <p:spPr>
          <a:xfrm rot="10619672">
            <a:off x="14702788" y="7166349"/>
            <a:ext cx="904512" cy="1245501"/>
          </a:xfrm>
          <a:prstGeom prst="bentArrow">
            <a:avLst>
              <a:gd name="adj1" fmla="val 22268"/>
              <a:gd name="adj2" fmla="val 25683"/>
              <a:gd name="adj3" fmla="val 25000"/>
              <a:gd name="adj4" fmla="val 47848"/>
            </a:avLst>
          </a:prstGeom>
          <a:solidFill>
            <a:srgbClr val="82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133" name="Rectangle 132"/>
          <p:cNvSpPr/>
          <p:nvPr/>
        </p:nvSpPr>
        <p:spPr>
          <a:xfrm>
            <a:off x="6195883" y="8211400"/>
            <a:ext cx="3795725" cy="923330"/>
          </a:xfrm>
          <a:prstGeom prst="rect">
            <a:avLst/>
          </a:prstGeom>
          <a:ln>
            <a:solidFill>
              <a:srgbClr val="A40000"/>
            </a:solidFill>
          </a:ln>
        </p:spPr>
        <p:txBody>
          <a:bodyPr wrap="square">
            <a:spAutoFit/>
          </a:bodyPr>
          <a:lstStyle/>
          <a:p>
            <a:pPr algn="just"/>
            <a:r>
              <a:rPr lang="en-PH" dirty="0">
                <a:solidFill>
                  <a:srgbClr val="820000"/>
                </a:solidFill>
                <a:latin typeface="Arial" panose="020B0604020202020204" pitchFamily="34" charset="0"/>
                <a:ea typeface="Calibri" panose="020F0502020204030204" pitchFamily="34" charset="0"/>
                <a:cs typeface="Times New Roman" panose="02020603050405020304" pitchFamily="18" charset="0"/>
              </a:rPr>
              <a:t>The TPC will be expressed as milligrams of </a:t>
            </a:r>
            <a:r>
              <a:rPr lang="en-PH" dirty="0" err="1">
                <a:solidFill>
                  <a:srgbClr val="820000"/>
                </a:solidFill>
                <a:latin typeface="Arial" panose="020B0604020202020204" pitchFamily="34" charset="0"/>
                <a:ea typeface="Calibri" panose="020F0502020204030204" pitchFamily="34" charset="0"/>
                <a:cs typeface="Times New Roman" panose="02020603050405020304" pitchFamily="18" charset="0"/>
              </a:rPr>
              <a:t>gallic</a:t>
            </a:r>
            <a:r>
              <a:rPr lang="en-PH" dirty="0">
                <a:solidFill>
                  <a:srgbClr val="820000"/>
                </a:solidFill>
                <a:latin typeface="Arial" panose="020B0604020202020204" pitchFamily="34" charset="0"/>
                <a:ea typeface="Calibri" panose="020F0502020204030204" pitchFamily="34" charset="0"/>
                <a:cs typeface="Times New Roman" panose="02020603050405020304" pitchFamily="18" charset="0"/>
              </a:rPr>
              <a:t> acid equivalents per gram of extract (mg GAE/g)</a:t>
            </a:r>
            <a:endParaRPr lang="en-PH" dirty="0">
              <a:solidFill>
                <a:srgbClr val="820000"/>
              </a:solidFill>
            </a:endParaRPr>
          </a:p>
        </p:txBody>
      </p:sp>
      <p:sp>
        <p:nvSpPr>
          <p:cNvPr id="134" name="Down Arrow 133"/>
          <p:cNvSpPr/>
          <p:nvPr/>
        </p:nvSpPr>
        <p:spPr>
          <a:xfrm rot="5246202">
            <a:off x="10291088" y="8318387"/>
            <a:ext cx="597267" cy="741211"/>
          </a:xfrm>
          <a:prstGeom prst="downArrow">
            <a:avLst/>
          </a:prstGeom>
          <a:solidFill>
            <a:srgbClr val="820000"/>
          </a:solidFill>
          <a:ln>
            <a:solidFill>
              <a:srgbClr val="8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92818387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6" name="Picture 105"/>
          <p:cNvPicPr>
            <a:picLocks noChangeAspect="1"/>
          </p:cNvPicPr>
          <p:nvPr/>
        </p:nvPicPr>
        <p:blipFill>
          <a:blip r:embed="rId2"/>
          <a:stretch>
            <a:fillRect/>
          </a:stretch>
        </p:blipFill>
        <p:spPr>
          <a:xfrm>
            <a:off x="9093778" y="4439229"/>
            <a:ext cx="1112354" cy="2481406"/>
          </a:xfrm>
          <a:prstGeom prst="rect">
            <a:avLst/>
          </a:prstGeom>
        </p:spPr>
      </p:pic>
      <p:sp>
        <p:nvSpPr>
          <p:cNvPr id="53" name="TextBox 13"/>
          <p:cNvSpPr txBox="1"/>
          <p:nvPr/>
        </p:nvSpPr>
        <p:spPr>
          <a:xfrm>
            <a:off x="1671387" y="1531257"/>
            <a:ext cx="2203151" cy="2306426"/>
          </a:xfrm>
          <a:prstGeom prst="rect">
            <a:avLst/>
          </a:prstGeom>
        </p:spPr>
        <p:txBody>
          <a:bodyPr lIns="50800" tIns="50800" rIns="50800" bIns="50800" rtlCol="0" anchor="ctr"/>
          <a:lstStyle/>
          <a:p>
            <a:pPr algn="ctr">
              <a:lnSpc>
                <a:spcPts val="2659"/>
              </a:lnSpc>
              <a:spcBef>
                <a:spcPct val="0"/>
              </a:spcBef>
            </a:pPr>
            <a:endParaRPr/>
          </a:p>
        </p:txBody>
      </p:sp>
      <p:pic>
        <p:nvPicPr>
          <p:cNvPr id="18" name="Picture 17"/>
          <p:cNvPicPr>
            <a:picLocks noChangeAspect="1"/>
          </p:cNvPicPr>
          <p:nvPr/>
        </p:nvPicPr>
        <p:blipFill>
          <a:blip r:embed="rId3"/>
          <a:stretch>
            <a:fillRect/>
          </a:stretch>
        </p:blipFill>
        <p:spPr>
          <a:xfrm>
            <a:off x="76200" y="9266338"/>
            <a:ext cx="2327677" cy="1020662"/>
          </a:xfrm>
          <a:prstGeom prst="rect">
            <a:avLst/>
          </a:prstGeom>
        </p:spPr>
      </p:pic>
      <p:pic>
        <p:nvPicPr>
          <p:cNvPr id="19" name="Picture 18"/>
          <p:cNvPicPr>
            <a:picLocks noChangeAspect="1"/>
          </p:cNvPicPr>
          <p:nvPr/>
        </p:nvPicPr>
        <p:blipFill>
          <a:blip r:embed="rId4"/>
          <a:stretch>
            <a:fillRect/>
          </a:stretch>
        </p:blipFill>
        <p:spPr>
          <a:xfrm rot="10800000">
            <a:off x="-30480" y="1294489"/>
            <a:ext cx="18288000" cy="267610"/>
          </a:xfrm>
          <a:prstGeom prst="rect">
            <a:avLst/>
          </a:prstGeom>
        </p:spPr>
      </p:pic>
      <p:sp>
        <p:nvSpPr>
          <p:cNvPr id="21" name="Round Single Corner Rectangle 20"/>
          <p:cNvSpPr/>
          <p:nvPr/>
        </p:nvSpPr>
        <p:spPr>
          <a:xfrm>
            <a:off x="5494020" y="160397"/>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5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Methodology      </a:t>
            </a:r>
            <a:r>
              <a:rPr lang="en-PH" sz="6000" b="1" u="sng" dirty="0" smtClean="0">
                <a:solidFill>
                  <a:srgbClr val="820000"/>
                </a:solidFill>
                <a:latin typeface="Arial" panose="020B0604020202020204" pitchFamily="34" charset="0"/>
                <a:cs typeface="Arial" panose="020B0604020202020204" pitchFamily="34" charset="0"/>
              </a:rPr>
              <a:t> </a:t>
            </a:r>
          </a:p>
        </p:txBody>
      </p:sp>
      <p:pic>
        <p:nvPicPr>
          <p:cNvPr id="20" name="Picture 19"/>
          <p:cNvPicPr>
            <a:picLocks noChangeAspect="1"/>
          </p:cNvPicPr>
          <p:nvPr/>
        </p:nvPicPr>
        <p:blipFill>
          <a:blip r:embed="rId4"/>
          <a:stretch>
            <a:fillRect/>
          </a:stretch>
        </p:blipFill>
        <p:spPr>
          <a:xfrm>
            <a:off x="0" y="0"/>
            <a:ext cx="18288000" cy="267611"/>
          </a:xfrm>
          <a:prstGeom prst="rect">
            <a:avLst/>
          </a:prstGeom>
        </p:spPr>
      </p:pic>
      <p:sp>
        <p:nvSpPr>
          <p:cNvPr id="4" name="Parallelogram 3"/>
          <p:cNvSpPr/>
          <p:nvPr/>
        </p:nvSpPr>
        <p:spPr>
          <a:xfrm>
            <a:off x="2388637" y="9936689"/>
            <a:ext cx="9727163" cy="236011"/>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2" name="Parallelogram 21"/>
          <p:cNvSpPr/>
          <p:nvPr/>
        </p:nvSpPr>
        <p:spPr>
          <a:xfrm>
            <a:off x="12192000" y="9944100"/>
            <a:ext cx="1421363" cy="228600"/>
          </a:xfrm>
          <a:prstGeom prst="parallelogram">
            <a:avLst/>
          </a:prstGeom>
          <a:solidFill>
            <a:srgbClr val="FFC000"/>
          </a:solidFill>
          <a:ln>
            <a:solidFill>
              <a:srgbClr val="FFC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3" name="Parallelogram 22"/>
          <p:cNvSpPr/>
          <p:nvPr/>
        </p:nvSpPr>
        <p:spPr>
          <a:xfrm>
            <a:off x="13689563" y="9944100"/>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24" name="Picture 23"/>
          <p:cNvPicPr>
            <a:picLocks noChangeAspect="1"/>
          </p:cNvPicPr>
          <p:nvPr/>
        </p:nvPicPr>
        <p:blipFill>
          <a:blip r:embed="rId4"/>
          <a:stretch>
            <a:fillRect/>
          </a:stretch>
        </p:blipFill>
        <p:spPr>
          <a:xfrm rot="10800000" flipV="1">
            <a:off x="2403877" y="9668509"/>
            <a:ext cx="15899363" cy="232657"/>
          </a:xfrm>
          <a:prstGeom prst="rect">
            <a:avLst/>
          </a:prstGeom>
        </p:spPr>
      </p:pic>
      <p:pic>
        <p:nvPicPr>
          <p:cNvPr id="6" name="Picture 5"/>
          <p:cNvPicPr>
            <a:picLocks noChangeAspect="1"/>
          </p:cNvPicPr>
          <p:nvPr/>
        </p:nvPicPr>
        <p:blipFill>
          <a:blip r:embed="rId5"/>
          <a:stretch>
            <a:fillRect/>
          </a:stretch>
        </p:blipFill>
        <p:spPr>
          <a:xfrm>
            <a:off x="15030450" y="488370"/>
            <a:ext cx="3257550" cy="523875"/>
          </a:xfrm>
          <a:prstGeom prst="rect">
            <a:avLst/>
          </a:prstGeom>
        </p:spPr>
      </p:pic>
      <p:sp>
        <p:nvSpPr>
          <p:cNvPr id="25" name="Parallelogram 24"/>
          <p:cNvSpPr/>
          <p:nvPr/>
        </p:nvSpPr>
        <p:spPr>
          <a:xfrm>
            <a:off x="13030200" y="760176"/>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13" name="Picture 12"/>
          <p:cNvPicPr>
            <a:picLocks noChangeAspect="1"/>
          </p:cNvPicPr>
          <p:nvPr/>
        </p:nvPicPr>
        <p:blipFill>
          <a:blip r:embed="rId5"/>
          <a:stretch>
            <a:fillRect/>
          </a:stretch>
        </p:blipFill>
        <p:spPr>
          <a:xfrm rot="10800000">
            <a:off x="0" y="612538"/>
            <a:ext cx="3257550" cy="523875"/>
          </a:xfrm>
          <a:prstGeom prst="rect">
            <a:avLst/>
          </a:prstGeom>
        </p:spPr>
      </p:pic>
      <p:sp>
        <p:nvSpPr>
          <p:cNvPr id="14" name="Parallelogram 13"/>
          <p:cNvSpPr/>
          <p:nvPr/>
        </p:nvSpPr>
        <p:spPr>
          <a:xfrm>
            <a:off x="659363" y="577015"/>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48" name="Rectangle 47"/>
          <p:cNvSpPr/>
          <p:nvPr/>
        </p:nvSpPr>
        <p:spPr>
          <a:xfrm>
            <a:off x="-249439" y="1720175"/>
            <a:ext cx="11486917" cy="2831544"/>
          </a:xfrm>
          <a:prstGeom prst="rect">
            <a:avLst/>
          </a:prstGeom>
        </p:spPr>
        <p:txBody>
          <a:bodyPr wrap="square">
            <a:spAutoFit/>
          </a:bodyPr>
          <a:lstStyle/>
          <a:p>
            <a:pPr algn="just"/>
            <a:r>
              <a:rPr lang="en-PH" sz="4000" dirty="0">
                <a:solidFill>
                  <a:srgbClr val="820000"/>
                </a:solidFill>
                <a:latin typeface="Arial" panose="020B0604020202020204" pitchFamily="34" charset="0"/>
                <a:cs typeface="Arial" panose="020B0604020202020204" pitchFamily="34" charset="0"/>
              </a:rPr>
              <a:t> </a:t>
            </a:r>
            <a:r>
              <a:rPr lang="en-PH" sz="4000" dirty="0" smtClean="0">
                <a:solidFill>
                  <a:srgbClr val="820000"/>
                </a:solidFill>
                <a:latin typeface="Arial" panose="020B0604020202020204" pitchFamily="34" charset="0"/>
                <a:cs typeface="Arial" panose="020B0604020202020204" pitchFamily="34" charset="0"/>
              </a:rPr>
              <a:t>  </a:t>
            </a:r>
            <a:r>
              <a:rPr lang="en-PH" sz="3200" dirty="0">
                <a:solidFill>
                  <a:srgbClr val="820000"/>
                </a:solidFill>
                <a:latin typeface="Arial" panose="020B0604020202020204" pitchFamily="34" charset="0"/>
                <a:cs typeface="Arial" panose="020B0604020202020204" pitchFamily="34" charset="0"/>
              </a:rPr>
              <a:t> </a:t>
            </a:r>
            <a:r>
              <a:rPr lang="en-PH" sz="3200" dirty="0" smtClean="0">
                <a:solidFill>
                  <a:srgbClr val="820000"/>
                </a:solidFill>
                <a:latin typeface="Arial" panose="020B0604020202020204" pitchFamily="34" charset="0"/>
                <a:cs typeface="Arial" panose="020B0604020202020204" pitchFamily="34" charset="0"/>
              </a:rPr>
              <a:t>3.6.2   </a:t>
            </a:r>
            <a:r>
              <a:rPr lang="en-PH" sz="3200" b="1" dirty="0">
                <a:solidFill>
                  <a:srgbClr val="820000"/>
                </a:solidFill>
                <a:latin typeface="Arial" panose="020B0604020202020204" pitchFamily="34" charset="0"/>
                <a:cs typeface="Arial" panose="020B0604020202020204" pitchFamily="34" charset="0"/>
              </a:rPr>
              <a:t>Total </a:t>
            </a:r>
            <a:r>
              <a:rPr lang="en-PH" sz="3200" b="1" dirty="0" smtClean="0">
                <a:solidFill>
                  <a:srgbClr val="820000"/>
                </a:solidFill>
                <a:latin typeface="Arial" panose="020B0604020202020204" pitchFamily="34" charset="0"/>
                <a:cs typeface="Arial" panose="020B0604020202020204" pitchFamily="34" charset="0"/>
              </a:rPr>
              <a:t>Flavonoid </a:t>
            </a:r>
            <a:r>
              <a:rPr lang="en-PH" sz="3200" b="1" dirty="0">
                <a:solidFill>
                  <a:srgbClr val="820000"/>
                </a:solidFill>
                <a:latin typeface="Arial" panose="020B0604020202020204" pitchFamily="34" charset="0"/>
                <a:cs typeface="Arial" panose="020B0604020202020204" pitchFamily="34" charset="0"/>
              </a:rPr>
              <a:t>Content</a:t>
            </a:r>
          </a:p>
          <a:p>
            <a:pPr marL="0" lvl="2" algn="just"/>
            <a:endParaRPr lang="en-PH" b="1" dirty="0"/>
          </a:p>
          <a:p>
            <a:pPr algn="just"/>
            <a:r>
              <a:rPr lang="en-PH" sz="4000" dirty="0" smtClean="0"/>
              <a:t> </a:t>
            </a:r>
            <a:endParaRPr lang="en-PH" sz="4000" b="1" dirty="0">
              <a:solidFill>
                <a:srgbClr val="820000"/>
              </a:solidFill>
              <a:latin typeface="Arial" panose="020B0604020202020204" pitchFamily="34" charset="0"/>
              <a:cs typeface="Arial" panose="020B0604020202020204" pitchFamily="34" charset="0"/>
            </a:endParaRPr>
          </a:p>
          <a:p>
            <a:pPr algn="just"/>
            <a:endParaRPr lang="en-PH" sz="4000" b="1" dirty="0" smtClean="0">
              <a:solidFill>
                <a:srgbClr val="820000"/>
              </a:solidFill>
              <a:latin typeface="Arial" panose="020B0604020202020204" pitchFamily="34" charset="0"/>
              <a:cs typeface="Arial" panose="020B0604020202020204" pitchFamily="34" charset="0"/>
            </a:endParaRPr>
          </a:p>
          <a:p>
            <a:pPr algn="just"/>
            <a:r>
              <a:rPr lang="en-PH" sz="4000" b="1"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46" name="Flowchart: Connector 45"/>
          <p:cNvSpPr/>
          <p:nvPr/>
        </p:nvSpPr>
        <p:spPr>
          <a:xfrm>
            <a:off x="4360134" y="2588977"/>
            <a:ext cx="886656" cy="914854"/>
          </a:xfrm>
          <a:prstGeom prst="flowChartConnector">
            <a:avLst/>
          </a:prstGeom>
          <a:blipFill>
            <a:blip r:embed="rId6"/>
            <a:stretch>
              <a:fillRect l="-30844" r="-30844"/>
            </a:stretch>
          </a:blipFill>
          <a:ln w="28575">
            <a:solidFill>
              <a:srgbClr val="005C2A"/>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dirty="0"/>
          </a:p>
        </p:txBody>
      </p:sp>
      <p:sp>
        <p:nvSpPr>
          <p:cNvPr id="47" name="Flowchart: Connector 46"/>
          <p:cNvSpPr/>
          <p:nvPr/>
        </p:nvSpPr>
        <p:spPr>
          <a:xfrm>
            <a:off x="4347477" y="3964924"/>
            <a:ext cx="886656" cy="914854"/>
          </a:xfrm>
          <a:prstGeom prst="flowChartConnector">
            <a:avLst/>
          </a:prstGeom>
          <a:blipFill>
            <a:blip r:embed="rId7"/>
            <a:stretch>
              <a:fillRect l="-30844" r="-30844"/>
            </a:stretch>
          </a:blipFill>
          <a:ln w="28575">
            <a:solidFill>
              <a:srgbClr val="005C2A"/>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dirty="0"/>
          </a:p>
        </p:txBody>
      </p:sp>
      <p:sp>
        <p:nvSpPr>
          <p:cNvPr id="49" name="Flowchart: Connector 48"/>
          <p:cNvSpPr/>
          <p:nvPr/>
        </p:nvSpPr>
        <p:spPr>
          <a:xfrm>
            <a:off x="4360134" y="8053579"/>
            <a:ext cx="886656" cy="914854"/>
          </a:xfrm>
          <a:prstGeom prst="flowChartConnector">
            <a:avLst/>
          </a:prstGeom>
          <a:blipFill>
            <a:blip r:embed="rId8"/>
            <a:stretch>
              <a:fillRect l="-30844" r="-30844"/>
            </a:stretch>
          </a:blipFill>
          <a:ln w="28575">
            <a:solidFill>
              <a:srgbClr val="005C2A"/>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dirty="0"/>
          </a:p>
        </p:txBody>
      </p:sp>
      <p:sp>
        <p:nvSpPr>
          <p:cNvPr id="50" name="Flowchart: Connector 49"/>
          <p:cNvSpPr/>
          <p:nvPr/>
        </p:nvSpPr>
        <p:spPr>
          <a:xfrm>
            <a:off x="4340463" y="6698019"/>
            <a:ext cx="886656" cy="914854"/>
          </a:xfrm>
          <a:prstGeom prst="flowChartConnector">
            <a:avLst/>
          </a:prstGeom>
          <a:blipFill>
            <a:blip r:embed="rId9"/>
            <a:stretch>
              <a:fillRect l="-30844" r="-30844"/>
            </a:stretch>
          </a:blipFill>
          <a:ln w="28575">
            <a:solidFill>
              <a:srgbClr val="005C2A"/>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dirty="0"/>
          </a:p>
        </p:txBody>
      </p:sp>
      <p:sp>
        <p:nvSpPr>
          <p:cNvPr id="51" name="Flowchart: Connector 50"/>
          <p:cNvSpPr/>
          <p:nvPr/>
        </p:nvSpPr>
        <p:spPr>
          <a:xfrm>
            <a:off x="4340463" y="5339236"/>
            <a:ext cx="886656" cy="914854"/>
          </a:xfrm>
          <a:prstGeom prst="flowChartConnector">
            <a:avLst/>
          </a:prstGeom>
          <a:blipFill>
            <a:blip r:embed="rId10"/>
            <a:stretch>
              <a:fillRect l="-30844" r="-30844"/>
            </a:stretch>
          </a:blipFill>
          <a:ln w="28575">
            <a:solidFill>
              <a:srgbClr val="005C2A"/>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dirty="0"/>
          </a:p>
        </p:txBody>
      </p:sp>
      <p:cxnSp>
        <p:nvCxnSpPr>
          <p:cNvPr id="62" name="Straight Connector 61"/>
          <p:cNvCxnSpPr/>
          <p:nvPr/>
        </p:nvCxnSpPr>
        <p:spPr>
          <a:xfrm flipH="1">
            <a:off x="3640292" y="3086100"/>
            <a:ext cx="1" cy="5512701"/>
          </a:xfrm>
          <a:prstGeom prst="line">
            <a:avLst/>
          </a:prstGeom>
          <a:ln w="28575">
            <a:solidFill>
              <a:srgbClr val="820000"/>
            </a:solidFill>
          </a:ln>
        </p:spPr>
        <p:style>
          <a:lnRef idx="1">
            <a:schemeClr val="accent1"/>
          </a:lnRef>
          <a:fillRef idx="0">
            <a:schemeClr val="accent1"/>
          </a:fillRef>
          <a:effectRef idx="0">
            <a:schemeClr val="accent1"/>
          </a:effectRef>
          <a:fontRef idx="minor">
            <a:schemeClr val="tx1"/>
          </a:fontRef>
        </p:style>
      </p:cxnSp>
      <p:pic>
        <p:nvPicPr>
          <p:cNvPr id="72" name="Picture 71"/>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75073" y="5084313"/>
            <a:ext cx="2789816" cy="2116588"/>
          </a:xfrm>
          <a:prstGeom prst="rect">
            <a:avLst/>
          </a:prstGeom>
        </p:spPr>
      </p:pic>
      <p:cxnSp>
        <p:nvCxnSpPr>
          <p:cNvPr id="82" name="Straight Connector 81"/>
          <p:cNvCxnSpPr>
            <a:stCxn id="72" idx="3"/>
          </p:cNvCxnSpPr>
          <p:nvPr/>
        </p:nvCxnSpPr>
        <p:spPr>
          <a:xfrm flipV="1">
            <a:off x="2964889" y="6134100"/>
            <a:ext cx="675404" cy="8507"/>
          </a:xfrm>
          <a:prstGeom prst="line">
            <a:avLst/>
          </a:prstGeom>
          <a:ln w="38100">
            <a:solidFill>
              <a:srgbClr val="820000"/>
            </a:solidFill>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flipV="1">
            <a:off x="3657412" y="3077593"/>
            <a:ext cx="675404" cy="8507"/>
          </a:xfrm>
          <a:prstGeom prst="line">
            <a:avLst/>
          </a:prstGeom>
          <a:ln w="38100">
            <a:solidFill>
              <a:srgbClr val="820000"/>
            </a:solidFill>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flipV="1">
            <a:off x="3651188" y="4465973"/>
            <a:ext cx="675404" cy="8507"/>
          </a:xfrm>
          <a:prstGeom prst="line">
            <a:avLst/>
          </a:prstGeom>
          <a:ln w="38100">
            <a:solidFill>
              <a:srgbClr val="820000"/>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flipV="1">
            <a:off x="3651188" y="5814040"/>
            <a:ext cx="675404" cy="8507"/>
          </a:xfrm>
          <a:prstGeom prst="line">
            <a:avLst/>
          </a:prstGeom>
          <a:ln w="38100">
            <a:solidFill>
              <a:srgbClr val="820000"/>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flipV="1">
            <a:off x="3640293" y="7200901"/>
            <a:ext cx="675404" cy="8507"/>
          </a:xfrm>
          <a:prstGeom prst="line">
            <a:avLst/>
          </a:prstGeom>
          <a:ln w="38100">
            <a:solidFill>
              <a:srgbClr val="820000"/>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flipV="1">
            <a:off x="3654488" y="8590294"/>
            <a:ext cx="675404" cy="8507"/>
          </a:xfrm>
          <a:prstGeom prst="line">
            <a:avLst/>
          </a:prstGeom>
          <a:ln w="38100">
            <a:solidFill>
              <a:srgbClr val="820000"/>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flipV="1">
            <a:off x="5268889" y="3077593"/>
            <a:ext cx="463497" cy="1"/>
          </a:xfrm>
          <a:prstGeom prst="line">
            <a:avLst/>
          </a:prstGeom>
          <a:ln w="38100">
            <a:solidFill>
              <a:srgbClr val="820000"/>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p:nvPr/>
        </p:nvCxnSpPr>
        <p:spPr>
          <a:xfrm flipV="1">
            <a:off x="5234133" y="8590294"/>
            <a:ext cx="463497" cy="1"/>
          </a:xfrm>
          <a:prstGeom prst="line">
            <a:avLst/>
          </a:prstGeom>
          <a:ln w="38100">
            <a:solidFill>
              <a:srgbClr val="820000"/>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p:nvPr/>
        </p:nvCxnSpPr>
        <p:spPr>
          <a:xfrm flipH="1">
            <a:off x="5732386" y="3077593"/>
            <a:ext cx="1" cy="5512701"/>
          </a:xfrm>
          <a:prstGeom prst="line">
            <a:avLst/>
          </a:prstGeom>
          <a:ln w="28575">
            <a:solidFill>
              <a:srgbClr val="820000"/>
            </a:solidFill>
          </a:ln>
        </p:spPr>
        <p:style>
          <a:lnRef idx="1">
            <a:schemeClr val="accent1"/>
          </a:lnRef>
          <a:fillRef idx="0">
            <a:schemeClr val="accent1"/>
          </a:fillRef>
          <a:effectRef idx="0">
            <a:schemeClr val="accent1"/>
          </a:effectRef>
          <a:fontRef idx="minor">
            <a:schemeClr val="tx1"/>
          </a:fontRef>
        </p:style>
      </p:cxnSp>
      <p:sp>
        <p:nvSpPr>
          <p:cNvPr id="96" name="Down Arrow 95"/>
          <p:cNvSpPr/>
          <p:nvPr/>
        </p:nvSpPr>
        <p:spPr>
          <a:xfrm rot="16200000">
            <a:off x="5889526" y="5319750"/>
            <a:ext cx="539567" cy="784333"/>
          </a:xfrm>
          <a:prstGeom prst="downArrow">
            <a:avLst/>
          </a:prstGeom>
          <a:solidFill>
            <a:srgbClr val="820000"/>
          </a:solidFill>
          <a:ln>
            <a:solidFill>
              <a:srgbClr val="8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98" name="Rectangle 97"/>
          <p:cNvSpPr/>
          <p:nvPr/>
        </p:nvSpPr>
        <p:spPr>
          <a:xfrm>
            <a:off x="126094" y="7087384"/>
            <a:ext cx="2391965" cy="2831544"/>
          </a:xfrm>
          <a:prstGeom prst="rect">
            <a:avLst/>
          </a:prstGeom>
        </p:spPr>
        <p:txBody>
          <a:bodyPr wrap="square">
            <a:spAutoFit/>
          </a:bodyPr>
          <a:lstStyle/>
          <a:p>
            <a:pPr algn="just"/>
            <a:r>
              <a:rPr lang="en-PH" sz="4000" dirty="0">
                <a:solidFill>
                  <a:srgbClr val="820000"/>
                </a:solidFill>
                <a:latin typeface="Arial" panose="020B0604020202020204" pitchFamily="34" charset="0"/>
                <a:cs typeface="Arial" panose="020B0604020202020204" pitchFamily="34" charset="0"/>
              </a:rPr>
              <a:t> </a:t>
            </a:r>
            <a:r>
              <a:rPr lang="en-PH" sz="4000" dirty="0" smtClean="0">
                <a:solidFill>
                  <a:srgbClr val="820000"/>
                </a:solidFill>
                <a:latin typeface="Arial" panose="020B0604020202020204" pitchFamily="34" charset="0"/>
                <a:cs typeface="Arial" panose="020B0604020202020204" pitchFamily="34" charset="0"/>
              </a:rPr>
              <a:t>  </a:t>
            </a:r>
            <a:r>
              <a:rPr lang="en-PH" sz="2000" i="1" dirty="0" err="1" smtClean="0">
                <a:solidFill>
                  <a:srgbClr val="820000"/>
                </a:solidFill>
                <a:latin typeface="Arial" panose="020B0604020202020204" pitchFamily="34" charset="0"/>
                <a:cs typeface="Arial" panose="020B0604020202020204" pitchFamily="34" charset="0"/>
              </a:rPr>
              <a:t>Cocus</a:t>
            </a:r>
            <a:r>
              <a:rPr lang="en-PH" sz="2000" i="1" dirty="0" smtClean="0">
                <a:solidFill>
                  <a:srgbClr val="820000"/>
                </a:solidFill>
                <a:latin typeface="Arial" panose="020B0604020202020204" pitchFamily="34" charset="0"/>
                <a:cs typeface="Arial" panose="020B0604020202020204" pitchFamily="34" charset="0"/>
              </a:rPr>
              <a:t> </a:t>
            </a:r>
            <a:r>
              <a:rPr lang="en-PH" sz="2000" i="1" dirty="0" err="1" smtClean="0">
                <a:solidFill>
                  <a:srgbClr val="820000"/>
                </a:solidFill>
                <a:latin typeface="Arial" panose="020B0604020202020204" pitchFamily="34" charset="0"/>
                <a:cs typeface="Arial" panose="020B0604020202020204" pitchFamily="34" charset="0"/>
              </a:rPr>
              <a:t>Nucifera</a:t>
            </a:r>
            <a:r>
              <a:rPr lang="en-PH" sz="2000" i="1" dirty="0" smtClean="0">
                <a:solidFill>
                  <a:srgbClr val="820000"/>
                </a:solidFill>
                <a:latin typeface="Arial" panose="020B0604020202020204" pitchFamily="34" charset="0"/>
                <a:cs typeface="Arial" panose="020B0604020202020204" pitchFamily="34" charset="0"/>
              </a:rPr>
              <a:t> </a:t>
            </a:r>
            <a:endParaRPr lang="en-PH" sz="3200" b="1" i="1" dirty="0" smtClean="0">
              <a:solidFill>
                <a:srgbClr val="820000"/>
              </a:solidFill>
              <a:latin typeface="Arial" panose="020B0604020202020204" pitchFamily="34" charset="0"/>
              <a:cs typeface="Arial" panose="020B0604020202020204" pitchFamily="34" charset="0"/>
            </a:endParaRPr>
          </a:p>
          <a:p>
            <a:pPr marL="0" lvl="2" algn="just"/>
            <a:endParaRPr lang="en-PH" b="1" dirty="0"/>
          </a:p>
          <a:p>
            <a:pPr algn="just"/>
            <a:r>
              <a:rPr lang="en-PH" sz="4000" dirty="0" smtClean="0"/>
              <a:t> </a:t>
            </a:r>
            <a:endParaRPr lang="en-PH" sz="4000" b="1" dirty="0">
              <a:solidFill>
                <a:srgbClr val="820000"/>
              </a:solidFill>
              <a:latin typeface="Arial" panose="020B0604020202020204" pitchFamily="34" charset="0"/>
              <a:cs typeface="Arial" panose="020B0604020202020204" pitchFamily="34" charset="0"/>
            </a:endParaRPr>
          </a:p>
          <a:p>
            <a:pPr algn="just"/>
            <a:endParaRPr lang="en-PH" sz="4000" b="1" dirty="0" smtClean="0">
              <a:solidFill>
                <a:srgbClr val="820000"/>
              </a:solidFill>
              <a:latin typeface="Arial" panose="020B0604020202020204" pitchFamily="34" charset="0"/>
              <a:cs typeface="Arial" panose="020B0604020202020204" pitchFamily="34" charset="0"/>
            </a:endParaRPr>
          </a:p>
          <a:p>
            <a:pPr algn="just"/>
            <a:r>
              <a:rPr lang="en-PH" sz="4000" b="1"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99" name="Rectangle 98"/>
          <p:cNvSpPr/>
          <p:nvPr/>
        </p:nvSpPr>
        <p:spPr>
          <a:xfrm>
            <a:off x="4290869" y="3568767"/>
            <a:ext cx="966931" cy="369332"/>
          </a:xfrm>
          <a:prstGeom prst="rect">
            <a:avLst/>
          </a:prstGeom>
        </p:spPr>
        <p:txBody>
          <a:bodyPr wrap="none">
            <a:spAutoFit/>
          </a:bodyPr>
          <a:lstStyle/>
          <a:p>
            <a:pPr algn="just"/>
            <a:r>
              <a:rPr lang="en-PH" b="1" dirty="0" smtClean="0">
                <a:solidFill>
                  <a:srgbClr val="820000"/>
                </a:solidFill>
                <a:latin typeface="Arial" panose="020B0604020202020204" pitchFamily="34" charset="0"/>
                <a:cs typeface="Arial" panose="020B0604020202020204" pitchFamily="34" charset="0"/>
              </a:rPr>
              <a:t>Leaves</a:t>
            </a:r>
            <a:endParaRPr lang="en-PH" b="1" dirty="0">
              <a:solidFill>
                <a:srgbClr val="820000"/>
              </a:solidFill>
              <a:latin typeface="Arial" panose="020B0604020202020204" pitchFamily="34" charset="0"/>
              <a:cs typeface="Arial" panose="020B0604020202020204" pitchFamily="34" charset="0"/>
            </a:endParaRPr>
          </a:p>
        </p:txBody>
      </p:sp>
      <p:sp>
        <p:nvSpPr>
          <p:cNvPr id="100" name="Rectangle 99"/>
          <p:cNvSpPr/>
          <p:nvPr/>
        </p:nvSpPr>
        <p:spPr>
          <a:xfrm>
            <a:off x="4326592" y="4820955"/>
            <a:ext cx="838691" cy="369332"/>
          </a:xfrm>
          <a:prstGeom prst="rect">
            <a:avLst/>
          </a:prstGeom>
        </p:spPr>
        <p:txBody>
          <a:bodyPr wrap="none">
            <a:spAutoFit/>
          </a:bodyPr>
          <a:lstStyle/>
          <a:p>
            <a:pPr algn="just"/>
            <a:r>
              <a:rPr lang="en-PH" b="1" dirty="0" smtClean="0">
                <a:solidFill>
                  <a:srgbClr val="820000"/>
                </a:solidFill>
                <a:latin typeface="Arial" panose="020B0604020202020204" pitchFamily="34" charset="0"/>
                <a:cs typeface="Arial" panose="020B0604020202020204" pitchFamily="34" charset="0"/>
              </a:rPr>
              <a:t>Roots</a:t>
            </a:r>
            <a:endParaRPr lang="en-PH" b="1" dirty="0">
              <a:solidFill>
                <a:srgbClr val="820000"/>
              </a:solidFill>
              <a:latin typeface="Arial" panose="020B0604020202020204" pitchFamily="34" charset="0"/>
              <a:cs typeface="Arial" panose="020B0604020202020204" pitchFamily="34" charset="0"/>
            </a:endParaRPr>
          </a:p>
        </p:txBody>
      </p:sp>
      <p:sp>
        <p:nvSpPr>
          <p:cNvPr id="101" name="Rectangle 100"/>
          <p:cNvSpPr/>
          <p:nvPr/>
        </p:nvSpPr>
        <p:spPr>
          <a:xfrm>
            <a:off x="4006228" y="7652709"/>
            <a:ext cx="1454244" cy="369332"/>
          </a:xfrm>
          <a:prstGeom prst="rect">
            <a:avLst/>
          </a:prstGeom>
        </p:spPr>
        <p:txBody>
          <a:bodyPr wrap="none">
            <a:spAutoFit/>
          </a:bodyPr>
          <a:lstStyle/>
          <a:p>
            <a:pPr algn="just"/>
            <a:r>
              <a:rPr lang="en-PH" b="1" dirty="0" smtClean="0">
                <a:solidFill>
                  <a:srgbClr val="820000"/>
                </a:solidFill>
                <a:latin typeface="Arial" panose="020B0604020202020204" pitchFamily="34" charset="0"/>
                <a:cs typeface="Arial" panose="020B0604020202020204" pitchFamily="34" charset="0"/>
              </a:rPr>
              <a:t>Endosperm</a:t>
            </a:r>
            <a:endParaRPr lang="en-PH" b="1" dirty="0">
              <a:solidFill>
                <a:srgbClr val="820000"/>
              </a:solidFill>
              <a:latin typeface="Arial" panose="020B0604020202020204" pitchFamily="34" charset="0"/>
              <a:cs typeface="Arial" panose="020B0604020202020204" pitchFamily="34" charset="0"/>
            </a:endParaRPr>
          </a:p>
        </p:txBody>
      </p:sp>
      <p:sp>
        <p:nvSpPr>
          <p:cNvPr id="102" name="Rectangle 101"/>
          <p:cNvSpPr/>
          <p:nvPr/>
        </p:nvSpPr>
        <p:spPr>
          <a:xfrm>
            <a:off x="4279859" y="6335413"/>
            <a:ext cx="966931" cy="369332"/>
          </a:xfrm>
          <a:prstGeom prst="rect">
            <a:avLst/>
          </a:prstGeom>
        </p:spPr>
        <p:txBody>
          <a:bodyPr wrap="none">
            <a:spAutoFit/>
          </a:bodyPr>
          <a:lstStyle/>
          <a:p>
            <a:pPr algn="just"/>
            <a:r>
              <a:rPr lang="en-PH" b="1" dirty="0" smtClean="0">
                <a:solidFill>
                  <a:srgbClr val="820000"/>
                </a:solidFill>
                <a:latin typeface="Arial" panose="020B0604020202020204" pitchFamily="34" charset="0"/>
                <a:cs typeface="Arial" panose="020B0604020202020204" pitchFamily="34" charset="0"/>
              </a:rPr>
              <a:t>Shoots</a:t>
            </a:r>
            <a:endParaRPr lang="en-PH" b="1" dirty="0">
              <a:solidFill>
                <a:srgbClr val="820000"/>
              </a:solidFill>
              <a:latin typeface="Arial" panose="020B0604020202020204" pitchFamily="34" charset="0"/>
              <a:cs typeface="Arial" panose="020B0604020202020204" pitchFamily="34" charset="0"/>
            </a:endParaRPr>
          </a:p>
        </p:txBody>
      </p:sp>
      <p:sp>
        <p:nvSpPr>
          <p:cNvPr id="103" name="Rectangle 102"/>
          <p:cNvSpPr/>
          <p:nvPr/>
        </p:nvSpPr>
        <p:spPr>
          <a:xfrm>
            <a:off x="4055404" y="9059043"/>
            <a:ext cx="1467068" cy="369332"/>
          </a:xfrm>
          <a:prstGeom prst="rect">
            <a:avLst/>
          </a:prstGeom>
        </p:spPr>
        <p:txBody>
          <a:bodyPr wrap="none">
            <a:spAutoFit/>
          </a:bodyPr>
          <a:lstStyle/>
          <a:p>
            <a:pPr algn="just"/>
            <a:r>
              <a:rPr lang="en-PH" b="1" dirty="0" err="1" smtClean="0">
                <a:solidFill>
                  <a:srgbClr val="820000"/>
                </a:solidFill>
                <a:latin typeface="Arial" panose="020B0604020202020204" pitchFamily="34" charset="0"/>
                <a:cs typeface="Arial" panose="020B0604020202020204" pitchFamily="34" charset="0"/>
              </a:rPr>
              <a:t>Haustorium</a:t>
            </a:r>
            <a:endParaRPr lang="en-PH" b="1" dirty="0">
              <a:solidFill>
                <a:srgbClr val="820000"/>
              </a:solidFill>
              <a:latin typeface="Arial" panose="020B0604020202020204" pitchFamily="34" charset="0"/>
              <a:cs typeface="Arial" panose="020B0604020202020204" pitchFamily="34" charset="0"/>
            </a:endParaRPr>
          </a:p>
        </p:txBody>
      </p:sp>
      <p:sp>
        <p:nvSpPr>
          <p:cNvPr id="104" name="Rectangle 103"/>
          <p:cNvSpPr/>
          <p:nvPr/>
        </p:nvSpPr>
        <p:spPr>
          <a:xfrm>
            <a:off x="6586232" y="5303103"/>
            <a:ext cx="1806905" cy="830997"/>
          </a:xfrm>
          <a:prstGeom prst="rect">
            <a:avLst/>
          </a:prstGeom>
          <a:ln w="28575">
            <a:solidFill>
              <a:srgbClr val="820000"/>
            </a:solidFill>
          </a:ln>
        </p:spPr>
        <p:txBody>
          <a:bodyPr wrap="none">
            <a:spAutoFit/>
          </a:bodyPr>
          <a:lstStyle/>
          <a:p>
            <a:pPr algn="just"/>
            <a:r>
              <a:rPr lang="en-PH" sz="2400" dirty="0" err="1" smtClean="0">
                <a:solidFill>
                  <a:srgbClr val="820000"/>
                </a:solidFill>
                <a:latin typeface="Arial" panose="020B0604020202020204" pitchFamily="34" charset="0"/>
                <a:cs typeface="Arial" panose="020B0604020202020204" pitchFamily="34" charset="0"/>
              </a:rPr>
              <a:t>Methanolic</a:t>
            </a:r>
            <a:r>
              <a:rPr lang="en-PH" sz="2400" dirty="0" smtClean="0">
                <a:solidFill>
                  <a:srgbClr val="820000"/>
                </a:solidFill>
                <a:latin typeface="Arial" panose="020B0604020202020204" pitchFamily="34" charset="0"/>
                <a:cs typeface="Arial" panose="020B0604020202020204" pitchFamily="34" charset="0"/>
              </a:rPr>
              <a:t> </a:t>
            </a:r>
          </a:p>
          <a:p>
            <a:pPr algn="ctr"/>
            <a:r>
              <a:rPr lang="en-PH" sz="2400" dirty="0" smtClean="0">
                <a:solidFill>
                  <a:srgbClr val="820000"/>
                </a:solidFill>
                <a:latin typeface="Arial" panose="020B0604020202020204" pitchFamily="34" charset="0"/>
                <a:cs typeface="Arial" panose="020B0604020202020204" pitchFamily="34" charset="0"/>
              </a:rPr>
              <a:t>Extraction</a:t>
            </a:r>
            <a:endParaRPr lang="en-PH" sz="2400" dirty="0">
              <a:solidFill>
                <a:srgbClr val="820000"/>
              </a:solidFill>
              <a:latin typeface="Arial" panose="020B0604020202020204" pitchFamily="34" charset="0"/>
              <a:cs typeface="Arial" panose="020B0604020202020204" pitchFamily="34" charset="0"/>
            </a:endParaRPr>
          </a:p>
        </p:txBody>
      </p:sp>
      <p:sp>
        <p:nvSpPr>
          <p:cNvPr id="105" name="Down Arrow 104"/>
          <p:cNvSpPr/>
          <p:nvPr/>
        </p:nvSpPr>
        <p:spPr>
          <a:xfrm rot="16200000">
            <a:off x="8514281" y="5315985"/>
            <a:ext cx="597267" cy="741211"/>
          </a:xfrm>
          <a:prstGeom prst="downArrow">
            <a:avLst/>
          </a:prstGeom>
          <a:solidFill>
            <a:srgbClr val="820000"/>
          </a:solidFill>
          <a:ln>
            <a:solidFill>
              <a:srgbClr val="8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07" name="Rectangle 106"/>
          <p:cNvSpPr/>
          <p:nvPr/>
        </p:nvSpPr>
        <p:spPr>
          <a:xfrm>
            <a:off x="8523767" y="7258722"/>
            <a:ext cx="1928733" cy="461665"/>
          </a:xfrm>
          <a:prstGeom prst="rect">
            <a:avLst/>
          </a:prstGeom>
          <a:ln w="28575">
            <a:solidFill>
              <a:srgbClr val="820000"/>
            </a:solidFill>
          </a:ln>
        </p:spPr>
        <p:txBody>
          <a:bodyPr wrap="none">
            <a:spAutoFit/>
          </a:bodyPr>
          <a:lstStyle/>
          <a:p>
            <a:pPr algn="just"/>
            <a:r>
              <a:rPr lang="en-PH" sz="2400" dirty="0" smtClean="0">
                <a:solidFill>
                  <a:srgbClr val="820000"/>
                </a:solidFill>
                <a:latin typeface="Arial" panose="020B0604020202020204" pitchFamily="34" charset="0"/>
                <a:cs typeface="Arial" panose="020B0604020202020204" pitchFamily="34" charset="0"/>
              </a:rPr>
              <a:t>Plant Extract</a:t>
            </a:r>
          </a:p>
        </p:txBody>
      </p:sp>
      <p:sp>
        <p:nvSpPr>
          <p:cNvPr id="111" name="Plus 110"/>
          <p:cNvSpPr/>
          <p:nvPr/>
        </p:nvSpPr>
        <p:spPr>
          <a:xfrm>
            <a:off x="9927283" y="5457162"/>
            <a:ext cx="638857" cy="551666"/>
          </a:xfrm>
          <a:prstGeom prst="mathPlus">
            <a:avLst/>
          </a:prstGeom>
          <a:solidFill>
            <a:srgbClr val="820000"/>
          </a:solidFill>
          <a:ln>
            <a:solidFill>
              <a:srgbClr val="8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13" name="Rectangle 112"/>
          <p:cNvSpPr/>
          <p:nvPr/>
        </p:nvSpPr>
        <p:spPr>
          <a:xfrm>
            <a:off x="11111477" y="6216531"/>
            <a:ext cx="2206053" cy="461665"/>
          </a:xfrm>
          <a:prstGeom prst="rect">
            <a:avLst/>
          </a:prstGeom>
          <a:ln w="28575">
            <a:solidFill>
              <a:srgbClr val="820000"/>
            </a:solidFill>
          </a:ln>
        </p:spPr>
        <p:txBody>
          <a:bodyPr wrap="none">
            <a:spAutoFit/>
          </a:bodyPr>
          <a:lstStyle/>
          <a:p>
            <a:pPr algn="just"/>
            <a:r>
              <a:rPr lang="en-PH" sz="2400" dirty="0" smtClean="0">
                <a:solidFill>
                  <a:srgbClr val="820000"/>
                </a:solidFill>
                <a:latin typeface="Arial" panose="020B0604020202020204" pitchFamily="34" charset="0"/>
                <a:cs typeface="Arial" panose="020B0604020202020204" pitchFamily="34" charset="0"/>
              </a:rPr>
              <a:t>Standard </a:t>
            </a:r>
            <a:r>
              <a:rPr lang="en-PH" sz="2400" dirty="0" err="1" smtClean="0">
                <a:solidFill>
                  <a:srgbClr val="820000"/>
                </a:solidFill>
                <a:latin typeface="Arial" panose="020B0604020202020204" pitchFamily="34" charset="0"/>
                <a:cs typeface="Arial" panose="020B0604020202020204" pitchFamily="34" charset="0"/>
              </a:rPr>
              <a:t>Sol’n</a:t>
            </a:r>
            <a:endParaRPr lang="en-PH" sz="2400" dirty="0" smtClean="0">
              <a:solidFill>
                <a:srgbClr val="820000"/>
              </a:solidFill>
              <a:latin typeface="Arial" panose="020B0604020202020204" pitchFamily="34" charset="0"/>
              <a:cs typeface="Arial" panose="020B0604020202020204" pitchFamily="34" charset="0"/>
            </a:endParaRPr>
          </a:p>
        </p:txBody>
      </p:sp>
      <p:cxnSp>
        <p:nvCxnSpPr>
          <p:cNvPr id="115" name="Straight Connector 114"/>
          <p:cNvCxnSpPr>
            <a:stCxn id="106" idx="0"/>
          </p:cNvCxnSpPr>
          <p:nvPr/>
        </p:nvCxnSpPr>
        <p:spPr>
          <a:xfrm flipV="1">
            <a:off x="9649955" y="3753433"/>
            <a:ext cx="0" cy="685796"/>
          </a:xfrm>
          <a:prstGeom prst="line">
            <a:avLst/>
          </a:prstGeom>
          <a:ln w="28575">
            <a:solidFill>
              <a:srgbClr val="820000"/>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p:cNvCxnSpPr/>
          <p:nvPr/>
        </p:nvCxnSpPr>
        <p:spPr>
          <a:xfrm>
            <a:off x="9649955" y="3753433"/>
            <a:ext cx="2923045" cy="0"/>
          </a:xfrm>
          <a:prstGeom prst="line">
            <a:avLst/>
          </a:prstGeom>
          <a:ln w="28575">
            <a:solidFill>
              <a:srgbClr val="820000"/>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p:nvPr/>
        </p:nvCxnSpPr>
        <p:spPr>
          <a:xfrm flipV="1">
            <a:off x="12573000" y="3753433"/>
            <a:ext cx="0" cy="685796"/>
          </a:xfrm>
          <a:prstGeom prst="line">
            <a:avLst/>
          </a:prstGeom>
          <a:ln w="28575">
            <a:solidFill>
              <a:srgbClr val="820000"/>
            </a:solidFill>
          </a:ln>
        </p:spPr>
        <p:style>
          <a:lnRef idx="1">
            <a:schemeClr val="accent1"/>
          </a:lnRef>
          <a:fillRef idx="0">
            <a:schemeClr val="accent1"/>
          </a:fillRef>
          <a:effectRef idx="0">
            <a:schemeClr val="accent1"/>
          </a:effectRef>
          <a:fontRef idx="minor">
            <a:schemeClr val="tx1"/>
          </a:fontRef>
        </p:style>
      </p:cxnSp>
      <p:sp>
        <p:nvSpPr>
          <p:cNvPr id="120" name="Flowchart: Connector 119"/>
          <p:cNvSpPr/>
          <p:nvPr/>
        </p:nvSpPr>
        <p:spPr>
          <a:xfrm>
            <a:off x="14252673" y="5273522"/>
            <a:ext cx="1676400" cy="1591903"/>
          </a:xfrm>
          <a:prstGeom prst="flowChartConnector">
            <a:avLst/>
          </a:prstGeom>
          <a:blipFill>
            <a:blip r:embed="rId12"/>
            <a:stretch>
              <a:fillRect l="-30844" r="-30844"/>
            </a:stretch>
          </a:blipFill>
          <a:ln w="28575">
            <a:solidFill>
              <a:srgbClr val="005C2A"/>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dirty="0"/>
          </a:p>
        </p:txBody>
      </p:sp>
      <p:sp>
        <p:nvSpPr>
          <p:cNvPr id="122" name="Down Arrow 121"/>
          <p:cNvSpPr/>
          <p:nvPr/>
        </p:nvSpPr>
        <p:spPr>
          <a:xfrm rot="10800000">
            <a:off x="10353558" y="3008217"/>
            <a:ext cx="539567" cy="611283"/>
          </a:xfrm>
          <a:prstGeom prst="downArrow">
            <a:avLst/>
          </a:prstGeom>
          <a:solidFill>
            <a:srgbClr val="820000"/>
          </a:solidFill>
          <a:ln>
            <a:solidFill>
              <a:srgbClr val="8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24" name="Rectangle 123"/>
          <p:cNvSpPr/>
          <p:nvPr/>
        </p:nvSpPr>
        <p:spPr>
          <a:xfrm>
            <a:off x="11932871" y="1700480"/>
            <a:ext cx="6006886" cy="923330"/>
          </a:xfrm>
          <a:prstGeom prst="rect">
            <a:avLst/>
          </a:prstGeom>
          <a:ln w="28575">
            <a:solidFill>
              <a:srgbClr val="A40000"/>
            </a:solidFill>
          </a:ln>
        </p:spPr>
        <p:txBody>
          <a:bodyPr wrap="square">
            <a:spAutoFit/>
          </a:bodyPr>
          <a:lstStyle/>
          <a:p>
            <a:pPr algn="ctr"/>
            <a:r>
              <a:rPr lang="en-PH" dirty="0" smtClean="0">
                <a:solidFill>
                  <a:srgbClr val="820000"/>
                </a:solidFill>
                <a:latin typeface="Arial" panose="020B0604020202020204" pitchFamily="34" charset="0"/>
                <a:cs typeface="Arial" panose="020B0604020202020204" pitchFamily="34" charset="0"/>
              </a:rPr>
              <a:t>Add 20 µL of 10 % </a:t>
            </a:r>
            <a:r>
              <a:rPr lang="en-PH" dirty="0">
                <a:solidFill>
                  <a:srgbClr val="820000"/>
                </a:solidFill>
                <a:latin typeface="Arial" panose="020B0604020202020204" pitchFamily="34" charset="0"/>
                <a:cs typeface="Arial" panose="020B0604020202020204" pitchFamily="34" charset="0"/>
              </a:rPr>
              <a:t>AlCl</a:t>
            </a:r>
            <a:r>
              <a:rPr lang="en-PH" baseline="-25000" dirty="0">
                <a:solidFill>
                  <a:srgbClr val="820000"/>
                </a:solidFill>
                <a:latin typeface="Arial" panose="020B0604020202020204" pitchFamily="34" charset="0"/>
                <a:cs typeface="Arial" panose="020B0604020202020204" pitchFamily="34" charset="0"/>
              </a:rPr>
              <a:t>3</a:t>
            </a:r>
            <a:r>
              <a:rPr lang="en-PH" dirty="0" smtClean="0">
                <a:solidFill>
                  <a:srgbClr val="820000"/>
                </a:solidFill>
                <a:latin typeface="Arial" panose="020B0604020202020204" pitchFamily="34" charset="0"/>
                <a:cs typeface="Arial" panose="020B0604020202020204" pitchFamily="34" charset="0"/>
              </a:rPr>
              <a:t>,</a:t>
            </a:r>
          </a:p>
          <a:p>
            <a:pPr algn="ctr"/>
            <a:r>
              <a:rPr lang="en-PH" dirty="0">
                <a:solidFill>
                  <a:srgbClr val="820000"/>
                </a:solidFill>
                <a:latin typeface="Arial" panose="020B0604020202020204" pitchFamily="34" charset="0"/>
                <a:cs typeface="Arial" panose="020B0604020202020204" pitchFamily="34" charset="0"/>
              </a:rPr>
              <a:t> </a:t>
            </a:r>
            <a:r>
              <a:rPr lang="en-PH" dirty="0" smtClean="0">
                <a:solidFill>
                  <a:srgbClr val="820000"/>
                </a:solidFill>
                <a:latin typeface="Arial" panose="020B0604020202020204" pitchFamily="34" charset="0"/>
                <a:cs typeface="Arial" panose="020B0604020202020204" pitchFamily="34" charset="0"/>
              </a:rPr>
              <a:t> 20</a:t>
            </a:r>
            <a:r>
              <a:rPr lang="en-PH" dirty="0">
                <a:solidFill>
                  <a:srgbClr val="820000"/>
                </a:solidFill>
                <a:latin typeface="Arial" panose="020B0604020202020204" pitchFamily="34" charset="0"/>
                <a:cs typeface="Arial" panose="020B0604020202020204" pitchFamily="34" charset="0"/>
              </a:rPr>
              <a:t> </a:t>
            </a:r>
            <a:r>
              <a:rPr lang="en-PH" dirty="0" smtClean="0">
                <a:solidFill>
                  <a:srgbClr val="820000"/>
                </a:solidFill>
                <a:latin typeface="Arial" panose="020B0604020202020204" pitchFamily="34" charset="0"/>
                <a:cs typeface="Arial" panose="020B0604020202020204" pitchFamily="34" charset="0"/>
              </a:rPr>
              <a:t>µL of 1 M potassium acetate and </a:t>
            </a:r>
            <a:r>
              <a:rPr lang="en-PH" dirty="0">
                <a:solidFill>
                  <a:srgbClr val="820000"/>
                </a:solidFill>
                <a:latin typeface="Arial" panose="020B0604020202020204" pitchFamily="34" charset="0"/>
                <a:cs typeface="Arial" panose="020B0604020202020204" pitchFamily="34" charset="0"/>
              </a:rPr>
              <a:t>140 µL of deionized water</a:t>
            </a:r>
            <a:endParaRPr lang="en-PH" dirty="0" smtClean="0">
              <a:solidFill>
                <a:srgbClr val="820000"/>
              </a:solidFill>
              <a:latin typeface="Arial" panose="020B0604020202020204" pitchFamily="34" charset="0"/>
              <a:cs typeface="Arial" panose="020B0604020202020204" pitchFamily="34" charset="0"/>
            </a:endParaRPr>
          </a:p>
        </p:txBody>
      </p:sp>
      <p:sp>
        <p:nvSpPr>
          <p:cNvPr id="125" name="Rectangle 124"/>
          <p:cNvSpPr/>
          <p:nvPr/>
        </p:nvSpPr>
        <p:spPr>
          <a:xfrm>
            <a:off x="13206383" y="3659546"/>
            <a:ext cx="3768980" cy="707886"/>
          </a:xfrm>
          <a:prstGeom prst="rect">
            <a:avLst/>
          </a:prstGeom>
          <a:ln w="19050">
            <a:solidFill>
              <a:srgbClr val="A40000"/>
            </a:solidFill>
          </a:ln>
        </p:spPr>
        <p:txBody>
          <a:bodyPr wrap="none">
            <a:spAutoFit/>
          </a:bodyPr>
          <a:lstStyle/>
          <a:p>
            <a:r>
              <a:rPr lang="en-PH" sz="2000" dirty="0" smtClean="0">
                <a:solidFill>
                  <a:srgbClr val="820000"/>
                </a:solidFill>
                <a:latin typeface="Arial" panose="020B0604020202020204" pitchFamily="34" charset="0"/>
                <a:ea typeface="Calibri" panose="020F0502020204030204" pitchFamily="34" charset="0"/>
                <a:cs typeface="Times New Roman" panose="02020603050405020304" pitchFamily="18" charset="0"/>
              </a:rPr>
              <a:t>Incubated at </a:t>
            </a:r>
            <a:r>
              <a:rPr lang="en-PH" sz="2000" dirty="0">
                <a:solidFill>
                  <a:srgbClr val="820000"/>
                </a:solidFill>
                <a:latin typeface="Arial" panose="020B0604020202020204" pitchFamily="34" charset="0"/>
                <a:ea typeface="Calibri" panose="020F0502020204030204" pitchFamily="34" charset="0"/>
                <a:cs typeface="Times New Roman" panose="02020603050405020304" pitchFamily="18" charset="0"/>
              </a:rPr>
              <a:t>room temperature </a:t>
            </a:r>
            <a:endParaRPr lang="en-PH" sz="2000" dirty="0" smtClean="0">
              <a:solidFill>
                <a:srgbClr val="820000"/>
              </a:solidFill>
              <a:latin typeface="Arial" panose="020B0604020202020204" pitchFamily="34" charset="0"/>
              <a:ea typeface="Calibri" panose="020F0502020204030204" pitchFamily="34" charset="0"/>
              <a:cs typeface="Times New Roman" panose="02020603050405020304" pitchFamily="18" charset="0"/>
            </a:endParaRPr>
          </a:p>
          <a:p>
            <a:pPr algn="ctr"/>
            <a:r>
              <a:rPr lang="en-PH" sz="2000" dirty="0" smtClean="0">
                <a:solidFill>
                  <a:srgbClr val="820000"/>
                </a:solidFill>
                <a:latin typeface="Arial" panose="020B0604020202020204" pitchFamily="34" charset="0"/>
                <a:ea typeface="Calibri" panose="020F0502020204030204" pitchFamily="34" charset="0"/>
                <a:cs typeface="Times New Roman" panose="02020603050405020304" pitchFamily="18" charset="0"/>
              </a:rPr>
              <a:t>for </a:t>
            </a:r>
            <a:r>
              <a:rPr lang="en-PH" sz="2000" dirty="0">
                <a:solidFill>
                  <a:srgbClr val="820000"/>
                </a:solidFill>
                <a:latin typeface="Arial" panose="020B0604020202020204" pitchFamily="34" charset="0"/>
                <a:ea typeface="Calibri" panose="020F0502020204030204" pitchFamily="34" charset="0"/>
                <a:cs typeface="Times New Roman" panose="02020603050405020304" pitchFamily="18" charset="0"/>
              </a:rPr>
              <a:t>30 </a:t>
            </a:r>
            <a:r>
              <a:rPr lang="en-PH" sz="2000" dirty="0" err="1">
                <a:solidFill>
                  <a:srgbClr val="820000"/>
                </a:solidFill>
                <a:latin typeface="Arial" panose="020B0604020202020204" pitchFamily="34" charset="0"/>
                <a:ea typeface="Calibri" panose="020F0502020204030204" pitchFamily="34" charset="0"/>
                <a:cs typeface="Times New Roman" panose="02020603050405020304" pitchFamily="18" charset="0"/>
              </a:rPr>
              <a:t>mins</a:t>
            </a:r>
            <a:endParaRPr lang="en-PH" sz="2000" dirty="0">
              <a:solidFill>
                <a:srgbClr val="820000"/>
              </a:solidFill>
            </a:endParaRPr>
          </a:p>
        </p:txBody>
      </p:sp>
      <p:sp>
        <p:nvSpPr>
          <p:cNvPr id="126" name="Down Arrow 125"/>
          <p:cNvSpPr/>
          <p:nvPr/>
        </p:nvSpPr>
        <p:spPr>
          <a:xfrm>
            <a:off x="13833529" y="2735219"/>
            <a:ext cx="597267" cy="741211"/>
          </a:xfrm>
          <a:prstGeom prst="downArrow">
            <a:avLst/>
          </a:prstGeom>
          <a:solidFill>
            <a:srgbClr val="820000"/>
          </a:solidFill>
          <a:ln>
            <a:solidFill>
              <a:srgbClr val="8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27" name="Rectangle 126"/>
          <p:cNvSpPr/>
          <p:nvPr/>
        </p:nvSpPr>
        <p:spPr>
          <a:xfrm>
            <a:off x="7207392" y="8062846"/>
            <a:ext cx="3046485" cy="1323439"/>
          </a:xfrm>
          <a:prstGeom prst="rect">
            <a:avLst/>
          </a:prstGeom>
          <a:ln w="28575">
            <a:solidFill>
              <a:srgbClr val="820000"/>
            </a:solidFill>
          </a:ln>
        </p:spPr>
        <p:txBody>
          <a:bodyPr wrap="square">
            <a:spAutoFit/>
          </a:bodyPr>
          <a:lstStyle/>
          <a:p>
            <a:pPr algn="just"/>
            <a:r>
              <a:rPr lang="en-PH" sz="2000" dirty="0">
                <a:solidFill>
                  <a:srgbClr val="820000"/>
                </a:solidFill>
                <a:latin typeface="Arial" panose="020B0604020202020204" pitchFamily="34" charset="0"/>
                <a:cs typeface="Arial" panose="020B0604020202020204" pitchFamily="34" charset="0"/>
              </a:rPr>
              <a:t>TFC will be expressed as milligram of </a:t>
            </a:r>
            <a:r>
              <a:rPr lang="en-PH" sz="2000" dirty="0" err="1">
                <a:solidFill>
                  <a:srgbClr val="820000"/>
                </a:solidFill>
                <a:latin typeface="Arial" panose="020B0604020202020204" pitchFamily="34" charset="0"/>
                <a:cs typeface="Arial" panose="020B0604020202020204" pitchFamily="34" charset="0"/>
              </a:rPr>
              <a:t>quercetin</a:t>
            </a:r>
            <a:r>
              <a:rPr lang="en-PH" sz="2000" dirty="0">
                <a:solidFill>
                  <a:srgbClr val="820000"/>
                </a:solidFill>
                <a:latin typeface="Arial" panose="020B0604020202020204" pitchFamily="34" charset="0"/>
                <a:cs typeface="Arial" panose="020B0604020202020204" pitchFamily="34" charset="0"/>
              </a:rPr>
              <a:t> equivalent (QE) per gram of extract</a:t>
            </a:r>
            <a:endParaRPr lang="en-PH" sz="2400" dirty="0">
              <a:solidFill>
                <a:srgbClr val="820000"/>
              </a:solidFill>
              <a:latin typeface="Arial" panose="020B0604020202020204" pitchFamily="34" charset="0"/>
              <a:cs typeface="Arial" panose="020B0604020202020204" pitchFamily="34" charset="0"/>
            </a:endParaRPr>
          </a:p>
        </p:txBody>
      </p:sp>
      <p:sp>
        <p:nvSpPr>
          <p:cNvPr id="128" name="Down Arrow 127"/>
          <p:cNvSpPr/>
          <p:nvPr/>
        </p:nvSpPr>
        <p:spPr>
          <a:xfrm>
            <a:off x="14776298" y="4456491"/>
            <a:ext cx="597267" cy="741211"/>
          </a:xfrm>
          <a:prstGeom prst="downArrow">
            <a:avLst/>
          </a:prstGeom>
          <a:solidFill>
            <a:srgbClr val="820000"/>
          </a:solidFill>
          <a:ln>
            <a:solidFill>
              <a:srgbClr val="8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129" name="Picture 128"/>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9085540" y="1627214"/>
            <a:ext cx="2434791" cy="1316336"/>
          </a:xfrm>
          <a:prstGeom prst="rect">
            <a:avLst/>
          </a:prstGeom>
          <a:ln>
            <a:solidFill>
              <a:srgbClr val="A40000"/>
            </a:solidFill>
          </a:ln>
        </p:spPr>
      </p:pic>
      <p:pic>
        <p:nvPicPr>
          <p:cNvPr id="131" name="Picture 130"/>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1351147" y="6973331"/>
            <a:ext cx="3319611" cy="2349837"/>
          </a:xfrm>
          <a:prstGeom prst="rect">
            <a:avLst/>
          </a:prstGeom>
        </p:spPr>
      </p:pic>
      <p:sp>
        <p:nvSpPr>
          <p:cNvPr id="132" name="Bent Arrow 131"/>
          <p:cNvSpPr/>
          <p:nvPr/>
        </p:nvSpPr>
        <p:spPr>
          <a:xfrm rot="10619672">
            <a:off x="14702788" y="7166349"/>
            <a:ext cx="904512" cy="1245501"/>
          </a:xfrm>
          <a:prstGeom prst="bentArrow">
            <a:avLst>
              <a:gd name="adj1" fmla="val 22268"/>
              <a:gd name="adj2" fmla="val 25683"/>
              <a:gd name="adj3" fmla="val 25000"/>
              <a:gd name="adj4" fmla="val 47848"/>
            </a:avLst>
          </a:prstGeom>
          <a:solidFill>
            <a:srgbClr val="82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pic>
        <p:nvPicPr>
          <p:cNvPr id="2" name="Picture 1"/>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0747844" y="4501584"/>
            <a:ext cx="2370054" cy="1591569"/>
          </a:xfrm>
          <a:prstGeom prst="rect">
            <a:avLst/>
          </a:prstGeom>
          <a:ln>
            <a:solidFill>
              <a:srgbClr val="A40000"/>
            </a:solidFill>
          </a:ln>
        </p:spPr>
      </p:pic>
      <p:sp>
        <p:nvSpPr>
          <p:cNvPr id="60" name="Rectangle 59"/>
          <p:cNvSpPr/>
          <p:nvPr/>
        </p:nvSpPr>
        <p:spPr>
          <a:xfrm>
            <a:off x="6128290" y="3297587"/>
            <a:ext cx="3235388" cy="646331"/>
          </a:xfrm>
          <a:prstGeom prst="rect">
            <a:avLst/>
          </a:prstGeom>
          <a:ln w="28575">
            <a:noFill/>
          </a:ln>
        </p:spPr>
        <p:txBody>
          <a:bodyPr wrap="square">
            <a:spAutoFit/>
          </a:bodyPr>
          <a:lstStyle/>
          <a:p>
            <a:pPr algn="ctr"/>
            <a:r>
              <a:rPr lang="en-PH" dirty="0">
                <a:solidFill>
                  <a:srgbClr val="820000"/>
                </a:solidFill>
                <a:latin typeface="Arial" panose="020B0604020202020204" pitchFamily="34" charset="0"/>
                <a:cs typeface="Arial" panose="020B0604020202020204" pitchFamily="34" charset="0"/>
              </a:rPr>
              <a:t>2</a:t>
            </a:r>
            <a:r>
              <a:rPr lang="en-PH" dirty="0" smtClean="0">
                <a:solidFill>
                  <a:srgbClr val="820000"/>
                </a:solidFill>
                <a:latin typeface="Arial" panose="020B0604020202020204" pitchFamily="34" charset="0"/>
                <a:cs typeface="Arial" panose="020B0604020202020204" pitchFamily="34" charset="0"/>
              </a:rPr>
              <a:t>0 µL of Standard Solution</a:t>
            </a:r>
          </a:p>
          <a:p>
            <a:pPr algn="ctr"/>
            <a:r>
              <a:rPr lang="en-PH" dirty="0" smtClean="0">
                <a:solidFill>
                  <a:srgbClr val="820000"/>
                </a:solidFill>
                <a:latin typeface="Arial" panose="020B0604020202020204" pitchFamily="34" charset="0"/>
                <a:cs typeface="Arial" panose="020B0604020202020204" pitchFamily="34" charset="0"/>
              </a:rPr>
              <a:t>20 µL of plant extract</a:t>
            </a:r>
          </a:p>
        </p:txBody>
      </p:sp>
      <p:sp>
        <p:nvSpPr>
          <p:cNvPr id="5" name="Right Arrow 4"/>
          <p:cNvSpPr/>
          <p:nvPr/>
        </p:nvSpPr>
        <p:spPr>
          <a:xfrm rot="2244025">
            <a:off x="8164037" y="4082770"/>
            <a:ext cx="647153" cy="517510"/>
          </a:xfrm>
          <a:prstGeom prst="rightArrow">
            <a:avLst/>
          </a:prstGeom>
          <a:solidFill>
            <a:srgbClr val="82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65" name="Rectangle 64"/>
          <p:cNvSpPr/>
          <p:nvPr/>
        </p:nvSpPr>
        <p:spPr>
          <a:xfrm>
            <a:off x="14713649" y="2816261"/>
            <a:ext cx="2080586" cy="707886"/>
          </a:xfrm>
          <a:prstGeom prst="rect">
            <a:avLst/>
          </a:prstGeom>
          <a:ln w="28575">
            <a:noFill/>
          </a:ln>
        </p:spPr>
        <p:txBody>
          <a:bodyPr wrap="square">
            <a:spAutoFit/>
          </a:bodyPr>
          <a:lstStyle/>
          <a:p>
            <a:r>
              <a:rPr lang="en-PH" sz="2000" dirty="0" smtClean="0">
                <a:solidFill>
                  <a:srgbClr val="820000"/>
                </a:solidFill>
                <a:latin typeface="Arial" panose="020B0604020202020204" pitchFamily="34" charset="0"/>
                <a:cs typeface="Times New Roman" panose="02020603050405020304" pitchFamily="18" charset="0"/>
              </a:rPr>
              <a:t>Shake for 60 seconds </a:t>
            </a:r>
            <a:endParaRPr lang="en-PH" sz="2400" dirty="0">
              <a:solidFill>
                <a:srgbClr val="820000"/>
              </a:solidFill>
            </a:endParaRPr>
          </a:p>
        </p:txBody>
      </p:sp>
      <p:sp>
        <p:nvSpPr>
          <p:cNvPr id="66" name="Rectangle 65"/>
          <p:cNvSpPr/>
          <p:nvPr/>
        </p:nvSpPr>
        <p:spPr>
          <a:xfrm>
            <a:off x="16078200" y="4887090"/>
            <a:ext cx="2080586" cy="1107996"/>
          </a:xfrm>
          <a:prstGeom prst="rect">
            <a:avLst/>
          </a:prstGeom>
          <a:ln w="28575">
            <a:noFill/>
          </a:ln>
        </p:spPr>
        <p:txBody>
          <a:bodyPr wrap="square">
            <a:spAutoFit/>
          </a:bodyPr>
          <a:lstStyle/>
          <a:p>
            <a:r>
              <a:rPr lang="en-PH" sz="1600" dirty="0">
                <a:solidFill>
                  <a:srgbClr val="820000"/>
                </a:solidFill>
                <a:latin typeface="Arial" panose="020B0604020202020204" pitchFamily="34" charset="0"/>
                <a:ea typeface="Calibri" panose="020F0502020204030204" pitchFamily="34" charset="0"/>
                <a:cs typeface="Times New Roman" panose="02020603050405020304" pitchFamily="18" charset="0"/>
              </a:rPr>
              <a:t>absorbance will then be measured at 765 nm </a:t>
            </a:r>
            <a:r>
              <a:rPr lang="en-PH" sz="1600" dirty="0" smtClean="0">
                <a:solidFill>
                  <a:srgbClr val="820000"/>
                </a:solidFill>
                <a:latin typeface="Arial" panose="020B0604020202020204" pitchFamily="34" charset="0"/>
                <a:ea typeface="Calibri" panose="020F0502020204030204" pitchFamily="34" charset="0"/>
                <a:cs typeface="Times New Roman" panose="02020603050405020304" pitchFamily="18" charset="0"/>
              </a:rPr>
              <a:t>with </a:t>
            </a:r>
            <a:r>
              <a:rPr lang="en-PH" sz="1600" dirty="0">
                <a:solidFill>
                  <a:srgbClr val="820000"/>
                </a:solidFill>
                <a:latin typeface="Arial" panose="020B0604020202020204" pitchFamily="34" charset="0"/>
                <a:ea typeface="Calibri" panose="020F0502020204030204" pitchFamily="34" charset="0"/>
                <a:cs typeface="Times New Roman" panose="02020603050405020304" pitchFamily="18" charset="0"/>
              </a:rPr>
              <a:t>a </a:t>
            </a:r>
            <a:r>
              <a:rPr lang="en-PH" sz="1600" dirty="0" err="1">
                <a:solidFill>
                  <a:srgbClr val="820000"/>
                </a:solidFill>
                <a:latin typeface="Arial" panose="020B0604020202020204" pitchFamily="34" charset="0"/>
                <a:ea typeface="Calibri" panose="020F0502020204030204" pitchFamily="34" charset="0"/>
                <a:cs typeface="Times New Roman" panose="02020603050405020304" pitchFamily="18" charset="0"/>
              </a:rPr>
              <a:t>Microplate</a:t>
            </a:r>
            <a:r>
              <a:rPr lang="en-PH" sz="1600" dirty="0">
                <a:solidFill>
                  <a:srgbClr val="820000"/>
                </a:solidFill>
                <a:latin typeface="Arial" panose="020B0604020202020204" pitchFamily="34" charset="0"/>
                <a:ea typeface="Calibri" panose="020F0502020204030204" pitchFamily="34" charset="0"/>
                <a:cs typeface="Times New Roman" panose="02020603050405020304" pitchFamily="18" charset="0"/>
              </a:rPr>
              <a:t> Reader</a:t>
            </a:r>
            <a:r>
              <a:rPr lang="en-PH" dirty="0">
                <a:solidFill>
                  <a:srgbClr val="820000"/>
                </a:solidFill>
                <a:latin typeface="Arial" panose="020B0604020202020204" pitchFamily="34" charset="0"/>
                <a:ea typeface="Calibri" panose="020F0502020204030204" pitchFamily="34" charset="0"/>
                <a:cs typeface="Times New Roman" panose="02020603050405020304" pitchFamily="18" charset="0"/>
              </a:rPr>
              <a:t>.</a:t>
            </a:r>
            <a:endParaRPr lang="en-PH" dirty="0">
              <a:solidFill>
                <a:srgbClr val="820000"/>
              </a:solidFill>
            </a:endParaRPr>
          </a:p>
        </p:txBody>
      </p:sp>
      <p:sp>
        <p:nvSpPr>
          <p:cNvPr id="67" name="Down Arrow 66"/>
          <p:cNvSpPr/>
          <p:nvPr/>
        </p:nvSpPr>
        <p:spPr>
          <a:xfrm rot="5227241">
            <a:off x="10478060" y="8388807"/>
            <a:ext cx="539567" cy="611283"/>
          </a:xfrm>
          <a:prstGeom prst="downArrow">
            <a:avLst/>
          </a:prstGeom>
          <a:solidFill>
            <a:srgbClr val="820000"/>
          </a:solidFill>
          <a:ln>
            <a:solidFill>
              <a:srgbClr val="8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12934821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Box 13"/>
          <p:cNvSpPr txBox="1"/>
          <p:nvPr/>
        </p:nvSpPr>
        <p:spPr>
          <a:xfrm>
            <a:off x="1671387" y="1531257"/>
            <a:ext cx="2203151" cy="2306426"/>
          </a:xfrm>
          <a:prstGeom prst="rect">
            <a:avLst/>
          </a:prstGeom>
        </p:spPr>
        <p:txBody>
          <a:bodyPr lIns="50800" tIns="50800" rIns="50800" bIns="50800" rtlCol="0" anchor="ctr"/>
          <a:lstStyle/>
          <a:p>
            <a:pPr algn="ctr">
              <a:lnSpc>
                <a:spcPts val="2659"/>
              </a:lnSpc>
              <a:spcBef>
                <a:spcPct val="0"/>
              </a:spcBef>
            </a:pPr>
            <a:endParaRPr/>
          </a:p>
        </p:txBody>
      </p:sp>
      <p:pic>
        <p:nvPicPr>
          <p:cNvPr id="18" name="Picture 17"/>
          <p:cNvPicPr>
            <a:picLocks noChangeAspect="1"/>
          </p:cNvPicPr>
          <p:nvPr/>
        </p:nvPicPr>
        <p:blipFill>
          <a:blip r:embed="rId2"/>
          <a:stretch>
            <a:fillRect/>
          </a:stretch>
        </p:blipFill>
        <p:spPr>
          <a:xfrm>
            <a:off x="76200" y="9266338"/>
            <a:ext cx="2327677" cy="1020662"/>
          </a:xfrm>
          <a:prstGeom prst="rect">
            <a:avLst/>
          </a:prstGeom>
        </p:spPr>
      </p:pic>
      <p:pic>
        <p:nvPicPr>
          <p:cNvPr id="19" name="Picture 18"/>
          <p:cNvPicPr>
            <a:picLocks noChangeAspect="1"/>
          </p:cNvPicPr>
          <p:nvPr/>
        </p:nvPicPr>
        <p:blipFill>
          <a:blip r:embed="rId3"/>
          <a:stretch>
            <a:fillRect/>
          </a:stretch>
        </p:blipFill>
        <p:spPr>
          <a:xfrm rot="10800000">
            <a:off x="-30480" y="1294489"/>
            <a:ext cx="18288000" cy="267610"/>
          </a:xfrm>
          <a:prstGeom prst="rect">
            <a:avLst/>
          </a:prstGeom>
        </p:spPr>
      </p:pic>
      <p:sp>
        <p:nvSpPr>
          <p:cNvPr id="21" name="Round Single Corner Rectangle 20"/>
          <p:cNvSpPr/>
          <p:nvPr/>
        </p:nvSpPr>
        <p:spPr>
          <a:xfrm>
            <a:off x="5494020" y="160397"/>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5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Methodology      </a:t>
            </a:r>
            <a:r>
              <a:rPr lang="en-PH" sz="6000" b="1" u="sng" dirty="0" smtClean="0">
                <a:solidFill>
                  <a:srgbClr val="820000"/>
                </a:solidFill>
                <a:latin typeface="Arial" panose="020B0604020202020204" pitchFamily="34" charset="0"/>
                <a:cs typeface="Arial" panose="020B0604020202020204" pitchFamily="34" charset="0"/>
              </a:rPr>
              <a:t> </a:t>
            </a:r>
          </a:p>
        </p:txBody>
      </p:sp>
      <p:pic>
        <p:nvPicPr>
          <p:cNvPr id="20" name="Picture 19"/>
          <p:cNvPicPr>
            <a:picLocks noChangeAspect="1"/>
          </p:cNvPicPr>
          <p:nvPr/>
        </p:nvPicPr>
        <p:blipFill>
          <a:blip r:embed="rId3"/>
          <a:stretch>
            <a:fillRect/>
          </a:stretch>
        </p:blipFill>
        <p:spPr>
          <a:xfrm>
            <a:off x="0" y="0"/>
            <a:ext cx="18288000" cy="267611"/>
          </a:xfrm>
          <a:prstGeom prst="rect">
            <a:avLst/>
          </a:prstGeom>
        </p:spPr>
      </p:pic>
      <p:sp>
        <p:nvSpPr>
          <p:cNvPr id="4" name="Parallelogram 3"/>
          <p:cNvSpPr/>
          <p:nvPr/>
        </p:nvSpPr>
        <p:spPr>
          <a:xfrm>
            <a:off x="2388637" y="9936689"/>
            <a:ext cx="9727163" cy="236011"/>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2" name="Parallelogram 21"/>
          <p:cNvSpPr/>
          <p:nvPr/>
        </p:nvSpPr>
        <p:spPr>
          <a:xfrm>
            <a:off x="12192000" y="9944100"/>
            <a:ext cx="1421363" cy="228600"/>
          </a:xfrm>
          <a:prstGeom prst="parallelogram">
            <a:avLst/>
          </a:prstGeom>
          <a:solidFill>
            <a:srgbClr val="FFC000"/>
          </a:solidFill>
          <a:ln>
            <a:solidFill>
              <a:srgbClr val="FFC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3" name="Parallelogram 22"/>
          <p:cNvSpPr/>
          <p:nvPr/>
        </p:nvSpPr>
        <p:spPr>
          <a:xfrm>
            <a:off x="13689563" y="9944100"/>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24" name="Picture 23"/>
          <p:cNvPicPr>
            <a:picLocks noChangeAspect="1"/>
          </p:cNvPicPr>
          <p:nvPr/>
        </p:nvPicPr>
        <p:blipFill>
          <a:blip r:embed="rId3"/>
          <a:stretch>
            <a:fillRect/>
          </a:stretch>
        </p:blipFill>
        <p:spPr>
          <a:xfrm rot="10800000" flipV="1">
            <a:off x="2403877" y="9668509"/>
            <a:ext cx="15899363" cy="232657"/>
          </a:xfrm>
          <a:prstGeom prst="rect">
            <a:avLst/>
          </a:prstGeom>
        </p:spPr>
      </p:pic>
      <p:pic>
        <p:nvPicPr>
          <p:cNvPr id="6" name="Picture 5"/>
          <p:cNvPicPr>
            <a:picLocks noChangeAspect="1"/>
          </p:cNvPicPr>
          <p:nvPr/>
        </p:nvPicPr>
        <p:blipFill>
          <a:blip r:embed="rId4"/>
          <a:stretch>
            <a:fillRect/>
          </a:stretch>
        </p:blipFill>
        <p:spPr>
          <a:xfrm>
            <a:off x="15030450" y="488370"/>
            <a:ext cx="3257550" cy="523875"/>
          </a:xfrm>
          <a:prstGeom prst="rect">
            <a:avLst/>
          </a:prstGeom>
        </p:spPr>
      </p:pic>
      <p:sp>
        <p:nvSpPr>
          <p:cNvPr id="25" name="Parallelogram 24"/>
          <p:cNvSpPr/>
          <p:nvPr/>
        </p:nvSpPr>
        <p:spPr>
          <a:xfrm>
            <a:off x="13030200" y="760176"/>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13" name="Picture 12"/>
          <p:cNvPicPr>
            <a:picLocks noChangeAspect="1"/>
          </p:cNvPicPr>
          <p:nvPr/>
        </p:nvPicPr>
        <p:blipFill>
          <a:blip r:embed="rId4"/>
          <a:stretch>
            <a:fillRect/>
          </a:stretch>
        </p:blipFill>
        <p:spPr>
          <a:xfrm rot="10800000">
            <a:off x="0" y="612538"/>
            <a:ext cx="3257550" cy="523875"/>
          </a:xfrm>
          <a:prstGeom prst="rect">
            <a:avLst/>
          </a:prstGeom>
        </p:spPr>
      </p:pic>
      <p:sp>
        <p:nvSpPr>
          <p:cNvPr id="14" name="Parallelogram 13"/>
          <p:cNvSpPr/>
          <p:nvPr/>
        </p:nvSpPr>
        <p:spPr>
          <a:xfrm>
            <a:off x="659363" y="577015"/>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9" name="Rectangle 28"/>
          <p:cNvSpPr/>
          <p:nvPr/>
        </p:nvSpPr>
        <p:spPr>
          <a:xfrm>
            <a:off x="1454530" y="2319935"/>
            <a:ext cx="15929956" cy="1938992"/>
          </a:xfrm>
          <a:prstGeom prst="rect">
            <a:avLst/>
          </a:prstGeom>
        </p:spPr>
        <p:txBody>
          <a:bodyPr wrap="square">
            <a:spAutoFit/>
          </a:bodyPr>
          <a:lstStyle/>
          <a:p>
            <a:pPr marL="0" lvl="2" algn="just"/>
            <a:endParaRPr lang="en-PH" sz="2800" dirty="0" smtClean="0"/>
          </a:p>
          <a:p>
            <a:pPr marL="457200" lvl="2" indent="-457200" algn="just">
              <a:buFont typeface="Wingdings" panose="05000000000000000000" pitchFamily="2" charset="2"/>
              <a:buChar char="Ø"/>
            </a:pPr>
            <a:endParaRPr lang="en-PH" sz="2800" dirty="0" smtClean="0"/>
          </a:p>
          <a:p>
            <a:pPr marL="285750" lvl="2" indent="-285750" algn="just">
              <a:buFont typeface="Arial" panose="020B0604020202020204" pitchFamily="34" charset="0"/>
              <a:buChar char="•"/>
            </a:pPr>
            <a:endParaRPr lang="en-PH" sz="3200" dirty="0"/>
          </a:p>
          <a:p>
            <a:pPr marL="285750" indent="-285750" algn="just">
              <a:buFont typeface="Arial" panose="020B0604020202020204" pitchFamily="34" charset="0"/>
              <a:buChar char="•"/>
            </a:pPr>
            <a:endParaRPr lang="en-PH" sz="3200" dirty="0">
              <a:solidFill>
                <a:srgbClr val="005C2A"/>
              </a:solidFill>
              <a:latin typeface="Arial" panose="020B0604020202020204" pitchFamily="34" charset="0"/>
              <a:cs typeface="Arial" panose="020B0604020202020204" pitchFamily="34" charset="0"/>
            </a:endParaRPr>
          </a:p>
        </p:txBody>
      </p:sp>
      <p:sp>
        <p:nvSpPr>
          <p:cNvPr id="28" name="Rectangle 27"/>
          <p:cNvSpPr/>
          <p:nvPr/>
        </p:nvSpPr>
        <p:spPr>
          <a:xfrm>
            <a:off x="934927" y="2570302"/>
            <a:ext cx="17704837" cy="584775"/>
          </a:xfrm>
          <a:prstGeom prst="rect">
            <a:avLst/>
          </a:prstGeom>
        </p:spPr>
        <p:txBody>
          <a:bodyPr wrap="square">
            <a:spAutoFit/>
          </a:bodyPr>
          <a:lstStyle/>
          <a:p>
            <a:pPr algn="just"/>
            <a:r>
              <a:rPr lang="en-PH" sz="3200" dirty="0">
                <a:solidFill>
                  <a:srgbClr val="820000"/>
                </a:solidFill>
                <a:latin typeface="Arial" panose="020B0604020202020204" pitchFamily="34" charset="0"/>
                <a:cs typeface="Arial" panose="020B0604020202020204" pitchFamily="34" charset="0"/>
              </a:rPr>
              <a:t> </a:t>
            </a:r>
            <a:r>
              <a:rPr lang="en-PH" sz="3200" dirty="0" smtClean="0">
                <a:solidFill>
                  <a:srgbClr val="820000"/>
                </a:solidFill>
                <a:latin typeface="Arial" panose="020B0604020202020204" pitchFamily="34" charset="0"/>
                <a:cs typeface="Arial" panose="020B0604020202020204" pitchFamily="34" charset="0"/>
              </a:rPr>
              <a:t>  </a:t>
            </a:r>
            <a:r>
              <a:rPr lang="en-PH" sz="3200" dirty="0">
                <a:solidFill>
                  <a:srgbClr val="820000"/>
                </a:solidFill>
                <a:latin typeface="Arial" panose="020B0604020202020204" pitchFamily="34"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48" name="Rectangle 47"/>
          <p:cNvSpPr/>
          <p:nvPr/>
        </p:nvSpPr>
        <p:spPr>
          <a:xfrm>
            <a:off x="-32539" y="1667468"/>
            <a:ext cx="11486917" cy="2831544"/>
          </a:xfrm>
          <a:prstGeom prst="rect">
            <a:avLst/>
          </a:prstGeom>
        </p:spPr>
        <p:txBody>
          <a:bodyPr wrap="square">
            <a:spAutoFit/>
          </a:bodyPr>
          <a:lstStyle/>
          <a:p>
            <a:pPr algn="just"/>
            <a:r>
              <a:rPr lang="en-PH" sz="4000" dirty="0">
                <a:solidFill>
                  <a:srgbClr val="820000"/>
                </a:solidFill>
                <a:latin typeface="Arial" panose="020B0604020202020204" pitchFamily="34" charset="0"/>
                <a:cs typeface="Arial" panose="020B0604020202020204" pitchFamily="34" charset="0"/>
              </a:rPr>
              <a:t> </a:t>
            </a:r>
            <a:r>
              <a:rPr lang="en-PH" sz="4000" dirty="0" smtClean="0">
                <a:solidFill>
                  <a:srgbClr val="820000"/>
                </a:solidFill>
                <a:latin typeface="Arial" panose="020B0604020202020204" pitchFamily="34" charset="0"/>
                <a:cs typeface="Arial" panose="020B0604020202020204" pitchFamily="34" charset="0"/>
              </a:rPr>
              <a:t>  </a:t>
            </a:r>
            <a:r>
              <a:rPr lang="en-PH" sz="4000" dirty="0">
                <a:solidFill>
                  <a:srgbClr val="820000"/>
                </a:solidFill>
                <a:latin typeface="Arial" panose="020B0604020202020204" pitchFamily="34" charset="0"/>
                <a:cs typeface="Arial" panose="020B0604020202020204" pitchFamily="34" charset="0"/>
              </a:rPr>
              <a:t> </a:t>
            </a:r>
            <a:r>
              <a:rPr lang="en-PH" sz="4000" dirty="0" smtClean="0">
                <a:solidFill>
                  <a:srgbClr val="820000"/>
                </a:solidFill>
                <a:latin typeface="Arial" panose="020B0604020202020204" pitchFamily="34" charset="0"/>
                <a:cs typeface="Arial" panose="020B0604020202020204" pitchFamily="34" charset="0"/>
              </a:rPr>
              <a:t>3.6.3    </a:t>
            </a:r>
            <a:r>
              <a:rPr lang="en-PH" sz="4000" b="1" dirty="0" smtClean="0">
                <a:solidFill>
                  <a:srgbClr val="820000"/>
                </a:solidFill>
                <a:latin typeface="Arial" panose="020B0604020202020204" pitchFamily="34" charset="0"/>
                <a:cs typeface="Arial" panose="020B0604020202020204" pitchFamily="34" charset="0"/>
              </a:rPr>
              <a:t>DPPH Assay</a:t>
            </a:r>
          </a:p>
          <a:p>
            <a:pPr marL="0" lvl="2" algn="just"/>
            <a:endParaRPr lang="en-PH" b="1" dirty="0"/>
          </a:p>
          <a:p>
            <a:pPr algn="just"/>
            <a:r>
              <a:rPr lang="en-PH" sz="4000" dirty="0" smtClean="0"/>
              <a:t> </a:t>
            </a:r>
            <a:endParaRPr lang="en-PH" sz="4000" b="1" dirty="0">
              <a:solidFill>
                <a:srgbClr val="820000"/>
              </a:solidFill>
              <a:latin typeface="Arial" panose="020B0604020202020204" pitchFamily="34" charset="0"/>
              <a:cs typeface="Arial" panose="020B0604020202020204" pitchFamily="34" charset="0"/>
            </a:endParaRPr>
          </a:p>
          <a:p>
            <a:pPr algn="just"/>
            <a:endParaRPr lang="en-PH" sz="4000" b="1" dirty="0" smtClean="0">
              <a:solidFill>
                <a:srgbClr val="820000"/>
              </a:solidFill>
              <a:latin typeface="Arial" panose="020B0604020202020204" pitchFamily="34" charset="0"/>
              <a:cs typeface="Arial" panose="020B0604020202020204" pitchFamily="34" charset="0"/>
            </a:endParaRPr>
          </a:p>
          <a:p>
            <a:pPr algn="just"/>
            <a:r>
              <a:rPr lang="en-PH" sz="4000" b="1"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7" name="Rectangle 6"/>
          <p:cNvSpPr/>
          <p:nvPr/>
        </p:nvSpPr>
        <p:spPr>
          <a:xfrm>
            <a:off x="951403" y="2570302"/>
            <a:ext cx="16574597" cy="4955203"/>
          </a:xfrm>
          <a:prstGeom prst="rect">
            <a:avLst/>
          </a:prstGeom>
          <a:ln>
            <a:solidFill>
              <a:srgbClr val="820000"/>
            </a:solidFill>
          </a:ln>
        </p:spPr>
        <p:txBody>
          <a:bodyPr wrap="square">
            <a:spAutoFit/>
          </a:bodyPr>
          <a:lstStyle/>
          <a:p>
            <a:pPr marL="457200" marR="0" indent="-457200" algn="just">
              <a:spcBef>
                <a:spcPts val="0"/>
              </a:spcBef>
              <a:spcAft>
                <a:spcPts val="0"/>
              </a:spcAft>
              <a:buFont typeface="Wingdings" panose="05000000000000000000" pitchFamily="2" charset="2"/>
              <a:buChar char="q"/>
            </a:pPr>
            <a:r>
              <a:rPr lang="en-PH" sz="2400" dirty="0">
                <a:solidFill>
                  <a:srgbClr val="820000"/>
                </a:solidFill>
                <a:latin typeface="Arial" panose="020B0604020202020204" pitchFamily="34" charset="0"/>
                <a:ea typeface="Calibri" panose="020F0502020204030204" pitchFamily="34" charset="0"/>
                <a:cs typeface="Arial" panose="020B0604020202020204" pitchFamily="34" charset="0"/>
              </a:rPr>
              <a:t>The 2,2-diphenyl-1-picrylhydrazyl (DPPH) assay described by Brand-Williams et al. will be used in this study with some modifications. </a:t>
            </a:r>
          </a:p>
          <a:p>
            <a:pPr marR="0" algn="just">
              <a:spcBef>
                <a:spcPts val="0"/>
              </a:spcBef>
              <a:spcAft>
                <a:spcPts val="0"/>
              </a:spcAft>
            </a:pPr>
            <a:endParaRPr lang="en-PH" sz="2400" dirty="0" smtClean="0">
              <a:solidFill>
                <a:srgbClr val="820000"/>
              </a:solidFill>
              <a:latin typeface="Arial" panose="020B0604020202020204" pitchFamily="34" charset="0"/>
              <a:ea typeface="Calibri" panose="020F0502020204030204" pitchFamily="34" charset="0"/>
              <a:cs typeface="Arial" panose="020B0604020202020204" pitchFamily="34" charset="0"/>
            </a:endParaRPr>
          </a:p>
          <a:p>
            <a:pPr marL="457200" marR="0" indent="-457200" algn="just">
              <a:spcBef>
                <a:spcPts val="0"/>
              </a:spcBef>
              <a:spcAft>
                <a:spcPts val="0"/>
              </a:spcAft>
              <a:buFont typeface="Wingdings" panose="05000000000000000000" pitchFamily="2" charset="2"/>
              <a:buChar char="q"/>
            </a:pPr>
            <a:r>
              <a:rPr lang="en-PH" sz="2400" dirty="0" smtClean="0">
                <a:solidFill>
                  <a:srgbClr val="820000"/>
                </a:solidFill>
                <a:latin typeface="Arial" panose="020B0604020202020204" pitchFamily="34" charset="0"/>
                <a:ea typeface="Calibri" panose="020F0502020204030204" pitchFamily="34" charset="0"/>
                <a:cs typeface="Arial" panose="020B0604020202020204" pitchFamily="34" charset="0"/>
              </a:rPr>
              <a:t>Ascorbic </a:t>
            </a:r>
            <a:r>
              <a:rPr lang="en-PH" sz="2400" dirty="0">
                <a:solidFill>
                  <a:srgbClr val="820000"/>
                </a:solidFill>
                <a:latin typeface="Arial" panose="020B0604020202020204" pitchFamily="34" charset="0"/>
                <a:ea typeface="Calibri" panose="020F0502020204030204" pitchFamily="34" charset="0"/>
                <a:cs typeface="Arial" panose="020B0604020202020204" pitchFamily="34" charset="0"/>
              </a:rPr>
              <a:t>acid and </a:t>
            </a:r>
            <a:r>
              <a:rPr lang="en-PH" sz="2400" dirty="0" err="1">
                <a:solidFill>
                  <a:srgbClr val="820000"/>
                </a:solidFill>
                <a:latin typeface="Arial" panose="020B0604020202020204" pitchFamily="34" charset="0"/>
                <a:ea typeface="Calibri" panose="020F0502020204030204" pitchFamily="34" charset="0"/>
                <a:cs typeface="Arial" panose="020B0604020202020204" pitchFamily="34" charset="0"/>
              </a:rPr>
              <a:t>trolox</a:t>
            </a:r>
            <a:r>
              <a:rPr lang="en-PH" sz="2400" dirty="0">
                <a:solidFill>
                  <a:srgbClr val="820000"/>
                </a:solidFill>
                <a:latin typeface="Arial" panose="020B0604020202020204" pitchFamily="34" charset="0"/>
                <a:ea typeface="Calibri" panose="020F0502020204030204" pitchFamily="34" charset="0"/>
                <a:cs typeface="Arial" panose="020B0604020202020204" pitchFamily="34" charset="0"/>
              </a:rPr>
              <a:t> will be used as positive controls, methanol plus DPPH as negative control, and sample without DPPH as blank</a:t>
            </a:r>
            <a:r>
              <a:rPr lang="en-PH" sz="2400" dirty="0" smtClean="0">
                <a:solidFill>
                  <a:srgbClr val="820000"/>
                </a:solidFill>
                <a:latin typeface="Arial" panose="020B0604020202020204" pitchFamily="34" charset="0"/>
                <a:ea typeface="Calibri" panose="020F0502020204030204" pitchFamily="34" charset="0"/>
                <a:cs typeface="Arial" panose="020B0604020202020204" pitchFamily="34" charset="0"/>
              </a:rPr>
              <a:t>.</a:t>
            </a:r>
          </a:p>
          <a:p>
            <a:pPr marL="342900" marR="0" indent="-342900" algn="just">
              <a:spcBef>
                <a:spcPts val="0"/>
              </a:spcBef>
              <a:spcAft>
                <a:spcPts val="0"/>
              </a:spcAft>
              <a:buFont typeface="Wingdings" panose="05000000000000000000" pitchFamily="2" charset="2"/>
              <a:buChar char="q"/>
            </a:pPr>
            <a:endParaRPr lang="en-PH" sz="2400" dirty="0" smtClean="0">
              <a:solidFill>
                <a:srgbClr val="820000"/>
              </a:solidFill>
              <a:latin typeface="Arial" panose="020B0604020202020204" pitchFamily="34" charset="0"/>
              <a:ea typeface="Calibri" panose="020F0502020204030204" pitchFamily="34" charset="0"/>
              <a:cs typeface="Arial" panose="020B0604020202020204" pitchFamily="34" charset="0"/>
            </a:endParaRPr>
          </a:p>
          <a:p>
            <a:pPr marL="457200" marR="0" indent="-457200" algn="just">
              <a:spcBef>
                <a:spcPts val="0"/>
              </a:spcBef>
              <a:spcAft>
                <a:spcPts val="0"/>
              </a:spcAft>
              <a:buFont typeface="Wingdings" panose="05000000000000000000" pitchFamily="2" charset="2"/>
              <a:buChar char="q"/>
            </a:pPr>
            <a:r>
              <a:rPr lang="en-PH" sz="2400" dirty="0" smtClean="0">
                <a:solidFill>
                  <a:srgbClr val="820000"/>
                </a:solidFill>
                <a:latin typeface="Arial" panose="020B0604020202020204" pitchFamily="34" charset="0"/>
                <a:ea typeface="Calibri" panose="020F0502020204030204" pitchFamily="34" charset="0"/>
                <a:cs typeface="Arial" panose="020B0604020202020204" pitchFamily="34" charset="0"/>
              </a:rPr>
              <a:t> </a:t>
            </a:r>
            <a:r>
              <a:rPr lang="en-PH" sz="2400" dirty="0">
                <a:solidFill>
                  <a:srgbClr val="820000"/>
                </a:solidFill>
                <a:latin typeface="Arial" panose="020B0604020202020204" pitchFamily="34" charset="0"/>
                <a:ea typeface="Calibri" panose="020F0502020204030204" pitchFamily="34" charset="0"/>
                <a:cs typeface="Arial" panose="020B0604020202020204" pitchFamily="34" charset="0"/>
              </a:rPr>
              <a:t>Briefly, 40 </a:t>
            </a:r>
            <a:r>
              <a:rPr lang="en-PH" sz="2400" dirty="0" err="1">
                <a:solidFill>
                  <a:srgbClr val="820000"/>
                </a:solidFill>
                <a:latin typeface="Arial" panose="020B0604020202020204" pitchFamily="34" charset="0"/>
                <a:ea typeface="Calibri" panose="020F0502020204030204" pitchFamily="34" charset="0"/>
                <a:cs typeface="Arial" panose="020B0604020202020204" pitchFamily="34" charset="0"/>
              </a:rPr>
              <a:t>μL</a:t>
            </a:r>
            <a:r>
              <a:rPr lang="en-PH" sz="2400" dirty="0">
                <a:solidFill>
                  <a:srgbClr val="820000"/>
                </a:solidFill>
                <a:latin typeface="Arial" panose="020B0604020202020204" pitchFamily="34" charset="0"/>
                <a:ea typeface="Calibri" panose="020F0502020204030204" pitchFamily="34" charset="0"/>
                <a:cs typeface="Arial" panose="020B0604020202020204" pitchFamily="34" charset="0"/>
              </a:rPr>
              <a:t> of the positive/negative controls, blank and sample extracts will be loaded into the 96-well plate separately in triplicates followed by the addition of the DPPH solution (160 </a:t>
            </a:r>
            <a:r>
              <a:rPr lang="en-PH" sz="2400" dirty="0" err="1">
                <a:solidFill>
                  <a:srgbClr val="820000"/>
                </a:solidFill>
                <a:latin typeface="Arial" panose="020B0604020202020204" pitchFamily="34" charset="0"/>
                <a:ea typeface="Calibri" panose="020F0502020204030204" pitchFamily="34" charset="0"/>
                <a:cs typeface="Arial" panose="020B0604020202020204" pitchFamily="34" charset="0"/>
              </a:rPr>
              <a:t>μL</a:t>
            </a:r>
            <a:r>
              <a:rPr lang="en-PH" sz="2400" dirty="0">
                <a:solidFill>
                  <a:srgbClr val="820000"/>
                </a:solidFill>
                <a:latin typeface="Arial" panose="020B0604020202020204" pitchFamily="34" charset="0"/>
                <a:ea typeface="Calibri" panose="020F0502020204030204" pitchFamily="34" charset="0"/>
                <a:cs typeface="Arial" panose="020B0604020202020204" pitchFamily="34" charset="0"/>
              </a:rPr>
              <a:t>) prepared at 25 </a:t>
            </a:r>
            <a:r>
              <a:rPr lang="en-PH" sz="2400" dirty="0" err="1">
                <a:solidFill>
                  <a:srgbClr val="820000"/>
                </a:solidFill>
                <a:latin typeface="Arial" panose="020B0604020202020204" pitchFamily="34" charset="0"/>
                <a:ea typeface="Calibri" panose="020F0502020204030204" pitchFamily="34" charset="0"/>
                <a:cs typeface="Arial" panose="020B0604020202020204" pitchFamily="34" charset="0"/>
              </a:rPr>
              <a:t>μg</a:t>
            </a:r>
            <a:r>
              <a:rPr lang="en-PH" sz="2400" dirty="0">
                <a:solidFill>
                  <a:srgbClr val="820000"/>
                </a:solidFill>
                <a:latin typeface="Arial" panose="020B0604020202020204" pitchFamily="34" charset="0"/>
                <a:ea typeface="Calibri" panose="020F0502020204030204" pitchFamily="34" charset="0"/>
                <a:cs typeface="Arial" panose="020B0604020202020204" pitchFamily="34" charset="0"/>
              </a:rPr>
              <a:t>/</a:t>
            </a:r>
            <a:r>
              <a:rPr lang="en-PH" sz="2400" dirty="0" err="1">
                <a:solidFill>
                  <a:srgbClr val="820000"/>
                </a:solidFill>
                <a:latin typeface="Arial" panose="020B0604020202020204" pitchFamily="34" charset="0"/>
                <a:ea typeface="Calibri" panose="020F0502020204030204" pitchFamily="34" charset="0"/>
                <a:cs typeface="Arial" panose="020B0604020202020204" pitchFamily="34" charset="0"/>
              </a:rPr>
              <a:t>mL.</a:t>
            </a:r>
            <a:r>
              <a:rPr lang="en-PH" sz="2400" dirty="0">
                <a:solidFill>
                  <a:srgbClr val="820000"/>
                </a:solidFill>
                <a:latin typeface="Arial" panose="020B0604020202020204" pitchFamily="34" charset="0"/>
                <a:ea typeface="Calibri" panose="020F0502020204030204" pitchFamily="34" charset="0"/>
                <a:cs typeface="Arial" panose="020B0604020202020204" pitchFamily="34" charset="0"/>
              </a:rPr>
              <a:t> </a:t>
            </a:r>
            <a:endParaRPr lang="en-PH" sz="2400" dirty="0" smtClean="0">
              <a:solidFill>
                <a:srgbClr val="820000"/>
              </a:solidFill>
              <a:latin typeface="Arial" panose="020B0604020202020204" pitchFamily="34" charset="0"/>
              <a:ea typeface="Calibri" panose="020F0502020204030204" pitchFamily="34" charset="0"/>
              <a:cs typeface="Arial" panose="020B0604020202020204" pitchFamily="34" charset="0"/>
            </a:endParaRPr>
          </a:p>
          <a:p>
            <a:pPr marL="342900" marR="0" indent="-342900" algn="just">
              <a:spcBef>
                <a:spcPts val="0"/>
              </a:spcBef>
              <a:spcAft>
                <a:spcPts val="0"/>
              </a:spcAft>
              <a:buFont typeface="Wingdings" panose="05000000000000000000" pitchFamily="2" charset="2"/>
              <a:buChar char="q"/>
            </a:pPr>
            <a:endParaRPr lang="en-PH" sz="2400" dirty="0" smtClean="0">
              <a:solidFill>
                <a:srgbClr val="820000"/>
              </a:solidFill>
              <a:latin typeface="Arial" panose="020B0604020202020204" pitchFamily="34" charset="0"/>
              <a:ea typeface="Calibri" panose="020F0502020204030204" pitchFamily="34" charset="0"/>
              <a:cs typeface="Arial" panose="020B0604020202020204" pitchFamily="34" charset="0"/>
            </a:endParaRPr>
          </a:p>
          <a:p>
            <a:pPr marL="457200" marR="0" indent="-457200" algn="just">
              <a:spcBef>
                <a:spcPts val="0"/>
              </a:spcBef>
              <a:spcAft>
                <a:spcPts val="0"/>
              </a:spcAft>
              <a:buFont typeface="Wingdings" panose="05000000000000000000" pitchFamily="2" charset="2"/>
              <a:buChar char="q"/>
            </a:pPr>
            <a:r>
              <a:rPr lang="en-PH" sz="2400" dirty="0" smtClean="0">
                <a:solidFill>
                  <a:srgbClr val="820000"/>
                </a:solidFill>
                <a:latin typeface="Arial" panose="020B0604020202020204" pitchFamily="34" charset="0"/>
                <a:ea typeface="Calibri" panose="020F0502020204030204" pitchFamily="34" charset="0"/>
                <a:cs typeface="Arial" panose="020B0604020202020204" pitchFamily="34" charset="0"/>
              </a:rPr>
              <a:t>The </a:t>
            </a:r>
            <a:r>
              <a:rPr lang="en-PH" sz="2400" dirty="0">
                <a:solidFill>
                  <a:srgbClr val="820000"/>
                </a:solidFill>
                <a:latin typeface="Arial" panose="020B0604020202020204" pitchFamily="34" charset="0"/>
                <a:ea typeface="Calibri" panose="020F0502020204030204" pitchFamily="34" charset="0"/>
                <a:cs typeface="Arial" panose="020B0604020202020204" pitchFamily="34" charset="0"/>
              </a:rPr>
              <a:t>resulting reaction mixture will be incubated at room temperature in the dark for 30 min and the absorbance will be measured at 517 nm using a </a:t>
            </a:r>
            <a:r>
              <a:rPr lang="en-PH" sz="2400" dirty="0" err="1">
                <a:solidFill>
                  <a:srgbClr val="820000"/>
                </a:solidFill>
                <a:latin typeface="Arial" panose="020B0604020202020204" pitchFamily="34" charset="0"/>
                <a:ea typeface="Calibri" panose="020F0502020204030204" pitchFamily="34" charset="0"/>
                <a:cs typeface="Arial" panose="020B0604020202020204" pitchFamily="34" charset="0"/>
              </a:rPr>
              <a:t>microplate</a:t>
            </a:r>
            <a:r>
              <a:rPr lang="en-PH" sz="2400" dirty="0">
                <a:solidFill>
                  <a:srgbClr val="820000"/>
                </a:solidFill>
                <a:latin typeface="Arial" panose="020B0604020202020204" pitchFamily="34" charset="0"/>
                <a:ea typeface="Calibri" panose="020F0502020204030204" pitchFamily="34" charset="0"/>
                <a:cs typeface="Arial" panose="020B0604020202020204" pitchFamily="34" charset="0"/>
              </a:rPr>
              <a:t> reader</a:t>
            </a:r>
            <a:r>
              <a:rPr lang="en-PH" sz="2400" dirty="0">
                <a:solidFill>
                  <a:srgbClr val="820000"/>
                </a:solidFill>
                <a:latin typeface="Arial" panose="020B0604020202020204" pitchFamily="34" charset="0"/>
                <a:cs typeface="Arial" panose="020B0604020202020204" pitchFamily="34" charset="0"/>
              </a:rPr>
              <a:t> </a:t>
            </a:r>
            <a:r>
              <a:rPr lang="en-PH" sz="2400" dirty="0">
                <a:latin typeface="Arial" panose="020B0604020202020204" pitchFamily="34" charset="0"/>
                <a:ea typeface="Calibri" panose="020F0502020204030204" pitchFamily="34" charset="0"/>
                <a:cs typeface="Arial" panose="020B0604020202020204" pitchFamily="34" charset="0"/>
              </a:rPr>
              <a:t>	</a:t>
            </a:r>
            <a:endParaRPr lang="en-PH" sz="2400" dirty="0" smtClean="0">
              <a:latin typeface="Arial" panose="020B0604020202020204" pitchFamily="34" charset="0"/>
              <a:ea typeface="Calibri" panose="020F0502020204030204" pitchFamily="34" charset="0"/>
              <a:cs typeface="Arial" panose="020B0604020202020204" pitchFamily="34" charset="0"/>
            </a:endParaRPr>
          </a:p>
          <a:p>
            <a:pPr marL="457200" marR="0" indent="-457200" algn="just">
              <a:spcBef>
                <a:spcPts val="0"/>
              </a:spcBef>
              <a:spcAft>
                <a:spcPts val="0"/>
              </a:spcAft>
              <a:buFont typeface="Wingdings" panose="05000000000000000000" pitchFamily="2" charset="2"/>
              <a:buChar char="q"/>
            </a:pPr>
            <a:endParaRPr lang="en-PH" sz="2400" dirty="0">
              <a:latin typeface="Arial" panose="020B0604020202020204" pitchFamily="34" charset="0"/>
              <a:ea typeface="Calibri" panose="020F0502020204030204" pitchFamily="34" charset="0"/>
              <a:cs typeface="Arial" panose="020B0604020202020204" pitchFamily="34" charset="0"/>
            </a:endParaRPr>
          </a:p>
          <a:p>
            <a:pPr marL="457200" marR="0" indent="-457200" algn="just">
              <a:spcBef>
                <a:spcPts val="0"/>
              </a:spcBef>
              <a:spcAft>
                <a:spcPts val="0"/>
              </a:spcAft>
              <a:buFont typeface="Wingdings" panose="05000000000000000000" pitchFamily="2" charset="2"/>
              <a:buChar char="q"/>
            </a:pPr>
            <a:r>
              <a:rPr lang="en-PH" sz="2400" dirty="0">
                <a:solidFill>
                  <a:srgbClr val="820000"/>
                </a:solidFill>
                <a:latin typeface="Arial" panose="020B0604020202020204" pitchFamily="34" charset="0"/>
                <a:ea typeface="Calibri" panose="020F0502020204030204" pitchFamily="34" charset="0"/>
                <a:cs typeface="Arial" panose="020B0604020202020204" pitchFamily="34" charset="0"/>
              </a:rPr>
              <a:t> </a:t>
            </a:r>
            <a:r>
              <a:rPr lang="en-PH" sz="2400" dirty="0">
                <a:solidFill>
                  <a:srgbClr val="820000"/>
                </a:solidFill>
                <a:latin typeface="Arial" panose="020B0604020202020204" pitchFamily="34" charset="0"/>
                <a:cs typeface="Arial" panose="020B0604020202020204" pitchFamily="34" charset="0"/>
              </a:rPr>
              <a:t>All determinations will be carried out in triplicate</a:t>
            </a:r>
            <a:endParaRPr lang="en-PH" sz="2400" dirty="0">
              <a:solidFill>
                <a:srgbClr val="820000"/>
              </a:solidFill>
              <a:effectLst/>
              <a:latin typeface="Arial" panose="020B0604020202020204" pitchFamily="34" charset="0"/>
              <a:ea typeface="Calibri" panose="020F0502020204030204" pitchFamily="34" charset="0"/>
              <a:cs typeface="Arial" panose="020B0604020202020204" pitchFamily="34" charset="0"/>
            </a:endParaRPr>
          </a:p>
        </p:txBody>
      </p:sp>
      <p:pic>
        <p:nvPicPr>
          <p:cNvPr id="8" name="Picture 7"/>
          <p:cNvPicPr>
            <a:picLocks noChangeAspect="1"/>
          </p:cNvPicPr>
          <p:nvPr/>
        </p:nvPicPr>
        <p:blipFill>
          <a:blip r:embed="rId5"/>
          <a:stretch>
            <a:fillRect/>
          </a:stretch>
        </p:blipFill>
        <p:spPr>
          <a:xfrm>
            <a:off x="4663158" y="7827443"/>
            <a:ext cx="8900723" cy="1601605"/>
          </a:xfrm>
          <a:prstGeom prst="rect">
            <a:avLst/>
          </a:prstGeom>
        </p:spPr>
      </p:pic>
    </p:spTree>
    <p:extLst>
      <p:ext uri="{BB962C8B-B14F-4D97-AF65-F5344CB8AC3E}">
        <p14:creationId xmlns:p14="http://schemas.microsoft.com/office/powerpoint/2010/main" val="139558584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Box 13"/>
          <p:cNvSpPr txBox="1"/>
          <p:nvPr/>
        </p:nvSpPr>
        <p:spPr>
          <a:xfrm>
            <a:off x="1671387" y="1531257"/>
            <a:ext cx="2203151" cy="2306426"/>
          </a:xfrm>
          <a:prstGeom prst="rect">
            <a:avLst/>
          </a:prstGeom>
        </p:spPr>
        <p:txBody>
          <a:bodyPr lIns="50800" tIns="50800" rIns="50800" bIns="50800" rtlCol="0" anchor="ctr"/>
          <a:lstStyle/>
          <a:p>
            <a:pPr algn="ctr">
              <a:lnSpc>
                <a:spcPts val="2659"/>
              </a:lnSpc>
              <a:spcBef>
                <a:spcPct val="0"/>
              </a:spcBef>
            </a:pPr>
            <a:endParaRPr/>
          </a:p>
        </p:txBody>
      </p:sp>
      <p:pic>
        <p:nvPicPr>
          <p:cNvPr id="18" name="Picture 17"/>
          <p:cNvPicPr>
            <a:picLocks noChangeAspect="1"/>
          </p:cNvPicPr>
          <p:nvPr/>
        </p:nvPicPr>
        <p:blipFill>
          <a:blip r:embed="rId2"/>
          <a:stretch>
            <a:fillRect/>
          </a:stretch>
        </p:blipFill>
        <p:spPr>
          <a:xfrm>
            <a:off x="76200" y="9266338"/>
            <a:ext cx="2327677" cy="1020662"/>
          </a:xfrm>
          <a:prstGeom prst="rect">
            <a:avLst/>
          </a:prstGeom>
        </p:spPr>
      </p:pic>
      <p:pic>
        <p:nvPicPr>
          <p:cNvPr id="19" name="Picture 18"/>
          <p:cNvPicPr>
            <a:picLocks noChangeAspect="1"/>
          </p:cNvPicPr>
          <p:nvPr/>
        </p:nvPicPr>
        <p:blipFill>
          <a:blip r:embed="rId3"/>
          <a:stretch>
            <a:fillRect/>
          </a:stretch>
        </p:blipFill>
        <p:spPr>
          <a:xfrm rot="10800000">
            <a:off x="-30480" y="1294489"/>
            <a:ext cx="18288000" cy="267610"/>
          </a:xfrm>
          <a:prstGeom prst="rect">
            <a:avLst/>
          </a:prstGeom>
        </p:spPr>
      </p:pic>
      <p:sp>
        <p:nvSpPr>
          <p:cNvPr id="21" name="Round Single Corner Rectangle 20"/>
          <p:cNvSpPr/>
          <p:nvPr/>
        </p:nvSpPr>
        <p:spPr>
          <a:xfrm>
            <a:off x="5494020" y="160397"/>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5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Methodology      </a:t>
            </a:r>
            <a:r>
              <a:rPr lang="en-PH" sz="6000" b="1" u="sng" dirty="0" smtClean="0">
                <a:solidFill>
                  <a:srgbClr val="820000"/>
                </a:solidFill>
                <a:latin typeface="Arial" panose="020B0604020202020204" pitchFamily="34" charset="0"/>
                <a:cs typeface="Arial" panose="020B0604020202020204" pitchFamily="34" charset="0"/>
              </a:rPr>
              <a:t> </a:t>
            </a:r>
          </a:p>
        </p:txBody>
      </p:sp>
      <p:pic>
        <p:nvPicPr>
          <p:cNvPr id="20" name="Picture 19"/>
          <p:cNvPicPr>
            <a:picLocks noChangeAspect="1"/>
          </p:cNvPicPr>
          <p:nvPr/>
        </p:nvPicPr>
        <p:blipFill>
          <a:blip r:embed="rId3"/>
          <a:stretch>
            <a:fillRect/>
          </a:stretch>
        </p:blipFill>
        <p:spPr>
          <a:xfrm>
            <a:off x="0" y="0"/>
            <a:ext cx="18288000" cy="267611"/>
          </a:xfrm>
          <a:prstGeom prst="rect">
            <a:avLst/>
          </a:prstGeom>
        </p:spPr>
      </p:pic>
      <p:sp>
        <p:nvSpPr>
          <p:cNvPr id="4" name="Parallelogram 3"/>
          <p:cNvSpPr/>
          <p:nvPr/>
        </p:nvSpPr>
        <p:spPr>
          <a:xfrm>
            <a:off x="2388637" y="9936689"/>
            <a:ext cx="9727163" cy="236011"/>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2" name="Parallelogram 21"/>
          <p:cNvSpPr/>
          <p:nvPr/>
        </p:nvSpPr>
        <p:spPr>
          <a:xfrm>
            <a:off x="12192000" y="9944100"/>
            <a:ext cx="1421363" cy="228600"/>
          </a:xfrm>
          <a:prstGeom prst="parallelogram">
            <a:avLst/>
          </a:prstGeom>
          <a:solidFill>
            <a:srgbClr val="FFC000"/>
          </a:solidFill>
          <a:ln>
            <a:solidFill>
              <a:srgbClr val="FFC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3" name="Parallelogram 22"/>
          <p:cNvSpPr/>
          <p:nvPr/>
        </p:nvSpPr>
        <p:spPr>
          <a:xfrm>
            <a:off x="13689563" y="9944100"/>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24" name="Picture 23"/>
          <p:cNvPicPr>
            <a:picLocks noChangeAspect="1"/>
          </p:cNvPicPr>
          <p:nvPr/>
        </p:nvPicPr>
        <p:blipFill>
          <a:blip r:embed="rId3"/>
          <a:stretch>
            <a:fillRect/>
          </a:stretch>
        </p:blipFill>
        <p:spPr>
          <a:xfrm rot="10800000" flipV="1">
            <a:off x="2403877" y="9668509"/>
            <a:ext cx="15899363" cy="232657"/>
          </a:xfrm>
          <a:prstGeom prst="rect">
            <a:avLst/>
          </a:prstGeom>
        </p:spPr>
      </p:pic>
      <p:pic>
        <p:nvPicPr>
          <p:cNvPr id="6" name="Picture 5"/>
          <p:cNvPicPr>
            <a:picLocks noChangeAspect="1"/>
          </p:cNvPicPr>
          <p:nvPr/>
        </p:nvPicPr>
        <p:blipFill>
          <a:blip r:embed="rId4"/>
          <a:stretch>
            <a:fillRect/>
          </a:stretch>
        </p:blipFill>
        <p:spPr>
          <a:xfrm>
            <a:off x="15030450" y="488370"/>
            <a:ext cx="3257550" cy="523875"/>
          </a:xfrm>
          <a:prstGeom prst="rect">
            <a:avLst/>
          </a:prstGeom>
        </p:spPr>
      </p:pic>
      <p:sp>
        <p:nvSpPr>
          <p:cNvPr id="25" name="Parallelogram 24"/>
          <p:cNvSpPr/>
          <p:nvPr/>
        </p:nvSpPr>
        <p:spPr>
          <a:xfrm>
            <a:off x="13030200" y="760176"/>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13" name="Picture 12"/>
          <p:cNvPicPr>
            <a:picLocks noChangeAspect="1"/>
          </p:cNvPicPr>
          <p:nvPr/>
        </p:nvPicPr>
        <p:blipFill>
          <a:blip r:embed="rId4"/>
          <a:stretch>
            <a:fillRect/>
          </a:stretch>
        </p:blipFill>
        <p:spPr>
          <a:xfrm rot="10800000">
            <a:off x="0" y="612538"/>
            <a:ext cx="3257550" cy="523875"/>
          </a:xfrm>
          <a:prstGeom prst="rect">
            <a:avLst/>
          </a:prstGeom>
        </p:spPr>
      </p:pic>
      <p:sp>
        <p:nvSpPr>
          <p:cNvPr id="14" name="Parallelogram 13"/>
          <p:cNvSpPr/>
          <p:nvPr/>
        </p:nvSpPr>
        <p:spPr>
          <a:xfrm>
            <a:off x="659363" y="577015"/>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9" name="Rectangle 28"/>
          <p:cNvSpPr/>
          <p:nvPr/>
        </p:nvSpPr>
        <p:spPr>
          <a:xfrm>
            <a:off x="1454530" y="2319935"/>
            <a:ext cx="15929956" cy="1938992"/>
          </a:xfrm>
          <a:prstGeom prst="rect">
            <a:avLst/>
          </a:prstGeom>
        </p:spPr>
        <p:txBody>
          <a:bodyPr wrap="square">
            <a:spAutoFit/>
          </a:bodyPr>
          <a:lstStyle/>
          <a:p>
            <a:pPr marL="0" lvl="2" algn="just"/>
            <a:endParaRPr lang="en-PH" sz="2800" dirty="0" smtClean="0"/>
          </a:p>
          <a:p>
            <a:pPr marL="457200" lvl="2" indent="-457200" algn="just">
              <a:buFont typeface="Wingdings" panose="05000000000000000000" pitchFamily="2" charset="2"/>
              <a:buChar char="Ø"/>
            </a:pPr>
            <a:endParaRPr lang="en-PH" sz="2800" dirty="0" smtClean="0"/>
          </a:p>
          <a:p>
            <a:pPr marL="285750" lvl="2" indent="-285750" algn="just">
              <a:buFont typeface="Arial" panose="020B0604020202020204" pitchFamily="34" charset="0"/>
              <a:buChar char="•"/>
            </a:pPr>
            <a:endParaRPr lang="en-PH" sz="3200" dirty="0"/>
          </a:p>
          <a:p>
            <a:pPr marL="285750" indent="-285750" algn="just">
              <a:buFont typeface="Arial" panose="020B0604020202020204" pitchFamily="34" charset="0"/>
              <a:buChar char="•"/>
            </a:pPr>
            <a:endParaRPr lang="en-PH" sz="3200" dirty="0">
              <a:solidFill>
                <a:srgbClr val="005C2A"/>
              </a:solidFill>
              <a:latin typeface="Arial" panose="020B0604020202020204" pitchFamily="34" charset="0"/>
              <a:cs typeface="Arial" panose="020B0604020202020204" pitchFamily="34" charset="0"/>
            </a:endParaRPr>
          </a:p>
        </p:txBody>
      </p:sp>
      <p:sp>
        <p:nvSpPr>
          <p:cNvPr id="28" name="Rectangle 27"/>
          <p:cNvSpPr/>
          <p:nvPr/>
        </p:nvSpPr>
        <p:spPr>
          <a:xfrm>
            <a:off x="934927" y="2570302"/>
            <a:ext cx="17704837" cy="584775"/>
          </a:xfrm>
          <a:prstGeom prst="rect">
            <a:avLst/>
          </a:prstGeom>
        </p:spPr>
        <p:txBody>
          <a:bodyPr wrap="square">
            <a:spAutoFit/>
          </a:bodyPr>
          <a:lstStyle/>
          <a:p>
            <a:pPr algn="just"/>
            <a:r>
              <a:rPr lang="en-PH" sz="3200" dirty="0">
                <a:solidFill>
                  <a:srgbClr val="820000"/>
                </a:solidFill>
                <a:latin typeface="Arial" panose="020B0604020202020204" pitchFamily="34" charset="0"/>
                <a:cs typeface="Arial" panose="020B0604020202020204" pitchFamily="34" charset="0"/>
              </a:rPr>
              <a:t> </a:t>
            </a:r>
            <a:r>
              <a:rPr lang="en-PH" sz="3200" dirty="0" smtClean="0">
                <a:solidFill>
                  <a:srgbClr val="820000"/>
                </a:solidFill>
                <a:latin typeface="Arial" panose="020B0604020202020204" pitchFamily="34" charset="0"/>
                <a:cs typeface="Arial" panose="020B0604020202020204" pitchFamily="34" charset="0"/>
              </a:rPr>
              <a:t>  </a:t>
            </a:r>
            <a:r>
              <a:rPr lang="en-PH" sz="3200" dirty="0">
                <a:solidFill>
                  <a:srgbClr val="820000"/>
                </a:solidFill>
                <a:latin typeface="Arial" panose="020B0604020202020204" pitchFamily="34"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48" name="Rectangle 47"/>
          <p:cNvSpPr/>
          <p:nvPr/>
        </p:nvSpPr>
        <p:spPr>
          <a:xfrm>
            <a:off x="-46956" y="1610223"/>
            <a:ext cx="11486917" cy="2831544"/>
          </a:xfrm>
          <a:prstGeom prst="rect">
            <a:avLst/>
          </a:prstGeom>
        </p:spPr>
        <p:txBody>
          <a:bodyPr wrap="square">
            <a:spAutoFit/>
          </a:bodyPr>
          <a:lstStyle/>
          <a:p>
            <a:pPr algn="just"/>
            <a:r>
              <a:rPr lang="en-PH" sz="4000" dirty="0">
                <a:solidFill>
                  <a:srgbClr val="820000"/>
                </a:solidFill>
                <a:latin typeface="Arial" panose="020B0604020202020204" pitchFamily="34" charset="0"/>
                <a:cs typeface="Arial" panose="020B0604020202020204" pitchFamily="34" charset="0"/>
              </a:rPr>
              <a:t> </a:t>
            </a:r>
            <a:r>
              <a:rPr lang="en-PH" sz="4000" dirty="0" smtClean="0">
                <a:solidFill>
                  <a:srgbClr val="820000"/>
                </a:solidFill>
                <a:latin typeface="Arial" panose="020B0604020202020204" pitchFamily="34" charset="0"/>
                <a:cs typeface="Arial" panose="020B0604020202020204" pitchFamily="34" charset="0"/>
              </a:rPr>
              <a:t>  </a:t>
            </a:r>
            <a:r>
              <a:rPr lang="en-PH" sz="4000" dirty="0">
                <a:solidFill>
                  <a:srgbClr val="820000"/>
                </a:solidFill>
                <a:latin typeface="Arial" panose="020B0604020202020204" pitchFamily="34" charset="0"/>
                <a:cs typeface="Arial" panose="020B0604020202020204" pitchFamily="34" charset="0"/>
              </a:rPr>
              <a:t> </a:t>
            </a:r>
            <a:r>
              <a:rPr lang="en-PH" sz="4000" dirty="0" smtClean="0">
                <a:solidFill>
                  <a:srgbClr val="820000"/>
                </a:solidFill>
                <a:latin typeface="Arial" panose="020B0604020202020204" pitchFamily="34" charset="0"/>
                <a:cs typeface="Arial" panose="020B0604020202020204" pitchFamily="34" charset="0"/>
              </a:rPr>
              <a:t>3.6.4    FRAP Assay   </a:t>
            </a:r>
            <a:endParaRPr lang="en-PH" sz="4000" b="1" dirty="0" smtClean="0">
              <a:solidFill>
                <a:srgbClr val="820000"/>
              </a:solidFill>
              <a:latin typeface="Arial" panose="020B0604020202020204" pitchFamily="34" charset="0"/>
              <a:cs typeface="Arial" panose="020B0604020202020204" pitchFamily="34" charset="0"/>
            </a:endParaRPr>
          </a:p>
          <a:p>
            <a:pPr marL="0" lvl="2" algn="just"/>
            <a:endParaRPr lang="en-PH" b="1" dirty="0"/>
          </a:p>
          <a:p>
            <a:pPr algn="just"/>
            <a:r>
              <a:rPr lang="en-PH" sz="4000" dirty="0" smtClean="0"/>
              <a:t> </a:t>
            </a:r>
            <a:endParaRPr lang="en-PH" sz="4000" b="1" dirty="0">
              <a:solidFill>
                <a:srgbClr val="820000"/>
              </a:solidFill>
              <a:latin typeface="Arial" panose="020B0604020202020204" pitchFamily="34" charset="0"/>
              <a:cs typeface="Arial" panose="020B0604020202020204" pitchFamily="34" charset="0"/>
            </a:endParaRPr>
          </a:p>
          <a:p>
            <a:pPr algn="just"/>
            <a:endParaRPr lang="en-PH" sz="4000" b="1" dirty="0" smtClean="0">
              <a:solidFill>
                <a:srgbClr val="820000"/>
              </a:solidFill>
              <a:latin typeface="Arial" panose="020B0604020202020204" pitchFamily="34" charset="0"/>
              <a:cs typeface="Arial" panose="020B0604020202020204" pitchFamily="34" charset="0"/>
            </a:endParaRPr>
          </a:p>
          <a:p>
            <a:pPr algn="just"/>
            <a:r>
              <a:rPr lang="en-PH" sz="4000" b="1"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2" name="Rectangle 1"/>
          <p:cNvSpPr/>
          <p:nvPr/>
        </p:nvSpPr>
        <p:spPr>
          <a:xfrm>
            <a:off x="934926" y="2493531"/>
            <a:ext cx="16449559" cy="2862322"/>
          </a:xfrm>
          <a:prstGeom prst="rect">
            <a:avLst/>
          </a:prstGeom>
          <a:ln>
            <a:solidFill>
              <a:srgbClr val="820000"/>
            </a:solidFill>
          </a:ln>
        </p:spPr>
        <p:txBody>
          <a:bodyPr wrap="square">
            <a:spAutoFit/>
          </a:bodyPr>
          <a:lstStyle/>
          <a:p>
            <a:pPr marL="342900" indent="-342900" algn="just">
              <a:lnSpc>
                <a:spcPct val="150000"/>
              </a:lnSpc>
              <a:buFont typeface="Wingdings" panose="05000000000000000000" pitchFamily="2" charset="2"/>
              <a:buChar char="q"/>
            </a:pPr>
            <a:r>
              <a:rPr lang="en-PH" sz="2400" dirty="0">
                <a:solidFill>
                  <a:srgbClr val="820000"/>
                </a:solidFill>
                <a:latin typeface="Arial" panose="020B0604020202020204" pitchFamily="34" charset="0"/>
                <a:ea typeface="Calibri" panose="020F0502020204030204" pitchFamily="34" charset="0"/>
                <a:cs typeface="Arial" panose="020B0604020202020204" pitchFamily="34" charset="0"/>
              </a:rPr>
              <a:t>The </a:t>
            </a:r>
            <a:r>
              <a:rPr lang="en-PH" sz="2400" dirty="0" err="1">
                <a:solidFill>
                  <a:srgbClr val="820000"/>
                </a:solidFill>
                <a:latin typeface="Arial" panose="020B0604020202020204" pitchFamily="34" charset="0"/>
                <a:ea typeface="Calibri" panose="020F0502020204030204" pitchFamily="34" charset="0"/>
                <a:cs typeface="Arial" panose="020B0604020202020204" pitchFamily="34" charset="0"/>
              </a:rPr>
              <a:t>microplate</a:t>
            </a:r>
            <a:r>
              <a:rPr lang="en-PH" sz="2400" dirty="0">
                <a:solidFill>
                  <a:srgbClr val="820000"/>
                </a:solidFill>
                <a:latin typeface="Arial" panose="020B0604020202020204" pitchFamily="34" charset="0"/>
                <a:ea typeface="Calibri" panose="020F0502020204030204" pitchFamily="34" charset="0"/>
                <a:cs typeface="Arial" panose="020B0604020202020204" pitchFamily="34" charset="0"/>
              </a:rPr>
              <a:t> Ferric Reducing Antioxidant Power (FRAP) assay will be based on the method described by </a:t>
            </a:r>
            <a:r>
              <a:rPr lang="en-PH" sz="2400" dirty="0" err="1">
                <a:solidFill>
                  <a:srgbClr val="820000"/>
                </a:solidFill>
                <a:latin typeface="Arial" panose="020B0604020202020204" pitchFamily="34" charset="0"/>
                <a:ea typeface="Calibri" panose="020F0502020204030204" pitchFamily="34" charset="0"/>
                <a:cs typeface="Arial" panose="020B0604020202020204" pitchFamily="34" charset="0"/>
              </a:rPr>
              <a:t>Bolanos</a:t>
            </a:r>
            <a:r>
              <a:rPr lang="en-PH" sz="2400" dirty="0">
                <a:solidFill>
                  <a:srgbClr val="820000"/>
                </a:solidFill>
                <a:latin typeface="Arial" panose="020B0604020202020204" pitchFamily="34" charset="0"/>
                <a:ea typeface="Calibri" panose="020F0502020204030204" pitchFamily="34" charset="0"/>
                <a:cs typeface="Arial" panose="020B0604020202020204" pitchFamily="34" charset="0"/>
              </a:rPr>
              <a:t> De La Torre (2014)</a:t>
            </a:r>
            <a:r>
              <a:rPr lang="en-PH" sz="2400" baseline="30000" dirty="0">
                <a:solidFill>
                  <a:srgbClr val="820000"/>
                </a:solidFill>
                <a:latin typeface="Arial" panose="020B0604020202020204" pitchFamily="34" charset="0"/>
                <a:ea typeface="Calibri" panose="020F0502020204030204" pitchFamily="34" charset="0"/>
                <a:cs typeface="Arial" panose="020B0604020202020204" pitchFamily="34" charset="0"/>
              </a:rPr>
              <a:t> </a:t>
            </a:r>
            <a:r>
              <a:rPr lang="en-PH" sz="2400" dirty="0">
                <a:solidFill>
                  <a:srgbClr val="820000"/>
                </a:solidFill>
                <a:latin typeface="Arial" panose="020B0604020202020204" pitchFamily="34" charset="0"/>
                <a:ea typeface="Calibri" panose="020F0502020204030204" pitchFamily="34" charset="0"/>
                <a:cs typeface="Arial" panose="020B0604020202020204" pitchFamily="34" charset="0"/>
              </a:rPr>
              <a:t>and </a:t>
            </a:r>
            <a:r>
              <a:rPr lang="en-PH" sz="2400" dirty="0" err="1">
                <a:solidFill>
                  <a:srgbClr val="820000"/>
                </a:solidFill>
                <a:latin typeface="Arial" panose="020B0604020202020204" pitchFamily="34" charset="0"/>
                <a:ea typeface="Calibri" panose="020F0502020204030204" pitchFamily="34" charset="0"/>
                <a:cs typeface="Arial" panose="020B0604020202020204" pitchFamily="34" charset="0"/>
              </a:rPr>
              <a:t>Shinta</a:t>
            </a:r>
            <a:r>
              <a:rPr lang="en-PH" sz="2400" dirty="0">
                <a:solidFill>
                  <a:srgbClr val="820000"/>
                </a:solidFill>
                <a:latin typeface="Arial" panose="020B0604020202020204" pitchFamily="34" charset="0"/>
                <a:ea typeface="Calibri" panose="020F0502020204030204" pitchFamily="34" charset="0"/>
                <a:cs typeface="Arial" panose="020B0604020202020204" pitchFamily="34" charset="0"/>
              </a:rPr>
              <a:t> Marlin (2017)</a:t>
            </a:r>
            <a:r>
              <a:rPr lang="en-PH" sz="2400" baseline="30000" dirty="0">
                <a:solidFill>
                  <a:srgbClr val="820000"/>
                </a:solidFill>
                <a:latin typeface="Arial" panose="020B0604020202020204" pitchFamily="34" charset="0"/>
                <a:ea typeface="Calibri" panose="020F0502020204030204" pitchFamily="34" charset="0"/>
                <a:cs typeface="Arial" panose="020B0604020202020204" pitchFamily="34" charset="0"/>
              </a:rPr>
              <a:t> </a:t>
            </a:r>
            <a:r>
              <a:rPr lang="en-PH" sz="2400" dirty="0">
                <a:solidFill>
                  <a:srgbClr val="820000"/>
                </a:solidFill>
                <a:latin typeface="Arial" panose="020B0604020202020204" pitchFamily="34" charset="0"/>
                <a:ea typeface="Calibri" panose="020F0502020204030204" pitchFamily="34" charset="0"/>
                <a:cs typeface="Arial" panose="020B0604020202020204" pitchFamily="34" charset="0"/>
              </a:rPr>
              <a:t>with some modifications. The FRAP reagent solution contains 10:1:1 of acetate buffer (300 </a:t>
            </a:r>
            <a:r>
              <a:rPr lang="en-PH" sz="2400" dirty="0" err="1">
                <a:solidFill>
                  <a:srgbClr val="820000"/>
                </a:solidFill>
                <a:latin typeface="Arial" panose="020B0604020202020204" pitchFamily="34" charset="0"/>
                <a:ea typeface="Calibri" panose="020F0502020204030204" pitchFamily="34" charset="0"/>
                <a:cs typeface="Arial" panose="020B0604020202020204" pitchFamily="34" charset="0"/>
              </a:rPr>
              <a:t>mM</a:t>
            </a:r>
            <a:r>
              <a:rPr lang="en-PH" sz="2400" dirty="0">
                <a:solidFill>
                  <a:srgbClr val="820000"/>
                </a:solidFill>
                <a:latin typeface="Arial" panose="020B0604020202020204" pitchFamily="34" charset="0"/>
                <a:ea typeface="Calibri" panose="020F0502020204030204" pitchFamily="34" charset="0"/>
                <a:cs typeface="Arial" panose="020B0604020202020204" pitchFamily="34" charset="0"/>
              </a:rPr>
              <a:t>, pH 3.6), TPTZ (40 </a:t>
            </a:r>
            <a:r>
              <a:rPr lang="en-PH" sz="2400" dirty="0" err="1">
                <a:solidFill>
                  <a:srgbClr val="820000"/>
                </a:solidFill>
                <a:latin typeface="Arial" panose="020B0604020202020204" pitchFamily="34" charset="0"/>
                <a:ea typeface="Calibri" panose="020F0502020204030204" pitchFamily="34" charset="0"/>
                <a:cs typeface="Arial" panose="020B0604020202020204" pitchFamily="34" charset="0"/>
              </a:rPr>
              <a:t>mM</a:t>
            </a:r>
            <a:r>
              <a:rPr lang="en-PH" sz="2400" dirty="0">
                <a:solidFill>
                  <a:srgbClr val="820000"/>
                </a:solidFill>
                <a:latin typeface="Arial" panose="020B0604020202020204" pitchFamily="34" charset="0"/>
                <a:ea typeface="Calibri" panose="020F0502020204030204" pitchFamily="34" charset="0"/>
                <a:cs typeface="Arial" panose="020B0604020202020204" pitchFamily="34" charset="0"/>
              </a:rPr>
              <a:t> dissolved with 40 </a:t>
            </a:r>
            <a:r>
              <a:rPr lang="en-PH" sz="2400" dirty="0" err="1">
                <a:solidFill>
                  <a:srgbClr val="820000"/>
                </a:solidFill>
                <a:latin typeface="Arial" panose="020B0604020202020204" pitchFamily="34" charset="0"/>
                <a:ea typeface="Calibri" panose="020F0502020204030204" pitchFamily="34" charset="0"/>
                <a:cs typeface="Arial" panose="020B0604020202020204" pitchFamily="34" charset="0"/>
              </a:rPr>
              <a:t>mM</a:t>
            </a:r>
            <a:r>
              <a:rPr lang="en-PH" sz="2400" dirty="0">
                <a:solidFill>
                  <a:srgbClr val="820000"/>
                </a:solidFill>
                <a:latin typeface="Arial" panose="020B0604020202020204" pitchFamily="34" charset="0"/>
                <a:ea typeface="Calibri" panose="020F0502020204030204" pitchFamily="34" charset="0"/>
                <a:cs typeface="Arial" panose="020B0604020202020204" pitchFamily="34" charset="0"/>
              </a:rPr>
              <a:t> HCL) and ferric chloride (20mM in water). </a:t>
            </a:r>
            <a:endParaRPr lang="en-PH" sz="2400" dirty="0" smtClean="0">
              <a:solidFill>
                <a:srgbClr val="820000"/>
              </a:solidFill>
              <a:latin typeface="Arial" panose="020B0604020202020204" pitchFamily="34" charset="0"/>
              <a:ea typeface="Calibri" panose="020F0502020204030204" pitchFamily="34" charset="0"/>
              <a:cs typeface="Arial" panose="020B0604020202020204" pitchFamily="34" charset="0"/>
            </a:endParaRPr>
          </a:p>
          <a:p>
            <a:pPr marL="342900" indent="-342900" algn="just">
              <a:lnSpc>
                <a:spcPct val="150000"/>
              </a:lnSpc>
              <a:buFont typeface="Wingdings" panose="05000000000000000000" pitchFamily="2" charset="2"/>
              <a:buChar char="q"/>
            </a:pPr>
            <a:r>
              <a:rPr lang="en-PH" sz="2400" dirty="0" smtClean="0">
                <a:solidFill>
                  <a:srgbClr val="820000"/>
                </a:solidFill>
                <a:latin typeface="Arial" panose="020B0604020202020204" pitchFamily="34" charset="0"/>
                <a:ea typeface="Calibri" panose="020F0502020204030204" pitchFamily="34" charset="0"/>
                <a:cs typeface="Arial" panose="020B0604020202020204" pitchFamily="34" charset="0"/>
              </a:rPr>
              <a:t>The </a:t>
            </a:r>
            <a:r>
              <a:rPr lang="en-PH" sz="2400" dirty="0">
                <a:solidFill>
                  <a:srgbClr val="820000"/>
                </a:solidFill>
                <a:latin typeface="Arial" panose="020B0604020202020204" pitchFamily="34" charset="0"/>
                <a:ea typeface="Calibri" panose="020F0502020204030204" pitchFamily="34" charset="0"/>
                <a:cs typeface="Arial" panose="020B0604020202020204" pitchFamily="34" charset="0"/>
              </a:rPr>
              <a:t>absorbance will be measured at λ 595 nm using a </a:t>
            </a:r>
            <a:r>
              <a:rPr lang="en-PH" sz="2400" dirty="0" err="1">
                <a:solidFill>
                  <a:srgbClr val="820000"/>
                </a:solidFill>
                <a:latin typeface="Arial" panose="020B0604020202020204" pitchFamily="34" charset="0"/>
                <a:ea typeface="Calibri" panose="020F0502020204030204" pitchFamily="34" charset="0"/>
                <a:cs typeface="Arial" panose="020B0604020202020204" pitchFamily="34" charset="0"/>
              </a:rPr>
              <a:t>microplate</a:t>
            </a:r>
            <a:r>
              <a:rPr lang="en-PH" sz="2400" dirty="0">
                <a:solidFill>
                  <a:srgbClr val="820000"/>
                </a:solidFill>
                <a:latin typeface="Arial" panose="020B0604020202020204" pitchFamily="34" charset="0"/>
                <a:ea typeface="Calibri" panose="020F0502020204030204" pitchFamily="34" charset="0"/>
                <a:cs typeface="Arial" panose="020B0604020202020204" pitchFamily="34" charset="0"/>
              </a:rPr>
              <a:t> reader. The percentage of reducing power capacity can be calculated using the equation: </a:t>
            </a:r>
            <a:endParaRPr lang="en-PH" sz="2400" dirty="0">
              <a:solidFill>
                <a:srgbClr val="820000"/>
              </a:solidFill>
              <a:effectLst/>
              <a:latin typeface="Arial" panose="020B060402020202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Rectangle 6"/>
              <p:cNvSpPr/>
              <p:nvPr/>
            </p:nvSpPr>
            <p:spPr>
              <a:xfrm>
                <a:off x="1347859" y="6433933"/>
                <a:ext cx="5873467"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PH" sz="3200" smtClean="0">
                          <a:solidFill>
                            <a:srgbClr val="820000"/>
                          </a:solidFill>
                          <a:latin typeface="Cambria Math" panose="02040503050406030204" pitchFamily="18" charset="0"/>
                        </a:rPr>
                        <m:t>%</m:t>
                      </m:r>
                      <m:r>
                        <a:rPr lang="en-PH" sz="3200" i="0">
                          <a:solidFill>
                            <a:srgbClr val="820000"/>
                          </a:solidFill>
                          <a:latin typeface="Cambria Math" panose="02040503050406030204" pitchFamily="18" charset="0"/>
                        </a:rPr>
                        <m:t> </m:t>
                      </m:r>
                      <m:r>
                        <a:rPr lang="en-PH" sz="3200" i="1">
                          <a:solidFill>
                            <a:srgbClr val="820000"/>
                          </a:solidFill>
                          <a:latin typeface="Cambria Math" panose="02040503050406030204" pitchFamily="18" charset="0"/>
                        </a:rPr>
                        <m:t>𝐶𝑎𝑝𝑎𝑐𝑖𝑡𝑦</m:t>
                      </m:r>
                      <m:r>
                        <a:rPr lang="en-PH" sz="3200" i="0">
                          <a:solidFill>
                            <a:srgbClr val="820000"/>
                          </a:solidFill>
                          <a:latin typeface="Cambria Math" panose="02040503050406030204" pitchFamily="18" charset="0"/>
                        </a:rPr>
                        <m:t>=</m:t>
                      </m:r>
                      <m:d>
                        <m:dPr>
                          <m:ctrlPr>
                            <a:rPr lang="en-PH" sz="3200" i="1">
                              <a:solidFill>
                                <a:srgbClr val="820000"/>
                              </a:solidFill>
                              <a:latin typeface="Cambria Math" panose="02040503050406030204" pitchFamily="18" charset="0"/>
                            </a:rPr>
                          </m:ctrlPr>
                        </m:dPr>
                        <m:e>
                          <m:r>
                            <a:rPr lang="en-PH" sz="3200" i="0">
                              <a:solidFill>
                                <a:srgbClr val="820000"/>
                              </a:solidFill>
                              <a:latin typeface="Cambria Math" panose="02040503050406030204" pitchFamily="18" charset="0"/>
                            </a:rPr>
                            <m:t>1−</m:t>
                          </m:r>
                          <m:r>
                            <a:rPr lang="en-PH" sz="3200" i="1">
                              <a:solidFill>
                                <a:srgbClr val="820000"/>
                              </a:solidFill>
                              <a:latin typeface="Cambria Math" panose="02040503050406030204" pitchFamily="18" charset="0"/>
                            </a:rPr>
                            <m:t>𝑇𝑠</m:t>
                          </m:r>
                        </m:e>
                      </m:d>
                      <m:r>
                        <a:rPr lang="en-PH" sz="3200" i="0">
                          <a:solidFill>
                            <a:srgbClr val="820000"/>
                          </a:solidFill>
                          <a:latin typeface="Cambria Math" panose="02040503050406030204" pitchFamily="18" charset="0"/>
                        </a:rPr>
                        <m:t> </m:t>
                      </m:r>
                      <m:r>
                        <a:rPr lang="en-PH" sz="3200" i="1">
                          <a:solidFill>
                            <a:srgbClr val="820000"/>
                          </a:solidFill>
                          <a:latin typeface="Cambria Math" panose="02040503050406030204" pitchFamily="18" charset="0"/>
                        </a:rPr>
                        <m:t>𝑥</m:t>
                      </m:r>
                      <m:r>
                        <a:rPr lang="en-PH" sz="3200" i="0">
                          <a:solidFill>
                            <a:srgbClr val="820000"/>
                          </a:solidFill>
                          <a:latin typeface="Cambria Math" panose="02040503050406030204" pitchFamily="18" charset="0"/>
                        </a:rPr>
                        <m:t> 100%</m:t>
                      </m:r>
                    </m:oMath>
                  </m:oMathPara>
                </a14:m>
                <a:endParaRPr lang="en-PH" sz="3200" dirty="0">
                  <a:solidFill>
                    <a:srgbClr val="820000"/>
                  </a:solidFill>
                </a:endParaRPr>
              </a:p>
            </p:txBody>
          </p:sp>
        </mc:Choice>
        <mc:Fallback xmlns="">
          <p:sp>
            <p:nvSpPr>
              <p:cNvPr id="7" name="Rectangle 6"/>
              <p:cNvSpPr>
                <a:spLocks noRot="1" noChangeAspect="1" noMove="1" noResize="1" noEditPoints="1" noAdjustHandles="1" noChangeArrowheads="1" noChangeShapeType="1" noTextEdit="1"/>
              </p:cNvSpPr>
              <p:nvPr/>
            </p:nvSpPr>
            <p:spPr>
              <a:xfrm>
                <a:off x="1347859" y="6433933"/>
                <a:ext cx="5873467" cy="584775"/>
              </a:xfrm>
              <a:prstGeom prst="rect">
                <a:avLst/>
              </a:prstGeom>
              <a:blipFill rotWithShape="0">
                <a:blip r:embed="rId5"/>
                <a:stretch>
                  <a:fillRect/>
                </a:stretch>
              </a:blipFill>
            </p:spPr>
            <p:txBody>
              <a:bodyPr/>
              <a:lstStyle/>
              <a:p>
                <a:r>
                  <a:rPr lang="en-PH">
                    <a:noFill/>
                  </a:rPr>
                  <a:t> </a:t>
                </a:r>
              </a:p>
            </p:txBody>
          </p:sp>
        </mc:Fallback>
      </mc:AlternateContent>
      <p:sp>
        <p:nvSpPr>
          <p:cNvPr id="8" name="Rectangle 7"/>
          <p:cNvSpPr/>
          <p:nvPr/>
        </p:nvSpPr>
        <p:spPr>
          <a:xfrm>
            <a:off x="7924800" y="5880086"/>
            <a:ext cx="9144000" cy="3046988"/>
          </a:xfrm>
          <a:prstGeom prst="rect">
            <a:avLst/>
          </a:prstGeom>
        </p:spPr>
        <p:txBody>
          <a:bodyPr>
            <a:spAutoFit/>
          </a:bodyPr>
          <a:lstStyle/>
          <a:p>
            <a:pPr algn="just">
              <a:lnSpc>
                <a:spcPct val="200000"/>
              </a:lnSpc>
            </a:pPr>
            <a:r>
              <a:rPr lang="en-PH" sz="2400" dirty="0">
                <a:solidFill>
                  <a:srgbClr val="820000"/>
                </a:solidFill>
                <a:latin typeface="Arial" panose="020B0604020202020204" pitchFamily="34" charset="0"/>
                <a:ea typeface="Times New Roman" panose="02020603050405020304" pitchFamily="18" charset="0"/>
                <a:cs typeface="Arial" panose="020B0604020202020204" pitchFamily="34" charset="0"/>
              </a:rPr>
              <a:t>where </a:t>
            </a:r>
            <a:r>
              <a:rPr lang="en-PH" sz="2400" dirty="0" err="1">
                <a:solidFill>
                  <a:srgbClr val="820000"/>
                </a:solidFill>
                <a:latin typeface="Arial" panose="020B0604020202020204" pitchFamily="34" charset="0"/>
                <a:ea typeface="Times New Roman" panose="02020603050405020304" pitchFamily="18" charset="0"/>
                <a:cs typeface="Arial" panose="020B0604020202020204" pitchFamily="34" charset="0"/>
              </a:rPr>
              <a:t>T</a:t>
            </a:r>
            <a:r>
              <a:rPr lang="en-PH" sz="2400" baseline="-25000" dirty="0" err="1">
                <a:solidFill>
                  <a:srgbClr val="820000"/>
                </a:solidFill>
                <a:latin typeface="Arial" panose="020B0604020202020204" pitchFamily="34" charset="0"/>
                <a:ea typeface="Times New Roman" panose="02020603050405020304" pitchFamily="18" charset="0"/>
                <a:cs typeface="Arial" panose="020B0604020202020204" pitchFamily="34" charset="0"/>
              </a:rPr>
              <a:t>s</a:t>
            </a:r>
            <a:r>
              <a:rPr lang="en-PH" sz="2400" dirty="0">
                <a:solidFill>
                  <a:srgbClr val="820000"/>
                </a:solidFill>
                <a:latin typeface="Arial" panose="020B0604020202020204" pitchFamily="34" charset="0"/>
                <a:ea typeface="Times New Roman" panose="02020603050405020304" pitchFamily="18" charset="0"/>
                <a:cs typeface="Arial" panose="020B0604020202020204" pitchFamily="34" charset="0"/>
              </a:rPr>
              <a:t> = Transmittance from the measured absorbance A</a:t>
            </a:r>
            <a:r>
              <a:rPr lang="en-PH" sz="2400" baseline="-25000" dirty="0">
                <a:solidFill>
                  <a:srgbClr val="820000"/>
                </a:solidFill>
                <a:latin typeface="Arial" panose="020B0604020202020204" pitchFamily="34" charset="0"/>
                <a:ea typeface="Times New Roman" panose="02020603050405020304" pitchFamily="18" charset="0"/>
                <a:cs typeface="Arial" panose="020B0604020202020204" pitchFamily="34" charset="0"/>
              </a:rPr>
              <a:t>s</a:t>
            </a:r>
            <a:r>
              <a:rPr lang="en-PH" sz="2400" dirty="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2400" dirty="0">
              <a:solidFill>
                <a:srgbClr val="820000"/>
              </a:solidFill>
              <a:latin typeface="Arial" panose="020B0604020202020204" pitchFamily="34" charset="0"/>
              <a:ea typeface="Calibri" panose="020F0502020204030204" pitchFamily="34" charset="0"/>
              <a:cs typeface="Times New Roman" panose="02020603050405020304" pitchFamily="18" charset="0"/>
            </a:endParaRPr>
          </a:p>
          <a:p>
            <a:pPr indent="457200" algn="just">
              <a:lnSpc>
                <a:spcPct val="200000"/>
              </a:lnSpc>
            </a:pPr>
            <a:r>
              <a:rPr lang="en-PH" sz="2400" dirty="0">
                <a:solidFill>
                  <a:srgbClr val="820000"/>
                </a:solidFill>
                <a:latin typeface="Arial" panose="020B0604020202020204" pitchFamily="34" charset="0"/>
                <a:ea typeface="Times New Roman" panose="02020603050405020304" pitchFamily="18" charset="0"/>
                <a:cs typeface="Arial" panose="020B0604020202020204" pitchFamily="34" charset="0"/>
              </a:rPr>
              <a:t>A</a:t>
            </a:r>
            <a:r>
              <a:rPr lang="en-PH" sz="2400" baseline="-25000" dirty="0">
                <a:solidFill>
                  <a:srgbClr val="820000"/>
                </a:solidFill>
                <a:latin typeface="Arial" panose="020B0604020202020204" pitchFamily="34" charset="0"/>
                <a:ea typeface="Times New Roman" panose="02020603050405020304" pitchFamily="18" charset="0"/>
                <a:cs typeface="Arial" panose="020B0604020202020204" pitchFamily="34" charset="0"/>
              </a:rPr>
              <a:t>s</a:t>
            </a:r>
            <a:r>
              <a:rPr lang="en-PH" sz="2400" dirty="0">
                <a:solidFill>
                  <a:srgbClr val="820000"/>
                </a:solidFill>
                <a:latin typeface="Arial" panose="020B0604020202020204" pitchFamily="34" charset="0"/>
                <a:ea typeface="Times New Roman" panose="02020603050405020304" pitchFamily="18" charset="0"/>
                <a:cs typeface="Arial" panose="020B0604020202020204" pitchFamily="34" charset="0"/>
              </a:rPr>
              <a:t> = - log </a:t>
            </a:r>
            <a:r>
              <a:rPr lang="en-PH" sz="2400" dirty="0" err="1">
                <a:solidFill>
                  <a:srgbClr val="820000"/>
                </a:solidFill>
                <a:latin typeface="Arial" panose="020B0604020202020204" pitchFamily="34" charset="0"/>
                <a:ea typeface="Times New Roman" panose="02020603050405020304" pitchFamily="18" charset="0"/>
                <a:cs typeface="Arial" panose="020B0604020202020204" pitchFamily="34" charset="0"/>
              </a:rPr>
              <a:t>T</a:t>
            </a:r>
            <a:r>
              <a:rPr lang="en-PH" sz="2400" baseline="-25000" dirty="0" err="1">
                <a:solidFill>
                  <a:srgbClr val="820000"/>
                </a:solidFill>
                <a:latin typeface="Arial" panose="020B0604020202020204" pitchFamily="34" charset="0"/>
                <a:ea typeface="Times New Roman" panose="02020603050405020304" pitchFamily="18" charset="0"/>
                <a:cs typeface="Arial" panose="020B0604020202020204" pitchFamily="34" charset="0"/>
              </a:rPr>
              <a:t>s</a:t>
            </a:r>
            <a:endParaRPr lang="en-PH" sz="2400" dirty="0">
              <a:solidFill>
                <a:srgbClr val="820000"/>
              </a:solidFill>
              <a:latin typeface="Arial" panose="020B0604020202020204" pitchFamily="34" charset="0"/>
              <a:ea typeface="Calibri" panose="020F0502020204030204" pitchFamily="34" charset="0"/>
              <a:cs typeface="Times New Roman" panose="02020603050405020304" pitchFamily="18" charset="0"/>
            </a:endParaRPr>
          </a:p>
          <a:p>
            <a:pPr marL="91440" marR="0" indent="365760" algn="just">
              <a:lnSpc>
                <a:spcPct val="200000"/>
              </a:lnSpc>
              <a:spcBef>
                <a:spcPts val="0"/>
              </a:spcBef>
              <a:spcAft>
                <a:spcPts val="0"/>
              </a:spcAft>
            </a:pPr>
            <a:r>
              <a:rPr lang="en-PH" sz="2400" dirty="0">
                <a:solidFill>
                  <a:srgbClr val="820000"/>
                </a:solidFill>
                <a:latin typeface="Arial" panose="020B0604020202020204" pitchFamily="34" charset="0"/>
                <a:ea typeface="Times New Roman" panose="02020603050405020304" pitchFamily="18" charset="0"/>
                <a:cs typeface="Arial" panose="020B0604020202020204" pitchFamily="34" charset="0"/>
              </a:rPr>
              <a:t>A</a:t>
            </a:r>
            <a:r>
              <a:rPr lang="en-PH" sz="2400" baseline="-25000" dirty="0">
                <a:solidFill>
                  <a:srgbClr val="820000"/>
                </a:solidFill>
                <a:latin typeface="Arial" panose="020B0604020202020204" pitchFamily="34" charset="0"/>
                <a:ea typeface="Times New Roman" panose="02020603050405020304" pitchFamily="18" charset="0"/>
                <a:cs typeface="Arial" panose="020B0604020202020204" pitchFamily="34" charset="0"/>
              </a:rPr>
              <a:t>s</a:t>
            </a:r>
            <a:r>
              <a:rPr lang="en-PH" sz="2400" dirty="0">
                <a:solidFill>
                  <a:srgbClr val="820000"/>
                </a:solidFill>
                <a:latin typeface="Arial" panose="020B0604020202020204" pitchFamily="34" charset="0"/>
                <a:ea typeface="Times New Roman" panose="02020603050405020304" pitchFamily="18" charset="0"/>
                <a:cs typeface="Arial" panose="020B0604020202020204" pitchFamily="34" charset="0"/>
              </a:rPr>
              <a:t> = A</a:t>
            </a:r>
            <a:r>
              <a:rPr lang="en-PH" sz="2400" baseline="-25000" dirty="0">
                <a:solidFill>
                  <a:srgbClr val="820000"/>
                </a:solidFill>
                <a:latin typeface="Arial" panose="020B0604020202020204" pitchFamily="34" charset="0"/>
                <a:ea typeface="Times New Roman" panose="02020603050405020304" pitchFamily="18" charset="0"/>
                <a:cs typeface="Arial" panose="020B0604020202020204" pitchFamily="34" charset="0"/>
              </a:rPr>
              <a:t>s</a:t>
            </a:r>
            <a:r>
              <a:rPr lang="en-PH" sz="2400" dirty="0">
                <a:solidFill>
                  <a:srgbClr val="820000"/>
                </a:solidFill>
                <a:latin typeface="Arial" panose="020B0604020202020204" pitchFamily="34" charset="0"/>
                <a:ea typeface="Times New Roman" panose="02020603050405020304" pitchFamily="18" charset="0"/>
                <a:cs typeface="Arial" panose="020B0604020202020204" pitchFamily="34" charset="0"/>
              </a:rPr>
              <a:t> positive control – A</a:t>
            </a:r>
            <a:r>
              <a:rPr lang="en-PH" sz="2400" baseline="-25000" dirty="0">
                <a:solidFill>
                  <a:srgbClr val="820000"/>
                </a:solidFill>
                <a:latin typeface="Arial" panose="020B0604020202020204" pitchFamily="34" charset="0"/>
                <a:ea typeface="Times New Roman" panose="02020603050405020304" pitchFamily="18" charset="0"/>
                <a:cs typeface="Arial" panose="020B0604020202020204" pitchFamily="34" charset="0"/>
              </a:rPr>
              <a:t>s</a:t>
            </a:r>
            <a:r>
              <a:rPr lang="en-PH" sz="2400" dirty="0">
                <a:solidFill>
                  <a:srgbClr val="820000"/>
                </a:solidFill>
                <a:latin typeface="Arial" panose="020B0604020202020204" pitchFamily="34" charset="0"/>
                <a:ea typeface="Times New Roman" panose="02020603050405020304" pitchFamily="18" charset="0"/>
                <a:cs typeface="Arial" panose="020B0604020202020204" pitchFamily="34" charset="0"/>
              </a:rPr>
              <a:t> blank FRAP solution</a:t>
            </a:r>
            <a:endParaRPr lang="en-PH" sz="2400" dirty="0">
              <a:solidFill>
                <a:srgbClr val="820000"/>
              </a:solidFill>
              <a:latin typeface="Arial" panose="020B0604020202020204" pitchFamily="34" charset="0"/>
              <a:ea typeface="Calibri" panose="020F0502020204030204" pitchFamily="34" charset="0"/>
              <a:cs typeface="Times New Roman" panose="02020603050405020304" pitchFamily="18" charset="0"/>
            </a:endParaRPr>
          </a:p>
          <a:p>
            <a:pPr algn="just"/>
            <a:r>
              <a:rPr lang="en-PH" sz="2400" dirty="0">
                <a:solidFill>
                  <a:srgbClr val="820000"/>
                </a:solidFill>
                <a:latin typeface="Arial" panose="020B0604020202020204" pitchFamily="34" charset="0"/>
                <a:ea typeface="Times New Roman" panose="02020603050405020304" pitchFamily="18" charset="0"/>
              </a:rPr>
              <a:t>The result will be expressed as EC</a:t>
            </a:r>
            <a:r>
              <a:rPr lang="en-PH" sz="2400" baseline="-25000" dirty="0">
                <a:solidFill>
                  <a:srgbClr val="820000"/>
                </a:solidFill>
                <a:latin typeface="Arial" panose="020B0604020202020204" pitchFamily="34" charset="0"/>
                <a:ea typeface="Times New Roman" panose="02020603050405020304" pitchFamily="18" charset="0"/>
              </a:rPr>
              <a:t>50</a:t>
            </a:r>
            <a:r>
              <a:rPr lang="en-PH" sz="2400" dirty="0">
                <a:solidFill>
                  <a:srgbClr val="820000"/>
                </a:solidFill>
                <a:latin typeface="Arial" panose="020B0604020202020204" pitchFamily="34" charset="0"/>
                <a:ea typeface="Times New Roman" panose="02020603050405020304" pitchFamily="18" charset="0"/>
              </a:rPr>
              <a:t> (µg/ml) using the equation of nonlinear regression. The analysis will be done in triplicate</a:t>
            </a:r>
            <a:endParaRPr lang="en-PH" sz="2400" dirty="0">
              <a:solidFill>
                <a:srgbClr val="820000"/>
              </a:solidFill>
            </a:endParaRPr>
          </a:p>
        </p:txBody>
      </p:sp>
    </p:spTree>
    <p:extLst>
      <p:ext uri="{BB962C8B-B14F-4D97-AF65-F5344CB8AC3E}">
        <p14:creationId xmlns:p14="http://schemas.microsoft.com/office/powerpoint/2010/main" val="376094520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Box 13"/>
          <p:cNvSpPr txBox="1"/>
          <p:nvPr/>
        </p:nvSpPr>
        <p:spPr>
          <a:xfrm>
            <a:off x="1671387" y="1531257"/>
            <a:ext cx="2203151" cy="2306426"/>
          </a:xfrm>
          <a:prstGeom prst="rect">
            <a:avLst/>
          </a:prstGeom>
        </p:spPr>
        <p:txBody>
          <a:bodyPr lIns="50800" tIns="50800" rIns="50800" bIns="50800" rtlCol="0" anchor="ctr"/>
          <a:lstStyle/>
          <a:p>
            <a:pPr algn="ctr">
              <a:lnSpc>
                <a:spcPts val="2659"/>
              </a:lnSpc>
              <a:spcBef>
                <a:spcPct val="0"/>
              </a:spcBef>
            </a:pPr>
            <a:endParaRPr/>
          </a:p>
        </p:txBody>
      </p:sp>
      <p:pic>
        <p:nvPicPr>
          <p:cNvPr id="18" name="Picture 17"/>
          <p:cNvPicPr>
            <a:picLocks noChangeAspect="1"/>
          </p:cNvPicPr>
          <p:nvPr/>
        </p:nvPicPr>
        <p:blipFill>
          <a:blip r:embed="rId2"/>
          <a:stretch>
            <a:fillRect/>
          </a:stretch>
        </p:blipFill>
        <p:spPr>
          <a:xfrm>
            <a:off x="76200" y="9266338"/>
            <a:ext cx="2327677" cy="1020662"/>
          </a:xfrm>
          <a:prstGeom prst="rect">
            <a:avLst/>
          </a:prstGeom>
        </p:spPr>
      </p:pic>
      <p:pic>
        <p:nvPicPr>
          <p:cNvPr id="19" name="Picture 18"/>
          <p:cNvPicPr>
            <a:picLocks noChangeAspect="1"/>
          </p:cNvPicPr>
          <p:nvPr/>
        </p:nvPicPr>
        <p:blipFill>
          <a:blip r:embed="rId3"/>
          <a:stretch>
            <a:fillRect/>
          </a:stretch>
        </p:blipFill>
        <p:spPr>
          <a:xfrm rot="10800000">
            <a:off x="-30480" y="1294489"/>
            <a:ext cx="18288000" cy="267610"/>
          </a:xfrm>
          <a:prstGeom prst="rect">
            <a:avLst/>
          </a:prstGeom>
        </p:spPr>
      </p:pic>
      <p:sp>
        <p:nvSpPr>
          <p:cNvPr id="21" name="Round Single Corner Rectangle 20"/>
          <p:cNvSpPr/>
          <p:nvPr/>
        </p:nvSpPr>
        <p:spPr>
          <a:xfrm>
            <a:off x="5494020" y="160397"/>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5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Methodology      </a:t>
            </a:r>
            <a:r>
              <a:rPr lang="en-PH" sz="6000" b="1" u="sng" dirty="0" smtClean="0">
                <a:solidFill>
                  <a:srgbClr val="820000"/>
                </a:solidFill>
                <a:latin typeface="Arial" panose="020B0604020202020204" pitchFamily="34" charset="0"/>
                <a:cs typeface="Arial" panose="020B0604020202020204" pitchFamily="34" charset="0"/>
              </a:rPr>
              <a:t> </a:t>
            </a:r>
          </a:p>
        </p:txBody>
      </p:sp>
      <p:pic>
        <p:nvPicPr>
          <p:cNvPr id="20" name="Picture 19"/>
          <p:cNvPicPr>
            <a:picLocks noChangeAspect="1"/>
          </p:cNvPicPr>
          <p:nvPr/>
        </p:nvPicPr>
        <p:blipFill>
          <a:blip r:embed="rId3"/>
          <a:stretch>
            <a:fillRect/>
          </a:stretch>
        </p:blipFill>
        <p:spPr>
          <a:xfrm>
            <a:off x="0" y="0"/>
            <a:ext cx="18288000" cy="267611"/>
          </a:xfrm>
          <a:prstGeom prst="rect">
            <a:avLst/>
          </a:prstGeom>
        </p:spPr>
      </p:pic>
      <p:sp>
        <p:nvSpPr>
          <p:cNvPr id="4" name="Parallelogram 3"/>
          <p:cNvSpPr/>
          <p:nvPr/>
        </p:nvSpPr>
        <p:spPr>
          <a:xfrm>
            <a:off x="2388637" y="9936689"/>
            <a:ext cx="9727163" cy="236011"/>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2" name="Parallelogram 21"/>
          <p:cNvSpPr/>
          <p:nvPr/>
        </p:nvSpPr>
        <p:spPr>
          <a:xfrm>
            <a:off x="12192000" y="9944100"/>
            <a:ext cx="1421363" cy="228600"/>
          </a:xfrm>
          <a:prstGeom prst="parallelogram">
            <a:avLst/>
          </a:prstGeom>
          <a:solidFill>
            <a:srgbClr val="FFC000"/>
          </a:solidFill>
          <a:ln>
            <a:solidFill>
              <a:srgbClr val="FFC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3" name="Parallelogram 22"/>
          <p:cNvSpPr/>
          <p:nvPr/>
        </p:nvSpPr>
        <p:spPr>
          <a:xfrm>
            <a:off x="13689563" y="9944100"/>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24" name="Picture 23"/>
          <p:cNvPicPr>
            <a:picLocks noChangeAspect="1"/>
          </p:cNvPicPr>
          <p:nvPr/>
        </p:nvPicPr>
        <p:blipFill>
          <a:blip r:embed="rId3"/>
          <a:stretch>
            <a:fillRect/>
          </a:stretch>
        </p:blipFill>
        <p:spPr>
          <a:xfrm rot="10800000" flipV="1">
            <a:off x="2403877" y="9668509"/>
            <a:ext cx="15899363" cy="232657"/>
          </a:xfrm>
          <a:prstGeom prst="rect">
            <a:avLst/>
          </a:prstGeom>
        </p:spPr>
      </p:pic>
      <p:pic>
        <p:nvPicPr>
          <p:cNvPr id="6" name="Picture 5"/>
          <p:cNvPicPr>
            <a:picLocks noChangeAspect="1"/>
          </p:cNvPicPr>
          <p:nvPr/>
        </p:nvPicPr>
        <p:blipFill>
          <a:blip r:embed="rId4"/>
          <a:stretch>
            <a:fillRect/>
          </a:stretch>
        </p:blipFill>
        <p:spPr>
          <a:xfrm>
            <a:off x="15030450" y="488370"/>
            <a:ext cx="3257550" cy="523875"/>
          </a:xfrm>
          <a:prstGeom prst="rect">
            <a:avLst/>
          </a:prstGeom>
        </p:spPr>
      </p:pic>
      <p:sp>
        <p:nvSpPr>
          <p:cNvPr id="25" name="Parallelogram 24"/>
          <p:cNvSpPr/>
          <p:nvPr/>
        </p:nvSpPr>
        <p:spPr>
          <a:xfrm>
            <a:off x="13030200" y="760176"/>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13" name="Picture 12"/>
          <p:cNvPicPr>
            <a:picLocks noChangeAspect="1"/>
          </p:cNvPicPr>
          <p:nvPr/>
        </p:nvPicPr>
        <p:blipFill>
          <a:blip r:embed="rId4"/>
          <a:stretch>
            <a:fillRect/>
          </a:stretch>
        </p:blipFill>
        <p:spPr>
          <a:xfrm rot="10800000">
            <a:off x="0" y="612538"/>
            <a:ext cx="3257550" cy="523875"/>
          </a:xfrm>
          <a:prstGeom prst="rect">
            <a:avLst/>
          </a:prstGeom>
        </p:spPr>
      </p:pic>
      <p:sp>
        <p:nvSpPr>
          <p:cNvPr id="14" name="Parallelogram 13"/>
          <p:cNvSpPr/>
          <p:nvPr/>
        </p:nvSpPr>
        <p:spPr>
          <a:xfrm>
            <a:off x="659363" y="577015"/>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9" name="Rectangle 28"/>
          <p:cNvSpPr/>
          <p:nvPr/>
        </p:nvSpPr>
        <p:spPr>
          <a:xfrm>
            <a:off x="1143000" y="2370897"/>
            <a:ext cx="15929956" cy="1938992"/>
          </a:xfrm>
          <a:prstGeom prst="rect">
            <a:avLst/>
          </a:prstGeom>
        </p:spPr>
        <p:txBody>
          <a:bodyPr wrap="square">
            <a:spAutoFit/>
          </a:bodyPr>
          <a:lstStyle/>
          <a:p>
            <a:pPr marL="0" lvl="2" algn="just"/>
            <a:endParaRPr lang="en-PH" sz="2800" dirty="0" smtClean="0"/>
          </a:p>
          <a:p>
            <a:pPr marL="457200" lvl="2" indent="-457200" algn="just">
              <a:buFont typeface="Wingdings" panose="05000000000000000000" pitchFamily="2" charset="2"/>
              <a:buChar char="Ø"/>
            </a:pPr>
            <a:endParaRPr lang="en-PH" sz="2800" dirty="0" smtClean="0"/>
          </a:p>
          <a:p>
            <a:pPr marL="285750" lvl="2" indent="-285750" algn="just">
              <a:buFont typeface="Arial" panose="020B0604020202020204" pitchFamily="34" charset="0"/>
              <a:buChar char="•"/>
            </a:pPr>
            <a:endParaRPr lang="en-PH" sz="3200" dirty="0"/>
          </a:p>
          <a:p>
            <a:pPr marL="285750" indent="-285750" algn="just">
              <a:buFont typeface="Arial" panose="020B0604020202020204" pitchFamily="34" charset="0"/>
              <a:buChar char="•"/>
            </a:pPr>
            <a:endParaRPr lang="en-PH" sz="3200" dirty="0">
              <a:solidFill>
                <a:srgbClr val="005C2A"/>
              </a:solidFill>
              <a:latin typeface="Arial" panose="020B0604020202020204" pitchFamily="34" charset="0"/>
              <a:cs typeface="Arial" panose="020B0604020202020204" pitchFamily="34" charset="0"/>
            </a:endParaRPr>
          </a:p>
        </p:txBody>
      </p:sp>
      <p:sp>
        <p:nvSpPr>
          <p:cNvPr id="48" name="Rectangle 47"/>
          <p:cNvSpPr/>
          <p:nvPr/>
        </p:nvSpPr>
        <p:spPr>
          <a:xfrm>
            <a:off x="9634589" y="4402089"/>
            <a:ext cx="11486917" cy="2831544"/>
          </a:xfrm>
          <a:prstGeom prst="rect">
            <a:avLst/>
          </a:prstGeom>
        </p:spPr>
        <p:txBody>
          <a:bodyPr wrap="square">
            <a:spAutoFit/>
          </a:bodyPr>
          <a:lstStyle/>
          <a:p>
            <a:pPr algn="just"/>
            <a:r>
              <a:rPr lang="en-PH" sz="4000" dirty="0">
                <a:solidFill>
                  <a:srgbClr val="820000"/>
                </a:solidFill>
                <a:latin typeface="Arial" panose="020B0604020202020204" pitchFamily="34" charset="0"/>
                <a:cs typeface="Arial" panose="020B0604020202020204" pitchFamily="34" charset="0"/>
              </a:rPr>
              <a:t> </a:t>
            </a:r>
            <a:r>
              <a:rPr lang="en-PH" sz="4000" dirty="0" smtClean="0">
                <a:solidFill>
                  <a:srgbClr val="820000"/>
                </a:solidFill>
                <a:latin typeface="Arial" panose="020B0604020202020204" pitchFamily="34" charset="0"/>
                <a:cs typeface="Arial" panose="020B0604020202020204" pitchFamily="34" charset="0"/>
              </a:rPr>
              <a:t>  </a:t>
            </a:r>
            <a:r>
              <a:rPr lang="en-PH" sz="4000" dirty="0">
                <a:solidFill>
                  <a:srgbClr val="820000"/>
                </a:solidFill>
                <a:latin typeface="Arial" panose="020B0604020202020204" pitchFamily="34" charset="0"/>
                <a:cs typeface="Arial" panose="020B0604020202020204" pitchFamily="34" charset="0"/>
              </a:rPr>
              <a:t> </a:t>
            </a:r>
            <a:r>
              <a:rPr lang="en-PH" sz="3200" dirty="0" smtClean="0">
                <a:solidFill>
                  <a:srgbClr val="820000"/>
                </a:solidFill>
                <a:latin typeface="Arial" panose="020B0604020202020204" pitchFamily="34" charset="0"/>
                <a:cs typeface="Arial" panose="020B0604020202020204" pitchFamily="34" charset="0"/>
              </a:rPr>
              <a:t>CC   </a:t>
            </a:r>
            <a:endParaRPr lang="en-PH" sz="4000" b="1" dirty="0" smtClean="0">
              <a:solidFill>
                <a:srgbClr val="820000"/>
              </a:solidFill>
              <a:latin typeface="Arial" panose="020B0604020202020204" pitchFamily="34" charset="0"/>
              <a:cs typeface="Arial" panose="020B0604020202020204" pitchFamily="34" charset="0"/>
            </a:endParaRPr>
          </a:p>
          <a:p>
            <a:pPr marL="0" lvl="2" algn="just"/>
            <a:endParaRPr lang="en-PH" b="1" dirty="0"/>
          </a:p>
          <a:p>
            <a:pPr algn="just"/>
            <a:r>
              <a:rPr lang="en-PH" sz="4000" dirty="0" smtClean="0"/>
              <a:t> </a:t>
            </a:r>
            <a:endParaRPr lang="en-PH" sz="4000" b="1" dirty="0">
              <a:solidFill>
                <a:srgbClr val="820000"/>
              </a:solidFill>
              <a:latin typeface="Arial" panose="020B0604020202020204" pitchFamily="34" charset="0"/>
              <a:cs typeface="Arial" panose="020B0604020202020204" pitchFamily="34" charset="0"/>
            </a:endParaRPr>
          </a:p>
          <a:p>
            <a:pPr algn="just"/>
            <a:endParaRPr lang="en-PH" sz="4000" b="1" dirty="0" smtClean="0">
              <a:solidFill>
                <a:srgbClr val="820000"/>
              </a:solidFill>
              <a:latin typeface="Arial" panose="020B0604020202020204" pitchFamily="34" charset="0"/>
              <a:cs typeface="Arial" panose="020B0604020202020204" pitchFamily="34" charset="0"/>
            </a:endParaRPr>
          </a:p>
          <a:p>
            <a:pPr algn="just"/>
            <a:r>
              <a:rPr lang="en-PH" sz="4000" b="1"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    </a:t>
            </a:r>
            <a:endParaRPr lang="en-PH" sz="4000" b="1" dirty="0">
              <a:solidFill>
                <a:srgbClr val="820000"/>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26" name="Rectangle 25"/>
          <p:cNvSpPr/>
          <p:nvPr/>
        </p:nvSpPr>
        <p:spPr>
          <a:xfrm>
            <a:off x="14174047" y="2772912"/>
            <a:ext cx="3861626" cy="1631216"/>
          </a:xfrm>
          <a:prstGeom prst="rect">
            <a:avLst/>
          </a:prstGeom>
        </p:spPr>
        <p:txBody>
          <a:bodyPr wrap="square">
            <a:spAutoFit/>
          </a:bodyPr>
          <a:lstStyle/>
          <a:p>
            <a:pPr algn="just"/>
            <a:r>
              <a:rPr lang="en-US" sz="2000" dirty="0">
                <a:solidFill>
                  <a:srgbClr val="820000"/>
                </a:solidFill>
                <a:latin typeface="Arial" panose="020B0604020202020204" pitchFamily="34" charset="0"/>
                <a:cs typeface="Arial" panose="020B0604020202020204" pitchFamily="34" charset="0"/>
              </a:rPr>
              <a:t>Fractions with bioactivity will then be further subjected to purification and isolation of bioactive compounds using spectroscopic methods</a:t>
            </a:r>
            <a:endParaRPr lang="en-PH" sz="2000" dirty="0">
              <a:solidFill>
                <a:srgbClr val="820000"/>
              </a:solidFill>
              <a:latin typeface="Arial" panose="020B0604020202020204" pitchFamily="34" charset="0"/>
              <a:cs typeface="Arial" panose="020B0604020202020204" pitchFamily="34" charset="0"/>
            </a:endParaRPr>
          </a:p>
        </p:txBody>
      </p:sp>
      <p:sp>
        <p:nvSpPr>
          <p:cNvPr id="10" name="Rectangle 9"/>
          <p:cNvSpPr/>
          <p:nvPr/>
        </p:nvSpPr>
        <p:spPr>
          <a:xfrm>
            <a:off x="457200" y="1556850"/>
            <a:ext cx="7685117" cy="1323439"/>
          </a:xfrm>
          <a:prstGeom prst="rect">
            <a:avLst/>
          </a:prstGeom>
        </p:spPr>
        <p:txBody>
          <a:bodyPr wrap="none">
            <a:spAutoFit/>
          </a:bodyPr>
          <a:lstStyle/>
          <a:p>
            <a:pPr>
              <a:lnSpc>
                <a:spcPct val="200000"/>
              </a:lnSpc>
            </a:pPr>
            <a:r>
              <a:rPr lang="en-PH" sz="4000" dirty="0" smtClean="0">
                <a:solidFill>
                  <a:srgbClr val="820000"/>
                </a:solidFill>
                <a:latin typeface="Arial" panose="020B0604020202020204" pitchFamily="34" charset="0"/>
                <a:ea typeface="Calibri" panose="020F0502020204030204" pitchFamily="34" charset="0"/>
                <a:cs typeface="Times New Roman" panose="02020603050405020304" pitchFamily="18" charset="0"/>
              </a:rPr>
              <a:t>3.7 </a:t>
            </a:r>
            <a:r>
              <a:rPr lang="en-PH" sz="4000" dirty="0">
                <a:solidFill>
                  <a:srgbClr val="820000"/>
                </a:solidFill>
                <a:latin typeface="Arial" panose="020B0604020202020204" pitchFamily="34" charset="0"/>
                <a:ea typeface="Calibri" panose="020F0502020204030204" pitchFamily="34" charset="0"/>
                <a:cs typeface="Times New Roman" panose="02020603050405020304" pitchFamily="18" charset="0"/>
              </a:rPr>
              <a:t>Purification of Crude Extracts</a:t>
            </a:r>
            <a:endParaRPr lang="en-PH" sz="4000" dirty="0">
              <a:solidFill>
                <a:srgbClr val="820000"/>
              </a:solidFill>
              <a:effectLst/>
              <a:latin typeface="Arial" panose="020B0604020202020204" pitchFamily="34" charset="0"/>
              <a:ea typeface="Calibri" panose="020F0502020204030204" pitchFamily="34" charset="0"/>
              <a:cs typeface="Times New Roman" panose="02020603050405020304" pitchFamily="18" charset="0"/>
            </a:endParaRPr>
          </a:p>
        </p:txBody>
      </p:sp>
      <p:cxnSp>
        <p:nvCxnSpPr>
          <p:cNvPr id="32" name="Straight Connector 31"/>
          <p:cNvCxnSpPr/>
          <p:nvPr/>
        </p:nvCxnSpPr>
        <p:spPr>
          <a:xfrm>
            <a:off x="9075633" y="3717992"/>
            <a:ext cx="0" cy="4244908"/>
          </a:xfrm>
          <a:prstGeom prst="line">
            <a:avLst/>
          </a:prstGeom>
          <a:ln w="28575">
            <a:solidFill>
              <a:srgbClr val="82000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V="1">
            <a:off x="9060097" y="3723231"/>
            <a:ext cx="675404" cy="8507"/>
          </a:xfrm>
          <a:prstGeom prst="line">
            <a:avLst/>
          </a:prstGeom>
          <a:ln w="38100">
            <a:solidFill>
              <a:srgbClr val="82000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V="1">
            <a:off x="9062156" y="7925586"/>
            <a:ext cx="675404" cy="8507"/>
          </a:xfrm>
          <a:prstGeom prst="line">
            <a:avLst/>
          </a:prstGeom>
          <a:ln w="38100">
            <a:solidFill>
              <a:srgbClr val="820000"/>
            </a:solidFill>
          </a:ln>
        </p:spPr>
        <p:style>
          <a:lnRef idx="1">
            <a:schemeClr val="accent1"/>
          </a:lnRef>
          <a:fillRef idx="0">
            <a:schemeClr val="accent1"/>
          </a:fillRef>
          <a:effectRef idx="0">
            <a:schemeClr val="accent1"/>
          </a:effectRef>
          <a:fontRef idx="minor">
            <a:schemeClr val="tx1"/>
          </a:fontRef>
        </p:style>
      </p:cxnSp>
      <p:sp>
        <p:nvSpPr>
          <p:cNvPr id="35" name="Flowchart: Connector 34"/>
          <p:cNvSpPr/>
          <p:nvPr/>
        </p:nvSpPr>
        <p:spPr>
          <a:xfrm>
            <a:off x="9747732" y="7010394"/>
            <a:ext cx="1687924" cy="1720694"/>
          </a:xfrm>
          <a:prstGeom prst="flowChartConnector">
            <a:avLst/>
          </a:prstGeom>
          <a:blipFill>
            <a:blip r:embed="rId5"/>
            <a:stretch>
              <a:fillRect b="-6420"/>
            </a:stretch>
          </a:blipFill>
          <a:ln w="28575">
            <a:solidFill>
              <a:srgbClr val="005C2A"/>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36" name="Flowchart: Connector 35"/>
          <p:cNvSpPr/>
          <p:nvPr/>
        </p:nvSpPr>
        <p:spPr>
          <a:xfrm>
            <a:off x="9682193" y="2793674"/>
            <a:ext cx="1687924" cy="1720694"/>
          </a:xfrm>
          <a:prstGeom prst="flowChartConnector">
            <a:avLst/>
          </a:prstGeom>
          <a:blipFill>
            <a:blip r:embed="rId6"/>
            <a:stretch>
              <a:fillRect b="-6420"/>
            </a:stretch>
          </a:blipFill>
          <a:ln w="28575">
            <a:solidFill>
              <a:srgbClr val="005C2A"/>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16" name="Picture 15"/>
          <p:cNvPicPr>
            <a:picLocks noChangeAspect="1"/>
          </p:cNvPicPr>
          <p:nvPr/>
        </p:nvPicPr>
        <p:blipFill>
          <a:blip r:embed="rId7"/>
          <a:stretch>
            <a:fillRect/>
          </a:stretch>
        </p:blipFill>
        <p:spPr>
          <a:xfrm>
            <a:off x="126490" y="3187391"/>
            <a:ext cx="5484410" cy="6187311"/>
          </a:xfrm>
          <a:prstGeom prst="rect">
            <a:avLst/>
          </a:prstGeom>
        </p:spPr>
      </p:pic>
      <p:sp>
        <p:nvSpPr>
          <p:cNvPr id="41" name="Down Arrow 40"/>
          <p:cNvSpPr/>
          <p:nvPr/>
        </p:nvSpPr>
        <p:spPr>
          <a:xfrm rot="16200000">
            <a:off x="5846047" y="5575746"/>
            <a:ext cx="539567" cy="784333"/>
          </a:xfrm>
          <a:prstGeom prst="downArrow">
            <a:avLst/>
          </a:prstGeom>
          <a:solidFill>
            <a:srgbClr val="820000"/>
          </a:solidFill>
          <a:ln>
            <a:solidFill>
              <a:srgbClr val="8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2" name="Down Arrow 41"/>
          <p:cNvSpPr/>
          <p:nvPr/>
        </p:nvSpPr>
        <p:spPr>
          <a:xfrm rot="16200000">
            <a:off x="8187483" y="5575745"/>
            <a:ext cx="539567" cy="784333"/>
          </a:xfrm>
          <a:prstGeom prst="downArrow">
            <a:avLst/>
          </a:prstGeom>
          <a:solidFill>
            <a:srgbClr val="820000"/>
          </a:solidFill>
          <a:ln>
            <a:solidFill>
              <a:srgbClr val="8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43" name="Picture 42"/>
          <p:cNvPicPr>
            <a:picLocks noChangeAspect="1"/>
          </p:cNvPicPr>
          <p:nvPr/>
        </p:nvPicPr>
        <p:blipFill>
          <a:blip r:embed="rId8"/>
          <a:stretch>
            <a:fillRect/>
          </a:stretch>
        </p:blipFill>
        <p:spPr>
          <a:xfrm>
            <a:off x="6773143" y="4696110"/>
            <a:ext cx="1112354" cy="2481406"/>
          </a:xfrm>
          <a:prstGeom prst="rect">
            <a:avLst/>
          </a:prstGeom>
        </p:spPr>
      </p:pic>
      <p:sp>
        <p:nvSpPr>
          <p:cNvPr id="45" name="Down Arrow 44"/>
          <p:cNvSpPr/>
          <p:nvPr/>
        </p:nvSpPr>
        <p:spPr>
          <a:xfrm rot="16200000">
            <a:off x="11540104" y="3282656"/>
            <a:ext cx="539567" cy="784333"/>
          </a:xfrm>
          <a:prstGeom prst="downArrow">
            <a:avLst/>
          </a:prstGeom>
          <a:solidFill>
            <a:srgbClr val="820000"/>
          </a:solidFill>
          <a:ln>
            <a:solidFill>
              <a:srgbClr val="8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6" name="Down Arrow 45"/>
          <p:cNvSpPr/>
          <p:nvPr/>
        </p:nvSpPr>
        <p:spPr>
          <a:xfrm rot="16200000">
            <a:off x="11624222" y="7511161"/>
            <a:ext cx="539567" cy="784333"/>
          </a:xfrm>
          <a:prstGeom prst="downArrow">
            <a:avLst/>
          </a:prstGeom>
          <a:solidFill>
            <a:srgbClr val="820000"/>
          </a:solidFill>
          <a:ln>
            <a:solidFill>
              <a:srgbClr val="8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0" name="Rectangle 39"/>
          <p:cNvSpPr/>
          <p:nvPr/>
        </p:nvSpPr>
        <p:spPr>
          <a:xfrm>
            <a:off x="12509710" y="7166484"/>
            <a:ext cx="5041479" cy="1754326"/>
          </a:xfrm>
          <a:prstGeom prst="rect">
            <a:avLst/>
          </a:prstGeom>
        </p:spPr>
        <p:txBody>
          <a:bodyPr wrap="square">
            <a:spAutoFit/>
          </a:bodyPr>
          <a:lstStyle/>
          <a:p>
            <a:pPr algn="just"/>
            <a:r>
              <a:rPr lang="en-PH" dirty="0">
                <a:solidFill>
                  <a:srgbClr val="820000"/>
                </a:solidFill>
                <a:latin typeface="Arial" panose="020B0604020202020204" pitchFamily="34" charset="0"/>
                <a:ea typeface="Calibri" panose="020F0502020204030204" pitchFamily="34" charset="0"/>
              </a:rPr>
              <a:t>The plates will be recorded using a digital camera under UV-254 nm light and will be processed using </a:t>
            </a:r>
            <a:r>
              <a:rPr lang="en-PH" dirty="0" err="1">
                <a:solidFill>
                  <a:srgbClr val="820000"/>
                </a:solidFill>
                <a:latin typeface="Arial" panose="020B0604020202020204" pitchFamily="34" charset="0"/>
                <a:ea typeface="Calibri" panose="020F0502020204030204" pitchFamily="34" charset="0"/>
              </a:rPr>
              <a:t>QuantiScan</a:t>
            </a:r>
            <a:r>
              <a:rPr lang="en-PH" dirty="0">
                <a:solidFill>
                  <a:srgbClr val="820000"/>
                </a:solidFill>
                <a:latin typeface="Arial" panose="020B0604020202020204" pitchFamily="34" charset="0"/>
                <a:ea typeface="Calibri" panose="020F0502020204030204" pitchFamily="34" charset="0"/>
              </a:rPr>
              <a:t> v3.0 software (</a:t>
            </a:r>
            <a:r>
              <a:rPr lang="en-PH" dirty="0" err="1">
                <a:solidFill>
                  <a:srgbClr val="820000"/>
                </a:solidFill>
                <a:latin typeface="Arial" panose="020B0604020202020204" pitchFamily="34" charset="0"/>
                <a:ea typeface="Calibri" panose="020F0502020204030204" pitchFamily="34" charset="0"/>
              </a:rPr>
              <a:t>Biosoft</a:t>
            </a:r>
            <a:r>
              <a:rPr lang="en-PH" dirty="0">
                <a:solidFill>
                  <a:srgbClr val="820000"/>
                </a:solidFill>
                <a:latin typeface="Arial" panose="020B0604020202020204" pitchFamily="34" charset="0"/>
                <a:ea typeface="Calibri" panose="020F0502020204030204" pitchFamily="34" charset="0"/>
              </a:rPr>
              <a:t>, UK). The correlation coefficient, R</a:t>
            </a:r>
            <a:r>
              <a:rPr lang="en-PH" baseline="30000" dirty="0">
                <a:solidFill>
                  <a:srgbClr val="820000"/>
                </a:solidFill>
                <a:latin typeface="Arial" panose="020B0604020202020204" pitchFamily="34" charset="0"/>
                <a:ea typeface="Calibri" panose="020F0502020204030204" pitchFamily="34" charset="0"/>
              </a:rPr>
              <a:t>2</a:t>
            </a:r>
            <a:r>
              <a:rPr lang="en-PH" dirty="0">
                <a:solidFill>
                  <a:srgbClr val="820000"/>
                </a:solidFill>
                <a:latin typeface="Arial" panose="020B0604020202020204" pitchFamily="34" charset="0"/>
                <a:ea typeface="Calibri" panose="020F0502020204030204" pitchFamily="34" charset="0"/>
              </a:rPr>
              <a:t>, for the marker compound in all TLC plates will be &gt; 0.99</a:t>
            </a:r>
            <a:endParaRPr lang="en-PH" dirty="0">
              <a:solidFill>
                <a:srgbClr val="820000"/>
              </a:solidFill>
            </a:endParaRPr>
          </a:p>
        </p:txBody>
      </p:sp>
      <p:sp>
        <p:nvSpPr>
          <p:cNvPr id="49" name="Flowchart: Connector 48"/>
          <p:cNvSpPr/>
          <p:nvPr/>
        </p:nvSpPr>
        <p:spPr>
          <a:xfrm>
            <a:off x="12340736" y="2708824"/>
            <a:ext cx="1687924" cy="1720694"/>
          </a:xfrm>
          <a:prstGeom prst="flowChartConnector">
            <a:avLst/>
          </a:prstGeom>
          <a:blipFill>
            <a:blip r:embed="rId9"/>
            <a:stretch>
              <a:fillRect b="-6420"/>
            </a:stretch>
          </a:blipFill>
          <a:ln w="28575">
            <a:solidFill>
              <a:srgbClr val="005C2A"/>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Tree>
    <p:extLst>
      <p:ext uri="{BB962C8B-B14F-4D97-AF65-F5344CB8AC3E}">
        <p14:creationId xmlns:p14="http://schemas.microsoft.com/office/powerpoint/2010/main" val="284406609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Box 13"/>
          <p:cNvSpPr txBox="1"/>
          <p:nvPr/>
        </p:nvSpPr>
        <p:spPr>
          <a:xfrm>
            <a:off x="1671387" y="1531257"/>
            <a:ext cx="2203151" cy="2306426"/>
          </a:xfrm>
          <a:prstGeom prst="rect">
            <a:avLst/>
          </a:prstGeom>
        </p:spPr>
        <p:txBody>
          <a:bodyPr lIns="50800" tIns="50800" rIns="50800" bIns="50800" rtlCol="0" anchor="ctr"/>
          <a:lstStyle/>
          <a:p>
            <a:pPr algn="ctr">
              <a:lnSpc>
                <a:spcPts val="2659"/>
              </a:lnSpc>
              <a:spcBef>
                <a:spcPct val="0"/>
              </a:spcBef>
            </a:pPr>
            <a:endParaRPr/>
          </a:p>
        </p:txBody>
      </p:sp>
      <p:pic>
        <p:nvPicPr>
          <p:cNvPr id="19" name="Picture 18"/>
          <p:cNvPicPr>
            <a:picLocks noChangeAspect="1"/>
          </p:cNvPicPr>
          <p:nvPr/>
        </p:nvPicPr>
        <p:blipFill>
          <a:blip r:embed="rId2"/>
          <a:stretch>
            <a:fillRect/>
          </a:stretch>
        </p:blipFill>
        <p:spPr>
          <a:xfrm rot="10800000">
            <a:off x="-30480" y="1181101"/>
            <a:ext cx="18288000" cy="267610"/>
          </a:xfrm>
          <a:prstGeom prst="rect">
            <a:avLst/>
          </a:prstGeom>
        </p:spPr>
      </p:pic>
      <p:sp>
        <p:nvSpPr>
          <p:cNvPr id="21" name="Round Single Corner Rectangle 20"/>
          <p:cNvSpPr/>
          <p:nvPr/>
        </p:nvSpPr>
        <p:spPr>
          <a:xfrm>
            <a:off x="5494020" y="160397"/>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5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Methodology      </a:t>
            </a:r>
            <a:r>
              <a:rPr lang="en-PH" sz="6000" b="1" u="sng" dirty="0" smtClean="0">
                <a:solidFill>
                  <a:srgbClr val="820000"/>
                </a:solidFill>
                <a:latin typeface="Arial" panose="020B0604020202020204" pitchFamily="34" charset="0"/>
                <a:cs typeface="Arial" panose="020B0604020202020204" pitchFamily="34" charset="0"/>
              </a:rPr>
              <a:t> </a:t>
            </a:r>
          </a:p>
        </p:txBody>
      </p:sp>
      <p:pic>
        <p:nvPicPr>
          <p:cNvPr id="20" name="Picture 19"/>
          <p:cNvPicPr>
            <a:picLocks noChangeAspect="1"/>
          </p:cNvPicPr>
          <p:nvPr/>
        </p:nvPicPr>
        <p:blipFill>
          <a:blip r:embed="rId2"/>
          <a:stretch>
            <a:fillRect/>
          </a:stretch>
        </p:blipFill>
        <p:spPr>
          <a:xfrm>
            <a:off x="0" y="0"/>
            <a:ext cx="18288000" cy="267611"/>
          </a:xfrm>
          <a:prstGeom prst="rect">
            <a:avLst/>
          </a:prstGeom>
        </p:spPr>
      </p:pic>
      <p:sp>
        <p:nvSpPr>
          <p:cNvPr id="4" name="Parallelogram 3"/>
          <p:cNvSpPr/>
          <p:nvPr/>
        </p:nvSpPr>
        <p:spPr>
          <a:xfrm>
            <a:off x="1" y="9936689"/>
            <a:ext cx="12115800" cy="236011"/>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2" name="Parallelogram 21"/>
          <p:cNvSpPr/>
          <p:nvPr/>
        </p:nvSpPr>
        <p:spPr>
          <a:xfrm>
            <a:off x="12192000" y="9944100"/>
            <a:ext cx="1421363" cy="228600"/>
          </a:xfrm>
          <a:prstGeom prst="parallelogram">
            <a:avLst/>
          </a:prstGeom>
          <a:solidFill>
            <a:srgbClr val="FFC000"/>
          </a:solidFill>
          <a:ln>
            <a:solidFill>
              <a:srgbClr val="FFC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3" name="Parallelogram 22"/>
          <p:cNvSpPr/>
          <p:nvPr/>
        </p:nvSpPr>
        <p:spPr>
          <a:xfrm>
            <a:off x="13689563" y="9944100"/>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24" name="Picture 23"/>
          <p:cNvPicPr>
            <a:picLocks noChangeAspect="1"/>
          </p:cNvPicPr>
          <p:nvPr/>
        </p:nvPicPr>
        <p:blipFill>
          <a:blip r:embed="rId2"/>
          <a:stretch>
            <a:fillRect/>
          </a:stretch>
        </p:blipFill>
        <p:spPr>
          <a:xfrm rot="10800000" flipV="1">
            <a:off x="0" y="9668509"/>
            <a:ext cx="18303240" cy="267833"/>
          </a:xfrm>
          <a:prstGeom prst="rect">
            <a:avLst/>
          </a:prstGeom>
        </p:spPr>
      </p:pic>
      <p:pic>
        <p:nvPicPr>
          <p:cNvPr id="6" name="Picture 5"/>
          <p:cNvPicPr>
            <a:picLocks noChangeAspect="1"/>
          </p:cNvPicPr>
          <p:nvPr/>
        </p:nvPicPr>
        <p:blipFill>
          <a:blip r:embed="rId3"/>
          <a:stretch>
            <a:fillRect/>
          </a:stretch>
        </p:blipFill>
        <p:spPr>
          <a:xfrm>
            <a:off x="15030450" y="488370"/>
            <a:ext cx="3257550" cy="523875"/>
          </a:xfrm>
          <a:prstGeom prst="rect">
            <a:avLst/>
          </a:prstGeom>
        </p:spPr>
      </p:pic>
      <p:sp>
        <p:nvSpPr>
          <p:cNvPr id="25" name="Parallelogram 24"/>
          <p:cNvSpPr/>
          <p:nvPr/>
        </p:nvSpPr>
        <p:spPr>
          <a:xfrm>
            <a:off x="13030200" y="760176"/>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13" name="Picture 12"/>
          <p:cNvPicPr>
            <a:picLocks noChangeAspect="1"/>
          </p:cNvPicPr>
          <p:nvPr/>
        </p:nvPicPr>
        <p:blipFill>
          <a:blip r:embed="rId3"/>
          <a:stretch>
            <a:fillRect/>
          </a:stretch>
        </p:blipFill>
        <p:spPr>
          <a:xfrm rot="10800000">
            <a:off x="0" y="612538"/>
            <a:ext cx="3257550" cy="523875"/>
          </a:xfrm>
          <a:prstGeom prst="rect">
            <a:avLst/>
          </a:prstGeom>
        </p:spPr>
      </p:pic>
      <p:sp>
        <p:nvSpPr>
          <p:cNvPr id="14" name="Parallelogram 13"/>
          <p:cNvSpPr/>
          <p:nvPr/>
        </p:nvSpPr>
        <p:spPr>
          <a:xfrm>
            <a:off x="659363" y="577015"/>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9" name="Rectangle 28"/>
          <p:cNvSpPr/>
          <p:nvPr/>
        </p:nvSpPr>
        <p:spPr>
          <a:xfrm>
            <a:off x="1143000" y="2370897"/>
            <a:ext cx="15929956" cy="1938992"/>
          </a:xfrm>
          <a:prstGeom prst="rect">
            <a:avLst/>
          </a:prstGeom>
        </p:spPr>
        <p:txBody>
          <a:bodyPr wrap="square">
            <a:spAutoFit/>
          </a:bodyPr>
          <a:lstStyle/>
          <a:p>
            <a:pPr marL="0" lvl="2" algn="just"/>
            <a:endParaRPr lang="en-PH" sz="2800" dirty="0" smtClean="0"/>
          </a:p>
          <a:p>
            <a:pPr marL="457200" lvl="2" indent="-457200" algn="just">
              <a:buFont typeface="Wingdings" panose="05000000000000000000" pitchFamily="2" charset="2"/>
              <a:buChar char="Ø"/>
            </a:pPr>
            <a:endParaRPr lang="en-PH" sz="2800" dirty="0" smtClean="0"/>
          </a:p>
          <a:p>
            <a:pPr marL="285750" lvl="2" indent="-285750" algn="just">
              <a:buFont typeface="Arial" panose="020B0604020202020204" pitchFamily="34" charset="0"/>
              <a:buChar char="•"/>
            </a:pPr>
            <a:endParaRPr lang="en-PH" sz="3200" dirty="0"/>
          </a:p>
          <a:p>
            <a:pPr marL="285750" indent="-285750" algn="just">
              <a:buFont typeface="Arial" panose="020B0604020202020204" pitchFamily="34" charset="0"/>
              <a:buChar char="•"/>
            </a:pPr>
            <a:endParaRPr lang="en-PH" sz="3200" dirty="0">
              <a:solidFill>
                <a:srgbClr val="005C2A"/>
              </a:solidFill>
              <a:latin typeface="Arial" panose="020B0604020202020204" pitchFamily="34" charset="0"/>
              <a:cs typeface="Arial" panose="020B0604020202020204" pitchFamily="34" charset="0"/>
            </a:endParaRPr>
          </a:p>
        </p:txBody>
      </p:sp>
      <p:sp>
        <p:nvSpPr>
          <p:cNvPr id="10" name="Rectangle 9"/>
          <p:cNvSpPr/>
          <p:nvPr/>
        </p:nvSpPr>
        <p:spPr>
          <a:xfrm>
            <a:off x="355954" y="1256936"/>
            <a:ext cx="5803192" cy="1132426"/>
          </a:xfrm>
          <a:prstGeom prst="rect">
            <a:avLst/>
          </a:prstGeom>
        </p:spPr>
        <p:txBody>
          <a:bodyPr wrap="none">
            <a:spAutoFit/>
          </a:bodyPr>
          <a:lstStyle/>
          <a:p>
            <a:pPr>
              <a:lnSpc>
                <a:spcPct val="200000"/>
              </a:lnSpc>
            </a:pPr>
            <a:r>
              <a:rPr lang="en-PH" sz="4000" dirty="0" smtClean="0">
                <a:solidFill>
                  <a:srgbClr val="820000"/>
                </a:solidFill>
                <a:latin typeface="Arial" panose="020B0604020202020204" pitchFamily="34" charset="0"/>
                <a:ea typeface="Calibri" panose="020F0502020204030204" pitchFamily="34" charset="0"/>
                <a:cs typeface="Times New Roman" panose="02020603050405020304" pitchFamily="18" charset="0"/>
              </a:rPr>
              <a:t>3.8 Untargeted Bioassay</a:t>
            </a:r>
            <a:endParaRPr lang="en-PH" sz="4000" dirty="0">
              <a:solidFill>
                <a:srgbClr val="820000"/>
              </a:solidFill>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 name="Rectangle 1"/>
          <p:cNvSpPr/>
          <p:nvPr/>
        </p:nvSpPr>
        <p:spPr>
          <a:xfrm>
            <a:off x="750859" y="3063268"/>
            <a:ext cx="16714237" cy="4401205"/>
          </a:xfrm>
          <a:prstGeom prst="rect">
            <a:avLst/>
          </a:prstGeom>
        </p:spPr>
        <p:txBody>
          <a:bodyPr wrap="square">
            <a:spAutoFit/>
          </a:bodyPr>
          <a:lstStyle/>
          <a:p>
            <a:pPr algn="just"/>
            <a:r>
              <a:rPr lang="en-PH" sz="2800" b="1" dirty="0" smtClean="0">
                <a:solidFill>
                  <a:srgbClr val="820000"/>
                </a:solidFill>
                <a:latin typeface="Arial" panose="020B0604020202020204" pitchFamily="34" charset="0"/>
                <a:cs typeface="Arial" panose="020B0604020202020204" pitchFamily="34" charset="0"/>
              </a:rPr>
              <a:t>3.8.1 </a:t>
            </a:r>
            <a:r>
              <a:rPr lang="en-PH" sz="2800" b="1" dirty="0">
                <a:solidFill>
                  <a:srgbClr val="820000"/>
                </a:solidFill>
                <a:latin typeface="Arial" panose="020B0604020202020204" pitchFamily="34" charset="0"/>
                <a:cs typeface="Arial" panose="020B0604020202020204" pitchFamily="34" charset="0"/>
              </a:rPr>
              <a:t>Determination of glucose </a:t>
            </a:r>
            <a:r>
              <a:rPr lang="en-PH" sz="2800" b="1" dirty="0" smtClean="0">
                <a:solidFill>
                  <a:srgbClr val="820000"/>
                </a:solidFill>
                <a:latin typeface="Arial" panose="020B0604020202020204" pitchFamily="34" charset="0"/>
                <a:cs typeface="Arial" panose="020B0604020202020204" pitchFamily="34" charset="0"/>
              </a:rPr>
              <a:t>concentration</a:t>
            </a:r>
          </a:p>
          <a:p>
            <a:pPr algn="just"/>
            <a:endParaRPr lang="en-PH" sz="2800" dirty="0">
              <a:solidFill>
                <a:srgbClr val="820000"/>
              </a:solidFill>
              <a:latin typeface="Arial" panose="020B0604020202020204" pitchFamily="34" charset="0"/>
              <a:cs typeface="Arial" panose="020B0604020202020204" pitchFamily="34" charset="0"/>
            </a:endParaRPr>
          </a:p>
          <a:p>
            <a:pPr marL="457200" indent="-457200" algn="just">
              <a:lnSpc>
                <a:spcPct val="200000"/>
              </a:lnSpc>
              <a:buFont typeface="Wingdings" panose="05000000000000000000" pitchFamily="2" charset="2"/>
              <a:buChar char="q"/>
            </a:pPr>
            <a:r>
              <a:rPr lang="en-PH" sz="2800" dirty="0" smtClean="0">
                <a:solidFill>
                  <a:srgbClr val="820000"/>
                </a:solidFill>
                <a:latin typeface="Arial" panose="020B0604020202020204" pitchFamily="34" charset="0"/>
                <a:cs typeface="Arial" panose="020B0604020202020204" pitchFamily="34" charset="0"/>
              </a:rPr>
              <a:t>The 3,5-dinitrosalicyclic acid (DNS) reagent will be used to quantify glucose in the external solution of the dialysate (Wang, 2015). Glucose will be used as a standard to estimate the reducing sugars present in the samples using a 96-well </a:t>
            </a:r>
            <a:r>
              <a:rPr lang="en-PH" sz="2800" dirty="0" err="1" smtClean="0">
                <a:solidFill>
                  <a:srgbClr val="820000"/>
                </a:solidFill>
                <a:latin typeface="Arial" panose="020B0604020202020204" pitchFamily="34" charset="0"/>
                <a:cs typeface="Arial" panose="020B0604020202020204" pitchFamily="34" charset="0"/>
              </a:rPr>
              <a:t>microplate</a:t>
            </a:r>
            <a:r>
              <a:rPr lang="en-PH" sz="2800" dirty="0" smtClean="0">
                <a:solidFill>
                  <a:srgbClr val="820000"/>
                </a:solidFill>
                <a:latin typeface="Arial" panose="020B0604020202020204" pitchFamily="34" charset="0"/>
                <a:cs typeface="Arial" panose="020B0604020202020204" pitchFamily="34" charset="0"/>
              </a:rPr>
              <a:t> reader at 540 nm. A standard curve will be established using the following glucose concentrations: 0.25, 0.50, 1, 2, 3, 5, 7, 10 and 15 </a:t>
            </a:r>
            <a:r>
              <a:rPr lang="en-PH" sz="2800" dirty="0" err="1" smtClean="0">
                <a:solidFill>
                  <a:srgbClr val="820000"/>
                </a:solidFill>
                <a:latin typeface="Arial" panose="020B0604020202020204" pitchFamily="34" charset="0"/>
                <a:cs typeface="Arial" panose="020B0604020202020204" pitchFamily="34" charset="0"/>
              </a:rPr>
              <a:t>mM.</a:t>
            </a:r>
            <a:r>
              <a:rPr lang="en-PH" sz="2800" dirty="0" smtClean="0">
                <a:solidFill>
                  <a:srgbClr val="820000"/>
                </a:solidFill>
                <a:latin typeface="Arial" panose="020B0604020202020204" pitchFamily="34" charset="0"/>
                <a:cs typeface="Arial" panose="020B0604020202020204" pitchFamily="34" charset="0"/>
              </a:rPr>
              <a:t> </a:t>
            </a:r>
            <a:endParaRPr lang="en-PH" sz="2800" dirty="0">
              <a:solidFill>
                <a:srgbClr val="82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8718834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Box 13"/>
          <p:cNvSpPr txBox="1"/>
          <p:nvPr/>
        </p:nvSpPr>
        <p:spPr>
          <a:xfrm>
            <a:off x="1671387" y="1531257"/>
            <a:ext cx="2203151" cy="2306426"/>
          </a:xfrm>
          <a:prstGeom prst="rect">
            <a:avLst/>
          </a:prstGeom>
        </p:spPr>
        <p:txBody>
          <a:bodyPr lIns="50800" tIns="50800" rIns="50800" bIns="50800" rtlCol="0" anchor="ctr"/>
          <a:lstStyle/>
          <a:p>
            <a:pPr algn="ctr">
              <a:lnSpc>
                <a:spcPts val="2659"/>
              </a:lnSpc>
              <a:spcBef>
                <a:spcPct val="0"/>
              </a:spcBef>
            </a:pPr>
            <a:endParaRPr/>
          </a:p>
        </p:txBody>
      </p:sp>
      <p:pic>
        <p:nvPicPr>
          <p:cNvPr id="19" name="Picture 18"/>
          <p:cNvPicPr>
            <a:picLocks noChangeAspect="1"/>
          </p:cNvPicPr>
          <p:nvPr/>
        </p:nvPicPr>
        <p:blipFill>
          <a:blip r:embed="rId2"/>
          <a:stretch>
            <a:fillRect/>
          </a:stretch>
        </p:blipFill>
        <p:spPr>
          <a:xfrm rot="10800000">
            <a:off x="-30480" y="1181101"/>
            <a:ext cx="18288000" cy="267610"/>
          </a:xfrm>
          <a:prstGeom prst="rect">
            <a:avLst/>
          </a:prstGeom>
        </p:spPr>
      </p:pic>
      <p:sp>
        <p:nvSpPr>
          <p:cNvPr id="21" name="Round Single Corner Rectangle 20"/>
          <p:cNvSpPr/>
          <p:nvPr/>
        </p:nvSpPr>
        <p:spPr>
          <a:xfrm>
            <a:off x="5494020" y="160397"/>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5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Methodology      </a:t>
            </a:r>
            <a:r>
              <a:rPr lang="en-PH" sz="6000" b="1" u="sng" dirty="0" smtClean="0">
                <a:solidFill>
                  <a:srgbClr val="820000"/>
                </a:solidFill>
                <a:latin typeface="Arial" panose="020B0604020202020204" pitchFamily="34" charset="0"/>
                <a:cs typeface="Arial" panose="020B0604020202020204" pitchFamily="34" charset="0"/>
              </a:rPr>
              <a:t> </a:t>
            </a:r>
          </a:p>
        </p:txBody>
      </p:sp>
      <p:pic>
        <p:nvPicPr>
          <p:cNvPr id="20" name="Picture 19"/>
          <p:cNvPicPr>
            <a:picLocks noChangeAspect="1"/>
          </p:cNvPicPr>
          <p:nvPr/>
        </p:nvPicPr>
        <p:blipFill>
          <a:blip r:embed="rId2"/>
          <a:stretch>
            <a:fillRect/>
          </a:stretch>
        </p:blipFill>
        <p:spPr>
          <a:xfrm>
            <a:off x="0" y="0"/>
            <a:ext cx="18288000" cy="267611"/>
          </a:xfrm>
          <a:prstGeom prst="rect">
            <a:avLst/>
          </a:prstGeom>
        </p:spPr>
      </p:pic>
      <p:sp>
        <p:nvSpPr>
          <p:cNvPr id="4" name="Parallelogram 3"/>
          <p:cNvSpPr/>
          <p:nvPr/>
        </p:nvSpPr>
        <p:spPr>
          <a:xfrm>
            <a:off x="1" y="9936689"/>
            <a:ext cx="12115800" cy="236011"/>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2" name="Parallelogram 21"/>
          <p:cNvSpPr/>
          <p:nvPr/>
        </p:nvSpPr>
        <p:spPr>
          <a:xfrm>
            <a:off x="12192000" y="9944100"/>
            <a:ext cx="1421363" cy="228600"/>
          </a:xfrm>
          <a:prstGeom prst="parallelogram">
            <a:avLst/>
          </a:prstGeom>
          <a:solidFill>
            <a:srgbClr val="FFC000"/>
          </a:solidFill>
          <a:ln>
            <a:solidFill>
              <a:srgbClr val="FFC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3" name="Parallelogram 22"/>
          <p:cNvSpPr/>
          <p:nvPr/>
        </p:nvSpPr>
        <p:spPr>
          <a:xfrm>
            <a:off x="13689563" y="9944100"/>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24" name="Picture 23"/>
          <p:cNvPicPr>
            <a:picLocks noChangeAspect="1"/>
          </p:cNvPicPr>
          <p:nvPr/>
        </p:nvPicPr>
        <p:blipFill>
          <a:blip r:embed="rId2"/>
          <a:stretch>
            <a:fillRect/>
          </a:stretch>
        </p:blipFill>
        <p:spPr>
          <a:xfrm rot="10800000" flipV="1">
            <a:off x="0" y="9668509"/>
            <a:ext cx="18303240" cy="267833"/>
          </a:xfrm>
          <a:prstGeom prst="rect">
            <a:avLst/>
          </a:prstGeom>
        </p:spPr>
      </p:pic>
      <p:pic>
        <p:nvPicPr>
          <p:cNvPr id="6" name="Picture 5"/>
          <p:cNvPicPr>
            <a:picLocks noChangeAspect="1"/>
          </p:cNvPicPr>
          <p:nvPr/>
        </p:nvPicPr>
        <p:blipFill>
          <a:blip r:embed="rId3"/>
          <a:stretch>
            <a:fillRect/>
          </a:stretch>
        </p:blipFill>
        <p:spPr>
          <a:xfrm>
            <a:off x="15030450" y="488370"/>
            <a:ext cx="3257550" cy="523875"/>
          </a:xfrm>
          <a:prstGeom prst="rect">
            <a:avLst/>
          </a:prstGeom>
        </p:spPr>
      </p:pic>
      <p:sp>
        <p:nvSpPr>
          <p:cNvPr id="25" name="Parallelogram 24"/>
          <p:cNvSpPr/>
          <p:nvPr/>
        </p:nvSpPr>
        <p:spPr>
          <a:xfrm>
            <a:off x="13030200" y="760176"/>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13" name="Picture 12"/>
          <p:cNvPicPr>
            <a:picLocks noChangeAspect="1"/>
          </p:cNvPicPr>
          <p:nvPr/>
        </p:nvPicPr>
        <p:blipFill>
          <a:blip r:embed="rId3"/>
          <a:stretch>
            <a:fillRect/>
          </a:stretch>
        </p:blipFill>
        <p:spPr>
          <a:xfrm rot="10800000">
            <a:off x="0" y="612538"/>
            <a:ext cx="3257550" cy="523875"/>
          </a:xfrm>
          <a:prstGeom prst="rect">
            <a:avLst/>
          </a:prstGeom>
        </p:spPr>
      </p:pic>
      <p:sp>
        <p:nvSpPr>
          <p:cNvPr id="14" name="Parallelogram 13"/>
          <p:cNvSpPr/>
          <p:nvPr/>
        </p:nvSpPr>
        <p:spPr>
          <a:xfrm>
            <a:off x="659363" y="577015"/>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9" name="Rectangle 28"/>
          <p:cNvSpPr/>
          <p:nvPr/>
        </p:nvSpPr>
        <p:spPr>
          <a:xfrm>
            <a:off x="1143000" y="2370897"/>
            <a:ext cx="15929956" cy="1938992"/>
          </a:xfrm>
          <a:prstGeom prst="rect">
            <a:avLst/>
          </a:prstGeom>
        </p:spPr>
        <p:txBody>
          <a:bodyPr wrap="square">
            <a:spAutoFit/>
          </a:bodyPr>
          <a:lstStyle/>
          <a:p>
            <a:pPr marL="0" lvl="2" algn="just"/>
            <a:endParaRPr lang="en-PH" sz="2800" dirty="0" smtClean="0"/>
          </a:p>
          <a:p>
            <a:pPr marL="457200" lvl="2" indent="-457200" algn="just">
              <a:buFont typeface="Wingdings" panose="05000000000000000000" pitchFamily="2" charset="2"/>
              <a:buChar char="Ø"/>
            </a:pPr>
            <a:endParaRPr lang="en-PH" sz="2800" dirty="0" smtClean="0"/>
          </a:p>
          <a:p>
            <a:pPr marL="285750" lvl="2" indent="-285750" algn="just">
              <a:buFont typeface="Arial" panose="020B0604020202020204" pitchFamily="34" charset="0"/>
              <a:buChar char="•"/>
            </a:pPr>
            <a:endParaRPr lang="en-PH" sz="3200" dirty="0"/>
          </a:p>
          <a:p>
            <a:pPr marL="285750" indent="-285750" algn="just">
              <a:buFont typeface="Arial" panose="020B0604020202020204" pitchFamily="34" charset="0"/>
              <a:buChar char="•"/>
            </a:pPr>
            <a:endParaRPr lang="en-PH" sz="3200" dirty="0">
              <a:solidFill>
                <a:srgbClr val="005C2A"/>
              </a:solidFill>
              <a:latin typeface="Arial" panose="020B0604020202020204" pitchFamily="34" charset="0"/>
              <a:cs typeface="Arial" panose="020B0604020202020204" pitchFamily="34" charset="0"/>
            </a:endParaRPr>
          </a:p>
        </p:txBody>
      </p:sp>
      <p:sp>
        <p:nvSpPr>
          <p:cNvPr id="10" name="Rectangle 9"/>
          <p:cNvSpPr/>
          <p:nvPr/>
        </p:nvSpPr>
        <p:spPr>
          <a:xfrm>
            <a:off x="355954" y="1256936"/>
            <a:ext cx="5803192" cy="1132426"/>
          </a:xfrm>
          <a:prstGeom prst="rect">
            <a:avLst/>
          </a:prstGeom>
        </p:spPr>
        <p:txBody>
          <a:bodyPr wrap="none">
            <a:spAutoFit/>
          </a:bodyPr>
          <a:lstStyle/>
          <a:p>
            <a:pPr>
              <a:lnSpc>
                <a:spcPct val="200000"/>
              </a:lnSpc>
            </a:pPr>
            <a:r>
              <a:rPr lang="en-PH" sz="4000" dirty="0" smtClean="0">
                <a:solidFill>
                  <a:srgbClr val="820000"/>
                </a:solidFill>
                <a:latin typeface="Arial" panose="020B0604020202020204" pitchFamily="34" charset="0"/>
                <a:ea typeface="Calibri" panose="020F0502020204030204" pitchFamily="34" charset="0"/>
                <a:cs typeface="Times New Roman" panose="02020603050405020304" pitchFamily="18" charset="0"/>
              </a:rPr>
              <a:t>3.8 Untargeted Bioassay</a:t>
            </a:r>
            <a:endParaRPr lang="en-PH" sz="4000" dirty="0">
              <a:solidFill>
                <a:srgbClr val="820000"/>
              </a:solidFill>
              <a:effectLst/>
              <a:latin typeface="Arial" panose="020B0604020202020204" pitchFamily="34" charset="0"/>
              <a:ea typeface="Calibri" panose="020F0502020204030204" pitchFamily="34" charset="0"/>
              <a:cs typeface="Times New Roman" panose="02020603050405020304" pitchFamily="18" charset="0"/>
            </a:endParaRPr>
          </a:p>
        </p:txBody>
      </p:sp>
      <p:sp>
        <p:nvSpPr>
          <p:cNvPr id="3" name="Rectangle 2"/>
          <p:cNvSpPr/>
          <p:nvPr/>
        </p:nvSpPr>
        <p:spPr>
          <a:xfrm>
            <a:off x="620959" y="2289446"/>
            <a:ext cx="16974037" cy="6538328"/>
          </a:xfrm>
          <a:prstGeom prst="rect">
            <a:avLst/>
          </a:prstGeom>
        </p:spPr>
        <p:txBody>
          <a:bodyPr wrap="square">
            <a:spAutoFit/>
          </a:bodyPr>
          <a:lstStyle/>
          <a:p>
            <a:pPr indent="228600" algn="just">
              <a:lnSpc>
                <a:spcPct val="200000"/>
              </a:lnSpc>
              <a:spcBef>
                <a:spcPts val="600"/>
              </a:spcBef>
            </a:pPr>
            <a:r>
              <a:rPr lang="en-PH" sz="2800" b="1" dirty="0">
                <a:solidFill>
                  <a:srgbClr val="820000"/>
                </a:solidFill>
                <a:latin typeface="Arial" panose="020B0604020202020204" pitchFamily="34" charset="0"/>
                <a:ea typeface="Times New Roman" panose="02020603050405020304" pitchFamily="18" charset="0"/>
                <a:cs typeface="Arial" panose="020B0604020202020204" pitchFamily="34" charset="0"/>
              </a:rPr>
              <a:t>3.7.2 Inhibition of alpha-amylase by plant </a:t>
            </a:r>
            <a:r>
              <a:rPr lang="en-PH" sz="2800" b="1" dirty="0" smtClean="0">
                <a:solidFill>
                  <a:srgbClr val="820000"/>
                </a:solidFill>
                <a:latin typeface="Arial" panose="020B0604020202020204" pitchFamily="34" charset="0"/>
                <a:ea typeface="Times New Roman" panose="02020603050405020304" pitchFamily="18" charset="0"/>
                <a:cs typeface="Arial" panose="020B0604020202020204" pitchFamily="34" charset="0"/>
              </a:rPr>
              <a:t>extract </a:t>
            </a:r>
            <a:endParaRPr lang="en-PH" sz="2800" b="1" dirty="0">
              <a:solidFill>
                <a:srgbClr val="820000"/>
              </a:solidFill>
              <a:latin typeface="Arial" panose="020B0604020202020204" pitchFamily="34" charset="0"/>
              <a:ea typeface="Times New Roman" panose="02020603050405020304" pitchFamily="18" charset="0"/>
              <a:cs typeface="Times New Roman" panose="02020603050405020304" pitchFamily="18" charset="0"/>
            </a:endParaRPr>
          </a:p>
          <a:p>
            <a:pPr marL="548640" marR="0" indent="-457200" algn="just">
              <a:lnSpc>
                <a:spcPct val="107000"/>
              </a:lnSpc>
              <a:spcBef>
                <a:spcPts val="0"/>
              </a:spcBef>
              <a:spcAft>
                <a:spcPts val="800"/>
              </a:spcAft>
              <a:buFont typeface="Wingdings" panose="05000000000000000000" pitchFamily="2" charset="2"/>
              <a:buChar char="q"/>
            </a:pPr>
            <a:r>
              <a:rPr lang="en-PH" sz="2800" dirty="0">
                <a:solidFill>
                  <a:srgbClr val="820000"/>
                </a:solidFill>
                <a:latin typeface="Arial" panose="020B0604020202020204" pitchFamily="34" charset="0"/>
                <a:ea typeface="Calibri" panose="020F0502020204030204" pitchFamily="34" charset="0"/>
                <a:cs typeface="Arial" panose="020B0604020202020204" pitchFamily="34" charset="0"/>
              </a:rPr>
              <a:t>5 mL (50 U/mL ) alpha-amylase and 0.1% (w/v) of </a:t>
            </a:r>
            <a:r>
              <a:rPr lang="en-PH" sz="2800" dirty="0" err="1">
                <a:solidFill>
                  <a:srgbClr val="820000"/>
                </a:solidFill>
                <a:latin typeface="Arial" panose="020B0604020202020204" pitchFamily="34" charset="0"/>
                <a:ea typeface="Calibri" panose="020F0502020204030204" pitchFamily="34" charset="0"/>
                <a:cs typeface="Arial" panose="020B0604020202020204" pitchFamily="34" charset="0"/>
              </a:rPr>
              <a:t>V.negundo</a:t>
            </a:r>
            <a:r>
              <a:rPr lang="en-PH" sz="2800" dirty="0">
                <a:solidFill>
                  <a:srgbClr val="820000"/>
                </a:solidFill>
                <a:latin typeface="Arial" panose="020B0604020202020204" pitchFamily="34" charset="0"/>
                <a:ea typeface="Calibri" panose="020F0502020204030204" pitchFamily="34" charset="0"/>
                <a:cs typeface="Arial" panose="020B0604020202020204" pitchFamily="34" charset="0"/>
              </a:rPr>
              <a:t> plant extract in DMSO were mixed.</a:t>
            </a:r>
            <a:endParaRPr lang="en-PH" sz="2800" dirty="0">
              <a:solidFill>
                <a:srgbClr val="820000"/>
              </a:solidFill>
              <a:latin typeface="Arial" panose="020B0604020202020204" pitchFamily="34" charset="0"/>
              <a:ea typeface="Calibri" panose="020F0502020204030204" pitchFamily="34" charset="0"/>
              <a:cs typeface="Times New Roman" panose="02020603050405020304" pitchFamily="18" charset="0"/>
            </a:endParaRPr>
          </a:p>
          <a:p>
            <a:pPr marL="548640" marR="0" indent="-457200" algn="just">
              <a:lnSpc>
                <a:spcPct val="107000"/>
              </a:lnSpc>
              <a:spcBef>
                <a:spcPts val="0"/>
              </a:spcBef>
              <a:spcAft>
                <a:spcPts val="800"/>
              </a:spcAft>
              <a:buFont typeface="Wingdings" panose="05000000000000000000" pitchFamily="2" charset="2"/>
              <a:buChar char="q"/>
            </a:pPr>
            <a:r>
              <a:rPr lang="en-PH" sz="2800" dirty="0">
                <a:solidFill>
                  <a:srgbClr val="820000"/>
                </a:solidFill>
                <a:latin typeface="Arial" panose="020B0604020202020204" pitchFamily="34" charset="0"/>
                <a:ea typeface="Calibri" panose="020F0502020204030204" pitchFamily="34" charset="0"/>
                <a:cs typeface="Arial" panose="020B0604020202020204" pitchFamily="34" charset="0"/>
              </a:rPr>
              <a:t> Twenty </a:t>
            </a:r>
            <a:r>
              <a:rPr lang="en-PH" sz="2800" dirty="0" err="1">
                <a:solidFill>
                  <a:srgbClr val="820000"/>
                </a:solidFill>
                <a:latin typeface="Arial" panose="020B0604020202020204" pitchFamily="34" charset="0"/>
                <a:ea typeface="Calibri" panose="020F0502020204030204" pitchFamily="34" charset="0"/>
                <a:cs typeface="Arial" panose="020B0604020202020204" pitchFamily="34" charset="0"/>
              </a:rPr>
              <a:t>mililiters</a:t>
            </a:r>
            <a:r>
              <a:rPr lang="en-PH" sz="2800" dirty="0">
                <a:solidFill>
                  <a:srgbClr val="820000"/>
                </a:solidFill>
                <a:latin typeface="Arial" panose="020B0604020202020204" pitchFamily="34" charset="0"/>
                <a:ea typeface="Calibri" panose="020F0502020204030204" pitchFamily="34" charset="0"/>
                <a:cs typeface="Arial" panose="020B0604020202020204" pitchFamily="34" charset="0"/>
              </a:rPr>
              <a:t> of the above starch solution will be then added and dialyzed against 200 mL of deionized water at 37 degree Celsius. </a:t>
            </a:r>
            <a:endParaRPr lang="en-PH" sz="2800" dirty="0">
              <a:solidFill>
                <a:srgbClr val="820000"/>
              </a:solidFill>
              <a:latin typeface="Arial" panose="020B0604020202020204" pitchFamily="34" charset="0"/>
              <a:ea typeface="Calibri" panose="020F0502020204030204" pitchFamily="34" charset="0"/>
              <a:cs typeface="Times New Roman" panose="02020603050405020304" pitchFamily="18" charset="0"/>
            </a:endParaRPr>
          </a:p>
          <a:p>
            <a:pPr marL="548640" marR="0" indent="-457200" algn="just">
              <a:lnSpc>
                <a:spcPct val="107000"/>
              </a:lnSpc>
              <a:spcBef>
                <a:spcPts val="0"/>
              </a:spcBef>
              <a:spcAft>
                <a:spcPts val="800"/>
              </a:spcAft>
              <a:buFont typeface="Wingdings" panose="05000000000000000000" pitchFamily="2" charset="2"/>
              <a:buChar char="q"/>
            </a:pPr>
            <a:r>
              <a:rPr lang="en-PH" sz="2800" dirty="0">
                <a:solidFill>
                  <a:srgbClr val="820000"/>
                </a:solidFill>
                <a:latin typeface="Arial" panose="020B0604020202020204" pitchFamily="34" charset="0"/>
                <a:ea typeface="Calibri" panose="020F0502020204030204" pitchFamily="34" charset="0"/>
                <a:cs typeface="Arial" panose="020B0604020202020204" pitchFamily="34" charset="0"/>
              </a:rPr>
              <a:t>The glucose concentration at the external solution was measured at time (1, 2, 3, 4 and 5 hours) using the DNS method. </a:t>
            </a:r>
            <a:endParaRPr lang="en-PH" sz="2800" dirty="0">
              <a:solidFill>
                <a:srgbClr val="820000"/>
              </a:solidFill>
              <a:latin typeface="Arial" panose="020B0604020202020204" pitchFamily="34" charset="0"/>
              <a:ea typeface="Calibri" panose="020F0502020204030204" pitchFamily="34" charset="0"/>
              <a:cs typeface="Times New Roman" panose="02020603050405020304" pitchFamily="18" charset="0"/>
            </a:endParaRPr>
          </a:p>
          <a:p>
            <a:pPr marL="548640" marR="0" indent="-457200" algn="just">
              <a:lnSpc>
                <a:spcPct val="107000"/>
              </a:lnSpc>
              <a:spcBef>
                <a:spcPts val="0"/>
              </a:spcBef>
              <a:spcAft>
                <a:spcPts val="800"/>
              </a:spcAft>
              <a:buFont typeface="Wingdings" panose="05000000000000000000" pitchFamily="2" charset="2"/>
              <a:buChar char="q"/>
            </a:pPr>
            <a:r>
              <a:rPr lang="en-PH" sz="2800" dirty="0">
                <a:solidFill>
                  <a:srgbClr val="820000"/>
                </a:solidFill>
                <a:latin typeface="Arial" panose="020B0604020202020204" pitchFamily="34" charset="0"/>
                <a:ea typeface="Calibri" panose="020F0502020204030204" pitchFamily="34" charset="0"/>
                <a:cs typeface="Arial" panose="020B0604020202020204" pitchFamily="34" charset="0"/>
              </a:rPr>
              <a:t>The negative control will be prepared using 300 µL DMSO in place of the plant extract. Glucose was used for the calibration curve. </a:t>
            </a:r>
            <a:endParaRPr lang="en-PH" sz="2800" dirty="0">
              <a:solidFill>
                <a:srgbClr val="820000"/>
              </a:solidFill>
              <a:latin typeface="Arial" panose="020B0604020202020204" pitchFamily="34" charset="0"/>
              <a:ea typeface="Calibri" panose="020F0502020204030204" pitchFamily="34" charset="0"/>
              <a:cs typeface="Times New Roman" panose="02020603050405020304" pitchFamily="18" charset="0"/>
            </a:endParaRPr>
          </a:p>
          <a:p>
            <a:pPr marL="548640" marR="0" indent="-457200" algn="just">
              <a:lnSpc>
                <a:spcPct val="107000"/>
              </a:lnSpc>
              <a:spcBef>
                <a:spcPts val="0"/>
              </a:spcBef>
              <a:spcAft>
                <a:spcPts val="800"/>
              </a:spcAft>
              <a:buFont typeface="Wingdings" panose="05000000000000000000" pitchFamily="2" charset="2"/>
              <a:buChar char="q"/>
            </a:pPr>
            <a:r>
              <a:rPr lang="en-PH" sz="2800" dirty="0">
                <a:solidFill>
                  <a:srgbClr val="820000"/>
                </a:solidFill>
                <a:latin typeface="Arial" panose="020B0604020202020204" pitchFamily="34" charset="0"/>
                <a:ea typeface="Calibri" panose="020F0502020204030204" pitchFamily="34" charset="0"/>
                <a:cs typeface="Arial" panose="020B0604020202020204" pitchFamily="34" charset="0"/>
              </a:rPr>
              <a:t>Corrections will be made by subtracting the results of the negative control runs from those of the test runs.</a:t>
            </a:r>
            <a:endParaRPr lang="en-PH" sz="2800" dirty="0">
              <a:solidFill>
                <a:srgbClr val="820000"/>
              </a:solidFill>
              <a:latin typeface="Arial" panose="020B0604020202020204" pitchFamily="34" charset="0"/>
              <a:ea typeface="Calibri" panose="020F0502020204030204" pitchFamily="34" charset="0"/>
              <a:cs typeface="Times New Roman" panose="02020603050405020304" pitchFamily="18" charset="0"/>
            </a:endParaRPr>
          </a:p>
          <a:p>
            <a:pPr marL="548640" marR="0" indent="-457200" algn="just">
              <a:lnSpc>
                <a:spcPct val="107000"/>
              </a:lnSpc>
              <a:spcBef>
                <a:spcPts val="0"/>
              </a:spcBef>
              <a:spcAft>
                <a:spcPts val="800"/>
              </a:spcAft>
              <a:buFont typeface="Wingdings" panose="05000000000000000000" pitchFamily="2" charset="2"/>
              <a:buChar char="q"/>
            </a:pPr>
            <a:r>
              <a:rPr lang="en-PH" sz="2800" dirty="0">
                <a:solidFill>
                  <a:srgbClr val="820000"/>
                </a:solidFill>
                <a:latin typeface="Arial" panose="020B0604020202020204" pitchFamily="34" charset="0"/>
                <a:ea typeface="Calibri" panose="020F0502020204030204" pitchFamily="34" charset="0"/>
                <a:cs typeface="Arial" panose="020B0604020202020204" pitchFamily="34" charset="0"/>
              </a:rPr>
              <a:t> It should be noted that upon generation of the glucose from starch hydrolysis, this may be further related by intermolecular binding with compounds from the plant extract.</a:t>
            </a:r>
            <a:endParaRPr lang="en-PH" sz="2800" dirty="0">
              <a:solidFill>
                <a:srgbClr val="820000"/>
              </a:solidFill>
              <a:effectLst/>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9589251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Box 13"/>
          <p:cNvSpPr txBox="1"/>
          <p:nvPr/>
        </p:nvSpPr>
        <p:spPr>
          <a:xfrm>
            <a:off x="1671387" y="1531257"/>
            <a:ext cx="2203151" cy="2306426"/>
          </a:xfrm>
          <a:prstGeom prst="rect">
            <a:avLst/>
          </a:prstGeom>
        </p:spPr>
        <p:txBody>
          <a:bodyPr lIns="50800" tIns="50800" rIns="50800" bIns="50800" rtlCol="0" anchor="ctr"/>
          <a:lstStyle/>
          <a:p>
            <a:pPr algn="ctr">
              <a:lnSpc>
                <a:spcPts val="2659"/>
              </a:lnSpc>
              <a:spcBef>
                <a:spcPct val="0"/>
              </a:spcBef>
            </a:pPr>
            <a:endParaRPr/>
          </a:p>
        </p:txBody>
      </p:sp>
      <p:pic>
        <p:nvPicPr>
          <p:cNvPr id="19" name="Picture 18"/>
          <p:cNvPicPr>
            <a:picLocks noChangeAspect="1"/>
          </p:cNvPicPr>
          <p:nvPr/>
        </p:nvPicPr>
        <p:blipFill>
          <a:blip r:embed="rId2"/>
          <a:stretch>
            <a:fillRect/>
          </a:stretch>
        </p:blipFill>
        <p:spPr>
          <a:xfrm rot="10800000">
            <a:off x="-30480" y="1181101"/>
            <a:ext cx="18288000" cy="267610"/>
          </a:xfrm>
          <a:prstGeom prst="rect">
            <a:avLst/>
          </a:prstGeom>
        </p:spPr>
      </p:pic>
      <p:sp>
        <p:nvSpPr>
          <p:cNvPr id="21" name="Round Single Corner Rectangle 20"/>
          <p:cNvSpPr/>
          <p:nvPr/>
        </p:nvSpPr>
        <p:spPr>
          <a:xfrm>
            <a:off x="5494020" y="160397"/>
            <a:ext cx="7239000" cy="1104900"/>
          </a:xfrm>
          <a:prstGeom prst="round1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5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Methodology      </a:t>
            </a:r>
            <a:r>
              <a:rPr lang="en-PH" sz="6000" b="1" u="sng" dirty="0" smtClean="0">
                <a:solidFill>
                  <a:srgbClr val="820000"/>
                </a:solidFill>
                <a:latin typeface="Arial" panose="020B0604020202020204" pitchFamily="34" charset="0"/>
                <a:cs typeface="Arial" panose="020B0604020202020204" pitchFamily="34" charset="0"/>
              </a:rPr>
              <a:t> </a:t>
            </a:r>
          </a:p>
        </p:txBody>
      </p:sp>
      <p:pic>
        <p:nvPicPr>
          <p:cNvPr id="20" name="Picture 19"/>
          <p:cNvPicPr>
            <a:picLocks noChangeAspect="1"/>
          </p:cNvPicPr>
          <p:nvPr/>
        </p:nvPicPr>
        <p:blipFill>
          <a:blip r:embed="rId2"/>
          <a:stretch>
            <a:fillRect/>
          </a:stretch>
        </p:blipFill>
        <p:spPr>
          <a:xfrm>
            <a:off x="0" y="0"/>
            <a:ext cx="18288000" cy="267611"/>
          </a:xfrm>
          <a:prstGeom prst="rect">
            <a:avLst/>
          </a:prstGeom>
        </p:spPr>
      </p:pic>
      <p:sp>
        <p:nvSpPr>
          <p:cNvPr id="4" name="Parallelogram 3"/>
          <p:cNvSpPr/>
          <p:nvPr/>
        </p:nvSpPr>
        <p:spPr>
          <a:xfrm>
            <a:off x="1" y="9936689"/>
            <a:ext cx="12115800" cy="236011"/>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2" name="Parallelogram 21"/>
          <p:cNvSpPr/>
          <p:nvPr/>
        </p:nvSpPr>
        <p:spPr>
          <a:xfrm>
            <a:off x="12192000" y="9944100"/>
            <a:ext cx="1421363" cy="228600"/>
          </a:xfrm>
          <a:prstGeom prst="parallelogram">
            <a:avLst/>
          </a:prstGeom>
          <a:solidFill>
            <a:srgbClr val="FFC000"/>
          </a:solidFill>
          <a:ln>
            <a:solidFill>
              <a:srgbClr val="FFC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3" name="Parallelogram 22"/>
          <p:cNvSpPr/>
          <p:nvPr/>
        </p:nvSpPr>
        <p:spPr>
          <a:xfrm>
            <a:off x="13689563" y="9944100"/>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24" name="Picture 23"/>
          <p:cNvPicPr>
            <a:picLocks noChangeAspect="1"/>
          </p:cNvPicPr>
          <p:nvPr/>
        </p:nvPicPr>
        <p:blipFill>
          <a:blip r:embed="rId2"/>
          <a:stretch>
            <a:fillRect/>
          </a:stretch>
        </p:blipFill>
        <p:spPr>
          <a:xfrm rot="10800000" flipV="1">
            <a:off x="0" y="9668509"/>
            <a:ext cx="18303240" cy="267833"/>
          </a:xfrm>
          <a:prstGeom prst="rect">
            <a:avLst/>
          </a:prstGeom>
        </p:spPr>
      </p:pic>
      <p:pic>
        <p:nvPicPr>
          <p:cNvPr id="6" name="Picture 5"/>
          <p:cNvPicPr>
            <a:picLocks noChangeAspect="1"/>
          </p:cNvPicPr>
          <p:nvPr/>
        </p:nvPicPr>
        <p:blipFill>
          <a:blip r:embed="rId3"/>
          <a:stretch>
            <a:fillRect/>
          </a:stretch>
        </p:blipFill>
        <p:spPr>
          <a:xfrm>
            <a:off x="15030450" y="488370"/>
            <a:ext cx="3257550" cy="523875"/>
          </a:xfrm>
          <a:prstGeom prst="rect">
            <a:avLst/>
          </a:prstGeom>
        </p:spPr>
      </p:pic>
      <p:sp>
        <p:nvSpPr>
          <p:cNvPr id="25" name="Parallelogram 24"/>
          <p:cNvSpPr/>
          <p:nvPr/>
        </p:nvSpPr>
        <p:spPr>
          <a:xfrm>
            <a:off x="13030200" y="760176"/>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13" name="Picture 12"/>
          <p:cNvPicPr>
            <a:picLocks noChangeAspect="1"/>
          </p:cNvPicPr>
          <p:nvPr/>
        </p:nvPicPr>
        <p:blipFill>
          <a:blip r:embed="rId3"/>
          <a:stretch>
            <a:fillRect/>
          </a:stretch>
        </p:blipFill>
        <p:spPr>
          <a:xfrm rot="10800000">
            <a:off x="0" y="612538"/>
            <a:ext cx="3257550" cy="523875"/>
          </a:xfrm>
          <a:prstGeom prst="rect">
            <a:avLst/>
          </a:prstGeom>
        </p:spPr>
      </p:pic>
      <p:sp>
        <p:nvSpPr>
          <p:cNvPr id="14" name="Parallelogram 13"/>
          <p:cNvSpPr/>
          <p:nvPr/>
        </p:nvSpPr>
        <p:spPr>
          <a:xfrm>
            <a:off x="659363" y="577015"/>
            <a:ext cx="4598437" cy="228600"/>
          </a:xfrm>
          <a:prstGeom prst="parallelogram">
            <a:avLst/>
          </a:prstGeom>
          <a:solidFill>
            <a:srgbClr val="820000"/>
          </a:solidFill>
          <a:ln>
            <a:solidFill>
              <a:srgbClr val="82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9" name="Rectangle 28"/>
          <p:cNvSpPr/>
          <p:nvPr/>
        </p:nvSpPr>
        <p:spPr>
          <a:xfrm>
            <a:off x="1143000" y="2370897"/>
            <a:ext cx="15929956" cy="1938992"/>
          </a:xfrm>
          <a:prstGeom prst="rect">
            <a:avLst/>
          </a:prstGeom>
        </p:spPr>
        <p:txBody>
          <a:bodyPr wrap="square">
            <a:spAutoFit/>
          </a:bodyPr>
          <a:lstStyle/>
          <a:p>
            <a:pPr marL="0" lvl="2" algn="just"/>
            <a:endParaRPr lang="en-PH" sz="2800" dirty="0" smtClean="0"/>
          </a:p>
          <a:p>
            <a:pPr marL="457200" lvl="2" indent="-457200" algn="just">
              <a:buFont typeface="Wingdings" panose="05000000000000000000" pitchFamily="2" charset="2"/>
              <a:buChar char="Ø"/>
            </a:pPr>
            <a:endParaRPr lang="en-PH" sz="2800" dirty="0" smtClean="0"/>
          </a:p>
          <a:p>
            <a:pPr marL="285750" lvl="2" indent="-285750" algn="just">
              <a:buFont typeface="Arial" panose="020B0604020202020204" pitchFamily="34" charset="0"/>
              <a:buChar char="•"/>
            </a:pPr>
            <a:endParaRPr lang="en-PH" sz="3200" dirty="0"/>
          </a:p>
          <a:p>
            <a:pPr marL="285750" indent="-285750" algn="just">
              <a:buFont typeface="Arial" panose="020B0604020202020204" pitchFamily="34" charset="0"/>
              <a:buChar char="•"/>
            </a:pPr>
            <a:endParaRPr lang="en-PH" sz="3200" dirty="0">
              <a:solidFill>
                <a:srgbClr val="005C2A"/>
              </a:solidFill>
              <a:latin typeface="Arial" panose="020B0604020202020204" pitchFamily="34" charset="0"/>
              <a:cs typeface="Arial" panose="020B0604020202020204" pitchFamily="34" charset="0"/>
            </a:endParaRPr>
          </a:p>
        </p:txBody>
      </p:sp>
      <p:sp>
        <p:nvSpPr>
          <p:cNvPr id="10" name="Rectangle 9"/>
          <p:cNvSpPr/>
          <p:nvPr/>
        </p:nvSpPr>
        <p:spPr>
          <a:xfrm>
            <a:off x="361392" y="1441919"/>
            <a:ext cx="7826758" cy="1323439"/>
          </a:xfrm>
          <a:prstGeom prst="rect">
            <a:avLst/>
          </a:prstGeom>
        </p:spPr>
        <p:txBody>
          <a:bodyPr wrap="none">
            <a:spAutoFit/>
          </a:bodyPr>
          <a:lstStyle/>
          <a:p>
            <a:pPr>
              <a:lnSpc>
                <a:spcPct val="200000"/>
              </a:lnSpc>
            </a:pPr>
            <a:r>
              <a:rPr lang="en-PH" sz="4000" dirty="0" smtClean="0">
                <a:solidFill>
                  <a:srgbClr val="820000"/>
                </a:solidFill>
                <a:latin typeface="Arial" panose="020B0604020202020204" pitchFamily="34" charset="0"/>
                <a:ea typeface="Calibri" panose="020F0502020204030204" pitchFamily="34" charset="0"/>
                <a:cs typeface="Times New Roman" panose="02020603050405020304" pitchFamily="18" charset="0"/>
              </a:rPr>
              <a:t>3.9 Principal Component Analysis</a:t>
            </a:r>
            <a:endParaRPr lang="en-PH" sz="4000" dirty="0">
              <a:solidFill>
                <a:srgbClr val="820000"/>
              </a:solidFill>
              <a:effectLst/>
              <a:latin typeface="Arial" panose="020B0604020202020204" pitchFamily="34" charset="0"/>
              <a:ea typeface="Calibri" panose="020F0502020204030204" pitchFamily="34" charset="0"/>
              <a:cs typeface="Times New Roman" panose="02020603050405020304" pitchFamily="18" charset="0"/>
            </a:endParaRPr>
          </a:p>
        </p:txBody>
      </p:sp>
      <p:sp>
        <p:nvSpPr>
          <p:cNvPr id="5" name="Rectangle 4"/>
          <p:cNvSpPr/>
          <p:nvPr/>
        </p:nvSpPr>
        <p:spPr>
          <a:xfrm>
            <a:off x="659363" y="2806631"/>
            <a:ext cx="7853363" cy="3890489"/>
          </a:xfrm>
          <a:prstGeom prst="rect">
            <a:avLst/>
          </a:prstGeom>
          <a:ln w="38100">
            <a:solidFill>
              <a:srgbClr val="820000"/>
            </a:solidFill>
          </a:ln>
        </p:spPr>
        <p:txBody>
          <a:bodyPr wrap="square">
            <a:spAutoFit/>
          </a:bodyPr>
          <a:lstStyle/>
          <a:p>
            <a:pPr marL="285750" indent="-285750" algn="just">
              <a:lnSpc>
                <a:spcPct val="150000"/>
              </a:lnSpc>
              <a:buFont typeface="Wingdings" panose="05000000000000000000" pitchFamily="2" charset="2"/>
              <a:buChar char="q"/>
            </a:pPr>
            <a:r>
              <a:rPr lang="en-PH" sz="2800" dirty="0">
                <a:solidFill>
                  <a:srgbClr val="820000"/>
                </a:solidFill>
                <a:latin typeface="Arial" panose="020B0604020202020204" pitchFamily="34" charset="0"/>
                <a:ea typeface="Calibri" panose="020F0502020204030204" pitchFamily="34" charset="0"/>
                <a:cs typeface="Arial" panose="020B0604020202020204" pitchFamily="34" charset="0"/>
              </a:rPr>
              <a:t>To make the study results more conclusive, the data obtained from all experimental analyses will be subjected to a correlation study using the Principal Component Analysis (PCA) in XLSTAT software embedded in excel. PCA will be conducted on the following data</a:t>
            </a:r>
            <a:r>
              <a:rPr lang="en-PH" sz="2000" dirty="0" smtClean="0">
                <a:solidFill>
                  <a:srgbClr val="820000"/>
                </a:solidFill>
                <a:latin typeface="Arial" panose="020B0604020202020204" pitchFamily="34" charset="0"/>
                <a:ea typeface="Calibri" panose="020F0502020204030204" pitchFamily="34" charset="0"/>
                <a:cs typeface="Arial" panose="020B0604020202020204" pitchFamily="34" charset="0"/>
              </a:rPr>
              <a:t>:</a:t>
            </a:r>
            <a:endParaRPr lang="en-PH" sz="2000" dirty="0">
              <a:solidFill>
                <a:srgbClr val="820000"/>
              </a:solidFill>
              <a:latin typeface="Arial" panose="020B0604020202020204" pitchFamily="34" charset="0"/>
              <a:ea typeface="Calibri" panose="020F0502020204030204" pitchFamily="34" charset="0"/>
              <a:cs typeface="Times New Roman" panose="02020603050405020304" pitchFamily="18" charset="0"/>
            </a:endParaRPr>
          </a:p>
        </p:txBody>
      </p:sp>
      <p:sp>
        <p:nvSpPr>
          <p:cNvPr id="7" name="Rectangle 6"/>
          <p:cNvSpPr/>
          <p:nvPr/>
        </p:nvSpPr>
        <p:spPr>
          <a:xfrm>
            <a:off x="702225" y="6887979"/>
            <a:ext cx="4686551" cy="2308324"/>
          </a:xfrm>
          <a:prstGeom prst="rect">
            <a:avLst/>
          </a:prstGeom>
          <a:ln>
            <a:solidFill>
              <a:srgbClr val="820000"/>
            </a:solidFill>
          </a:ln>
        </p:spPr>
        <p:txBody>
          <a:bodyPr wrap="square">
            <a:spAutoFit/>
          </a:bodyPr>
          <a:lstStyle/>
          <a:p>
            <a:pPr marL="342900" marR="0" lvl="0" indent="-342900" algn="just">
              <a:lnSpc>
                <a:spcPct val="200000"/>
              </a:lnSpc>
              <a:spcBef>
                <a:spcPts val="0"/>
              </a:spcBef>
              <a:spcAft>
                <a:spcPts val="0"/>
              </a:spcAft>
              <a:buFont typeface="+mj-lt"/>
              <a:buAutoNum type="alphaLcPeriod"/>
            </a:pPr>
            <a:r>
              <a:rPr lang="en-PH" sz="2400" b="1" dirty="0">
                <a:solidFill>
                  <a:srgbClr val="820000"/>
                </a:solidFill>
                <a:latin typeface="Arial" panose="020B0604020202020204" pitchFamily="34" charset="0"/>
                <a:ea typeface="Calibri" panose="020F0502020204030204" pitchFamily="34" charset="0"/>
                <a:cs typeface="Arial" panose="020B0604020202020204" pitchFamily="34" charset="0"/>
              </a:rPr>
              <a:t>GC-MS and LC-MS</a:t>
            </a:r>
            <a:endParaRPr lang="en-PH" sz="2400" b="1" dirty="0">
              <a:solidFill>
                <a:srgbClr val="820000"/>
              </a:solidFill>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gn="just">
              <a:lnSpc>
                <a:spcPct val="200000"/>
              </a:lnSpc>
              <a:spcBef>
                <a:spcPts val="0"/>
              </a:spcBef>
              <a:spcAft>
                <a:spcPts val="0"/>
              </a:spcAft>
              <a:buFont typeface="+mj-lt"/>
              <a:buAutoNum type="alphaLcPeriod"/>
            </a:pPr>
            <a:r>
              <a:rPr lang="en-PH" sz="2400" b="1" dirty="0">
                <a:solidFill>
                  <a:srgbClr val="820000"/>
                </a:solidFill>
                <a:latin typeface="Arial" panose="020B0604020202020204" pitchFamily="34" charset="0"/>
                <a:ea typeface="Calibri" panose="020F0502020204030204" pitchFamily="34" charset="0"/>
                <a:cs typeface="Arial" panose="020B0604020202020204" pitchFamily="34" charset="0"/>
              </a:rPr>
              <a:t>Phytochemical Analysis</a:t>
            </a:r>
            <a:endParaRPr lang="en-PH" sz="2400" b="1" dirty="0">
              <a:solidFill>
                <a:srgbClr val="820000"/>
              </a:solidFill>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gn="just">
              <a:lnSpc>
                <a:spcPct val="200000"/>
              </a:lnSpc>
              <a:spcBef>
                <a:spcPts val="0"/>
              </a:spcBef>
              <a:spcAft>
                <a:spcPts val="0"/>
              </a:spcAft>
              <a:buFont typeface="+mj-lt"/>
              <a:buAutoNum type="alphaLcPeriod"/>
            </a:pPr>
            <a:r>
              <a:rPr lang="en-PH" sz="2400" b="1" dirty="0">
                <a:solidFill>
                  <a:srgbClr val="820000"/>
                </a:solidFill>
                <a:latin typeface="Arial" panose="020B0604020202020204" pitchFamily="34" charset="0"/>
                <a:ea typeface="Calibri" panose="020F0502020204030204" pitchFamily="34" charset="0"/>
                <a:cs typeface="Arial" panose="020B0604020202020204" pitchFamily="34" charset="0"/>
              </a:rPr>
              <a:t>Untargeted Bioassay</a:t>
            </a:r>
            <a:endParaRPr lang="en-PH" sz="2400" b="1" dirty="0">
              <a:solidFill>
                <a:srgbClr val="820000"/>
              </a:solidFill>
              <a:latin typeface="Arial" panose="020B0604020202020204" pitchFamily="34" charset="0"/>
              <a:ea typeface="Calibri" panose="020F0502020204030204" pitchFamily="34" charset="0"/>
              <a:cs typeface="Times New Roman" panose="02020603050405020304" pitchFamily="18" charset="0"/>
            </a:endParaRPr>
          </a:p>
        </p:txBody>
      </p:sp>
      <p:sp>
        <p:nvSpPr>
          <p:cNvPr id="27" name="Flowchart: Connector 26"/>
          <p:cNvSpPr/>
          <p:nvPr/>
        </p:nvSpPr>
        <p:spPr>
          <a:xfrm>
            <a:off x="9284809" y="1802049"/>
            <a:ext cx="1687924" cy="1720694"/>
          </a:xfrm>
          <a:prstGeom prst="flowChartConnector">
            <a:avLst/>
          </a:prstGeom>
          <a:blipFill>
            <a:blip r:embed="rId4"/>
            <a:stretch>
              <a:fillRect b="-6420"/>
            </a:stretch>
          </a:blipFill>
          <a:ln w="38100">
            <a:solidFill>
              <a:srgbClr val="005C2A"/>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28" name="Down Arrow 27"/>
          <p:cNvSpPr/>
          <p:nvPr/>
        </p:nvSpPr>
        <p:spPr>
          <a:xfrm rot="16200000">
            <a:off x="12951413" y="5285200"/>
            <a:ext cx="539567" cy="784333"/>
          </a:xfrm>
          <a:prstGeom prst="downArrow">
            <a:avLst/>
          </a:prstGeom>
          <a:solidFill>
            <a:srgbClr val="820000"/>
          </a:solidFill>
          <a:ln>
            <a:solidFill>
              <a:srgbClr val="8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9" name="Picture 8"/>
          <p:cNvPicPr>
            <a:picLocks noChangeAspect="1"/>
          </p:cNvPicPr>
          <p:nvPr/>
        </p:nvPicPr>
        <p:blipFill>
          <a:blip r:embed="rId5"/>
          <a:stretch>
            <a:fillRect/>
          </a:stretch>
        </p:blipFill>
        <p:spPr>
          <a:xfrm>
            <a:off x="8996363" y="4121635"/>
            <a:ext cx="2777573" cy="3091877"/>
          </a:xfrm>
          <a:prstGeom prst="rect">
            <a:avLst/>
          </a:prstGeom>
          <a:ln w="38100">
            <a:solidFill>
              <a:srgbClr val="820000"/>
            </a:solidFill>
          </a:ln>
        </p:spPr>
      </p:pic>
      <p:sp>
        <p:nvSpPr>
          <p:cNvPr id="31" name="Round Single Corner Rectangle 30"/>
          <p:cNvSpPr/>
          <p:nvPr/>
        </p:nvSpPr>
        <p:spPr>
          <a:xfrm>
            <a:off x="6764663" y="7934958"/>
            <a:ext cx="5121551" cy="1104900"/>
          </a:xfrm>
          <a:prstGeom prst="round1Rect">
            <a:avLst/>
          </a:prstGeom>
          <a:noFill/>
          <a:ln w="38100">
            <a:solidFill>
              <a:srgbClr val="8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54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a:t>
            </a:r>
            <a:r>
              <a:rPr lang="en-PH" sz="36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Untargeted </a:t>
            </a:r>
            <a:r>
              <a:rPr lang="en-PH" sz="3600" b="1" dirty="0" err="1"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BioAssay</a:t>
            </a:r>
            <a:r>
              <a:rPr lang="en-PH" sz="3600" b="1" dirty="0" smtClean="0">
                <a:solidFill>
                  <a:srgbClr val="820000"/>
                </a:solidFill>
                <a:latin typeface="Arial" panose="020B0604020202020204" pitchFamily="34" charset="0"/>
                <a:ea typeface="Adobe Gothic Std B" panose="020B0800000000000000" pitchFamily="34" charset="-128"/>
                <a:cs typeface="Arial" panose="020B0604020202020204" pitchFamily="34" charset="0"/>
              </a:rPr>
              <a:t>      </a:t>
            </a:r>
            <a:r>
              <a:rPr lang="en-PH" sz="4000" b="1" u="sng" dirty="0" smtClean="0">
                <a:solidFill>
                  <a:srgbClr val="820000"/>
                </a:solidFill>
                <a:latin typeface="Arial" panose="020B0604020202020204" pitchFamily="34" charset="0"/>
                <a:cs typeface="Arial" panose="020B0604020202020204" pitchFamily="34" charset="0"/>
              </a:rPr>
              <a:t> </a:t>
            </a:r>
            <a:endParaRPr lang="en-PH" sz="6000" b="1" u="sng" dirty="0" smtClean="0">
              <a:solidFill>
                <a:srgbClr val="820000"/>
              </a:solidFill>
              <a:latin typeface="Arial" panose="020B0604020202020204" pitchFamily="34" charset="0"/>
              <a:cs typeface="Arial" panose="020B0604020202020204" pitchFamily="34" charset="0"/>
            </a:endParaRPr>
          </a:p>
        </p:txBody>
      </p:sp>
      <p:cxnSp>
        <p:nvCxnSpPr>
          <p:cNvPr id="12" name="Straight Connector 11"/>
          <p:cNvCxnSpPr>
            <a:stCxn id="27" idx="6"/>
          </p:cNvCxnSpPr>
          <p:nvPr/>
        </p:nvCxnSpPr>
        <p:spPr>
          <a:xfrm>
            <a:off x="10972733" y="2662396"/>
            <a:ext cx="1760287" cy="22074"/>
          </a:xfrm>
          <a:prstGeom prst="line">
            <a:avLst/>
          </a:prstGeom>
          <a:ln w="38100">
            <a:solidFill>
              <a:srgbClr val="82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12733020" y="2684470"/>
            <a:ext cx="0" cy="5802938"/>
          </a:xfrm>
          <a:prstGeom prst="line">
            <a:avLst/>
          </a:prstGeom>
          <a:ln w="38100">
            <a:solidFill>
              <a:srgbClr val="82000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a:stCxn id="9" idx="3"/>
          </p:cNvCxnSpPr>
          <p:nvPr/>
        </p:nvCxnSpPr>
        <p:spPr>
          <a:xfrm flipV="1">
            <a:off x="11773936" y="5665243"/>
            <a:ext cx="959084" cy="2331"/>
          </a:xfrm>
          <a:prstGeom prst="line">
            <a:avLst/>
          </a:prstGeom>
          <a:ln w="38100">
            <a:solidFill>
              <a:srgbClr val="82000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a:stCxn id="31" idx="3"/>
          </p:cNvCxnSpPr>
          <p:nvPr/>
        </p:nvCxnSpPr>
        <p:spPr>
          <a:xfrm>
            <a:off x="11886214" y="8487408"/>
            <a:ext cx="846806" cy="0"/>
          </a:xfrm>
          <a:prstGeom prst="line">
            <a:avLst/>
          </a:prstGeom>
          <a:ln w="38100">
            <a:solidFill>
              <a:srgbClr val="820000"/>
            </a:solidFill>
          </a:ln>
        </p:spPr>
        <p:style>
          <a:lnRef idx="1">
            <a:schemeClr val="accent1"/>
          </a:lnRef>
          <a:fillRef idx="0">
            <a:schemeClr val="accent1"/>
          </a:fillRef>
          <a:effectRef idx="0">
            <a:schemeClr val="accent1"/>
          </a:effectRef>
          <a:fontRef idx="minor">
            <a:schemeClr val="tx1"/>
          </a:fontRef>
        </p:style>
      </p:cxnSp>
      <p:pic>
        <p:nvPicPr>
          <p:cNvPr id="39" name="Picture 3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746286" y="3805269"/>
            <a:ext cx="4001795" cy="3204625"/>
          </a:xfrm>
          <a:prstGeom prst="rect">
            <a:avLst/>
          </a:prstGeom>
          <a:ln w="38100">
            <a:solidFill>
              <a:srgbClr val="820000"/>
            </a:solidFill>
          </a:ln>
        </p:spPr>
      </p:pic>
    </p:spTree>
    <p:extLst>
      <p:ext uri="{BB962C8B-B14F-4D97-AF65-F5344CB8AC3E}">
        <p14:creationId xmlns:p14="http://schemas.microsoft.com/office/powerpoint/2010/main" val="380981094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rcRect/>
          <a:stretch>
            <a:fillRect/>
          </a:stretch>
        </p:blipFill>
        <p:spPr>
          <a:xfrm>
            <a:off x="-397433" y="4752916"/>
            <a:ext cx="19082866" cy="6400711"/>
          </a:xfrm>
          <a:prstGeom prst="rect">
            <a:avLst/>
          </a:prstGeom>
        </p:spPr>
      </p:pic>
      <p:pic>
        <p:nvPicPr>
          <p:cNvPr id="3" name="Picture 3"/>
          <p:cNvPicPr>
            <a:picLocks noChangeAspect="1"/>
          </p:cNvPicPr>
          <p:nvPr/>
        </p:nvPicPr>
        <p:blipFill>
          <a:blip r:embed="rId4"/>
          <a:srcRect/>
          <a:stretch>
            <a:fillRect/>
          </a:stretch>
        </p:blipFill>
        <p:spPr>
          <a:xfrm>
            <a:off x="-2803419" y="-1140372"/>
            <a:ext cx="10419595" cy="10398672"/>
          </a:xfrm>
          <a:prstGeom prst="rect">
            <a:avLst/>
          </a:prstGeom>
        </p:spPr>
      </p:pic>
      <p:grpSp>
        <p:nvGrpSpPr>
          <p:cNvPr id="4" name="Group 4"/>
          <p:cNvGrpSpPr>
            <a:grpSpLocks noChangeAspect="1"/>
          </p:cNvGrpSpPr>
          <p:nvPr/>
        </p:nvGrpSpPr>
        <p:grpSpPr>
          <a:xfrm>
            <a:off x="-2237739" y="-649021"/>
            <a:ext cx="9269185" cy="9269148"/>
            <a:chOff x="0" y="0"/>
            <a:chExt cx="6350000" cy="6349975"/>
          </a:xfrm>
        </p:grpSpPr>
        <p:sp>
          <p:nvSpPr>
            <p:cNvPr id="5" name="Freeform 5"/>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5"/>
              <a:stretch>
                <a:fillRect l="-22906" r="-66644" b="-26289"/>
              </a:stretch>
            </a:blipFill>
          </p:spPr>
        </p:sp>
      </p:grpSp>
      <p:sp>
        <p:nvSpPr>
          <p:cNvPr id="6" name="TextBox 6"/>
          <p:cNvSpPr txBox="1"/>
          <p:nvPr/>
        </p:nvSpPr>
        <p:spPr>
          <a:xfrm>
            <a:off x="8622153" y="2543969"/>
            <a:ext cx="8068803" cy="3924072"/>
          </a:xfrm>
          <a:prstGeom prst="rect">
            <a:avLst/>
          </a:prstGeom>
        </p:spPr>
        <p:txBody>
          <a:bodyPr lIns="0" tIns="0" rIns="0" bIns="0" rtlCol="0" anchor="t">
            <a:spAutoFit/>
          </a:bodyPr>
          <a:lstStyle/>
          <a:p>
            <a:pPr algn="ctr">
              <a:lnSpc>
                <a:spcPts val="14835"/>
              </a:lnSpc>
            </a:pPr>
            <a:r>
              <a:rPr lang="en-US" sz="13486">
                <a:solidFill>
                  <a:srgbClr val="037232"/>
                </a:solidFill>
                <a:latin typeface="Poppins ExtraBold Bold"/>
              </a:rPr>
              <a:t>THANK YOU.</a:t>
            </a:r>
          </a:p>
        </p:txBody>
      </p:sp>
      <p:sp>
        <p:nvSpPr>
          <p:cNvPr id="7" name="TextBox 7"/>
          <p:cNvSpPr txBox="1"/>
          <p:nvPr/>
        </p:nvSpPr>
        <p:spPr>
          <a:xfrm>
            <a:off x="8622153" y="1308466"/>
            <a:ext cx="8068803" cy="863600"/>
          </a:xfrm>
          <a:prstGeom prst="rect">
            <a:avLst/>
          </a:prstGeom>
        </p:spPr>
        <p:txBody>
          <a:bodyPr lIns="0" tIns="0" rIns="0" bIns="0" rtlCol="0" anchor="t">
            <a:spAutoFit/>
          </a:bodyPr>
          <a:lstStyle/>
          <a:p>
            <a:pPr algn="ctr">
              <a:lnSpc>
                <a:spcPts val="6324"/>
              </a:lnSpc>
            </a:pPr>
            <a:r>
              <a:rPr lang="en-US" sz="5499">
                <a:solidFill>
                  <a:srgbClr val="037232"/>
                </a:solidFill>
                <a:latin typeface="Poppins ExtraBold Bold"/>
              </a:rPr>
              <a:t>End of presentation,</a:t>
            </a:r>
          </a:p>
        </p:txBody>
      </p:sp>
      <p:sp>
        <p:nvSpPr>
          <p:cNvPr id="8" name="AutoShape 8"/>
          <p:cNvSpPr/>
          <p:nvPr/>
        </p:nvSpPr>
        <p:spPr>
          <a:xfrm>
            <a:off x="8622153" y="2356442"/>
            <a:ext cx="8068803" cy="0"/>
          </a:xfrm>
          <a:prstGeom prst="line">
            <a:avLst/>
          </a:prstGeom>
          <a:ln w="38100" cap="flat">
            <a:solidFill>
              <a:srgbClr val="037232"/>
            </a:solidFill>
            <a:prstDash val="solid"/>
            <a:headEnd type="oval" w="lg" len="lg"/>
            <a:tailEnd type="oval" w="lg" len="lg"/>
          </a:ln>
        </p:spPr>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16256</TotalTime>
  <Words>4648</Words>
  <Application>Microsoft Office PowerPoint</Application>
  <PresentationFormat>Custom</PresentationFormat>
  <Paragraphs>714</Paragraphs>
  <Slides>48</Slides>
  <Notes>0</Notes>
  <HiddenSlides>0</HiddenSlides>
  <MMClips>0</MMClips>
  <ScaleCrop>false</ScaleCrop>
  <HeadingPairs>
    <vt:vector size="8" baseType="variant">
      <vt:variant>
        <vt:lpstr>Fonts Used</vt:lpstr>
      </vt:variant>
      <vt:variant>
        <vt:i4>15</vt:i4>
      </vt:variant>
      <vt:variant>
        <vt:lpstr>Theme</vt:lpstr>
      </vt:variant>
      <vt:variant>
        <vt:i4>1</vt:i4>
      </vt:variant>
      <vt:variant>
        <vt:lpstr>Embedded OLE Servers</vt:lpstr>
      </vt:variant>
      <vt:variant>
        <vt:i4>1</vt:i4>
      </vt:variant>
      <vt:variant>
        <vt:lpstr>Slide Titles</vt:lpstr>
      </vt:variant>
      <vt:variant>
        <vt:i4>48</vt:i4>
      </vt:variant>
    </vt:vector>
  </HeadingPairs>
  <TitlesOfParts>
    <vt:vector size="65" baseType="lpstr">
      <vt:lpstr>Poppins ExtraBold Bold</vt:lpstr>
      <vt:lpstr>Montserrat Extra-Bold</vt:lpstr>
      <vt:lpstr>Symbol</vt:lpstr>
      <vt:lpstr>League Spartan</vt:lpstr>
      <vt:lpstr>Adobe Fan Heiti Std B</vt:lpstr>
      <vt:lpstr>Arial</vt:lpstr>
      <vt:lpstr>Adobe Fangsong Std R</vt:lpstr>
      <vt:lpstr>Arial MT</vt:lpstr>
      <vt:lpstr>Cambria Math</vt:lpstr>
      <vt:lpstr>Calibri</vt:lpstr>
      <vt:lpstr>Times New Roman</vt:lpstr>
      <vt:lpstr>Calibri Light</vt:lpstr>
      <vt:lpstr>Adobe Gothic Std B</vt:lpstr>
      <vt:lpstr>Wingdings</vt:lpstr>
      <vt:lpstr>Montserrat Semi-Bold</vt:lpstr>
      <vt:lpstr>Office Theme</vt:lpstr>
      <vt:lpstr>Packager Shell Object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MY ACER</dc:creator>
  <cp:lastModifiedBy>MY ACER</cp:lastModifiedBy>
  <cp:revision>311</cp:revision>
  <dcterms:created xsi:type="dcterms:W3CDTF">2006-08-16T00:00:00Z</dcterms:created>
  <dcterms:modified xsi:type="dcterms:W3CDTF">2023-05-30T07:28:10Z</dcterms:modified>
  <dc:identifier>DAFRzZQnl1w</dc:identifier>
</cp:coreProperties>
</file>